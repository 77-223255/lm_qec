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67" r:id="rId2"/>
    <p:sldId id="307" r:id="rId3"/>
    <p:sldId id="295" r:id="rId4"/>
    <p:sldId id="261" r:id="rId5"/>
    <p:sldId id="263" r:id="rId6"/>
    <p:sldId id="264" r:id="rId7"/>
    <p:sldId id="296" r:id="rId8"/>
    <p:sldId id="297" r:id="rId9"/>
    <p:sldId id="266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14" r:id="rId19"/>
    <p:sldId id="308" r:id="rId20"/>
    <p:sldId id="309" r:id="rId21"/>
    <p:sldId id="316" r:id="rId22"/>
    <p:sldId id="312" r:id="rId23"/>
    <p:sldId id="315" r:id="rId24"/>
    <p:sldId id="310" r:id="rId25"/>
    <p:sldId id="311" r:id="rId26"/>
    <p:sldId id="313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156BD1-BC13-4455-9FB2-79876EFAE974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67CEA1-1525-44B0-A225-B30656B773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88957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欢迎来到本次关于量子纠错的深度解析报告。在之前的基础上，我们将对前四章的内容进行全面的扩充和深化。本次报告将包含详细的概念定义、严谨的公式推导，并为每一章配备总结与思考题，旨在帮助大家构建扎实的理论基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8015D-C387-691C-7195-69EF63D81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132EFE-7422-884E-2E90-AFB45509F6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EBC9F7-7F85-67F5-2F1E-F89047737F7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00D259A1-5009-7C05-ADBC-BD4C124877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C59F1F6-3E49-2311-3DA7-87E055228B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我们来深入理解量子计算的核心挑战。量子比特，作为信息的载体，其状态是连续的叠加态。然而，正是这种独特的性质使其非常脆弱。量子比特无法与环境完全隔绝，任何微小的相互作用都可能破坏其量子特性。同时，我们目前的技术还无法实现完美的量子门操作，每次操作都可能引入错误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8CC22-B65E-2248-39FC-24CC358C81B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8818C7-6918-B4FE-138E-364662F6F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779248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10EE4-C37A-4B16-3DD4-5DB6C66D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7EA77DF-289C-FCCB-46BC-DFBE40ADEB7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5DC3A-9C4A-7759-E417-2BD8D67255C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33F9770-A305-A0D1-96A8-6B28467F1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1067F9C-910F-336F-BDE4-6A46975ECC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我们来深入理解量子计算的核心挑战。量子比特，作为信息的载体，其状态是连续的叠加态。然而，正是这种独特的性质使其非常脆弱。量子比特无法与环境完全隔绝，任何微小的相互作用都可能破坏其量子特性。同时，我们目前的技术还无法实现完美的量子门操作，每次操作都可能引入错误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04896-084D-5623-36E6-C86CEE523B8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E57EAB-FAC0-C092-5572-5BAEEB0838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41059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应对错误，我们可以借鉴经典计算机的方法。最简单的经典纠错码是重复码。比如，我们把一个比特"1"重复三次变成"111"发送。如果在传输中，其中一个比特出错变成了"101"，接收方通过少数服从多数的原则，就能正确判断原始信息是"1"。这个方法的核心思想就是用冗余来换取可靠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第三个挑战来自量子测量的本质。直接测量一个量子比特会破坏它的叠加状态，导致信息丢失。因此，我们不能直接去“看”哪个比特错了。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量子纠错的巧妙之处在于，它通过测量一些辅助比特来“诊断”错误，而不是直接读取信息比特本身。这个诊断结果就是“症候”，它是一个经典信息，告诉我们错误的类型和位置，从而可以进行精准纠正。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一下第一章的内容。我们了解到量子计算的脆弱性是其发展的主要瓶颈。虽然经典重复码提供了冗余纠错的思路，但其基于复制的原理在量子世界中行不通。我们必须克服不可克隆、测量破坏和态连续性这三大挑战。因此，量子纠错建立了一种全新的范式：通过特殊的编码将信息分散，并通过测量辅助比特来诊断和修复错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34878-A308-A948-C24B-CCCDDD041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44C3A5-9A79-EBD0-1B02-83915BA5E3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66D07F-5BEC-762D-6317-04E6DA0F911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47C184E-607C-A3EC-01ED-3951D0DE67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1DDAEFE-DB2A-CC8D-A0AF-8AAA19E463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E19B7-227D-A822-409B-5C25005CAD2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344C67-A19B-20D7-96D7-0B52C2B7B8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185643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78C4D-D3B7-71C6-5700-11FEAA25A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64EA0FF-6018-DA65-0096-B252A9DA489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94F910-D2D4-7419-5882-10A998523C2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E40C7C3C-E518-A2E9-2671-FBA7188080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B1B2A2D-8CDD-DD22-D178-134F8B867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B46A39-99F6-ECAF-78C7-1419EF57EEC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33F46-179E-EBBB-E407-232A4BF36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959748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57A98-EB2A-C8BE-BB4D-0AD44965C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2177F18-F6CE-21DA-AB64-1FC7EF9A4C7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BE871E-5019-A228-7D5C-73EC96A4D2B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83B9D1C-2D26-572D-35D4-11D904810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F62F2EC-E2DA-7D32-05D9-48440F3866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D2046-F7B8-BA60-7064-994918F3B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459B2B-E497-2787-3955-E9852B3C3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22954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6A43B-CD01-0200-2AB5-5067A7BCC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8DEEC96-F8F8-37E7-C083-0A5FBD7961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A1CE35-47C2-48F6-D186-0C138C00030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9303814-0EF3-6584-BE07-2DA1E9EB96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707F2F2-B1CD-8B30-2B8E-A5BEF9EA81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6EAA40-4F75-D07F-78C7-44E7B0937A6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63096-2ABD-B4C6-E15B-A8CB75A05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2855301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DD76E-90E9-137B-DA3B-76045CF94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51D2FD-1F02-E96E-87C7-3ADCB467F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EEB8CF-44FF-84D5-2AC0-8F4CCB74A76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95BEF3B-C623-8AEB-D206-32327FB9EB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F5D2114-1CCA-1268-5DFC-1397694B4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D1C3E5-ED98-8C33-93CF-50303A16AC6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BF0CDC-58E2-87EF-BD90-46725E0379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66406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A9D3C-17AC-8830-D723-3C19C23D5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ADEF51-FFAF-F1A5-ED97-25F7767700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AD5709-B829-8A04-5916-A39ED89E528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99A37FC-9611-001C-D264-0B4608B4E9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89976EC-FD33-2F71-5DD4-4027291E1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ED635-D5F4-7040-E969-6C4A9134907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8F609-6486-BDA6-A0C6-37AD1410F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020921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3506A-297D-F145-FCAF-8888E2C60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15DE58-1169-D948-15B6-AF61512658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F236F7-E2CE-12EB-B48D-FFF7185330C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F31E7A6-7A25-03BE-9982-603872B4B0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378CA56-F440-1804-D998-0A01EFAF8E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A60AC-ECDA-7E51-242B-A327C9B959D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8851D-DD04-AE73-B80A-2790AEFBF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30133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0FD51-03CB-FBA2-7175-B01879C8A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4B0DB3D-3BB5-0ADD-9EBF-314C1862FD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213A82-CE53-06C8-6D4D-1EBB08C9F0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E81DAA0-7A23-0063-54DA-F98E85EC3C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8850B73-9F44-D199-0BCB-A32DB00C62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11C5B0-C8E6-5A3E-FB4A-640F3F9E0F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2D56D-9800-87BE-CC0E-31F17D44C7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0179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CFC81-2081-67CC-2BC0-10FFC89B7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27C0248-D564-85EE-EDBA-05E34BD002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7D44D0-B544-066D-DD46-953ABD93585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2B1DF71-7B95-FD1D-0E06-6246A9247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0BCE4FB-F7A1-EA2C-0FE6-D0D31C04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F331CC-92DE-87F0-3787-7C192DFD895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E794C-0FD2-4EE9-6964-27F55886F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1083428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22430-2FD2-06F2-1120-AAB48B4BC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42B4C53-B160-CC1A-06A1-07C5DE6E37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DA7015-1619-EC39-C5C8-D5E7137F52B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4D88BFE-970A-D963-669E-7F7792C37A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9ABE69E-AB40-CD96-5DE2-5592DE19C3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章，学习第一个具体的量子纠错码——三比特比特翻转码。它专门用来对付一种特定的错误：比特翻转，也就是0和1的互换。这种错误在数学上由泡利X矩阵描述。这个码的思想和经典重复码很像，就是把一个逻辑比特的信息分布到三个物理比特上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E1946C-60BE-244E-AC35-15ADD7FB49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B20FE0-2713-CCF2-9200-33E072CCFF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451232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F3AC-F7AF-9112-D7CD-DEDF13D1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82AFBE-239E-3B1C-9D73-F02DEF647A8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80055C-92B5-91DA-B01B-A6C5BD79C7A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03C41F2-D1E4-9D71-BDEF-E7D727772E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0A8117C8-C595-F5A0-3AAE-5954D7D709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0380E7-2ECF-7738-B325-0C977F22BAC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F7E68-0B10-46B6-02D9-2DD3D8307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1200996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93A29-2B7E-8941-CCC1-0B79EDEB1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5C3FD8-689B-DEF4-D3AF-1C868463531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E2A292-A7CE-C8B7-4A08-C40E98BDA9E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CA95DD8-D57C-7294-7B10-660D2473BE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9D7ADCF-BBD8-484E-54BD-7B784B797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95B5C0-566E-C41F-B209-592BED6F1D5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147E1-8FCD-36F7-EB3D-B0713562D6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867577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F29E9-494A-ADD6-9E64-5F60E9B86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49286BA-8B2E-7B9B-EEC9-CA856FA4A7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BF38FF-A277-9072-1DF2-D8AC0C5507B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89B0A84-7C3E-7C51-81BA-B40DAA2AA4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0AF8CFC9-0A62-7467-7F4B-570FC4B95F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B5D00-DB7A-C13B-D38D-18A18E64E83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F7EB99-A698-5033-E0E7-E35DDEA294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9392909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5D8B-0DDD-CEF4-F5CE-670EED646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E86F0B3-D41C-EC1B-958C-03B8EDF03C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64C43B-D34B-2651-73B3-D241C3B6C45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1DFD7DE-C42B-C245-437F-12C7F9AB68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E573ABD-1C52-A7D9-D1E7-8EA9F8EAB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5C22F5-3EEC-85A5-CBAF-3F527FFDF16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A2B719-08A4-9900-FF4C-C01560756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058436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DF37-692B-64AA-8E4E-11EA4898E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91A7BFD-2E86-BD9E-84FA-D58A45B601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002C37-8FE9-5CFF-3249-3EB7B1FCB60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B950BC9-8390-C395-7216-B9FFDB07A3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FB32A99-22C0-55DF-EDDD-1E2C51AC50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FF61D2-5A4F-62D7-55B2-B05485CECB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4CBF98-07CF-F066-2B74-CDA37D84E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0501221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465B-DDEA-15A0-B629-73134A36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15AB8E8-4466-5DC9-B5A5-62E457672B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A30FA5-5790-AB95-53A1-21C0DC25752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0C67F2D-A505-8A15-409B-438B0E1A1A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BF9821A-483C-F4FC-CAED-D14E5F4B8E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CD5A-C638-D924-28BE-E186B878D63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254236-0323-E8E9-1F57-DEA3581B7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2614843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9644-B325-C435-FF2D-FB8EACD78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2CF97A-6CE9-F327-4077-F6B74847717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BA8485-C3A5-7F68-40DE-2FEB2E923AE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4C4E0B2-DEB3-CD25-E517-242225D52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9B22D37-1B02-48E4-E401-BCD2D02F11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E5AD0-FD96-2DF4-58CF-614AAB82A5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4FEF5A-82E2-B5DA-FD5A-8B6AA614F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043930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8FFB-A299-84B3-85D1-99E2B3C05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C3BD9A-DAB7-F8E3-47A3-257BA3A4FD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4B1E04-28FA-F780-1F1D-1E971714263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31D212E-41CC-95F6-E057-C3B266426F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A836C2B-339F-A92C-C5D6-2F0640DB6C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463D9-6CCC-43E6-C3D9-BCF74DA117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F4480-F208-F51B-2CF3-FEBEB4BC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209065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1A05D-2253-2565-7067-0B9C51E2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1D4ADC3-0A73-C8B3-77B1-5E4E885C629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BAF988-506D-2D7F-3A7D-1DC903BDFEF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7E0DBC4-D119-1C8A-5AC2-F2DFF85F8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B84915C-8190-28DF-F81D-02FB335808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7821E-1BE0-9BE2-B0E0-F7AECF0E0E4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0BA1C5-2E03-0933-2960-7D0AFCABD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810537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9B4761-31D7-4105-A27E-2CC8EDB06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5294F8A-0F41-222A-2D11-8631F469D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FC30D8-FE30-291A-7C72-E11CFF130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A88F23-8DEB-9D93-567E-27AC0CF0D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B421225-061B-9E11-938A-DC1EBB630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6483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FC986B-DA6D-BCF2-21A9-B0E329CE7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7A245E-5787-F4AC-11AB-ECFE81153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645801-7C43-F892-6CCC-BD151CC88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E2DA07-9E9F-C151-F32C-4A03DE366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703374-F99D-AB3C-02DE-CABD81FA1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9934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744908-C44D-F638-5ED6-1D976E954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B305695-BA62-357C-E285-02B72B0BA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D8FE58-BBDD-0049-B5C7-C3899C5EE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41E74D6-AECC-5CE3-A08C-C07480C12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B0523BA-1BA6-7950-94C3-25C38448F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419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D6DAA5-D0AF-D7A7-0AB5-884D83C6A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F84EE0-F5C6-2050-7471-D8FA7229A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8C2FE9B-282E-08D4-E5CF-B1C06F58E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38FF5B-1F82-AC3B-EF37-5C6FFB34D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73D0D5-911E-5251-3AB0-AE6101F7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4C47DA-F90D-4EF1-7182-725A63C85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5236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D99D3B-33C0-7821-3DCE-152CD9B31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610081-0C0C-C6B1-01ED-6479FBE1F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142D702-D6CE-4741-6A48-C15E828DD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D9E1396-C5DB-F34F-E0ED-32AA864D60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6A0A188-88CD-5681-4F58-3929222181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996D7D-646E-3636-07C6-DE73F17F9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E76941E-C350-9CBB-CC30-6F56F88D8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66105E-3596-08B4-DCE0-6272917E7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4203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97E2DA-015C-AEBF-1A48-B7B89E34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7D8DA5-7FF6-E4AC-1E92-97A1D06E6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BA3A086-AA8F-8BD2-4A97-2FDB3DC75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0681EC-A86B-B80A-92FB-26B3A3E95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2352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B6F6216-3E07-A782-2169-CBC582BA8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DB9DEC-8257-F9B5-7BD6-80F2ED41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45C304-2564-214F-DB6F-177CB3242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11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607657-A0CD-8CB6-375F-432205382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F94334-6932-BB6B-4B59-64CFC6109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2950E0A-D125-FBC1-18E3-CDC27206FB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D5DCE2-AB53-4194-02EA-E8244C4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6F1792-FD36-6925-C2EC-7E023FDD9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84CB3F3-53DF-6FE1-38E9-B7DBA4ED2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1732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5240-4AF7-F9D3-0DC0-FBFBBC10A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23EFAF9-1989-58F8-F22B-CD6697D880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3B2875E-7E63-8479-745C-611D2344E2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CB2BDD-DEB5-AA21-FC0A-8253E2C6B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397DA8-CE26-F5B5-352F-8CFBFC5E7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7AED7CC-7637-8C8D-A251-2B9A7A706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822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18B78-2D68-C9F5-2B88-F7B6B43A5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09FCBD4-99C7-A798-77AA-4245BA0B1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1F34C6-2E43-CF0F-334F-6FCE3305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608127-12B3-59EF-2876-B245B6BC3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B99B1D-6DE2-E7DE-A654-49B2D7F9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393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71A012C-B4C2-5397-D506-15BB754113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89343-C205-FE67-809D-ADCA060ADE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E3CE3C-962C-D837-4B72-9F9797FBD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5E23F6-71CC-FB6D-C5A3-C7D644E42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32C07A-57E3-629B-8FC6-2DE160071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0806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3568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D1DB38A-6066-110A-3382-F5F6828DE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DEC672-8E00-1A77-5EE7-B12491C0A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680427-5DCE-1CD7-8584-18F3B45659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06B81-D0D4-404B-8474-757991D5685D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54D226-3675-21B9-1A38-D143C92B8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DA05ED-2FFF-4B5A-5220-E74F4234F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782809-23E3-414D-A6DC-9D5DC14E820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5531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0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BEB0F588-289D-2035-82FD-12F5B64B4A01}"/>
              </a:ext>
            </a:extLst>
          </p:cNvPr>
          <p:cNvSpPr txBox="1"/>
          <p:nvPr/>
        </p:nvSpPr>
        <p:spPr>
          <a:xfrm>
            <a:off x="-5424636" y="-2872225"/>
            <a:ext cx="26549625" cy="11326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73000" b="0" i="0" u="none" strike="noStrike" dirty="0">
                <a:solidFill>
                  <a:schemeClr val="bg1">
                    <a:lumMod val="85000"/>
                  </a:schemeClr>
                </a:solidFill>
                <a:latin typeface="BIZ UDPMincho Medium" panose="02020500000000000000" pitchFamily="18" charset="-128"/>
                <a:ea typeface="BIZ UDPMincho Medium" panose="02020500000000000000" pitchFamily="18" charset="-128"/>
                <a:cs typeface="Noto Sans SC"/>
                <a:sym typeface="Noto Sans SC"/>
              </a:rPr>
              <a:t>QEC</a:t>
            </a:r>
            <a:endParaRPr lang="zh-CN" altLang="en-US" sz="73000" dirty="0">
              <a:solidFill>
                <a:schemeClr val="bg1">
                  <a:lumMod val="85000"/>
                </a:schemeClr>
              </a:solidFill>
              <a:latin typeface="BIZ UDPMincho Medium" panose="02020500000000000000" pitchFamily="18" charset="-128"/>
              <a:ea typeface="BIZ UDPMincho Medium" panose="02020500000000000000" pitchFamily="18" charset="-128"/>
            </a:endParaRPr>
          </a:p>
        </p:txBody>
      </p:sp>
      <p:sp>
        <p:nvSpPr>
          <p:cNvPr id="2" name="AutoShape 2"/>
          <p:cNvSpPr/>
          <p:nvPr/>
        </p:nvSpPr>
        <p:spPr>
          <a:xfrm>
            <a:off x="762000" y="946973"/>
            <a:ext cx="1066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8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量子纠错导论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0" y="3159459"/>
            <a:ext cx="12192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5600" b="0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Quantum Error Correction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414B-F091-74EB-89A5-B63882C3E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>
            <a:extLst>
              <a:ext uri="{FF2B5EF4-FFF2-40B4-BE49-F238E27FC236}">
                <a16:creationId xmlns:a16="http://schemas.microsoft.com/office/drawing/2014/main" id="{239F19E0-FE72-880A-FD5F-9A59643C726B}"/>
              </a:ext>
            </a:extLst>
          </p:cNvPr>
          <p:cNvSpPr/>
          <p:nvPr/>
        </p:nvSpPr>
        <p:spPr>
          <a:xfrm>
            <a:off x="762000" y="15875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1.1 </a:t>
            </a:r>
            <a:r>
              <a:rPr lang="zh-CN" alt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为什么要量子纠错？</a:t>
            </a:r>
            <a:endParaRPr lang="en-US" sz="1100" dirty="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A12639C-356D-DD15-83F3-7362892060B1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utoShape 2">
            <a:extLst>
              <a:ext uri="{FF2B5EF4-FFF2-40B4-BE49-F238E27FC236}">
                <a16:creationId xmlns:a16="http://schemas.microsoft.com/office/drawing/2014/main" id="{6326C543-B062-AC66-AAF8-5967CFC2272F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AutoShape 3">
            <a:extLst>
              <a:ext uri="{FF2B5EF4-FFF2-40B4-BE49-F238E27FC236}">
                <a16:creationId xmlns:a16="http://schemas.microsoft.com/office/drawing/2014/main" id="{2E4D0343-A822-DB28-F1E0-BBAFFB81B556}"/>
              </a:ext>
            </a:extLst>
          </p:cNvPr>
          <p:cNvSpPr/>
          <p:nvPr/>
        </p:nvSpPr>
        <p:spPr>
          <a:xfrm>
            <a:off x="762000" y="2374903"/>
            <a:ext cx="1066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1.2 </a:t>
            </a:r>
            <a:r>
              <a:rPr lang="en-US" sz="2200" b="1" i="0" u="none" strike="noStrike" dirty="0" err="1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经典纠错：重复码</a:t>
            </a:r>
            <a:r>
              <a:rPr lang="en-US" sz="2200" b="1" i="0" u="none" strike="noStrike" dirty="0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 (Repetition Code)</a:t>
            </a:r>
            <a:endParaRPr lang="en-US" sz="1100" dirty="0"/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89388E4D-A327-5039-A904-CA97C8177132}"/>
              </a:ext>
            </a:extLst>
          </p:cNvPr>
          <p:cNvSpPr/>
          <p:nvPr/>
        </p:nvSpPr>
        <p:spPr>
          <a:xfrm>
            <a:off x="762000" y="3301101"/>
            <a:ext cx="1066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1.3 </a:t>
            </a:r>
            <a:r>
              <a:rPr lang="en-US" sz="2200" b="1" i="0" u="none" strike="noStrike" dirty="0" err="1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</a:t>
            </a:r>
            <a:r>
              <a:rPr lang="zh-CN" alt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不同</a:t>
            </a: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682221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2FE8C-7A65-7C82-5F79-709A2F61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>
            <a:extLst>
              <a:ext uri="{FF2B5EF4-FFF2-40B4-BE49-F238E27FC236}">
                <a16:creationId xmlns:a16="http://schemas.microsoft.com/office/drawing/2014/main" id="{D69940B1-B336-CB4E-498A-03A3AB4100EF}"/>
              </a:ext>
            </a:extLst>
          </p:cNvPr>
          <p:cNvSpPr/>
          <p:nvPr/>
        </p:nvSpPr>
        <p:spPr>
          <a:xfrm>
            <a:off x="762000" y="15875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1.1 </a:t>
            </a:r>
            <a:r>
              <a:rPr lang="zh-CN" alt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为什么要量子纠错？</a:t>
            </a:r>
            <a:endParaRPr lang="en-US" sz="1100" dirty="0"/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697FA8DB-E922-2205-5395-CCDBF8256763}"/>
              </a:ext>
            </a:extLst>
          </p:cNvPr>
          <p:cNvSpPr/>
          <p:nvPr/>
        </p:nvSpPr>
        <p:spPr>
          <a:xfrm>
            <a:off x="693718" y="2398816"/>
            <a:ext cx="6478977" cy="3699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33333"/>
              </a:lnSpc>
              <a:spcBef>
                <a:spcPts val="800"/>
              </a:spcBef>
              <a:defRPr/>
            </a:pPr>
            <a:r>
              <a:rPr lang="en-US" sz="24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01. </a:t>
            </a:r>
            <a:r>
              <a:rPr lang="en-US" sz="24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环境</a:t>
            </a:r>
            <a:r>
              <a:rPr lang="zh-CN" altLang="en-US" sz="24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影响</a:t>
            </a:r>
            <a:endParaRPr lang="en-US" sz="2400" dirty="0"/>
          </a:p>
          <a:p>
            <a:pPr indent="0" algn="l">
              <a:lnSpc>
                <a:spcPct val="116666"/>
              </a:lnSpc>
            </a:pPr>
            <a:r>
              <a:rPr 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2400" b="0" i="0" u="none" strike="noStrike" dirty="0" err="1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环境的微小相互作用会导致叠加态坍缩或相位相干性丧失</a:t>
            </a:r>
            <a:r>
              <a:rPr lang="zh-CN" alt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2400" b="0" i="0" u="none" strike="noStrike" dirty="0">
              <a:solidFill>
                <a:srgbClr val="60606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33333"/>
              </a:lnSpc>
              <a:spcBef>
                <a:spcPts val="2000"/>
              </a:spcBef>
            </a:pPr>
            <a:r>
              <a:rPr lang="en-US" sz="24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02. </a:t>
            </a:r>
            <a:r>
              <a:rPr lang="en-US" sz="24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量子操作的物理局限性</a:t>
            </a:r>
            <a:endParaRPr lang="en-US" sz="2400" b="1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</a:pPr>
            <a:r>
              <a:rPr lang="en-US" sz="2400" b="0" i="0" u="none" strike="noStrike" dirty="0" err="1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门操作</a:t>
            </a:r>
            <a:r>
              <a:rPr lang="zh-CN" alt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无法</a:t>
            </a:r>
            <a:r>
              <a:rPr 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达到100%的精准度，每一步操作都可能引入比特翻转或相位翻转错误</a:t>
            </a:r>
            <a:r>
              <a:rPr lang="zh-CN" altLang="en-US" sz="2400" b="0" i="0" u="none" strike="noStrike" dirty="0">
                <a:solidFill>
                  <a:srgbClr val="60606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2400" b="0" i="0" u="none" strike="noStrike" dirty="0">
              <a:solidFill>
                <a:srgbClr val="606060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F9513B4-8B63-CB6D-4A6D-6F09ABE86EF5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>
            <a:extLst>
              <a:ext uri="{FF2B5EF4-FFF2-40B4-BE49-F238E27FC236}">
                <a16:creationId xmlns:a16="http://schemas.microsoft.com/office/drawing/2014/main" id="{D6E84219-4855-9D2E-6ABB-3E9E68D86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867" y="1863089"/>
            <a:ext cx="1419423" cy="543001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BAFE9003-3A25-8D9A-6AC9-FE67C2480B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249" y="3829566"/>
            <a:ext cx="2829320" cy="146705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84D9988B-D418-E53B-2FEF-704A6FE2F8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1355" y="2843782"/>
            <a:ext cx="1657581" cy="695422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BD504D10-08FF-7204-1491-0E92F6382F92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1373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1460500"/>
            <a:ext cx="1066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1.2 </a:t>
            </a:r>
            <a:r>
              <a:rPr lang="en-US" sz="2200" b="1" i="0" u="none" strike="noStrike" dirty="0" err="1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经典纠错：重复码</a:t>
            </a:r>
            <a:r>
              <a:rPr lang="en-US" sz="2200" b="1" i="0" u="none" strike="noStrike" dirty="0">
                <a:solidFill>
                  <a:srgbClr val="595959"/>
                </a:solidFill>
                <a:latin typeface="Noto Sans SC"/>
                <a:ea typeface="Noto Sans SC"/>
                <a:cs typeface="Noto Sans SC"/>
                <a:sym typeface="Noto Sans SC"/>
              </a:rPr>
              <a:t> (Repetition Code)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863267" y="3711038"/>
            <a:ext cx="5911604" cy="192974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28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01.</a:t>
            </a:r>
            <a:r>
              <a:rPr lang="zh-CN" altLang="en-US" sz="28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编码</a:t>
            </a:r>
            <a:endParaRPr lang="en-US" sz="2800" b="1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en-US" sz="28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将1个比特映射为3个比特</a:t>
            </a:r>
          </a:p>
          <a:p>
            <a:pPr indent="0" algn="l">
              <a:lnSpc>
                <a:spcPct val="116666"/>
              </a:lnSpc>
              <a:defRPr/>
            </a:pPr>
            <a:endParaRPr lang="en-US" sz="28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en-US" sz="2800" b="1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02.</a:t>
            </a:r>
            <a:r>
              <a:rPr lang="zh-CN" altLang="en-US" sz="2800" b="1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判定</a:t>
            </a:r>
            <a:endParaRPr lang="en-US" sz="2800" b="1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28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按照少数服从多数的原则判定</a:t>
            </a:r>
            <a:br>
              <a:rPr lang="en-US" altLang="zh-CN" sz="28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endParaRPr lang="en-US" altLang="zh-CN" sz="2000" dirty="0"/>
          </a:p>
          <a:p>
            <a:pPr indent="0" algn="l">
              <a:lnSpc>
                <a:spcPct val="116666"/>
              </a:lnSpc>
              <a:defRPr/>
            </a:pPr>
            <a:endParaRPr lang="en-US" sz="28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ADBB1FC-E4AC-43BA-E2ED-C5A96C693B60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89D48D2B-38E1-206D-5CBD-74419FB33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1366" y="1942693"/>
            <a:ext cx="1305107" cy="514422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2EE13B9E-B0ED-2A51-E22E-E71D5E3E7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8056" y="2768293"/>
            <a:ext cx="1486107" cy="2924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762000" y="1397000"/>
            <a:ext cx="1066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1.3 </a:t>
            </a:r>
            <a:r>
              <a:rPr lang="en-US" sz="2200" b="1" i="0" u="none" strike="noStrike" dirty="0" err="1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量子纠错的</a:t>
            </a:r>
            <a:r>
              <a:rPr lang="zh-CN" alt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不同</a:t>
            </a:r>
            <a:r>
              <a:rPr lang="en-US" sz="2200" b="1" i="0" u="none" strike="noStrike" dirty="0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b="1" dirty="0"/>
          </a:p>
        </p:txBody>
      </p:sp>
      <p:sp>
        <p:nvSpPr>
          <p:cNvPr id="10" name="AutoShape 10"/>
          <p:cNvSpPr/>
          <p:nvPr/>
        </p:nvSpPr>
        <p:spPr>
          <a:xfrm>
            <a:off x="687778" y="2488540"/>
            <a:ext cx="6449292" cy="39122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01. </a:t>
            </a:r>
            <a:r>
              <a:rPr lang="en-US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编码</a:t>
            </a:r>
            <a:br>
              <a:rPr lang="en-US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将k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个逻辑比特的态映射到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n </a:t>
            </a: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个物理比特的高维希尔伯特空间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dirty="0"/>
          </a:p>
          <a:p>
            <a:pPr indent="0" algn="l">
              <a:lnSpc>
                <a:spcPct val="116666"/>
              </a:lnSpc>
              <a:spcBef>
                <a:spcPts val="1200"/>
              </a:spcBef>
            </a:pPr>
            <a:r>
              <a:rPr 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02. </a:t>
            </a:r>
            <a:r>
              <a:rPr lang="en-US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非破坏性</a:t>
            </a:r>
            <a:r>
              <a:rPr lang="zh-CN" alt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测量</a:t>
            </a:r>
            <a:br>
              <a:rPr lang="en-US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引入辅助比特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 ，</a:t>
            </a: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通过特定的量子门操作，将“错误信息”转移到辅助比特上，最后仅测量辅助比特，从而在不干扰逻辑信息的前提下提取错误线索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  <a:p>
            <a:pPr indent="0" algn="l">
              <a:lnSpc>
                <a:spcPct val="116666"/>
              </a:lnSpc>
              <a:spcBef>
                <a:spcPts val="1200"/>
              </a:spcBef>
            </a:pPr>
            <a:r>
              <a:rPr 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03. </a:t>
            </a:r>
            <a:r>
              <a:rPr lang="en-US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症候</a:t>
            </a:r>
            <a:r>
              <a:rPr lang="en-US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(Syndrome)</a:t>
            </a:r>
            <a:br>
              <a:rPr lang="en-US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0" i="0" u="none" strike="noStrike" dirty="0" err="1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辅助比特测量后的经典二进制输出，每一个特定的症候值都唯一对应一种物理错误的类型与位置，为后续纠正提供精确指引</a:t>
            </a:r>
            <a:r>
              <a:rPr lang="en-US" b="0" i="0" u="none" strike="noStrike" dirty="0">
                <a:solidFill>
                  <a:srgbClr val="5A5A5A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CD50F3C-2A74-B258-BD64-F7407EAD907D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utoShape 11">
            <a:extLst>
              <a:ext uri="{FF2B5EF4-FFF2-40B4-BE49-F238E27FC236}">
                <a16:creationId xmlns:a16="http://schemas.microsoft.com/office/drawing/2014/main" id="{4E41CD68-F6D6-30D8-910D-44EE21E151E2}"/>
              </a:ext>
            </a:extLst>
          </p:cNvPr>
          <p:cNvSpPr/>
          <p:nvPr/>
        </p:nvSpPr>
        <p:spPr>
          <a:xfrm>
            <a:off x="667324" y="1341910"/>
            <a:ext cx="5911604" cy="192974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2800" b="1" dirty="0">
                <a:solidFill>
                  <a:schemeClr val="accent2"/>
                </a:solidFill>
              </a:rPr>
              <a:t>直接测量将导致叠加态坍缩</a:t>
            </a:r>
            <a:endParaRPr lang="en-US" sz="2800" b="1" dirty="0">
              <a:solidFill>
                <a:schemeClr val="accent2"/>
              </a:solidFill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520E38C-05AA-0B93-7AD4-DE392CAE2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36" y="1112981"/>
            <a:ext cx="4333464" cy="722244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DD35154A-E96F-1A55-3E6A-69D46E758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3874" y="1899699"/>
            <a:ext cx="4325736" cy="1384564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4DCF17C7-34E1-BD07-4B80-158961F75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3781" y="3501368"/>
            <a:ext cx="4401164" cy="2943636"/>
          </a:xfrm>
          <a:prstGeom prst="rect">
            <a:avLst/>
          </a:prstGeom>
        </p:spPr>
      </p:pic>
      <p:sp>
        <p:nvSpPr>
          <p:cNvPr id="19" name="椭圆 18">
            <a:extLst>
              <a:ext uri="{FF2B5EF4-FFF2-40B4-BE49-F238E27FC236}">
                <a16:creationId xmlns:a16="http://schemas.microsoft.com/office/drawing/2014/main" id="{0F02576F-EA7D-C5B0-C998-F36E7366383E}"/>
              </a:ext>
            </a:extLst>
          </p:cNvPr>
          <p:cNvSpPr/>
          <p:nvPr/>
        </p:nvSpPr>
        <p:spPr>
          <a:xfrm>
            <a:off x="7642204" y="1368572"/>
            <a:ext cx="248281" cy="248281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37EE7788-03D4-1F72-DDE1-8C5587B5EF69}"/>
              </a:ext>
            </a:extLst>
          </p:cNvPr>
          <p:cNvSpPr/>
          <p:nvPr/>
        </p:nvSpPr>
        <p:spPr>
          <a:xfrm>
            <a:off x="7649269" y="3749444"/>
            <a:ext cx="248281" cy="248281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3E21AED-AB59-9257-281B-0EEA1366E963}"/>
              </a:ext>
            </a:extLst>
          </p:cNvPr>
          <p:cNvSpPr/>
          <p:nvPr/>
        </p:nvSpPr>
        <p:spPr>
          <a:xfrm>
            <a:off x="7644223" y="2509049"/>
            <a:ext cx="248281" cy="24828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CD7AB5CB-10AC-4FAF-61CF-6A4DEB986744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4447" y="27719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783724" y="2720511"/>
            <a:ext cx="4191000" cy="39302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量子脆弱性</a:t>
            </a:r>
            <a:endParaRPr lang="en-US" sz="1100" dirty="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8734" y="3318165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95481" y="3217507"/>
            <a:ext cx="1446481" cy="52684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经典重复码</a:t>
            </a:r>
            <a:endParaRPr lang="en-US" sz="1100" dirty="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60385" y="3893623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61507" y="4376058"/>
            <a:ext cx="1735777" cy="13656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7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</a:t>
            </a:r>
            <a:r>
              <a:rPr lang="zh-CN" altLang="en-US" sz="17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测量的不同</a:t>
            </a:r>
            <a:endParaRPr lang="en-US" sz="1100" dirty="0"/>
          </a:p>
          <a:p>
            <a:pPr indent="0" algn="l">
              <a:lnSpc>
                <a:spcPct val="108333"/>
              </a:lnSpc>
              <a:spcBef>
                <a:spcPts val="800"/>
              </a:spcBef>
            </a:pPr>
            <a:b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b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endParaRPr lang="en-US" sz="1200" b="0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70610" y="4469576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777667" y="4364511"/>
            <a:ext cx="2093685" cy="50437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7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特殊的</a:t>
            </a:r>
            <a:r>
              <a:rPr lang="en-US" sz="17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</a:t>
            </a:r>
            <a:r>
              <a:rPr lang="zh-CN" altLang="en-US" sz="17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形式</a:t>
            </a:r>
            <a:endParaRPr lang="en-US" sz="1100" dirty="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6019800"/>
            <a:ext cx="406400" cy="406400"/>
          </a:xfrm>
          <a:prstGeom prst="rect">
            <a:avLst/>
          </a:prstGeom>
        </p:spPr>
      </p:pic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B61D1BA-C3B5-E945-3BCE-4AF3B399C2C2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E88D39AA-7F98-9E0C-1DB8-A4B2349B9DAB}"/>
              </a:ext>
            </a:extLst>
          </p:cNvPr>
          <p:cNvCxnSpPr>
            <a:cxnSpLocks/>
          </p:cNvCxnSpPr>
          <p:nvPr/>
        </p:nvCxnSpPr>
        <p:spPr>
          <a:xfrm>
            <a:off x="1157844" y="2778827"/>
            <a:ext cx="0" cy="1995054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C77EF5D5-E969-EADB-D0C1-4887B8DE94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8536" y="1712686"/>
            <a:ext cx="4333464" cy="722244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0E9415A6-CA36-75CF-CC0A-35B9224EE2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3781" y="2693845"/>
            <a:ext cx="4401164" cy="2943636"/>
          </a:xfrm>
          <a:prstGeom prst="rect">
            <a:avLst/>
          </a:prstGeom>
        </p:spPr>
      </p:pic>
      <p:sp>
        <p:nvSpPr>
          <p:cNvPr id="25" name="AutoShape 3">
            <a:extLst>
              <a:ext uri="{FF2B5EF4-FFF2-40B4-BE49-F238E27FC236}">
                <a16:creationId xmlns:a16="http://schemas.microsoft.com/office/drawing/2014/main" id="{3F8D7A4E-0024-A580-D971-52195E37DC78}"/>
              </a:ext>
            </a:extLst>
          </p:cNvPr>
          <p:cNvSpPr/>
          <p:nvPr/>
        </p:nvSpPr>
        <p:spPr>
          <a:xfrm>
            <a:off x="1041070" y="1492497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dirty="0">
                <a:solidFill>
                  <a:srgbClr val="666666"/>
                </a:solidFill>
                <a:latin typeface="Noto Sans SC"/>
                <a:ea typeface="Noto Sans SC"/>
                <a:sym typeface="Noto Sans SC"/>
              </a:rPr>
              <a:t>总结</a:t>
            </a:r>
            <a:endParaRPr lang="en-US" sz="3600" dirty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36E47B9-305F-D9FB-9113-0522CFE7E03F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引言</a:t>
            </a:r>
            <a:r>
              <a:rPr lang="en-US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I</a:t>
            </a:r>
            <a:r>
              <a:rPr lang="en-US" altLang="zh-CN" sz="3200" b="1" dirty="0">
                <a:solidFill>
                  <a:schemeClr val="bg1">
                    <a:lumMod val="65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ntroduction</a:t>
            </a:r>
            <a:endParaRPr lang="en-US" sz="11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BAC-DEF5-9C28-859C-99B510B8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C96660B-39D4-78AC-4179-6C2BBB1B84B3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C0954DA-6793-313E-BB9F-ECF18F2ED5E4}"/>
              </a:ext>
            </a:extLst>
          </p:cNvPr>
          <p:cNvSpPr/>
          <p:nvPr/>
        </p:nvSpPr>
        <p:spPr>
          <a:xfrm>
            <a:off x="762000" y="896915"/>
            <a:ext cx="6155377" cy="491011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纠正</a:t>
            </a:r>
            <a:r>
              <a:rPr lang="en-US" sz="2200" b="1" i="0" u="none" strike="noStrike" dirty="0" err="1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比特翻转</a:t>
            </a:r>
            <a:r>
              <a:rPr lang="zh-CN" alt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(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bit flip error</a:t>
            </a: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)</a:t>
            </a:r>
          </a:p>
          <a:p>
            <a:pPr indent="0" algn="l">
              <a:lnSpc>
                <a:spcPct val="125000"/>
              </a:lnSpc>
              <a:defRPr/>
            </a:pPr>
            <a:endParaRPr lang="en-US" sz="2200" b="1" i="0" u="none" strike="noStrike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2.2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纠正相位反转错误 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(phase flip error)</a:t>
            </a:r>
          </a:p>
          <a:p>
            <a:pPr indent="0" algn="l">
              <a:lnSpc>
                <a:spcPct val="125000"/>
              </a:lnSpc>
              <a:defRPr/>
            </a:pPr>
            <a:endParaRPr lang="en-US" sz="2200" b="1" dirty="0">
              <a:solidFill>
                <a:srgbClr val="555555"/>
              </a:solidFill>
              <a:latin typeface="Noto Sans SC"/>
              <a:ea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1D6C7C7-3815-CFB3-16C1-299071DB385C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>
            <a:extLst>
              <a:ext uri="{FF2B5EF4-FFF2-40B4-BE49-F238E27FC236}">
                <a16:creationId xmlns:a16="http://schemas.microsoft.com/office/drawing/2014/main" id="{5AF47E0C-9BC8-E270-DA51-1F7DD2660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867" y="2076846"/>
            <a:ext cx="1419423" cy="54300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F99C748-60EA-735D-66C6-8323D055A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1355" y="4126321"/>
            <a:ext cx="1657581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105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FA5A-BFE3-A2A4-1A34-1E7A2C42B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6C917F8-181D-7581-F332-2B69922CBAC8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0179B69-5B69-2B62-5F3A-541276DB0029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编码实现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E1628F-3B84-BA2D-616B-5C8CCDA8315B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78D239FF-485F-2F02-ABE1-A762E557F24F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1100" dirty="0"/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en-US" sz="28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通过CNOT门实现</a:t>
            </a:r>
            <a:r>
              <a:rPr 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en-US" sz="28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以输入比特为控制位</a:t>
            </a:r>
            <a:r>
              <a:rPr 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(C)，</a:t>
            </a:r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en-US" sz="28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依次作用于两个初始化为</a:t>
            </a:r>
            <a:r>
              <a:rPr 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 |0⟩ 的</a:t>
            </a:r>
            <a:r>
              <a:rPr lang="zh-CN" alt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冗余</a:t>
            </a:r>
            <a:r>
              <a:rPr lang="en-US" sz="28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比特</a:t>
            </a:r>
            <a:r>
              <a:rPr lang="en-US" sz="28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(T)。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7F0744CF-E897-1C86-78BE-211E70CC3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066" y="1229723"/>
            <a:ext cx="3915321" cy="4315427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B467EC5E-661F-383F-4BF9-2EE232DEC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2482" y="4507036"/>
            <a:ext cx="4315427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69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错误描述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2000" b="0" i="0" u="none" strike="noStrike" dirty="0" err="1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由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Pauli</a:t>
            </a:r>
            <a:r>
              <a:rPr 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-X 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算子</a:t>
            </a:r>
            <a:r>
              <a:rPr lang="en-US" sz="2000" b="0" i="0" u="none" strike="noStrike" dirty="0" err="1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描述</a:t>
            </a:r>
            <a:r>
              <a:rPr lang="zh-CN" altLang="en-US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比特翻转</a:t>
            </a: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47F470BB-2341-418A-4F05-F8FCB00097C7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>
            <a:extLst>
              <a:ext uri="{FF2B5EF4-FFF2-40B4-BE49-F238E27FC236}">
                <a16:creationId xmlns:a16="http://schemas.microsoft.com/office/drawing/2014/main" id="{C7F3E105-A5E1-130B-38D4-57A4A4FE7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726" y="1645522"/>
            <a:ext cx="4792118" cy="2305864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9B644BC-CB46-D593-9123-71625818D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1763" y="4330449"/>
            <a:ext cx="3982006" cy="7525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02EFF-ADA6-C07B-C6DF-898954B4F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781C5F2-82BB-8066-CC6F-07AE70058231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2CDBA42-CC71-310F-CCB2-4C2A3650D29B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.3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错误提取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(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辅助码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) 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ABD8B7E-22D4-746B-9D50-E7616C986843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11">
            <a:extLst>
              <a:ext uri="{FF2B5EF4-FFF2-40B4-BE49-F238E27FC236}">
                <a16:creationId xmlns:a16="http://schemas.microsoft.com/office/drawing/2014/main" id="{571DF09A-798B-FAD3-AD1B-AE949D67776F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4F3A689B-E175-5F14-E02E-859E047135A9}"/>
              </a:ext>
            </a:extLst>
          </p:cNvPr>
          <p:cNvSpPr/>
          <p:nvPr/>
        </p:nvSpPr>
        <p:spPr>
          <a:xfrm>
            <a:off x="931601" y="24756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4185A5-719F-47CA-40F0-B7574179AAD0}"/>
              </a:ext>
            </a:extLst>
          </p:cNvPr>
          <p:cNvSpPr txBox="1"/>
          <p:nvPr/>
        </p:nvSpPr>
        <p:spPr>
          <a:xfrm>
            <a:off x="716077" y="2227034"/>
            <a:ext cx="685444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额外使用两个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辅助比特</a:t>
            </a:r>
            <a:r>
              <a:rPr lang="en-US" altLang="zh-CN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(a1 a2)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，</a:t>
            </a:r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第一个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辅助比特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  a1</a:t>
            </a:r>
          </a:p>
          <a:p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由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第二个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物理比特和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第三个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物理比特相加得到</a:t>
            </a:r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第二个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辅助比特  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a2</a:t>
            </a:r>
          </a:p>
          <a:p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由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第一个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物理比特和</a:t>
            </a:r>
            <a:r>
              <a:rPr lang="zh-CN" altLang="en-US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第三个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物理比特相加得到</a:t>
            </a:r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endParaRPr lang="en-US" altLang="zh-CN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  <a:p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(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此处相加实际为异或操作，同出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0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异出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1</a:t>
            </a:r>
            <a:r>
              <a:rPr lang="zh-CN" altLang="en-US" dirty="0">
                <a:latin typeface="Noto Sans SC" panose="020B0200000000000000" pitchFamily="34" charset="-122"/>
                <a:ea typeface="Noto Sans SC" panose="020B0200000000000000" pitchFamily="34" charset="-122"/>
              </a:rPr>
              <a:t>，为测量操作，非门操作</a:t>
            </a:r>
            <a:r>
              <a:rPr lang="en-US" altLang="zh-CN" dirty="0">
                <a:latin typeface="Noto Sans SC" panose="020B0200000000000000" pitchFamily="34" charset="-122"/>
                <a:ea typeface="Noto Sans SC" panose="020B0200000000000000" pitchFamily="34" charset="-122"/>
              </a:rPr>
              <a:t>)</a:t>
            </a:r>
          </a:p>
          <a:p>
            <a:endParaRPr lang="zh-CN" altLang="en-US" dirty="0"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90162736-0DC2-2E3C-C829-A392BD45F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30" y="1734402"/>
            <a:ext cx="4541568" cy="147945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807DB077-3FD3-377D-7FA2-DFDBEA7E65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0141" y="3535563"/>
            <a:ext cx="4431859" cy="1084882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985790F9-F446-1704-B9B9-9822D3ADA2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674" y="4596223"/>
            <a:ext cx="4660365" cy="232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501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0D324-0BED-69F2-049A-4C593A736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798DE43-FCFF-70C8-8147-EBFF4A766E30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10DDE7-1907-3C90-5CC9-ED29DCE9B273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.3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症状提取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(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辅助码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) </a:t>
            </a:r>
            <a:endParaRPr lang="en-US" sz="1100" dirty="0"/>
          </a:p>
        </p:txBody>
      </p:sp>
      <p:sp>
        <p:nvSpPr>
          <p:cNvPr id="5" name="AutoShape 11">
            <a:extLst>
              <a:ext uri="{FF2B5EF4-FFF2-40B4-BE49-F238E27FC236}">
                <a16:creationId xmlns:a16="http://schemas.microsoft.com/office/drawing/2014/main" id="{E065972E-8F90-9A96-6A84-1F200A62E0B6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EDE22D6-0295-AAA5-B11D-393F0EB1E7A4}"/>
              </a:ext>
            </a:extLst>
          </p:cNvPr>
          <p:cNvSpPr/>
          <p:nvPr/>
        </p:nvSpPr>
        <p:spPr>
          <a:xfrm>
            <a:off x="931601" y="24756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AF316DA-F693-1CF8-3811-4CD4CF9EF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076" y="3203428"/>
            <a:ext cx="10379246" cy="3231362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626A26F-D3D4-5666-D200-2D3B065DEC59}"/>
              </a:ext>
            </a:extLst>
          </p:cNvPr>
          <p:cNvSpPr txBox="1"/>
          <p:nvPr/>
        </p:nvSpPr>
        <p:spPr>
          <a:xfrm>
            <a:off x="1188417" y="2517703"/>
            <a:ext cx="61812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Syndrome – </a:t>
            </a:r>
            <a:r>
              <a:rPr lang="zh-CN" altLang="en-US" sz="2400" b="1" dirty="0">
                <a:latin typeface="Noto Sans SC" panose="020B0200000000000000" pitchFamily="34" charset="-122"/>
                <a:ea typeface="Noto Sans SC" panose="020B0200000000000000" pitchFamily="34" charset="-122"/>
              </a:rPr>
              <a:t>症状</a:t>
            </a:r>
          </a:p>
        </p:txBody>
      </p:sp>
    </p:spTree>
    <p:extLst>
      <p:ext uri="{BB962C8B-B14F-4D97-AF65-F5344CB8AC3E}">
        <p14:creationId xmlns:p14="http://schemas.microsoft.com/office/powerpoint/2010/main" val="1893980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4637A-90F0-B9CF-E52D-00AABED7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0276B87-B47A-4A6B-C76F-3D7C5B720842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24A0B83-6F16-A8F5-9D00-3FF283E2A2EC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2.1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.4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修复</a:t>
            </a:r>
            <a:endParaRPr lang="en-US" sz="1100" dirty="0"/>
          </a:p>
        </p:txBody>
      </p:sp>
      <p:sp>
        <p:nvSpPr>
          <p:cNvPr id="5" name="AutoShape 11">
            <a:extLst>
              <a:ext uri="{FF2B5EF4-FFF2-40B4-BE49-F238E27FC236}">
                <a16:creationId xmlns:a16="http://schemas.microsoft.com/office/drawing/2014/main" id="{0432B237-2BE1-3969-FACB-426089697A5B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8" name="AutoShape 11">
            <a:extLst>
              <a:ext uri="{FF2B5EF4-FFF2-40B4-BE49-F238E27FC236}">
                <a16:creationId xmlns:a16="http://schemas.microsoft.com/office/drawing/2014/main" id="{DB9EAF41-F339-E821-74A6-7AFCCA73C177}"/>
              </a:ext>
            </a:extLst>
          </p:cNvPr>
          <p:cNvSpPr/>
          <p:nvPr/>
        </p:nvSpPr>
        <p:spPr>
          <a:xfrm>
            <a:off x="931601" y="24756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62203799-8C50-34D5-8E4A-A4FAFE70D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43" y="3603099"/>
            <a:ext cx="10932596" cy="2491797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1F2F13AB-DCE3-1761-2C75-40DCB9702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831" y="1076412"/>
            <a:ext cx="4449474" cy="226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206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6D9B2-625F-4D0A-0E0B-E03B3F31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53DBC2D-274C-C8E9-D58E-3320FDECE898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6D9D841-312A-77DA-5181-951BC5867D44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2.2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编码实现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B720568-5A01-3E28-0221-D0DA87B9E037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3431320E-CC31-65FB-6D3E-EABA738B3BD0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en-US" sz="20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通过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CNOT门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加</a:t>
            </a:r>
            <a:r>
              <a:rPr lang="en-US" altLang="zh-CN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H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r>
              <a:rPr lang="en-US" sz="20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实现</a:t>
            </a:r>
            <a:r>
              <a:rPr 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</a:p>
          <a:p>
            <a:pPr indent="0" algn="l">
              <a:lnSpc>
                <a:spcPct val="116666"/>
              </a:lnSpc>
              <a:spcBef>
                <a:spcPts val="800"/>
              </a:spcBef>
            </a:pP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首先通过</a:t>
            </a:r>
            <a:r>
              <a:rPr lang="en-US" altLang="zh-CN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CNOT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获得与比特翻转时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相同的</a:t>
            </a: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冗余码，</a:t>
            </a:r>
            <a:endParaRPr lang="en-US" altLang="zh-CN" sz="2000" b="0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>
              <a:lnSpc>
                <a:spcPct val="116666"/>
              </a:lnSpc>
              <a:spcBef>
                <a:spcPts val="800"/>
              </a:spcBef>
            </a:pP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再通过</a:t>
            </a:r>
            <a:r>
              <a:rPr lang="en-US" altLang="zh-CN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H</a:t>
            </a:r>
            <a:r>
              <a:rPr lang="zh-CN" alt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r>
              <a:rPr lang="zh-CN" altLang="en-US" sz="20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获得</a:t>
            </a:r>
            <a:r>
              <a:rPr lang="en-US" altLang="zh-CN" b="1" dirty="0"/>
              <a:t>|+⟩</a:t>
            </a:r>
            <a:r>
              <a:rPr lang="zh-CN" altLang="en-US" b="1" dirty="0"/>
              <a:t>，</a:t>
            </a:r>
            <a:r>
              <a:rPr lang="en-US" altLang="zh-CN" b="1" dirty="0"/>
              <a:t>|-</a:t>
            </a:r>
            <a:r>
              <a:rPr lang="en-US" altLang="zh-CN" sz="2000" b="1" dirty="0"/>
              <a:t>⟩</a:t>
            </a:r>
            <a:endParaRPr lang="en-US" sz="2000" b="1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D0F7F0-F534-A1B7-AF1A-35B8E2006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462" y="4577937"/>
            <a:ext cx="3670949" cy="201286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5CF8FFC-99B3-D996-020A-76BFF439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0098" y="343216"/>
            <a:ext cx="4422525" cy="61949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B6D0AAC-656A-22ED-7BFC-C2B0D16E52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7904" y="3598200"/>
            <a:ext cx="4258269" cy="2191056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8CA9D39-F93A-A70F-8233-23FD86B7D9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682" y="3047947"/>
            <a:ext cx="2762636" cy="76210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882E0F61-4F8F-826F-46A4-53C9C2E647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4366" y="856250"/>
            <a:ext cx="4554824" cy="71948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D695EFE-4037-E643-0872-BEFEF035A9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0099" y="1662188"/>
            <a:ext cx="2838846" cy="695422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25F4D496-5282-84B9-D3D6-50AEFFF447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881" y="2669372"/>
            <a:ext cx="2772162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864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A1CBF-BEF3-2AC7-B1C0-A2797726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EB15FCA-E0A3-6CE9-32A9-E7AB3A43EDDE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B2B8058-1A79-11E3-A41B-F14A9BDCED39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2.2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错误描述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314B4269-6152-4AE7-F3C4-021017A3C4E1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2000" b="0" i="0" u="none" strike="noStrike" dirty="0" err="1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由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Pauli</a:t>
            </a:r>
            <a:r>
              <a:rPr lang="en-US" sz="20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-Z </a:t>
            </a:r>
            <a:r>
              <a:rPr lang="en-US" sz="20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算子</a:t>
            </a:r>
            <a:r>
              <a:rPr lang="en-US" sz="2000" b="0" i="0" u="none" strike="noStrike" dirty="0" err="1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描述</a:t>
            </a:r>
            <a:r>
              <a:rPr lang="zh-CN" altLang="en-US" sz="20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相位</a:t>
            </a:r>
            <a:r>
              <a:rPr lang="zh-CN" altLang="en-US" sz="20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翻转</a:t>
            </a: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98D94A2-F27C-C284-29F5-35E1CA7EE16B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543BE8F7-43FF-0F5B-80AD-1BEAA4D72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803" y="1695579"/>
            <a:ext cx="4456994" cy="199323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D2057352-AD93-9C59-478C-C2E9F82B5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800" y="4154909"/>
            <a:ext cx="357237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731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5CF8E-E518-55AF-F455-64660C53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32AC28F-FE9A-E96C-3917-5A61E15049E2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8E41084-8346-79CA-37A7-339B706CE372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2.2</a:t>
            </a:r>
            <a:r>
              <a:rPr 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.3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错误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症状提取与修复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95ED69BD-FA22-2440-7CAA-EB409E73452D}"/>
              </a:ext>
            </a:extLst>
          </p:cNvPr>
          <p:cNvSpPr/>
          <p:nvPr/>
        </p:nvSpPr>
        <p:spPr>
          <a:xfrm>
            <a:off x="779201" y="2323271"/>
            <a:ext cx="62738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20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由于</a:t>
            </a:r>
            <a:r>
              <a:rPr lang="en-US" altLang="zh-CN" sz="20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CNOT</a:t>
            </a:r>
            <a:r>
              <a:rPr lang="zh-CN" altLang="en-US" sz="2000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门对</a:t>
            </a:r>
            <a:r>
              <a:rPr lang="en-US" altLang="zh-CN" sz="2000" b="1" dirty="0"/>
              <a:t>|++⟩</a:t>
            </a:r>
            <a:r>
              <a:rPr lang="zh-CN" altLang="en-US" sz="2000" b="1" dirty="0"/>
              <a:t>，</a:t>
            </a:r>
            <a:r>
              <a:rPr lang="en-US" altLang="zh-CN" sz="2000" b="1" dirty="0"/>
              <a:t>|--⟩</a:t>
            </a:r>
            <a:r>
              <a:rPr lang="zh-CN" altLang="en-US" sz="2000" b="1" dirty="0"/>
              <a:t>作用</a:t>
            </a:r>
            <a:endParaRPr lang="en-US" altLang="zh-CN" sz="2000" b="1" dirty="0"/>
          </a:p>
          <a:p>
            <a:pPr>
              <a:lnSpc>
                <a:spcPct val="116666"/>
              </a:lnSpc>
              <a:defRPr/>
            </a:pPr>
            <a:r>
              <a:rPr lang="zh-CN" altLang="en-US" sz="2000" b="1" dirty="0"/>
              <a:t>类似对</a:t>
            </a:r>
            <a:r>
              <a:rPr lang="en-US" altLang="zh-CN" sz="2000" b="1" dirty="0"/>
              <a:t>|00⟩</a:t>
            </a:r>
            <a:r>
              <a:rPr lang="zh-CN" altLang="en-US" sz="2000" b="1" dirty="0"/>
              <a:t>，</a:t>
            </a:r>
            <a:r>
              <a:rPr lang="en-US" altLang="zh-CN" sz="2000" b="1" dirty="0"/>
              <a:t>|11⟩</a:t>
            </a:r>
            <a:r>
              <a:rPr lang="zh-CN" altLang="en-US" sz="2000" b="1" dirty="0"/>
              <a:t>作用</a:t>
            </a:r>
            <a:endParaRPr lang="en-US" altLang="zh-CN" sz="2000" b="1" dirty="0"/>
          </a:p>
          <a:p>
            <a:pPr>
              <a:lnSpc>
                <a:spcPct val="116666"/>
              </a:lnSpc>
              <a:defRPr/>
            </a:pPr>
            <a:r>
              <a:rPr lang="zh-CN" altLang="en-US" sz="2000" b="1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故可直接套用比特翻转模式</a:t>
            </a:r>
            <a:endParaRPr lang="en-US" sz="2000" b="0" i="0" u="none" strike="noStrike" dirty="0">
              <a:solidFill>
                <a:srgbClr val="4B556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C0BE11BD-AF4B-BA63-C30D-4EF4AE611011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69E9A67C-3B17-BAD2-8B92-3021DD146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84" y="1980015"/>
            <a:ext cx="3772426" cy="100979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90DEF44-DC35-22ED-B4A7-9EA7346ED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958" y="3118090"/>
            <a:ext cx="3762900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5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33BF-8072-4E17-5048-DCD18D6B8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CD4870E-0127-F376-6C9C-A3B9D67E32B1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3-</a:t>
            </a:r>
            <a:r>
              <a:rPr lang="en-US" altLang="zh-CN" sz="3200" b="1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bit</a:t>
            </a: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电路框架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F2C612F-7C19-2E6D-8F12-FC7EA5457755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8630F4A-9D5E-EF34-E31B-DFE7A4937A46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3">
            <a:extLst>
              <a:ext uri="{FF2B5EF4-FFF2-40B4-BE49-F238E27FC236}">
                <a16:creationId xmlns:a16="http://schemas.microsoft.com/office/drawing/2014/main" id="{58654DCE-EA30-A84A-1494-6CAA074FACA4}"/>
              </a:ext>
            </a:extLst>
          </p:cNvPr>
          <p:cNvSpPr/>
          <p:nvPr/>
        </p:nvSpPr>
        <p:spPr>
          <a:xfrm>
            <a:off x="1041070" y="1492497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600" b="1" dirty="0">
                <a:solidFill>
                  <a:srgbClr val="666666"/>
                </a:solidFill>
                <a:latin typeface="Noto Sans SC"/>
                <a:ea typeface="Noto Sans SC"/>
                <a:sym typeface="Noto Sans SC"/>
              </a:rPr>
              <a:t>总结</a:t>
            </a:r>
            <a:endParaRPr lang="en-US" sz="3600" dirty="0"/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29922F11-4941-C191-C416-81A82507BFD1}"/>
              </a:ext>
            </a:extLst>
          </p:cNvPr>
          <p:cNvSpPr/>
          <p:nvPr/>
        </p:nvSpPr>
        <p:spPr>
          <a:xfrm>
            <a:off x="3568265" y="3076913"/>
            <a:ext cx="1391013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编码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endParaRPr lang="en-US" sz="1100" dirty="0"/>
          </a:p>
        </p:txBody>
      </p:sp>
      <p:sp>
        <p:nvSpPr>
          <p:cNvPr id="7" name="AutoShape 3">
            <a:extLst>
              <a:ext uri="{FF2B5EF4-FFF2-40B4-BE49-F238E27FC236}">
                <a16:creationId xmlns:a16="http://schemas.microsoft.com/office/drawing/2014/main" id="{94D2968A-7A9B-C07D-1604-FAFBEB3B320E}"/>
              </a:ext>
            </a:extLst>
          </p:cNvPr>
          <p:cNvSpPr/>
          <p:nvPr/>
        </p:nvSpPr>
        <p:spPr>
          <a:xfrm>
            <a:off x="3575329" y="3744043"/>
            <a:ext cx="2050919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错误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/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症状提取</a:t>
            </a:r>
            <a:endParaRPr lang="en-US" sz="1100" dirty="0"/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8C8D3348-03BA-0321-DAFF-206D047748AA}"/>
              </a:ext>
            </a:extLst>
          </p:cNvPr>
          <p:cNvSpPr/>
          <p:nvPr/>
        </p:nvSpPr>
        <p:spPr>
          <a:xfrm>
            <a:off x="3564227" y="4411171"/>
            <a:ext cx="1599446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sym typeface="Noto Sans SC"/>
              </a:rPr>
              <a:t>修复</a:t>
            </a:r>
            <a:endParaRPr lang="en-US" sz="11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D6440F8-199B-A74B-72CF-2536A7B3D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06" y="160317"/>
            <a:ext cx="2307779" cy="114624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BB28409-8095-2561-EA4D-020FFD2D2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4057" y="212771"/>
            <a:ext cx="1983455" cy="108757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82655A24-8B83-1C24-4DDC-43C07DF1A2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0612" y="1579890"/>
            <a:ext cx="4660365" cy="232162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B6C86BE-3439-FDED-99F2-C34851F9F9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9608" y="3938365"/>
            <a:ext cx="4449474" cy="2269651"/>
          </a:xfrm>
          <a:prstGeom prst="rect">
            <a:avLst/>
          </a:prstGeom>
        </p:spPr>
      </p:pic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C2EBC7D-3D9A-0F90-3862-93113A33CD66}"/>
              </a:ext>
            </a:extLst>
          </p:cNvPr>
          <p:cNvCxnSpPr>
            <a:cxnSpLocks/>
          </p:cNvCxnSpPr>
          <p:nvPr/>
        </p:nvCxnSpPr>
        <p:spPr>
          <a:xfrm>
            <a:off x="3393830" y="3034914"/>
            <a:ext cx="0" cy="1995054"/>
          </a:xfrm>
          <a:prstGeom prst="straightConnector1">
            <a:avLst/>
          </a:prstGeom>
          <a:ln w="571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utoShape 3">
            <a:extLst>
              <a:ext uri="{FF2B5EF4-FFF2-40B4-BE49-F238E27FC236}">
                <a16:creationId xmlns:a16="http://schemas.microsoft.com/office/drawing/2014/main" id="{CCF0D56C-DB11-001E-FC62-DFD2E2C4474D}"/>
              </a:ext>
            </a:extLst>
          </p:cNvPr>
          <p:cNvSpPr/>
          <p:nvPr/>
        </p:nvSpPr>
        <p:spPr>
          <a:xfrm>
            <a:off x="2085501" y="3713407"/>
            <a:ext cx="1391013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CNOT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   H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门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862578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F847-ED78-C1AF-30CF-7C85A86D5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B3F8E78-4444-08AC-22A4-2912BB84D57C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A45A18E-24F4-1D12-28F2-DB8E04D34DC1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2B006EE-A168-F996-81B7-61D9C60F98D0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utoShape 3">
            <a:extLst>
              <a:ext uri="{FF2B5EF4-FFF2-40B4-BE49-F238E27FC236}">
                <a16:creationId xmlns:a16="http://schemas.microsoft.com/office/drawing/2014/main" id="{35FE90DB-96F3-7BB8-6E40-4780EA334F23}"/>
              </a:ext>
            </a:extLst>
          </p:cNvPr>
          <p:cNvSpPr/>
          <p:nvPr/>
        </p:nvSpPr>
        <p:spPr>
          <a:xfrm>
            <a:off x="914400" y="1565893"/>
            <a:ext cx="6068291" cy="422332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在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章节中我们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在</a:t>
            </a:r>
            <a:r>
              <a:rPr lang="zh-CN" altLang="en-US" sz="2200" b="1" dirty="0">
                <a:solidFill>
                  <a:schemeClr val="accent2"/>
                </a:solidFill>
                <a:latin typeface="Noto Sans SC"/>
                <a:ea typeface="Noto Sans SC"/>
                <a:cs typeface="Noto Sans SC"/>
                <a:sym typeface="Noto Sans SC"/>
              </a:rPr>
              <a:t>实际电路框架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下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讨论了简单的</a:t>
            </a: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 bit 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量子纠错码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建立了直观的量子纠错过程的印象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而本章节我们从</a:t>
            </a:r>
            <a:r>
              <a:rPr lang="zh-CN" altLang="en-US" sz="2200" b="1" dirty="0">
                <a:solidFill>
                  <a:schemeClr val="accent2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的视角重新看待量子纠错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80096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D7008-93EE-B69E-76DB-D70EEA1E5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6CCE066-D664-E775-A319-58B173371B42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3E952E4-BA09-6EC1-3E9D-0D4F44BA572D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2CE4F8C-A252-63E9-0A22-73318ECC4FC5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utoShape 3">
            <a:extLst>
              <a:ext uri="{FF2B5EF4-FFF2-40B4-BE49-F238E27FC236}">
                <a16:creationId xmlns:a16="http://schemas.microsoft.com/office/drawing/2014/main" id="{C3BDC17F-4900-C1C0-4B4F-3A8C2FA95207}"/>
              </a:ext>
            </a:extLst>
          </p:cNvPr>
          <p:cNvSpPr/>
          <p:nvPr/>
        </p:nvSpPr>
        <p:spPr>
          <a:xfrm>
            <a:off x="914400" y="1565893"/>
            <a:ext cx="6068291" cy="422332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F3EFDBCB-DDE8-541B-8CD4-8AA73A56E093}"/>
              </a:ext>
            </a:extLst>
          </p:cNvPr>
          <p:cNvSpPr/>
          <p:nvPr/>
        </p:nvSpPr>
        <p:spPr>
          <a:xfrm>
            <a:off x="1005840" y="1065007"/>
            <a:ext cx="1877209" cy="588443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泡利群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稳定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3.3</a:t>
            </a: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3653603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78C0D-69E0-7034-60B7-D046DB2A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9878A1D-9AE6-3F22-3927-39A0E32FCBD0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64AB6D7-07E8-FAF3-C60A-B07058B174D3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034550F-5C2A-1A56-9CB6-452B2F559192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4C207BCB-6A2A-5385-D0D2-8AEE53813A12}"/>
              </a:ext>
            </a:extLst>
          </p:cNvPr>
          <p:cNvSpPr/>
          <p:nvPr/>
        </p:nvSpPr>
        <p:spPr>
          <a:xfrm>
            <a:off x="1005840" y="1315720"/>
            <a:ext cx="1877209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3.1.1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泡利群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C98D530-48AC-DD7F-A58E-CD9165AA5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709" y="180453"/>
            <a:ext cx="3124636" cy="266737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F074AF4-3082-57CF-4B98-CB23275D5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462" y="2865618"/>
            <a:ext cx="2095792" cy="168616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A750BD3A-1878-627D-7197-D75D9398F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3869" y="4802902"/>
            <a:ext cx="4191585" cy="1533739"/>
          </a:xfrm>
          <a:prstGeom prst="rect">
            <a:avLst/>
          </a:prstGeom>
        </p:spPr>
      </p:pic>
      <p:sp>
        <p:nvSpPr>
          <p:cNvPr id="16" name="AutoShape 7">
            <a:extLst>
              <a:ext uri="{FF2B5EF4-FFF2-40B4-BE49-F238E27FC236}">
                <a16:creationId xmlns:a16="http://schemas.microsoft.com/office/drawing/2014/main" id="{77BCB919-D09E-B807-C793-462DBB4A90A3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23AF00C-CDE6-3F85-48E0-1A90C0355DD4}"/>
                  </a:ext>
                </a:extLst>
              </p:cNvPr>
              <p:cNvSpPr txBox="1"/>
              <p:nvPr/>
            </p:nvSpPr>
            <p:spPr>
              <a:xfrm>
                <a:off x="895575" y="2324566"/>
                <a:ext cx="6094206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i="0" dirty="0">
                    <a:solidFill>
                      <a:schemeClr val="accent2"/>
                    </a:solidFill>
                    <a:effectLst/>
                    <a:latin typeface="quote-cjk-patch"/>
                  </a:rPr>
                  <a:t>单</a:t>
                </a:r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量子比特的泡利矩阵 </a:t>
                </a:r>
                <a14:m>
                  <m:oMath xmlns:m="http://schemas.openxmlformats.org/officeDocument/2006/math"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 </a:t>
                </a:r>
                <a:endParaRPr lang="en-US" altLang="zh-CN" sz="2400" b="1" i="0" dirty="0">
                  <a:solidFill>
                    <a:srgbClr val="0F1115"/>
                  </a:solidFill>
                  <a:effectLst/>
                  <a:latin typeface="quote-cjk-patch"/>
                </a:endParaRPr>
              </a:p>
              <a:p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乘以</a:t>
                </a:r>
                <a:r>
                  <a:rPr lang="zh-CN" altLang="en-US" sz="2400" b="1" i="0" dirty="0">
                    <a:solidFill>
                      <a:schemeClr val="accent2"/>
                    </a:solidFill>
                    <a:effectLst/>
                    <a:latin typeface="quote-cjk-patch"/>
                  </a:rPr>
                  <a:t>相位</a:t>
                </a:r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因子 </a:t>
                </a:r>
                <a14:m>
                  <m:oMath xmlns:m="http://schemas.openxmlformats.org/officeDocument/2006/math">
                    <m:r>
                      <a:rPr lang="en-US" altLang="zh-CN" sz="240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1,±</m:t>
                    </m:r>
                    <m:r>
                      <a:rPr lang="zh-CN" alt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 后生成的</a:t>
                </a:r>
                <a:endParaRPr lang="en-US" altLang="zh-CN" sz="2400" b="1" i="0" dirty="0">
                  <a:solidFill>
                    <a:srgbClr val="0F1115"/>
                  </a:solidFill>
                  <a:effectLst/>
                  <a:latin typeface="quote-cjk-patch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sz="240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zh-CN" altLang="en-US" sz="2400" b="1" i="0" dirty="0">
                    <a:solidFill>
                      <a:schemeClr val="accent2"/>
                    </a:solidFill>
                    <a:effectLst/>
                    <a:latin typeface="quote-cjk-patch"/>
                  </a:rPr>
                  <a:t> </a:t>
                </a:r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个 </a:t>
                </a:r>
                <a14:m>
                  <m:oMath xmlns:m="http://schemas.openxmlformats.org/officeDocument/2006/math">
                    <m:r>
                      <a:rPr lang="en-US" altLang="zh-CN" sz="24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zh-CN" sz="2400" i="0">
                        <a:latin typeface="Cambria Math" panose="02040503050406030204" pitchFamily="18" charset="0"/>
                      </a:rPr>
                      <m:t>×2</m:t>
                    </m:r>
                  </m:oMath>
                </a14:m>
                <a:r>
                  <a:rPr lang="zh-CN" altLang="en-US" sz="2400" b="1" i="0" dirty="0">
                    <a:solidFill>
                      <a:srgbClr val="0F1115"/>
                    </a:solidFill>
                    <a:effectLst/>
                    <a:latin typeface="quote-cjk-patch"/>
                  </a:rPr>
                  <a:t> 矩阵构成的集合</a:t>
                </a:r>
                <a:endParaRPr lang="en-US" altLang="zh-CN" sz="2400" b="1" i="0" dirty="0">
                  <a:solidFill>
                    <a:srgbClr val="0F1115"/>
                  </a:solidFill>
                  <a:effectLst/>
                  <a:latin typeface="quote-cjk-patch"/>
                </a:endParaRPr>
              </a:p>
              <a:p>
                <a:endParaRPr lang="en-US" altLang="zh-CN" sz="2400" b="1" i="0" dirty="0">
                  <a:solidFill>
                    <a:srgbClr val="0F1115"/>
                  </a:solidFill>
                  <a:effectLst/>
                  <a:latin typeface="quote-cjk-patch"/>
                </a:endParaRPr>
              </a:p>
              <a:p>
                <a:r>
                  <a:rPr lang="en-US" altLang="zh-CN" sz="2400" b="1" dirty="0">
                    <a:solidFill>
                      <a:schemeClr val="accent2"/>
                    </a:solidFill>
                    <a:latin typeface="quote-cjk-patch"/>
                  </a:rPr>
                  <a:t>g</a:t>
                </a:r>
                <a:r>
                  <a:rPr lang="en-US" altLang="zh-CN" sz="2400" b="1" dirty="0">
                    <a:solidFill>
                      <a:srgbClr val="0F1115"/>
                    </a:solidFill>
                    <a:latin typeface="quote-cjk-patch"/>
                  </a:rPr>
                  <a:t>(group)</a:t>
                </a:r>
              </a:p>
              <a:p>
                <a:r>
                  <a:rPr lang="en-US" altLang="zh-CN" sz="2400" b="1" dirty="0">
                    <a:solidFill>
                      <a:srgbClr val="0F1115"/>
                    </a:solidFill>
                    <a:latin typeface="quote-cjk-patch"/>
                  </a:rPr>
                  <a:t>e f </a:t>
                </a:r>
                <a:r>
                  <a:rPr lang="en-US" altLang="zh-CN" sz="2400" b="1" dirty="0">
                    <a:solidFill>
                      <a:schemeClr val="accent2"/>
                    </a:solidFill>
                    <a:latin typeface="quote-cjk-patch"/>
                  </a:rPr>
                  <a:t>g h</a:t>
                </a:r>
              </a:p>
              <a:p>
                <a:endParaRPr lang="en-US" altLang="zh-CN" sz="2400" b="1" dirty="0">
                  <a:solidFill>
                    <a:schemeClr val="accent2"/>
                  </a:solidFill>
                  <a:latin typeface="quote-cjk-patch"/>
                </a:endParaRPr>
              </a:p>
              <a:p>
                <a:endParaRPr lang="en-US" altLang="zh-CN" sz="2400" b="1" dirty="0">
                  <a:solidFill>
                    <a:schemeClr val="accent2"/>
                  </a:solidFill>
                  <a:latin typeface="quote-cjk-patch"/>
                </a:endParaRPr>
              </a:p>
              <a:p>
                <a:endParaRPr lang="zh-CN" altLang="en-US" sz="2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23AF00C-CDE6-3F85-48E0-1A90C0355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575" y="2324566"/>
                <a:ext cx="6094206" cy="3416320"/>
              </a:xfrm>
              <a:prstGeom prst="rect">
                <a:avLst/>
              </a:prstGeom>
              <a:blipFill>
                <a:blip r:embed="rId6"/>
                <a:stretch>
                  <a:fillRect l="-1600" t="-12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895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F2551-B6DD-BC69-23FB-62F545EA4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2E399A43-7346-FFA3-19BC-245E246F9DF7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130DFF4-47EA-B098-C3D3-F65543E093AD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5522C79-C040-68B4-F0F1-6F0D3131FE61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C7ED3541-43E7-82B8-A10B-0193E1FE46E6}"/>
              </a:ext>
            </a:extLst>
          </p:cNvPr>
          <p:cNvSpPr/>
          <p:nvPr/>
        </p:nvSpPr>
        <p:spPr>
          <a:xfrm>
            <a:off x="1005840" y="1315720"/>
            <a:ext cx="25872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3.1.2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广义泡利群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A60A6B15-FDCD-EF5B-CD43-EAD08D215F8E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E1DBBE6-4C18-DA89-CDDE-00BE16EB2BA5}"/>
              </a:ext>
            </a:extLst>
          </p:cNvPr>
          <p:cNvSpPr txBox="1"/>
          <p:nvPr/>
        </p:nvSpPr>
        <p:spPr>
          <a:xfrm>
            <a:off x="1046182" y="3529423"/>
            <a:ext cx="60942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quote-cjk-patch"/>
              </a:rPr>
              <a:t>泡利群的张量积结果</a:t>
            </a:r>
            <a:endParaRPr lang="en-US" altLang="zh-CN" sz="2400" b="1" dirty="0">
              <a:latin typeface="quote-cjk-patch"/>
            </a:endParaRPr>
          </a:p>
          <a:p>
            <a:endParaRPr lang="en-US" altLang="zh-CN" sz="2400" b="1" dirty="0">
              <a:solidFill>
                <a:schemeClr val="accent2"/>
              </a:solidFill>
              <a:latin typeface="quote-cjk-patch"/>
            </a:endParaRPr>
          </a:p>
          <a:p>
            <a:endParaRPr lang="en-US" altLang="zh-CN" sz="2400" b="1" dirty="0">
              <a:solidFill>
                <a:schemeClr val="accent2"/>
              </a:solidFill>
              <a:latin typeface="quote-cjk-patch"/>
            </a:endParaRPr>
          </a:p>
          <a:p>
            <a:endParaRPr lang="zh-CN" altLang="en-US" sz="2400" dirty="0">
              <a:solidFill>
                <a:schemeClr val="accent2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FCAEAF6-C7BA-EA09-1BD4-B715472F0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3051" y="544428"/>
            <a:ext cx="4368949" cy="195823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2B2038C-F743-2D0C-F5E5-47D89498C9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462" y="2865618"/>
            <a:ext cx="2095792" cy="168616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D38DBB3-FB92-71B4-B7CB-CBAACB5D72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3869" y="4802902"/>
            <a:ext cx="4191585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121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F2AC9-7FB2-471D-89B5-119D0484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75245E9-A822-F0EE-2DE1-EB0A59846F0E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233C1B7-6C31-35EB-F3DA-85EAABBCD824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C7E50337-FEDF-8501-5BEE-C416EBFA2094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34261D83-7996-788A-65B5-CA2D0B89B371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3.2.1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稳定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62616CF6-F500-9769-324A-3728E092D1B3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93D62D-9A1D-6C4B-E322-3A48BE21DE7F}"/>
              </a:ext>
            </a:extLst>
          </p:cNvPr>
          <p:cNvSpPr txBox="1"/>
          <p:nvPr/>
        </p:nvSpPr>
        <p:spPr>
          <a:xfrm>
            <a:off x="2186492" y="3569752"/>
            <a:ext cx="60942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accent2"/>
                </a:solidFill>
              </a:rPr>
              <a:t>稳定</a:t>
            </a:r>
            <a:r>
              <a:rPr lang="en-US" altLang="zh-CN" sz="2400" b="1" dirty="0">
                <a:solidFill>
                  <a:schemeClr val="accent2"/>
                </a:solidFill>
              </a:rPr>
              <a:t> </a:t>
            </a:r>
            <a:r>
              <a:rPr lang="zh-CN" altLang="en-US" sz="2400" b="1" dirty="0">
                <a:solidFill>
                  <a:schemeClr val="accent2"/>
                </a:solidFill>
              </a:rPr>
              <a:t> </a:t>
            </a:r>
            <a:r>
              <a:rPr lang="zh-CN" altLang="en-US" sz="2400" b="1" dirty="0"/>
              <a:t>操作</a:t>
            </a:r>
            <a:r>
              <a:rPr lang="zh-CN" altLang="en-US" sz="2400" b="1" dirty="0">
                <a:solidFill>
                  <a:schemeClr val="accent2"/>
                </a:solidFill>
              </a:rPr>
              <a:t>不</a:t>
            </a:r>
            <a:r>
              <a:rPr lang="zh-CN" altLang="en-US" sz="2400" b="1" dirty="0"/>
              <a:t>改变对象</a:t>
            </a:r>
            <a:endParaRPr lang="en-US" altLang="zh-CN" sz="2400" b="1" dirty="0"/>
          </a:p>
          <a:p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590623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854DD-86EC-9B62-A016-A97C24443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0500A6C-1164-3352-CB20-33D553EBD28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AE17005-26EC-2A9F-F9E2-E28B82CD5897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F80C0FF-8569-79FB-0162-E47EB241CBCA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4AC70BBF-4194-E1E1-A39E-907AD56EA928}"/>
              </a:ext>
            </a:extLst>
          </p:cNvPr>
          <p:cNvSpPr/>
          <p:nvPr/>
        </p:nvSpPr>
        <p:spPr>
          <a:xfrm>
            <a:off x="1005840" y="1315720"/>
            <a:ext cx="5093746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3.2.2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 群 与 稳定子 空间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392362B9-3F87-8473-4FEF-567157535624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DC061F4-DDB1-DBF4-5F25-072379B19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115" y="1266617"/>
            <a:ext cx="1914792" cy="58110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751D7AC-020A-B649-65D8-82AF7AA5CCEF}"/>
              </a:ext>
            </a:extLst>
          </p:cNvPr>
          <p:cNvSpPr txBox="1"/>
          <p:nvPr/>
        </p:nvSpPr>
        <p:spPr>
          <a:xfrm>
            <a:off x="1132242" y="2117469"/>
            <a:ext cx="60942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accent2"/>
                </a:solidFill>
              </a:rPr>
              <a:t>稳定子群中</a:t>
            </a:r>
            <a:r>
              <a:rPr lang="zh-CN" altLang="en-US" sz="2400" b="1" dirty="0"/>
              <a:t>的算符 对 </a:t>
            </a:r>
            <a:r>
              <a:rPr lang="zh-CN" altLang="en-US" sz="2400" b="1" dirty="0">
                <a:solidFill>
                  <a:schemeClr val="accent2"/>
                </a:solidFill>
              </a:rPr>
              <a:t>稳定子空间</a:t>
            </a:r>
            <a:r>
              <a:rPr lang="zh-CN" altLang="en-US" sz="2400" b="1" dirty="0"/>
              <a:t>的态</a:t>
            </a:r>
            <a:endParaRPr lang="en-US" altLang="zh-CN" sz="2400" b="1" dirty="0"/>
          </a:p>
          <a:p>
            <a:r>
              <a:rPr lang="zh-CN" altLang="en-US" sz="2400" b="1" dirty="0"/>
              <a:t>                                                   本征值为 </a:t>
            </a:r>
            <a:r>
              <a:rPr lang="en-US" altLang="zh-CN" sz="2400" b="1" dirty="0">
                <a:solidFill>
                  <a:schemeClr val="accent2"/>
                </a:solidFill>
              </a:rPr>
              <a:t>1</a:t>
            </a:r>
          </a:p>
          <a:p>
            <a:r>
              <a:rPr lang="zh-CN" altLang="en-US" sz="2400" b="1" dirty="0"/>
              <a:t> </a:t>
            </a:r>
            <a:endParaRPr lang="en-US" altLang="zh-CN" sz="2400" b="1" dirty="0"/>
          </a:p>
          <a:p>
            <a:endParaRPr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590672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6BF1E-DFC2-EBA3-9F60-3777461A7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34A4411-DB39-BE2A-AAF4-FEB0C16B6E69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FAD9A11-509D-55B2-3A83-A2989C58B13F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2FD04918-1139-7A27-C6CF-2C3582FCEFE2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E36C58BE-C8F6-20B8-3EB3-89BB09DE8CA8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3.2.2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 空间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ECD93D52-8130-C542-3CCF-F27E31F82528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204BC14-AA27-5D05-046C-3DA1E502E247}"/>
              </a:ext>
            </a:extLst>
          </p:cNvPr>
          <p:cNvSpPr txBox="1"/>
          <p:nvPr/>
        </p:nvSpPr>
        <p:spPr>
          <a:xfrm>
            <a:off x="755725" y="2343380"/>
            <a:ext cx="60942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chemeClr val="accent2"/>
                </a:solidFill>
              </a:rPr>
              <a:t>稳定 </a:t>
            </a:r>
            <a:r>
              <a:rPr lang="zh-CN" altLang="en-US" sz="2400" b="1" dirty="0"/>
              <a:t>操作</a:t>
            </a:r>
            <a:r>
              <a:rPr lang="zh-CN" altLang="en-US" sz="2400" b="1" dirty="0">
                <a:solidFill>
                  <a:schemeClr val="accent2"/>
                </a:solidFill>
              </a:rPr>
              <a:t>不</a:t>
            </a:r>
            <a:r>
              <a:rPr lang="zh-CN" altLang="en-US" sz="2400" b="1" dirty="0"/>
              <a:t>改变对象</a:t>
            </a:r>
            <a:endParaRPr lang="en-US" altLang="zh-CN" sz="2400" b="1" dirty="0"/>
          </a:p>
          <a:p>
            <a:endParaRPr lang="zh-CN" altLang="en-US" sz="2400" b="1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3A583C8-AEE7-30B7-625B-DEAB1F226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115" y="1266617"/>
            <a:ext cx="1914792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83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D1EAB-822E-0EA9-1695-CF82529DF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3EB5F16-1BEE-93C7-7EA9-EB09139E5963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C58F4E4-DFF3-8AC9-5752-E7BE72DC8364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49622008-4D84-591A-0261-94982E5B4C30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CD5D7014-2B63-102A-1895-F98208F555DD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3.3.1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权重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DDACA48F-1BCA-110C-ACEA-FA8E9E410248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51D7CF7-042D-6047-7F1E-4871F38B9E8F}"/>
                  </a:ext>
                </a:extLst>
              </p:cNvPr>
              <p:cNvSpPr txBox="1"/>
              <p:nvPr/>
            </p:nvSpPr>
            <p:spPr>
              <a:xfrm>
                <a:off x="744967" y="3518665"/>
                <a:ext cx="6473413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/>
                  <a:t>泡利算符中</a:t>
                </a:r>
                <a:r>
                  <a:rPr lang="zh-CN" altLang="en-US" sz="2400" b="1" dirty="0">
                    <a:solidFill>
                      <a:schemeClr val="accent2"/>
                    </a:solidFill>
                  </a:rPr>
                  <a:t>非单位算符（即 </a:t>
                </a:r>
                <a14:m>
                  <m:oMath xmlns:m="http://schemas.openxmlformats.org/officeDocument/2006/math">
                    <m:r>
                      <a:rPr lang="zh-CN" alt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2400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sz="2400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sz="2400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r>
                  <a:rPr lang="zh-CN" altLang="en-US" sz="2400" b="1" dirty="0">
                    <a:solidFill>
                      <a:schemeClr val="accent2"/>
                    </a:solidFill>
                  </a:rPr>
                  <a:t>）</a:t>
                </a:r>
                <a:r>
                  <a:rPr lang="zh-CN" altLang="en-US" sz="2400" b="1" dirty="0"/>
                  <a:t>的数量</a:t>
                </a:r>
                <a:endParaRPr lang="en-US" altLang="zh-CN" sz="2400" b="1" dirty="0">
                  <a:latin typeface="quote-cjk-patch"/>
                </a:endParaRPr>
              </a:p>
              <a:p>
                <a:endParaRPr lang="en-US" altLang="zh-CN" sz="2400" b="1" dirty="0">
                  <a:solidFill>
                    <a:schemeClr val="accent2"/>
                  </a:solidFill>
                  <a:latin typeface="quote-cjk-patch"/>
                </a:endParaRPr>
              </a:p>
              <a:p>
                <a:endParaRPr lang="en-US" altLang="zh-CN" sz="2400" b="1" dirty="0">
                  <a:solidFill>
                    <a:schemeClr val="accent2"/>
                  </a:solidFill>
                  <a:latin typeface="quote-cjk-patch"/>
                </a:endParaRPr>
              </a:p>
              <a:p>
                <a:endParaRPr lang="zh-CN" altLang="en-US" sz="24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51D7CF7-042D-6047-7F1E-4871F38B9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67" y="3518665"/>
                <a:ext cx="6473413" cy="1569660"/>
              </a:xfrm>
              <a:prstGeom prst="rect">
                <a:avLst/>
              </a:prstGeom>
              <a:blipFill>
                <a:blip r:embed="rId3"/>
                <a:stretch>
                  <a:fillRect l="-1412" t="-27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图片 9">
            <a:extLst>
              <a:ext uri="{FF2B5EF4-FFF2-40B4-BE49-F238E27FC236}">
                <a16:creationId xmlns:a16="http://schemas.microsoft.com/office/drawing/2014/main" id="{F51B604B-9C26-8ECC-BC7F-DDF393831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1390" y="3087673"/>
            <a:ext cx="3305636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575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22B70-331D-3B36-A841-B3AA9ACC1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7D6CD0B-B4AC-AF5C-90A5-FE8222926B67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1999969-B224-D8A0-B3F7-A85D2587ECC9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677D746-B4ED-10D5-8FFA-193B1A70C45A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DD9D581C-F370-BADD-27F6-EB6AA8F58836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3.3.2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量子码距离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4650CA24-08F1-A104-D048-B0E6AB8C4418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59F456D-5A11-C509-8FD3-05F292874492}"/>
              </a:ext>
            </a:extLst>
          </p:cNvPr>
          <p:cNvSpPr txBox="1"/>
          <p:nvPr/>
        </p:nvSpPr>
        <p:spPr>
          <a:xfrm>
            <a:off x="766483" y="3247023"/>
            <a:ext cx="60942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使纠错</a:t>
            </a:r>
            <a:r>
              <a:rPr lang="zh-CN" altLang="en-US" sz="2400" b="1" i="0" dirty="0">
                <a:solidFill>
                  <a:schemeClr val="accent2"/>
                </a:solidFill>
                <a:effectLst/>
                <a:latin typeface="quote-cjk-patch"/>
              </a:rPr>
              <a:t>失效</a:t>
            </a:r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的</a:t>
            </a:r>
            <a:r>
              <a:rPr lang="zh-CN" altLang="en-US" sz="2400" b="1" i="0" dirty="0">
                <a:solidFill>
                  <a:schemeClr val="accent2"/>
                </a:solidFill>
                <a:effectLst/>
                <a:latin typeface="quote-cjk-patch"/>
              </a:rPr>
              <a:t>最小</a:t>
            </a:r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错误</a:t>
            </a:r>
            <a:r>
              <a:rPr lang="zh-CN" altLang="en-US" sz="2400" b="1" i="0" dirty="0">
                <a:solidFill>
                  <a:schemeClr val="accent2"/>
                </a:solidFill>
                <a:effectLst/>
                <a:latin typeface="quote-cjk-patch"/>
              </a:rPr>
              <a:t>权重</a:t>
            </a:r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。</a:t>
            </a:r>
            <a:endParaRPr lang="zh-CN" altLang="en-US" sz="2400" b="1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42A9871-E190-2F2B-3035-AAD93CF3D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9210" y="4395500"/>
            <a:ext cx="3248478" cy="163852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1F8F269-0711-81FB-4AB7-41CEAFB356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476" y="2310661"/>
            <a:ext cx="2838846" cy="150516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1CFDCBD0-70B5-EA09-945A-913D26C32F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593" y="372220"/>
            <a:ext cx="4529407" cy="143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201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131A9-5202-4109-3B52-67108EB3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DFDAFE-1765-7C72-F84B-C4552894E824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稳定子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64BF0EA-612B-A9F0-A554-7D2EF3A75905}"/>
              </a:ext>
            </a:extLst>
          </p:cNvPr>
          <p:cNvSpPr/>
          <p:nvPr/>
        </p:nvSpPr>
        <p:spPr>
          <a:xfrm>
            <a:off x="762000" y="1651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6DFE714-0F6D-D919-53C0-B92EC02331A4}"/>
              </a:ext>
            </a:extLst>
          </p:cNvPr>
          <p:cNvCxnSpPr/>
          <p:nvPr/>
        </p:nvCxnSpPr>
        <p:spPr>
          <a:xfrm>
            <a:off x="7534894" y="0"/>
            <a:ext cx="0" cy="6941127"/>
          </a:xfrm>
          <a:prstGeom prst="line">
            <a:avLst/>
          </a:prstGeom>
          <a:ln w="76200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utoShape 3">
            <a:extLst>
              <a:ext uri="{FF2B5EF4-FFF2-40B4-BE49-F238E27FC236}">
                <a16:creationId xmlns:a16="http://schemas.microsoft.com/office/drawing/2014/main" id="{73D8C765-D609-E7B1-13E4-E8E76FD7F3B0}"/>
              </a:ext>
            </a:extLst>
          </p:cNvPr>
          <p:cNvSpPr/>
          <p:nvPr/>
        </p:nvSpPr>
        <p:spPr>
          <a:xfrm>
            <a:off x="1005840" y="1315720"/>
            <a:ext cx="3501614" cy="106172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3.3.3</a:t>
            </a:r>
            <a:r>
              <a:rPr lang="zh-CN" altLang="en-US" sz="2200" b="1" dirty="0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纠错码标记</a:t>
            </a: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  <a:defRPr/>
            </a:pPr>
            <a:endParaRPr lang="en-US" altLang="zh-CN" sz="2200" b="1" dirty="0">
              <a:solidFill>
                <a:srgbClr val="55555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52D0F09A-8DC6-26C6-2F64-A42DECEAE472}"/>
              </a:ext>
            </a:extLst>
          </p:cNvPr>
          <p:cNvSpPr/>
          <p:nvPr/>
        </p:nvSpPr>
        <p:spPr>
          <a:xfrm>
            <a:off x="736929" y="1861292"/>
            <a:ext cx="6340764" cy="3061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endParaRPr lang="en-US" sz="20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F00BE5B-2C1C-1946-A84F-1D5135556D3C}"/>
              </a:ext>
            </a:extLst>
          </p:cNvPr>
          <p:cNvSpPr txBox="1"/>
          <p:nvPr/>
        </p:nvSpPr>
        <p:spPr>
          <a:xfrm>
            <a:off x="841787" y="3634298"/>
            <a:ext cx="60942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dirty="0">
                <a:solidFill>
                  <a:srgbClr val="0F1115"/>
                </a:solidFill>
                <a:effectLst/>
                <a:latin typeface="quote-cjk-patch"/>
              </a:rPr>
              <a:t>概括了该码的规模、信息容量和纠错能力</a:t>
            </a:r>
            <a:endParaRPr lang="zh-CN" altLang="en-US" sz="2400" b="1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FB027404-165E-F7D7-4D0A-8EC7A4570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7629" y="3119228"/>
            <a:ext cx="1381318" cy="53347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59D7589-EED1-B597-41BB-79556E0A36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0818" y="1105249"/>
            <a:ext cx="1228896" cy="581106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39DB3366-6DE3-82A3-8FBD-77169730D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9428" y="4262167"/>
            <a:ext cx="1514686" cy="657317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C5041C44-83FB-C6DE-E711-D22B26826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84" y="2204669"/>
            <a:ext cx="1152686" cy="44773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87A2A4D3-8A4D-BC80-7B6C-8D01FC360B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3284" y="3138610"/>
            <a:ext cx="1876687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011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1100</Words>
  <Application>Microsoft Office PowerPoint</Application>
  <PresentationFormat>宽屏</PresentationFormat>
  <Paragraphs>200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4" baseType="lpstr">
      <vt:lpstr>BIZ UDPMincho Medium</vt:lpstr>
      <vt:lpstr>Noto Sans SC</vt:lpstr>
      <vt:lpstr>quote-cjk-patch</vt:lpstr>
      <vt:lpstr>等线</vt:lpstr>
      <vt:lpstr>等线 Light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恩泽 施</dc:creator>
  <cp:lastModifiedBy>恩泽 施</cp:lastModifiedBy>
  <cp:revision>8</cp:revision>
  <dcterms:created xsi:type="dcterms:W3CDTF">2026-04-29T05:54:02Z</dcterms:created>
  <dcterms:modified xsi:type="dcterms:W3CDTF">2026-05-06T09:33:10Z</dcterms:modified>
</cp:coreProperties>
</file>