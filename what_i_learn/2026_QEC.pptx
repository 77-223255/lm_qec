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67" r:id="rId2"/>
    <p:sldId id="307" r:id="rId3"/>
    <p:sldId id="295" r:id="rId4"/>
    <p:sldId id="261" r:id="rId5"/>
    <p:sldId id="263" r:id="rId6"/>
    <p:sldId id="264" r:id="rId7"/>
    <p:sldId id="296" r:id="rId8"/>
    <p:sldId id="297" r:id="rId9"/>
    <p:sldId id="266" r:id="rId10"/>
    <p:sldId id="299" r:id="rId11"/>
    <p:sldId id="300" r:id="rId12"/>
    <p:sldId id="301" r:id="rId13"/>
    <p:sldId id="302" r:id="rId14"/>
    <p:sldId id="303" r:id="rId15"/>
    <p:sldId id="304" r:id="rId16"/>
    <p:sldId id="305" r:id="rId17"/>
    <p:sldId id="317" r:id="rId18"/>
    <p:sldId id="318" r:id="rId19"/>
    <p:sldId id="319" r:id="rId20"/>
    <p:sldId id="320" r:id="rId21"/>
    <p:sldId id="321" r:id="rId22"/>
    <p:sldId id="322" r:id="rId23"/>
    <p:sldId id="323" r:id="rId24"/>
    <p:sldId id="325" r:id="rId25"/>
    <p:sldId id="327" r:id="rId26"/>
    <p:sldId id="326" r:id="rId27"/>
    <p:sldId id="328" r:id="rId28"/>
    <p:sldId id="330" r:id="rId29"/>
    <p:sldId id="331" r:id="rId30"/>
    <p:sldId id="332" r:id="rId31"/>
    <p:sldId id="333" r:id="rId32"/>
    <p:sldId id="334" r:id="rId33"/>
    <p:sldId id="335" r:id="rId34"/>
    <p:sldId id="336" r:id="rId35"/>
    <p:sldId id="337"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64" y="60"/>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156BD1-BC13-4455-9FB2-79876EFAE974}" type="datetimeFigureOut">
              <a:rPr lang="zh-CN" altLang="en-US" smtClean="0"/>
              <a:t>2026/6/11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67CEA1-1525-44B0-A225-B30656B77356}" type="slidenum">
              <a:rPr lang="zh-CN" altLang="en-US" smtClean="0"/>
              <a:t>‹#›</a:t>
            </a:fld>
            <a:endParaRPr lang="zh-CN" altLang="en-US"/>
          </a:p>
        </p:txBody>
      </p:sp>
    </p:spTree>
    <p:extLst>
      <p:ext uri="{BB962C8B-B14F-4D97-AF65-F5344CB8AC3E}">
        <p14:creationId xmlns:p14="http://schemas.microsoft.com/office/powerpoint/2010/main" val="4258895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8015D-C387-691C-7195-69EF63D811F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132EFE-7422-884E-2E90-AFB45509F6E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BEBC9F7-7F85-67F5-2F1E-F89047737F7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0D259A1-5009-7C05-ADBC-BD4C124877A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C59F1F6-3E49-2311-3DA7-87E055228B0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5E38CC22-B65E-2248-39FC-24CC358C81B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78818C7-6918-B4FE-138E-364662F6F84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7924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0EE4-C37A-4B16-3DD4-5DB6C66D57C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EA77DF-289C-FCCB-46BC-DFBE40ADEB7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895DC3A-9C4A-7759-E417-2BD8D67255C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33F9770-A305-A0D1-96A8-6B28467F1CA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1067F9C-910F-336F-BDE4-6A46975ECC9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43904896-084D-5623-36E6-C86CEE523B8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DE57EAB-FAC0-C092-5572-5BAEEB08389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41059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34878-A308-A948-C24B-CCCDDD04142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44C3A5-9A79-EBD0-1B02-83915BA5E3F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766D07F-5BEC-762D-6317-04E6DA0F911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47C184E-607C-A3EC-01ED-3951D0DE67D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1DDAEFE-DB2A-CC8D-A0AF-8AAA19E463B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2D3E19B7-227D-A822-409B-5C25005CAD2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C344C67-A19B-20D7-96D7-0B52C2B7B81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8564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78C4D-D3B7-71C6-5700-11FEAA25ADF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64EA0FF-6018-DA65-0096-B252A9DA489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B94F910-D2D4-7419-5882-10A998523C2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40C7C3C-E518-A2E9-2671-FBA7188080C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B1B2A2D-8CDD-DD22-D178-134F8B867EC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58B46A39-99F6-ECAF-78C7-1419EF57EEC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D833F46-179E-EBBB-E407-232A4BF3648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59748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57A98-EB2A-C8BE-BB4D-0AD44965CCA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177F18-F6CE-21DA-AB64-1FC7EF9A4C7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1BE871E-5019-A228-7D5C-73EC96A4D2B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83B9D1C-2D26-572D-35D4-11D904810E6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F62F2EC-E2DA-7D32-05D9-48440F3866B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E0D2046-F7B8-BA60-7064-994918F3B9F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B459B2B-E497-2787-3955-E9852B3C36D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2295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6A43B-CD01-0200-2AB5-5067A7BCCF2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8DEEC96-F8F8-37E7-C083-0A5FBD79619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FA1CE35-47C2-48F6-D186-0C138C00030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9303814-0EF3-6584-BE07-2DA1E9EB967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707F2F2-B1CD-8B30-2B8E-A5BEF9EA814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36EAA40-4F75-D07F-78C7-44E7B0937A6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0A63096-2ABD-B4C6-E15B-A8CB75A0568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85530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DD76E-90E9-137B-DA3B-76045CF942D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51D2FD-1F02-E96E-87C7-3ADCB467FFA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CEEB8CF-44FF-84D5-2AC0-8F4CCB74A76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95BEF3B-C623-8AEB-D206-32327FB9EBB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F5D2114-1CCA-1268-5DFC-1397694B43B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AFD1C3E5-ED98-8C33-93CF-50303A16AC6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9BF0CDC-58E2-87EF-BD90-46725E0379C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6640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A9D3C-17AC-8830-D723-3C19C23D54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ADEF51-FFAF-F1A5-ED97-25F7767700A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FAD5709-B829-8A04-5916-A39ED89E528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99A37FC-9611-001C-D264-0B4608B4E93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89976EC-FD33-2F71-5DD4-4027291E158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E9ED635-D5F4-7040-E969-6C4A9134907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ED8F609-6486-BDA6-A0C6-37AD1410F7D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02092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3506A-297D-F145-FCAF-8888E2C6080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15DE58-1169-D948-15B6-AF615126588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DF236F7-E2CE-12EB-B48D-FFF7185330C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F31E7A6-7A25-03BE-9982-603872B4B04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378CA56-F440-1804-D998-0A01EFAF8E3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0B5A60AC-ECDA-7E51-242B-A327C9B959D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4B8851D-DD04-AE73-B80A-2790AEFBFB4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30133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0FD51-03CB-FBA2-7175-B01879C8AA7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B0DB3D-3BB5-0ADD-9EBF-314C1862FDE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8213A82-CE53-06C8-6D4D-1EBB08C9F09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E81DAA0-7A23-0063-54DA-F98E85EC3C0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8850B73-9F44-D199-0BCB-A32DB00C62B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BB11C5B0-C8E6-5A3E-FB4A-640F3F9E0FE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462D56D-9800-87BE-CC0E-31F17D44C7D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179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CFC81-2081-67CC-2BC0-10FFC89B7F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7C0248-D564-85EE-EDBA-05E34BD002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E7D44D0-B544-066D-DD46-953ABD93585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2B1DF71-7B95-FD1D-0E06-6246A92472F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0BCE4FB-F7A1-EA2C-0FE6-D0D31C0488F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90F331CC-92DE-87F0-3787-7C192DFD895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90E794C-0FD2-4EE9-6964-27F55886FD6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083428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95000-0E94-65AA-0D0A-234D2E42CBD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CE73F7-416D-D2E5-CEFF-17D2B38E439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BB66A97-A875-309A-1B45-05892D68CAD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E940F6A-A10D-6C99-1492-4A0E3420150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8168F94-58A1-B900-BD9B-96447503DDD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C99560AF-D056-7550-BA08-ACD970EDB28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C615229-9569-8755-E9D7-66B9812B2B7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70373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701A-2922-774E-845D-325E5106004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553B8C-D724-6F96-02E1-2F65A53E2D3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7A87D98-3188-39A2-D365-E236E602330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5830BB5-961B-1CF2-8698-9A40AD5B911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9D81512-A987-433D-AE08-1FA17E10D66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A35D4027-310A-5E28-D235-E0C29F3905A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1F6ECDF-A592-28B9-5B64-F771A21E799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15648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D9312-8C5C-F491-EDA1-D262E0C856F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A5764B-671A-4787-ED16-C678E2493EA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00D697A-6765-2A41-3C73-87F66DEF09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2289CAF-DA18-7203-BFD0-2211B04D2A3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7407B2C-32D5-8F28-CFB5-FDB376B3A42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4C8228BB-176D-470A-5D19-57DD3F284A2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C7EA2BE-C146-AD0C-B365-F2469314C84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61860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C519-432E-569D-E0A5-86BB05A15FF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28AE1E-5394-83F6-012B-80CAD0D9CF9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833AA8E-7753-9C15-959F-A8AD41DD59D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7117B06-8CBF-F4E9-3676-D825EE7F184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62D4447-7861-7AA6-38FB-CF4D49A5AD1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C3763E36-0AD7-1A56-C23F-10932612A3B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8F3022F-2FB7-67B5-3157-3F4F4050206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58332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9162B-8273-1FC8-CAFF-E836E94C850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A631DE-68C0-B31B-B991-99F409079FF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BBA007C-E1F1-7583-4D07-020EC2F0EFA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897E598-BF25-E243-9F92-4073189568F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6FA40A6-668D-3E4E-B065-221DA3C2A02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87581654-01F8-3123-9123-9678AA40A38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58BBFB6-0187-09B9-3851-F4519083772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22661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46D91-B62E-619F-131D-0B831F09C98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483E96-2CC5-D94A-DF73-E42993E6F4D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F3426C2-4305-69B0-A292-F5B7284786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AAE1674-E768-82F7-E97F-6934EC7B916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333FD44-523E-BD6D-0CD1-2EF02DC0B63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ADE1AC5A-31F3-677B-1235-615B94920C0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0B7A0A5-2870-C54E-D5E2-B03CCA72732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59911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8E495-9B34-2518-8254-7CCD6F6CAAA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5F5B8C-5FEF-8816-5296-1337DE8B8E6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0394702-EC79-A79C-34A6-B25B781F767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283564D-AF3B-AC9B-54F5-1163D7F044B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4D5D823-AC87-4CBC-880F-9AD77C4433D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0F712AD-D81F-D638-D905-388F889E441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8D6BA55-EF2F-7E3E-B39A-7ABEB67CF44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770142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BFE2-FABD-E0DA-5A9D-0119491A9D0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7800C2-C05A-DD53-26AE-307544E20CB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FD50137-A846-D200-9F0D-E0F8A3694DE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2EA039F-199F-DEEF-C7DC-F0D45E230C2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D6900AB-35F1-C9DD-5A8C-7FC68E6750F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997E1F1E-D991-6EF7-04BE-0FEFCB274DF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7CDF62B-2927-7B1A-4D1D-93D59C46DC9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888391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9EE06-1486-1A60-5A6E-DEF1BDAE1F2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3DE342-0670-4128-563D-F61E96257BE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4DED36D-A40B-9BB9-FE3B-8FFBC122D23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8C0B583-B515-F541-67E8-76513AFE046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7D29AA8-9447-FF1C-AC99-4BEDA8FDC41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D597BD9F-99FD-9E67-D276-19D63B99871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7A91504-BCFE-BB7E-5225-8F4FCAE82F7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37525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62768-7E82-7C92-1C1A-976047E9693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453949-301C-F43E-502B-D6D18ACC412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1BEB8DB-A4C7-6E76-3C91-2E788861F38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4229429-D9E4-416D-24B6-8D1CEE96127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89AD0F5-6078-4561-F4E0-32CA9268AA4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25B2873-67C8-5A62-E649-6D783B3D62B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E287447-9A42-B733-2EF5-97254CB97F6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60020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C4EE1-E3AC-797F-AC87-D4937A87F88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EE28CB-8B9D-CD0F-3988-9EAA605F6AC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BF367AC-78B9-86DE-4F56-36C49C975F6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7E6DFF5-515C-6B0E-9707-8F3F73E5A39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7249AD8-2116-CEFC-494A-6B2C9CF5C9C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2FCC9B9A-747A-064D-D986-81C02D1980A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EA566E2-5F91-18CF-7B83-61265F0C2AA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78204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72834-FBFD-2BAB-E9FA-82092A672FB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515D8B-9EBC-A46B-18C9-E2671DB1AFD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FC25940-AECC-8860-573E-132E08AB2CC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CE39F42-7B0C-E23F-0EE5-CA9CCAA2BD9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4EA678-F425-B6E4-DF75-2B7930E07D5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32A7A925-10F7-C87F-DE9C-BAA67FC90E1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2E637FE-F64F-AC3A-2383-CE7030AC6BE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166605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92B75-869D-3369-9090-0C07F9DB910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D1A0B8-C712-B0BC-87B8-60D27630E1E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B8EFD1E-4939-EC8F-4CDF-559C532D98E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F3260C4-6353-0779-4868-4320B4FFE9B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873026D-78BF-933D-121C-CFCE60B30B1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F8357C2-EF9C-8723-5A78-AE9DDE43751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EB17D2F-5D80-82DC-67AA-C89C0721654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7397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5ED07-62AC-08AB-7422-E9637B35705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6A3164-BCC0-C110-DEB1-DC6EE53A504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8C7441B-9BD4-B5D4-2748-7B75B7ECEF0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A409F95-8E3F-7CE3-EB8F-221BC51BF3C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CE071B9-223B-A56B-7E71-CDF531C40ED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B1B79F1A-3BEC-12C1-8EF0-B66D351ECC9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DE466E0-3B56-543B-AE2A-EA2FBCE9985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780312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F46F0-487B-495D-C528-9CB8427D98E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19EDBF-B164-D463-63D0-75348FCD485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81D838D-8F80-62D2-616B-D7F8EFB501A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D3652B6-B601-BBA0-1358-7CE71E5C0A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932E9CA-C0EC-351B-3B97-60CA45100DA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E27B1123-98E0-B93D-3BDE-D4F6F2489D9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C5DE722-259B-6B07-37AC-B085CFB482C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423465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0504-442F-C4E6-8C7B-E6AC64179E6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D7071B-0836-7B92-AC79-72CAB9E35DA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DA78B65-FEAE-0351-6CD0-E6F363F62EF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5E04DE7-06F3-CE2A-42D3-F430BA211A2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307A2ED-E86B-D1A5-3829-34AF362E000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BC2A8EA-8B77-AFDA-8C1E-80D92BE1FB5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853A474-EA7E-3AEC-1577-1D593ADD75F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272044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AF4F8-AD04-40A3-8215-80951FAFCC9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3AA555-D6A1-84D2-1D2B-510C980D362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4CB7C2D-52C1-5F4A-CDC1-B12929633CD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4C3F570-7899-C003-16A5-FBEAD3FDA83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66BA781-E4E1-7F91-1935-13522DB3E2B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A5A8D3FB-01C9-E4C1-A45A-208CEACDB76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BB65EDE-0DC3-8DFA-0081-B712D4E4D66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870538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092CC-2E27-106F-12C8-4AF5CA8FA55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D928ED-CFEE-6F97-92D0-B16A85C0B89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710A9C-55EA-8D36-7802-4DE678C4E1C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15FF05B-9467-21BC-68D7-4302CB713DD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9FD7DBE-F05E-5310-E99A-B1A600883B4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8CD03C3-9378-C1B3-3186-6A84BBD0EFD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CB73CA5-CAEF-DF73-EE5A-82C2683903F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002711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8475-E9B7-B7E5-DBF2-88428746165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18007D-82E7-3E92-B882-D6965BFA9A1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555F386-7737-FD9E-68E8-8A2956C5DEB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BBAEE9C-9064-8FFC-276D-98FA6094963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95358DD-7473-ED2D-A328-6DA45B8D967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AE3EA985-6C2F-0767-5AC1-73E7C9DCF0B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FAE6662-DC2B-1E63-78F5-C47BAA9DE26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78664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9B4761-31D7-4105-A27E-2CC8EDB0636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5294F8A-0F41-222A-2D11-8631F469D4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3FC30D8-FE30-291A-7C72-E11CFF130E2E}"/>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5FA88F23-8DEB-9D93-567E-27AC0CF0D6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B421225-061B-9E11-938A-DC1EBB6309CD}"/>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13564837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C986B-DA6D-BCF2-21A9-B0E329CE7C8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7A245E-5787-F4AC-11AB-ECFE8115363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645801-7C43-F892-6CCC-BD151CC889A3}"/>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43E2DA07-9E9F-C151-F32C-4A03DE3661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703374-F99D-AB3C-02DE-CABD81FA1B9C}"/>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6499346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744908-C44D-F638-5ED6-1D976E95446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B305695-BA62-357C-E285-02B72B0BAC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8D8FE58-BBDD-0049-B5C7-C3899C5EE568}"/>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241E74D6-AECC-5CE3-A08C-C07480C120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B0523BA-1BA6-7950-94C3-25C38448F1D7}"/>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34804197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D6DAA5-D0AF-D7A7-0AB5-884D83C6ABF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8F84EE0-F5C6-2050-7471-D8FA7229A37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8C2FE9B-282E-08D4-E5CF-B1C06F58E6A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838FF5B-1F82-AC3B-EF37-5C6FFB34D07E}"/>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1473D0D5-911E-5251-3AB0-AE6101F7B98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4C47DA-F90D-4EF1-7182-725A63C85C4B}"/>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5052361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D99D3B-33C0-7821-3DCE-152CD9B314E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F610081-0C0C-C6B1-01ED-6479FBE1F5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142D702-D6CE-4741-6A48-C15E828DDC4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D9E1396-C5DB-F34F-E0ED-32AA864D60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6A0A188-88CD-5681-4F58-39292221818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D996D7D-646E-3636-07C6-DE73F17F9039}"/>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8" name="页脚占位符 7">
            <a:extLst>
              <a:ext uri="{FF2B5EF4-FFF2-40B4-BE49-F238E27FC236}">
                <a16:creationId xmlns:a16="http://schemas.microsoft.com/office/drawing/2014/main" id="{2E76941E-C350-9CBB-CC30-6F56F88D8B3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866105E-3596-08B4-DCE0-6272917E75D9}"/>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12742030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97E2DA-015C-AEBF-1A48-B7B89E343F3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77D8DA5-7FF6-E4AC-1E92-97A1D06E6F04}"/>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4" name="页脚占位符 3">
            <a:extLst>
              <a:ext uri="{FF2B5EF4-FFF2-40B4-BE49-F238E27FC236}">
                <a16:creationId xmlns:a16="http://schemas.microsoft.com/office/drawing/2014/main" id="{ABA3A086-AA8F-8BD2-4A97-2FDB3DC7597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B0681EC-A86B-B80A-92FB-26B3A3E959D9}"/>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27123525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B6F6216-3E07-A782-2169-CBC582BA8A71}"/>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3" name="页脚占位符 2">
            <a:extLst>
              <a:ext uri="{FF2B5EF4-FFF2-40B4-BE49-F238E27FC236}">
                <a16:creationId xmlns:a16="http://schemas.microsoft.com/office/drawing/2014/main" id="{9ADB9DEC-8257-F9B5-7BD6-80F2ED41846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A45C304-2564-214F-DB6F-177CB3242774}"/>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1860117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607657-A0CD-8CB6-375F-43220538263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4F94334-6932-BB6B-4B59-64CFC6109B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2950E0A-D125-FBC1-18E3-CDC27206FB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D5DCE2-AB53-4194-02EA-E8244C41C452}"/>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036F1792-FD36-6925-C2EC-7E023FDD991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4CB3F3-53DF-6FE1-38E9-B7DBA4ED2B8D}"/>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38417328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265240-4AF7-F9D3-0DC0-FBFBBC10A19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23EFAF9-1989-58F8-F22B-CD6697D880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3B2875E-7E63-8479-745C-611D2344E2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3CB2BDD-DEB5-AA21-FC0A-8253E2C6B7D9}"/>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47397DA8-CE26-F5B5-352F-8CFBFC5E78C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AED7CC-7637-8C8D-A251-2B9A7A7062B8}"/>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11958226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18B78-2D68-C9F5-2B88-F7B6B43A5C3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09FCBD4-99C7-A798-77AA-4245BA0B13F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1F34C6-2E43-CF0F-334F-6FCE3305CCA2}"/>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CD608127-12B3-59EF-2876-B245B6BC34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B99B1D-6DE2-E7DE-A654-49B2D7F99F18}"/>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39939381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71A012C-B4C2-5397-D506-15BB754113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E989343-C205-FE67-809D-ADCA060ADE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E3CE3C-962C-D837-4B72-9F9797FBDCB4}"/>
              </a:ext>
            </a:extLst>
          </p:cNvPr>
          <p:cNvSpPr>
            <a:spLocks noGrp="1"/>
          </p:cNvSpPr>
          <p:nvPr>
            <p:ph type="dt" sz="half" idx="10"/>
          </p:nvPr>
        </p:nvSpPr>
        <p:spPr/>
        <p:txBody>
          <a:bodyPr/>
          <a:lstStyle/>
          <a:p>
            <a:fld id="{64F06B81-D0D4-404B-8474-757991D5685D}"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2B5E23F6-71CC-FB6D-C5A3-C7D644E429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32C07A-57E3-629B-8FC6-2DE160071E18}"/>
              </a:ext>
            </a:extLst>
          </p:cNvPr>
          <p:cNvSpPr>
            <a:spLocks noGrp="1"/>
          </p:cNvSpPr>
          <p:nvPr>
            <p:ph type="sldNum" sz="quarter" idx="12"/>
          </p:nvPr>
        </p:nvSpPr>
        <p:spPr/>
        <p:txBody>
          <a:body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35508065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35684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D1DB38A-6066-110A-3382-F5F6828DE8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6DEC672-8E00-1A77-5EE7-B12491C0A6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C680427-5DCE-1CD7-8584-18F3B45659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F06B81-D0D4-404B-8474-757991D5685D}"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2354D226-3675-21B9-1A38-D143C92B85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1DA05ED-2FFF-4B5A-5220-E74F4234F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782809-23E3-414D-A6DC-9D5DC14E8204}" type="slidenum">
              <a:rPr lang="zh-CN" altLang="en-US" smtClean="0"/>
              <a:t>‹#›</a:t>
            </a:fld>
            <a:endParaRPr lang="zh-CN" altLang="en-US"/>
          </a:p>
        </p:txBody>
      </p:sp>
    </p:spTree>
    <p:extLst>
      <p:ext uri="{BB962C8B-B14F-4D97-AF65-F5344CB8AC3E}">
        <p14:creationId xmlns:p14="http://schemas.microsoft.com/office/powerpoint/2010/main" val="1635531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4.png"/><Relationship Id="rId7"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65.png"/><Relationship Id="rId7"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8.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1.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72.png"/><Relationship Id="rId4" Type="http://schemas.openxmlformats.org/officeDocument/2006/relationships/image" Target="../media/image71.png"/></Relationships>
</file>

<file path=ppt/slides/_rels/slide2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79.png"/><Relationship Id="rId4" Type="http://schemas.openxmlformats.org/officeDocument/2006/relationships/image" Target="../media/image78.png"/></Relationships>
</file>

<file path=ppt/slides/_rels/slide32.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33.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7.png"/><Relationship Id="rId7" Type="http://schemas.openxmlformats.org/officeDocument/2006/relationships/image" Target="../media/image85.png"/><Relationship Id="rId12" Type="http://schemas.openxmlformats.org/officeDocument/2006/relationships/image" Target="../media/image92.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84.png"/><Relationship Id="rId11" Type="http://schemas.openxmlformats.org/officeDocument/2006/relationships/image" Target="../media/image91.png"/><Relationship Id="rId5" Type="http://schemas.openxmlformats.org/officeDocument/2006/relationships/image" Target="../media/image82.png"/><Relationship Id="rId10" Type="http://schemas.openxmlformats.org/officeDocument/2006/relationships/image" Target="../media/image90.png"/><Relationship Id="rId4" Type="http://schemas.openxmlformats.org/officeDocument/2006/relationships/image" Target="../media/image81.png"/><Relationship Id="rId9" Type="http://schemas.openxmlformats.org/officeDocument/2006/relationships/image" Target="../media/image89.png"/></Relationships>
</file>

<file path=ppt/slides/_rels/slide34.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95.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94.png"/><Relationship Id="rId5" Type="http://schemas.openxmlformats.org/officeDocument/2006/relationships/image" Target="../media/image920.png"/><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97.png"/><Relationship Id="rId4"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EB0F588-289D-2035-82FD-12F5B64B4A01}"/>
              </a:ext>
            </a:extLst>
          </p:cNvPr>
          <p:cNvSpPr txBox="1"/>
          <p:nvPr/>
        </p:nvSpPr>
        <p:spPr>
          <a:xfrm>
            <a:off x="-5424636" y="-2872225"/>
            <a:ext cx="26549625" cy="11326178"/>
          </a:xfrm>
          <a:prstGeom prst="rect">
            <a:avLst/>
          </a:prstGeom>
          <a:noFill/>
        </p:spPr>
        <p:txBody>
          <a:bodyPr wrap="square">
            <a:spAutoFit/>
          </a:bodyPr>
          <a:lstStyle/>
          <a:p>
            <a:r>
              <a:rPr lang="en-US" altLang="zh-CN" sz="73000" b="0" i="0" u="none" strike="noStrike" dirty="0">
                <a:solidFill>
                  <a:schemeClr val="bg1">
                    <a:lumMod val="85000"/>
                  </a:schemeClr>
                </a:solidFill>
                <a:latin typeface="BIZ UDPMincho Medium" panose="02020500000000000000" pitchFamily="18" charset="-128"/>
                <a:ea typeface="BIZ UDPMincho Medium" panose="02020500000000000000" pitchFamily="18" charset="-128"/>
                <a:cs typeface="Noto Sans SC"/>
                <a:sym typeface="Noto Sans SC"/>
              </a:rPr>
              <a:t>QEC</a:t>
            </a:r>
            <a:endParaRPr lang="zh-CN" altLang="en-US" sz="73000" dirty="0">
              <a:solidFill>
                <a:schemeClr val="bg1">
                  <a:lumMod val="85000"/>
                </a:schemeClr>
              </a:solidFill>
              <a:latin typeface="BIZ UDPMincho Medium" panose="02020500000000000000" pitchFamily="18" charset="-128"/>
              <a:ea typeface="BIZ UDPMincho Medium" panose="02020500000000000000" pitchFamily="18" charset="-128"/>
            </a:endParaRPr>
          </a:p>
        </p:txBody>
      </p:sp>
      <p:sp>
        <p:nvSpPr>
          <p:cNvPr id="2" name="AutoShape 2"/>
          <p:cNvSpPr/>
          <p:nvPr/>
        </p:nvSpPr>
        <p:spPr>
          <a:xfrm>
            <a:off x="762000" y="946973"/>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dirty="0" err="1">
                <a:solidFill>
                  <a:srgbClr val="333333"/>
                </a:solidFill>
                <a:latin typeface="Noto Sans SC"/>
                <a:ea typeface="Noto Sans SC"/>
                <a:cs typeface="Noto Sans SC"/>
                <a:sym typeface="Noto Sans SC"/>
              </a:rPr>
              <a:t>量子纠错导论</a:t>
            </a:r>
            <a:endParaRPr lang="en-US" sz="1100" dirty="0"/>
          </a:p>
        </p:txBody>
      </p:sp>
      <p:sp>
        <p:nvSpPr>
          <p:cNvPr id="3" name="AutoShape 3"/>
          <p:cNvSpPr/>
          <p:nvPr/>
        </p:nvSpPr>
        <p:spPr>
          <a:xfrm>
            <a:off x="0" y="3159459"/>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600" b="0" i="0" u="none" strike="noStrike" dirty="0">
                <a:solidFill>
                  <a:srgbClr val="555555"/>
                </a:solidFill>
                <a:latin typeface="Noto Sans SC"/>
                <a:ea typeface="Noto Sans SC"/>
                <a:cs typeface="Noto Sans SC"/>
                <a:sym typeface="Noto Sans SC"/>
              </a:rPr>
              <a:t>Quantum Error Correction</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7414B-F091-74EB-89A5-B63882C3EB60}"/>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239F19E0-FE72-880A-FD5F-9A59643C726B}"/>
              </a:ext>
            </a:extLst>
          </p:cNvPr>
          <p:cNvSpPr/>
          <p:nvPr/>
        </p:nvSpPr>
        <p:spPr>
          <a:xfrm>
            <a:off x="762000" y="1587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666666"/>
                </a:solidFill>
                <a:latin typeface="Noto Sans SC"/>
                <a:ea typeface="Noto Sans SC"/>
                <a:cs typeface="Noto Sans SC"/>
                <a:sym typeface="Noto Sans SC"/>
              </a:rPr>
              <a:t>1.1 </a:t>
            </a:r>
            <a:r>
              <a:rPr lang="zh-CN" altLang="en-US" sz="2200" b="1" i="0" u="none" strike="noStrike" dirty="0">
                <a:solidFill>
                  <a:srgbClr val="666666"/>
                </a:solidFill>
                <a:latin typeface="Noto Sans SC"/>
                <a:ea typeface="Noto Sans SC"/>
                <a:cs typeface="Noto Sans SC"/>
                <a:sym typeface="Noto Sans SC"/>
              </a:rPr>
              <a:t>为什么要量子纠错？</a:t>
            </a:r>
            <a:endParaRPr lang="en-US" sz="1100" dirty="0"/>
          </a:p>
        </p:txBody>
      </p:sp>
      <p:cxnSp>
        <p:nvCxnSpPr>
          <p:cNvPr id="14" name="直接连接符 13">
            <a:extLst>
              <a:ext uri="{FF2B5EF4-FFF2-40B4-BE49-F238E27FC236}">
                <a16:creationId xmlns:a16="http://schemas.microsoft.com/office/drawing/2014/main" id="{BA12639C-356D-DD15-83F3-7362892060B1}"/>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 name="AutoShape 2">
            <a:extLst>
              <a:ext uri="{FF2B5EF4-FFF2-40B4-BE49-F238E27FC236}">
                <a16:creationId xmlns:a16="http://schemas.microsoft.com/office/drawing/2014/main" id="{6326C543-B062-AC66-AAF8-5967CFC2272F}"/>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01 </a:t>
            </a:r>
            <a:r>
              <a:rPr lang="en-US" sz="3200" b="1" i="0" u="none" strike="noStrike" dirty="0" err="1">
                <a:solidFill>
                  <a:srgbClr val="333333"/>
                </a:solidFill>
                <a:latin typeface="Noto Sans SC"/>
                <a:ea typeface="Noto Sans SC"/>
                <a:cs typeface="Noto Sans SC"/>
                <a:sym typeface="Noto Sans SC"/>
              </a:rPr>
              <a:t>引言</a:t>
            </a:r>
            <a:r>
              <a:rPr lang="en-US" sz="3200" b="1" dirty="0">
                <a:solidFill>
                  <a:schemeClr val="bg1">
                    <a:lumMod val="65000"/>
                  </a:schemeClr>
                </a:solidFill>
                <a:latin typeface="Noto Sans SC"/>
                <a:ea typeface="Noto Sans SC"/>
                <a:cs typeface="Noto Sans SC"/>
                <a:sym typeface="Noto Sans SC"/>
              </a:rPr>
              <a:t> I</a:t>
            </a:r>
            <a:r>
              <a:rPr lang="en-US" altLang="zh-CN" sz="3200" b="1" dirty="0">
                <a:solidFill>
                  <a:schemeClr val="bg1">
                    <a:lumMod val="65000"/>
                  </a:schemeClr>
                </a:solidFill>
                <a:latin typeface="Noto Sans SC"/>
                <a:ea typeface="Noto Sans SC"/>
                <a:cs typeface="Noto Sans SC"/>
                <a:sym typeface="Noto Sans SC"/>
              </a:rPr>
              <a:t>ntroduction</a:t>
            </a:r>
            <a:endParaRPr lang="en-US" sz="1100" dirty="0">
              <a:solidFill>
                <a:schemeClr val="bg1">
                  <a:lumMod val="65000"/>
                </a:schemeClr>
              </a:solidFill>
            </a:endParaRPr>
          </a:p>
        </p:txBody>
      </p:sp>
      <p:sp>
        <p:nvSpPr>
          <p:cNvPr id="2" name="AutoShape 3">
            <a:extLst>
              <a:ext uri="{FF2B5EF4-FFF2-40B4-BE49-F238E27FC236}">
                <a16:creationId xmlns:a16="http://schemas.microsoft.com/office/drawing/2014/main" id="{2E4D0343-A822-DB28-F1E0-BBAFFB81B556}"/>
              </a:ext>
            </a:extLst>
          </p:cNvPr>
          <p:cNvSpPr/>
          <p:nvPr/>
        </p:nvSpPr>
        <p:spPr>
          <a:xfrm>
            <a:off x="762000" y="2374903"/>
            <a:ext cx="1066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95959"/>
                </a:solidFill>
                <a:latin typeface="Noto Sans SC"/>
                <a:ea typeface="Noto Sans SC"/>
                <a:cs typeface="Noto Sans SC"/>
                <a:sym typeface="Noto Sans SC"/>
              </a:rPr>
              <a:t>1.2 </a:t>
            </a:r>
            <a:r>
              <a:rPr lang="en-US" sz="2200" b="1" i="0" u="none" strike="noStrike" dirty="0" err="1">
                <a:solidFill>
                  <a:srgbClr val="595959"/>
                </a:solidFill>
                <a:latin typeface="Noto Sans SC"/>
                <a:ea typeface="Noto Sans SC"/>
                <a:cs typeface="Noto Sans SC"/>
                <a:sym typeface="Noto Sans SC"/>
              </a:rPr>
              <a:t>经典纠错：重复码</a:t>
            </a:r>
            <a:r>
              <a:rPr lang="en-US" sz="2200" b="1" i="0" u="none" strike="noStrike" dirty="0">
                <a:solidFill>
                  <a:srgbClr val="595959"/>
                </a:solidFill>
                <a:latin typeface="Noto Sans SC"/>
                <a:ea typeface="Noto Sans SC"/>
                <a:cs typeface="Noto Sans SC"/>
                <a:sym typeface="Noto Sans SC"/>
              </a:rPr>
              <a:t> (Repetition Code)</a:t>
            </a:r>
            <a:endParaRPr lang="en-US" sz="1100" dirty="0"/>
          </a:p>
        </p:txBody>
      </p:sp>
      <p:sp>
        <p:nvSpPr>
          <p:cNvPr id="5" name="AutoShape 3">
            <a:extLst>
              <a:ext uri="{FF2B5EF4-FFF2-40B4-BE49-F238E27FC236}">
                <a16:creationId xmlns:a16="http://schemas.microsoft.com/office/drawing/2014/main" id="{89388E4D-A327-5039-A904-CA97C8177132}"/>
              </a:ext>
            </a:extLst>
          </p:cNvPr>
          <p:cNvSpPr/>
          <p:nvPr/>
        </p:nvSpPr>
        <p:spPr>
          <a:xfrm>
            <a:off x="762000" y="3301101"/>
            <a:ext cx="1066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666666"/>
                </a:solidFill>
                <a:latin typeface="Noto Sans SC"/>
                <a:ea typeface="Noto Sans SC"/>
                <a:cs typeface="Noto Sans SC"/>
                <a:sym typeface="Noto Sans SC"/>
              </a:rPr>
              <a:t>1.3 </a:t>
            </a:r>
            <a:r>
              <a:rPr lang="en-US" sz="2200" b="1" i="0" u="none" strike="noStrike" dirty="0" err="1">
                <a:solidFill>
                  <a:srgbClr val="666666"/>
                </a:solidFill>
                <a:latin typeface="Noto Sans SC"/>
                <a:ea typeface="Noto Sans SC"/>
                <a:cs typeface="Noto Sans SC"/>
                <a:sym typeface="Noto Sans SC"/>
              </a:rPr>
              <a:t>量子纠错的</a:t>
            </a:r>
            <a:r>
              <a:rPr lang="zh-CN" altLang="en-US" sz="2200" b="1" i="0" u="none" strike="noStrike" dirty="0">
                <a:solidFill>
                  <a:srgbClr val="666666"/>
                </a:solidFill>
                <a:latin typeface="Noto Sans SC"/>
                <a:ea typeface="Noto Sans SC"/>
                <a:cs typeface="Noto Sans SC"/>
                <a:sym typeface="Noto Sans SC"/>
              </a:rPr>
              <a:t>不同</a:t>
            </a:r>
            <a:r>
              <a:rPr lang="en-US" sz="2200" b="1" i="0" u="none" strike="noStrike" dirty="0">
                <a:solidFill>
                  <a:srgbClr val="666666"/>
                </a:solidFill>
                <a:latin typeface="Noto Sans SC"/>
                <a:ea typeface="Noto Sans SC"/>
                <a:cs typeface="Noto Sans SC"/>
                <a:sym typeface="Noto Sans SC"/>
              </a:rPr>
              <a:t> </a:t>
            </a:r>
            <a:endParaRPr lang="en-US" sz="1100" b="1" dirty="0"/>
          </a:p>
        </p:txBody>
      </p:sp>
    </p:spTree>
    <p:extLst>
      <p:ext uri="{BB962C8B-B14F-4D97-AF65-F5344CB8AC3E}">
        <p14:creationId xmlns:p14="http://schemas.microsoft.com/office/powerpoint/2010/main" val="36822212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2FE8C-7A65-7C82-5F79-709A2F61975F}"/>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D69940B1-B336-CB4E-498A-03A3AB4100EF}"/>
              </a:ext>
            </a:extLst>
          </p:cNvPr>
          <p:cNvSpPr/>
          <p:nvPr/>
        </p:nvSpPr>
        <p:spPr>
          <a:xfrm>
            <a:off x="762000" y="1587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666666"/>
                </a:solidFill>
                <a:latin typeface="Noto Sans SC"/>
                <a:ea typeface="Noto Sans SC"/>
                <a:cs typeface="Noto Sans SC"/>
                <a:sym typeface="Noto Sans SC"/>
              </a:rPr>
              <a:t>1.1 </a:t>
            </a:r>
            <a:r>
              <a:rPr lang="zh-CN" altLang="en-US" sz="2200" b="1" i="0" u="none" strike="noStrike" dirty="0">
                <a:solidFill>
                  <a:srgbClr val="666666"/>
                </a:solidFill>
                <a:latin typeface="Noto Sans SC"/>
                <a:ea typeface="Noto Sans SC"/>
                <a:cs typeface="Noto Sans SC"/>
                <a:sym typeface="Noto Sans SC"/>
              </a:rPr>
              <a:t>为什么要量子纠错？</a:t>
            </a:r>
            <a:endParaRPr lang="en-US" sz="1100" dirty="0"/>
          </a:p>
        </p:txBody>
      </p:sp>
      <p:sp>
        <p:nvSpPr>
          <p:cNvPr id="11" name="AutoShape 11">
            <a:extLst>
              <a:ext uri="{FF2B5EF4-FFF2-40B4-BE49-F238E27FC236}">
                <a16:creationId xmlns:a16="http://schemas.microsoft.com/office/drawing/2014/main" id="{697FA8DB-E922-2205-5395-CCDBF8256763}"/>
              </a:ext>
            </a:extLst>
          </p:cNvPr>
          <p:cNvSpPr/>
          <p:nvPr/>
        </p:nvSpPr>
        <p:spPr>
          <a:xfrm>
            <a:off x="693718" y="2398816"/>
            <a:ext cx="6478977" cy="3699164"/>
          </a:xfrm>
          <a:prstGeom prst="rect">
            <a:avLst/>
          </a:prstGeom>
          <a:noFill/>
          <a:ln w="12700" cap="flat" cmpd="sng">
            <a:noFill/>
            <a:prstDash val="solid"/>
            <a:round/>
          </a:ln>
        </p:spPr>
        <p:txBody>
          <a:bodyPr vert="horz" wrap="square" lIns="0" tIns="0" rIns="0" bIns="0" rtlCol="0" anchor="ctr" anchorCtr="0"/>
          <a:lstStyle/>
          <a:p>
            <a:pPr indent="0" algn="l">
              <a:lnSpc>
                <a:spcPct val="133333"/>
              </a:lnSpc>
              <a:spcBef>
                <a:spcPts val="800"/>
              </a:spcBef>
              <a:defRPr/>
            </a:pPr>
            <a:r>
              <a:rPr lang="en-US" sz="2400" b="1" i="0" u="none" strike="noStrike" dirty="0">
                <a:solidFill>
                  <a:srgbClr val="333333"/>
                </a:solidFill>
                <a:latin typeface="Noto Sans SC"/>
                <a:ea typeface="Noto Sans SC"/>
                <a:cs typeface="Noto Sans SC"/>
                <a:sym typeface="Noto Sans SC"/>
              </a:rPr>
              <a:t>01. </a:t>
            </a:r>
            <a:r>
              <a:rPr lang="en-US" sz="2400" b="1" i="0" u="none" strike="noStrike" dirty="0" err="1">
                <a:solidFill>
                  <a:srgbClr val="333333"/>
                </a:solidFill>
                <a:latin typeface="Noto Sans SC"/>
                <a:ea typeface="Noto Sans SC"/>
                <a:cs typeface="Noto Sans SC"/>
                <a:sym typeface="Noto Sans SC"/>
              </a:rPr>
              <a:t>环境</a:t>
            </a:r>
            <a:r>
              <a:rPr lang="zh-CN" altLang="en-US" sz="2400" b="1" dirty="0">
                <a:solidFill>
                  <a:srgbClr val="333333"/>
                </a:solidFill>
                <a:latin typeface="Noto Sans SC"/>
                <a:ea typeface="Noto Sans SC"/>
                <a:cs typeface="Noto Sans SC"/>
                <a:sym typeface="Noto Sans SC"/>
              </a:rPr>
              <a:t>影响</a:t>
            </a:r>
            <a:endParaRPr lang="en-US" sz="2400" dirty="0"/>
          </a:p>
          <a:p>
            <a:pPr indent="0" algn="l">
              <a:lnSpc>
                <a:spcPct val="116666"/>
              </a:lnSpc>
            </a:pPr>
            <a:r>
              <a:rPr lang="en-US" sz="2400" b="0" i="0" u="none" strike="noStrike" dirty="0">
                <a:solidFill>
                  <a:srgbClr val="606060"/>
                </a:solidFill>
                <a:latin typeface="Noto Sans SC"/>
                <a:ea typeface="Noto Sans SC"/>
                <a:cs typeface="Noto Sans SC"/>
                <a:sym typeface="Noto Sans SC"/>
              </a:rPr>
              <a:t> </a:t>
            </a:r>
            <a:r>
              <a:rPr lang="en-US" sz="2400" b="0" i="0" u="none" strike="noStrike" dirty="0" err="1">
                <a:solidFill>
                  <a:srgbClr val="606060"/>
                </a:solidFill>
                <a:latin typeface="Noto Sans SC"/>
                <a:ea typeface="Noto Sans SC"/>
                <a:cs typeface="Noto Sans SC"/>
                <a:sym typeface="Noto Sans SC"/>
              </a:rPr>
              <a:t>环境的微小相互作用会导致叠加态坍缩或相位相干性丧失</a:t>
            </a:r>
            <a:r>
              <a:rPr lang="zh-CN" altLang="en-US" sz="2400" b="0" i="0" u="none" strike="noStrike" dirty="0">
                <a:solidFill>
                  <a:srgbClr val="606060"/>
                </a:solidFill>
                <a:latin typeface="Noto Sans SC"/>
                <a:ea typeface="Noto Sans SC"/>
                <a:cs typeface="Noto Sans SC"/>
                <a:sym typeface="Noto Sans SC"/>
              </a:rPr>
              <a:t>。</a:t>
            </a:r>
            <a:endParaRPr lang="en-US" sz="2400" b="0" i="0" u="none" strike="noStrike" dirty="0">
              <a:solidFill>
                <a:srgbClr val="606060"/>
              </a:solidFill>
              <a:latin typeface="Noto Sans SC"/>
              <a:ea typeface="Noto Sans SC"/>
              <a:cs typeface="Noto Sans SC"/>
              <a:sym typeface="Noto Sans SC"/>
            </a:endParaRPr>
          </a:p>
          <a:p>
            <a:pPr indent="0" algn="l">
              <a:lnSpc>
                <a:spcPct val="133333"/>
              </a:lnSpc>
              <a:spcBef>
                <a:spcPts val="2000"/>
              </a:spcBef>
            </a:pPr>
            <a:r>
              <a:rPr lang="en-US" sz="2400" b="1" i="0" u="none" strike="noStrike" dirty="0">
                <a:solidFill>
                  <a:srgbClr val="333333"/>
                </a:solidFill>
                <a:latin typeface="Noto Sans SC"/>
                <a:ea typeface="Noto Sans SC"/>
                <a:cs typeface="Noto Sans SC"/>
                <a:sym typeface="Noto Sans SC"/>
              </a:rPr>
              <a:t>02. </a:t>
            </a:r>
            <a:r>
              <a:rPr lang="en-US" sz="2400" b="1" i="0" u="none" strike="noStrike" dirty="0" err="1">
                <a:solidFill>
                  <a:srgbClr val="333333"/>
                </a:solidFill>
                <a:latin typeface="Noto Sans SC"/>
                <a:ea typeface="Noto Sans SC"/>
                <a:cs typeface="Noto Sans SC"/>
                <a:sym typeface="Noto Sans SC"/>
              </a:rPr>
              <a:t>量子操作的物理局限性</a:t>
            </a:r>
            <a:endParaRPr lang="en-US" sz="2400" b="1" i="0" u="none" strike="noStrike" dirty="0">
              <a:solidFill>
                <a:srgbClr val="333333"/>
              </a:solidFill>
              <a:latin typeface="Noto Sans SC"/>
              <a:ea typeface="Noto Sans SC"/>
              <a:cs typeface="Noto Sans SC"/>
              <a:sym typeface="Noto Sans SC"/>
            </a:endParaRPr>
          </a:p>
          <a:p>
            <a:pPr indent="0" algn="l">
              <a:lnSpc>
                <a:spcPct val="116666"/>
              </a:lnSpc>
            </a:pPr>
            <a:r>
              <a:rPr lang="en-US" sz="2400" b="0" i="0" u="none" strike="noStrike" dirty="0" err="1">
                <a:solidFill>
                  <a:srgbClr val="606060"/>
                </a:solidFill>
                <a:latin typeface="Noto Sans SC"/>
                <a:ea typeface="Noto Sans SC"/>
                <a:cs typeface="Noto Sans SC"/>
                <a:sym typeface="Noto Sans SC"/>
              </a:rPr>
              <a:t>门操作</a:t>
            </a:r>
            <a:r>
              <a:rPr lang="zh-CN" altLang="en-US" sz="2400" b="0" i="0" u="none" strike="noStrike" dirty="0">
                <a:solidFill>
                  <a:srgbClr val="606060"/>
                </a:solidFill>
                <a:latin typeface="Noto Sans SC"/>
                <a:ea typeface="Noto Sans SC"/>
                <a:cs typeface="Noto Sans SC"/>
                <a:sym typeface="Noto Sans SC"/>
              </a:rPr>
              <a:t>无法</a:t>
            </a:r>
            <a:r>
              <a:rPr lang="en-US" sz="2400" b="0" i="0" u="none" strike="noStrike" dirty="0">
                <a:solidFill>
                  <a:srgbClr val="606060"/>
                </a:solidFill>
                <a:latin typeface="Noto Sans SC"/>
                <a:ea typeface="Noto Sans SC"/>
                <a:cs typeface="Noto Sans SC"/>
                <a:sym typeface="Noto Sans SC"/>
              </a:rPr>
              <a:t>达到100%的精准度，每一步操作都可能引入比特翻转或相位翻转错误</a:t>
            </a:r>
            <a:r>
              <a:rPr lang="zh-CN" altLang="en-US" sz="2400" b="0" i="0" u="none" strike="noStrike" dirty="0">
                <a:solidFill>
                  <a:srgbClr val="606060"/>
                </a:solidFill>
                <a:latin typeface="Noto Sans SC"/>
                <a:ea typeface="Noto Sans SC"/>
                <a:cs typeface="Noto Sans SC"/>
                <a:sym typeface="Noto Sans SC"/>
              </a:rPr>
              <a:t>。</a:t>
            </a:r>
            <a:endParaRPr lang="en-US" sz="2400" b="0" i="0" u="none" strike="noStrike" dirty="0">
              <a:solidFill>
                <a:srgbClr val="606060"/>
              </a:solidFill>
              <a:latin typeface="Noto Sans SC"/>
              <a:ea typeface="Noto Sans SC"/>
              <a:cs typeface="Noto Sans SC"/>
              <a:sym typeface="Noto Sans SC"/>
            </a:endParaRPr>
          </a:p>
        </p:txBody>
      </p:sp>
      <p:cxnSp>
        <p:nvCxnSpPr>
          <p:cNvPr id="14" name="直接连接符 13">
            <a:extLst>
              <a:ext uri="{FF2B5EF4-FFF2-40B4-BE49-F238E27FC236}">
                <a16:creationId xmlns:a16="http://schemas.microsoft.com/office/drawing/2014/main" id="{7F9513B4-8B63-CB6D-4A6D-6F09ABE86EF5}"/>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D6E84219-4855-9D2E-6ABB-3E9E68D865EE}"/>
              </a:ext>
            </a:extLst>
          </p:cNvPr>
          <p:cNvPicPr>
            <a:picLocks noChangeAspect="1"/>
          </p:cNvPicPr>
          <p:nvPr/>
        </p:nvPicPr>
        <p:blipFill>
          <a:blip r:embed="rId3"/>
          <a:stretch>
            <a:fillRect/>
          </a:stretch>
        </p:blipFill>
        <p:spPr>
          <a:xfrm>
            <a:off x="8283867" y="1863089"/>
            <a:ext cx="1419423" cy="543001"/>
          </a:xfrm>
          <a:prstGeom prst="rect">
            <a:avLst/>
          </a:prstGeom>
        </p:spPr>
      </p:pic>
      <p:pic>
        <p:nvPicPr>
          <p:cNvPr id="21" name="图片 20">
            <a:extLst>
              <a:ext uri="{FF2B5EF4-FFF2-40B4-BE49-F238E27FC236}">
                <a16:creationId xmlns:a16="http://schemas.microsoft.com/office/drawing/2014/main" id="{BAFE9003-3A25-8D9A-6AC9-FE67C2480B78}"/>
              </a:ext>
            </a:extLst>
          </p:cNvPr>
          <p:cNvPicPr>
            <a:picLocks noChangeAspect="1"/>
          </p:cNvPicPr>
          <p:nvPr/>
        </p:nvPicPr>
        <p:blipFill>
          <a:blip r:embed="rId4"/>
          <a:stretch>
            <a:fillRect/>
          </a:stretch>
        </p:blipFill>
        <p:spPr>
          <a:xfrm>
            <a:off x="8214249" y="3829566"/>
            <a:ext cx="2829320" cy="1467055"/>
          </a:xfrm>
          <a:prstGeom prst="rect">
            <a:avLst/>
          </a:prstGeom>
        </p:spPr>
      </p:pic>
      <p:pic>
        <p:nvPicPr>
          <p:cNvPr id="23" name="图片 22">
            <a:extLst>
              <a:ext uri="{FF2B5EF4-FFF2-40B4-BE49-F238E27FC236}">
                <a16:creationId xmlns:a16="http://schemas.microsoft.com/office/drawing/2014/main" id="{84D9988B-D418-E53B-2FEF-704A6FE2F808}"/>
              </a:ext>
            </a:extLst>
          </p:cNvPr>
          <p:cNvPicPr>
            <a:picLocks noChangeAspect="1"/>
          </p:cNvPicPr>
          <p:nvPr/>
        </p:nvPicPr>
        <p:blipFill>
          <a:blip r:embed="rId5"/>
          <a:stretch>
            <a:fillRect/>
          </a:stretch>
        </p:blipFill>
        <p:spPr>
          <a:xfrm>
            <a:off x="8301355" y="2843782"/>
            <a:ext cx="1657581" cy="695422"/>
          </a:xfrm>
          <a:prstGeom prst="rect">
            <a:avLst/>
          </a:prstGeom>
        </p:spPr>
      </p:pic>
      <p:sp>
        <p:nvSpPr>
          <p:cNvPr id="4" name="AutoShape 2">
            <a:extLst>
              <a:ext uri="{FF2B5EF4-FFF2-40B4-BE49-F238E27FC236}">
                <a16:creationId xmlns:a16="http://schemas.microsoft.com/office/drawing/2014/main" id="{BD504D10-08FF-7204-1491-0E92F6382F92}"/>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01 </a:t>
            </a:r>
            <a:r>
              <a:rPr lang="en-US" sz="3200" b="1" i="0" u="none" strike="noStrike" dirty="0" err="1">
                <a:solidFill>
                  <a:srgbClr val="333333"/>
                </a:solidFill>
                <a:latin typeface="Noto Sans SC"/>
                <a:ea typeface="Noto Sans SC"/>
                <a:cs typeface="Noto Sans SC"/>
                <a:sym typeface="Noto Sans SC"/>
              </a:rPr>
              <a:t>引言</a:t>
            </a:r>
            <a:r>
              <a:rPr lang="en-US" sz="3200" b="1" dirty="0">
                <a:solidFill>
                  <a:schemeClr val="bg1">
                    <a:lumMod val="65000"/>
                  </a:schemeClr>
                </a:solidFill>
                <a:latin typeface="Noto Sans SC"/>
                <a:ea typeface="Noto Sans SC"/>
                <a:cs typeface="Noto Sans SC"/>
                <a:sym typeface="Noto Sans SC"/>
              </a:rPr>
              <a:t> I</a:t>
            </a:r>
            <a:r>
              <a:rPr lang="en-US" altLang="zh-CN" sz="3200" b="1" dirty="0">
                <a:solidFill>
                  <a:schemeClr val="bg1">
                    <a:lumMod val="65000"/>
                  </a:schemeClr>
                </a:solidFill>
                <a:latin typeface="Noto Sans SC"/>
                <a:ea typeface="Noto Sans SC"/>
                <a:cs typeface="Noto Sans SC"/>
                <a:sym typeface="Noto Sans SC"/>
              </a:rPr>
              <a:t>ntroduction</a:t>
            </a:r>
            <a:endParaRPr lang="en-US" sz="1100" dirty="0">
              <a:solidFill>
                <a:schemeClr val="bg1">
                  <a:lumMod val="65000"/>
                </a:schemeClr>
              </a:solidFill>
            </a:endParaRPr>
          </a:p>
        </p:txBody>
      </p:sp>
    </p:spTree>
    <p:extLst>
      <p:ext uri="{BB962C8B-B14F-4D97-AF65-F5344CB8AC3E}">
        <p14:creationId xmlns:p14="http://schemas.microsoft.com/office/powerpoint/2010/main" val="13131373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01 </a:t>
            </a:r>
            <a:r>
              <a:rPr lang="en-US" sz="3200" b="1" i="0" u="none" strike="noStrike" dirty="0" err="1">
                <a:solidFill>
                  <a:srgbClr val="333333"/>
                </a:solidFill>
                <a:latin typeface="Noto Sans SC"/>
                <a:ea typeface="Noto Sans SC"/>
                <a:cs typeface="Noto Sans SC"/>
                <a:sym typeface="Noto Sans SC"/>
              </a:rPr>
              <a:t>引言</a:t>
            </a:r>
            <a:r>
              <a:rPr lang="en-US" sz="3200" b="1" dirty="0">
                <a:solidFill>
                  <a:schemeClr val="bg1">
                    <a:lumMod val="65000"/>
                  </a:schemeClr>
                </a:solidFill>
                <a:latin typeface="Noto Sans SC"/>
                <a:ea typeface="Noto Sans SC"/>
                <a:cs typeface="Noto Sans SC"/>
                <a:sym typeface="Noto Sans SC"/>
              </a:rPr>
              <a:t> I</a:t>
            </a:r>
            <a:r>
              <a:rPr lang="en-US" altLang="zh-CN" sz="3200" b="1" dirty="0">
                <a:solidFill>
                  <a:schemeClr val="bg1">
                    <a:lumMod val="65000"/>
                  </a:schemeClr>
                </a:solidFill>
                <a:latin typeface="Noto Sans SC"/>
                <a:ea typeface="Noto Sans SC"/>
                <a:cs typeface="Noto Sans SC"/>
                <a:sym typeface="Noto Sans SC"/>
              </a:rPr>
              <a:t>ntroduction</a:t>
            </a:r>
            <a:endParaRPr lang="en-US" sz="1100" dirty="0">
              <a:solidFill>
                <a:schemeClr val="bg1">
                  <a:lumMod val="65000"/>
                </a:schemeClr>
              </a:solidFill>
            </a:endParaRPr>
          </a:p>
        </p:txBody>
      </p:sp>
      <p:sp>
        <p:nvSpPr>
          <p:cNvPr id="3" name="AutoShape 3"/>
          <p:cNvSpPr/>
          <p:nvPr/>
        </p:nvSpPr>
        <p:spPr>
          <a:xfrm>
            <a:off x="762000" y="1460500"/>
            <a:ext cx="1066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95959"/>
                </a:solidFill>
                <a:latin typeface="Noto Sans SC"/>
                <a:ea typeface="Noto Sans SC"/>
                <a:cs typeface="Noto Sans SC"/>
                <a:sym typeface="Noto Sans SC"/>
              </a:rPr>
              <a:t>1.2 </a:t>
            </a:r>
            <a:r>
              <a:rPr lang="en-US" sz="2200" b="1" i="0" u="none" strike="noStrike" dirty="0" err="1">
                <a:solidFill>
                  <a:srgbClr val="595959"/>
                </a:solidFill>
                <a:latin typeface="Noto Sans SC"/>
                <a:ea typeface="Noto Sans SC"/>
                <a:cs typeface="Noto Sans SC"/>
                <a:sym typeface="Noto Sans SC"/>
              </a:rPr>
              <a:t>经典纠错：重复码</a:t>
            </a:r>
            <a:r>
              <a:rPr lang="en-US" sz="2200" b="1" i="0" u="none" strike="noStrike" dirty="0">
                <a:solidFill>
                  <a:srgbClr val="595959"/>
                </a:solidFill>
                <a:latin typeface="Noto Sans SC"/>
                <a:ea typeface="Noto Sans SC"/>
                <a:cs typeface="Noto Sans SC"/>
                <a:sym typeface="Noto Sans SC"/>
              </a:rPr>
              <a:t> (Repetition Code)</a:t>
            </a:r>
            <a:endParaRPr lang="en-US" sz="1100" dirty="0"/>
          </a:p>
        </p:txBody>
      </p:sp>
      <p:sp>
        <p:nvSpPr>
          <p:cNvPr id="11" name="AutoShape 11"/>
          <p:cNvSpPr/>
          <p:nvPr/>
        </p:nvSpPr>
        <p:spPr>
          <a:xfrm>
            <a:off x="863267" y="3711038"/>
            <a:ext cx="5911604" cy="1929741"/>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2800" b="1" i="0" u="none" strike="noStrike" dirty="0">
                <a:solidFill>
                  <a:srgbClr val="4B5563"/>
                </a:solidFill>
                <a:latin typeface="Noto Sans SC"/>
                <a:ea typeface="Noto Sans SC"/>
                <a:cs typeface="Noto Sans SC"/>
                <a:sym typeface="Noto Sans SC"/>
              </a:rPr>
              <a:t>01.</a:t>
            </a:r>
            <a:r>
              <a:rPr lang="zh-CN" altLang="en-US" sz="2800" b="1" i="0" u="none" strike="noStrike" dirty="0">
                <a:solidFill>
                  <a:srgbClr val="4B5563"/>
                </a:solidFill>
                <a:latin typeface="Noto Sans SC"/>
                <a:ea typeface="Noto Sans SC"/>
                <a:cs typeface="Noto Sans SC"/>
                <a:sym typeface="Noto Sans SC"/>
              </a:rPr>
              <a:t>编码</a:t>
            </a:r>
            <a:endParaRPr lang="en-US" sz="2800" b="1" i="0" u="none" strike="noStrike" dirty="0">
              <a:solidFill>
                <a:srgbClr val="4B5563"/>
              </a:solidFill>
              <a:latin typeface="Noto Sans SC"/>
              <a:ea typeface="Noto Sans SC"/>
              <a:cs typeface="Noto Sans SC"/>
              <a:sym typeface="Noto Sans SC"/>
            </a:endParaRPr>
          </a:p>
          <a:p>
            <a:pPr indent="0" algn="l">
              <a:lnSpc>
                <a:spcPct val="116666"/>
              </a:lnSpc>
              <a:defRPr/>
            </a:pPr>
            <a:r>
              <a:rPr lang="en-US" sz="2800" b="0" i="0" u="none" strike="noStrike" dirty="0">
                <a:solidFill>
                  <a:srgbClr val="4B5563"/>
                </a:solidFill>
                <a:latin typeface="Noto Sans SC"/>
                <a:ea typeface="Noto Sans SC"/>
                <a:cs typeface="Noto Sans SC"/>
                <a:sym typeface="Noto Sans SC"/>
              </a:rPr>
              <a:t>将1个比特映射为3个比特</a:t>
            </a:r>
          </a:p>
          <a:p>
            <a:pPr indent="0" algn="l">
              <a:lnSpc>
                <a:spcPct val="116666"/>
              </a:lnSpc>
              <a:defRPr/>
            </a:pPr>
            <a:endParaRPr lang="en-US" sz="2800" b="0" i="0" u="none" strike="noStrike" dirty="0">
              <a:solidFill>
                <a:srgbClr val="4B5563"/>
              </a:solidFill>
              <a:latin typeface="Noto Sans SC"/>
              <a:ea typeface="Noto Sans SC"/>
              <a:cs typeface="Noto Sans SC"/>
              <a:sym typeface="Noto Sans SC"/>
            </a:endParaRPr>
          </a:p>
          <a:p>
            <a:pPr indent="0" algn="l">
              <a:lnSpc>
                <a:spcPct val="116666"/>
              </a:lnSpc>
              <a:defRPr/>
            </a:pPr>
            <a:r>
              <a:rPr lang="en-US" sz="2800" b="1" dirty="0">
                <a:solidFill>
                  <a:srgbClr val="4B5563"/>
                </a:solidFill>
                <a:latin typeface="Noto Sans SC"/>
                <a:ea typeface="Noto Sans SC"/>
                <a:cs typeface="Noto Sans SC"/>
                <a:sym typeface="Noto Sans SC"/>
              </a:rPr>
              <a:t>02.</a:t>
            </a:r>
            <a:r>
              <a:rPr lang="zh-CN" altLang="en-US" sz="2800" b="1" dirty="0">
                <a:solidFill>
                  <a:srgbClr val="4B5563"/>
                </a:solidFill>
                <a:latin typeface="Noto Sans SC"/>
                <a:ea typeface="Noto Sans SC"/>
                <a:cs typeface="Noto Sans SC"/>
                <a:sym typeface="Noto Sans SC"/>
              </a:rPr>
              <a:t>判定</a:t>
            </a:r>
            <a:endParaRPr lang="en-US" sz="2800" b="1" i="0" u="none" strike="noStrike" dirty="0">
              <a:solidFill>
                <a:srgbClr val="4B5563"/>
              </a:solidFill>
              <a:latin typeface="Noto Sans SC"/>
              <a:ea typeface="Noto Sans SC"/>
              <a:cs typeface="Noto Sans SC"/>
              <a:sym typeface="Noto Sans SC"/>
            </a:endParaRPr>
          </a:p>
          <a:p>
            <a:pPr indent="0" algn="l">
              <a:lnSpc>
                <a:spcPct val="116666"/>
              </a:lnSpc>
              <a:defRPr/>
            </a:pPr>
            <a:r>
              <a:rPr lang="zh-CN" altLang="en-US" sz="2800" dirty="0">
                <a:solidFill>
                  <a:srgbClr val="4B5563"/>
                </a:solidFill>
                <a:latin typeface="Noto Sans SC"/>
                <a:ea typeface="Noto Sans SC"/>
                <a:cs typeface="Noto Sans SC"/>
                <a:sym typeface="Noto Sans SC"/>
              </a:rPr>
              <a:t>按照少数服从多数的原则判定</a:t>
            </a:r>
            <a:br>
              <a:rPr lang="en-US" altLang="zh-CN" sz="2800" dirty="0">
                <a:solidFill>
                  <a:srgbClr val="4B5563"/>
                </a:solidFill>
                <a:latin typeface="Noto Sans SC"/>
                <a:ea typeface="Noto Sans SC"/>
                <a:cs typeface="Noto Sans SC"/>
                <a:sym typeface="Noto Sans SC"/>
              </a:rPr>
            </a:br>
            <a:endParaRPr lang="en-US" altLang="zh-CN" sz="2000" dirty="0"/>
          </a:p>
          <a:p>
            <a:pPr indent="0" algn="l">
              <a:lnSpc>
                <a:spcPct val="116666"/>
              </a:lnSpc>
              <a:defRPr/>
            </a:pPr>
            <a:endParaRPr lang="en-US" sz="2800" dirty="0"/>
          </a:p>
        </p:txBody>
      </p:sp>
      <p:cxnSp>
        <p:nvCxnSpPr>
          <p:cNvPr id="4" name="直接连接符 3">
            <a:extLst>
              <a:ext uri="{FF2B5EF4-FFF2-40B4-BE49-F238E27FC236}">
                <a16:creationId xmlns:a16="http://schemas.microsoft.com/office/drawing/2014/main" id="{6ADBB1FC-E4AC-43BA-E2ED-C5A96C693B60}"/>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89D48D2B-38E1-206D-5CBD-74419FB330DA}"/>
              </a:ext>
            </a:extLst>
          </p:cNvPr>
          <p:cNvPicPr>
            <a:picLocks noChangeAspect="1"/>
          </p:cNvPicPr>
          <p:nvPr/>
        </p:nvPicPr>
        <p:blipFill>
          <a:blip r:embed="rId3"/>
          <a:stretch>
            <a:fillRect/>
          </a:stretch>
        </p:blipFill>
        <p:spPr>
          <a:xfrm>
            <a:off x="9261366" y="1942693"/>
            <a:ext cx="1305107" cy="514422"/>
          </a:xfrm>
          <a:prstGeom prst="rect">
            <a:avLst/>
          </a:prstGeom>
        </p:spPr>
      </p:pic>
      <p:pic>
        <p:nvPicPr>
          <p:cNvPr id="17" name="图片 16">
            <a:extLst>
              <a:ext uri="{FF2B5EF4-FFF2-40B4-BE49-F238E27FC236}">
                <a16:creationId xmlns:a16="http://schemas.microsoft.com/office/drawing/2014/main" id="{2EE13B9E-B0ED-2A51-E22E-E71D5E3E7FC1}"/>
              </a:ext>
            </a:extLst>
          </p:cNvPr>
          <p:cNvPicPr>
            <a:picLocks noChangeAspect="1"/>
          </p:cNvPicPr>
          <p:nvPr/>
        </p:nvPicPr>
        <p:blipFill>
          <a:blip r:embed="rId4"/>
          <a:stretch>
            <a:fillRect/>
          </a:stretch>
        </p:blipFill>
        <p:spPr>
          <a:xfrm>
            <a:off x="9248056" y="2768293"/>
            <a:ext cx="1486107" cy="29245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397000"/>
            <a:ext cx="1066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666666"/>
                </a:solidFill>
                <a:latin typeface="Noto Sans SC"/>
                <a:ea typeface="Noto Sans SC"/>
                <a:cs typeface="Noto Sans SC"/>
                <a:sym typeface="Noto Sans SC"/>
              </a:rPr>
              <a:t>1.3 </a:t>
            </a:r>
            <a:r>
              <a:rPr lang="en-US" sz="2200" b="1" i="0" u="none" strike="noStrike" dirty="0" err="1">
                <a:solidFill>
                  <a:srgbClr val="666666"/>
                </a:solidFill>
                <a:latin typeface="Noto Sans SC"/>
                <a:ea typeface="Noto Sans SC"/>
                <a:cs typeface="Noto Sans SC"/>
                <a:sym typeface="Noto Sans SC"/>
              </a:rPr>
              <a:t>量子纠错的</a:t>
            </a:r>
            <a:r>
              <a:rPr lang="zh-CN" altLang="en-US" sz="2200" b="1" i="0" u="none" strike="noStrike" dirty="0">
                <a:solidFill>
                  <a:srgbClr val="666666"/>
                </a:solidFill>
                <a:latin typeface="Noto Sans SC"/>
                <a:ea typeface="Noto Sans SC"/>
                <a:cs typeface="Noto Sans SC"/>
                <a:sym typeface="Noto Sans SC"/>
              </a:rPr>
              <a:t>不同</a:t>
            </a:r>
            <a:r>
              <a:rPr lang="en-US" sz="2200" b="1" i="0" u="none" strike="noStrike" dirty="0">
                <a:solidFill>
                  <a:srgbClr val="666666"/>
                </a:solidFill>
                <a:latin typeface="Noto Sans SC"/>
                <a:ea typeface="Noto Sans SC"/>
                <a:cs typeface="Noto Sans SC"/>
                <a:sym typeface="Noto Sans SC"/>
              </a:rPr>
              <a:t> </a:t>
            </a:r>
            <a:endParaRPr lang="en-US" sz="1100" b="1" dirty="0"/>
          </a:p>
        </p:txBody>
      </p:sp>
      <p:sp>
        <p:nvSpPr>
          <p:cNvPr id="10" name="AutoShape 10"/>
          <p:cNvSpPr/>
          <p:nvPr/>
        </p:nvSpPr>
        <p:spPr>
          <a:xfrm>
            <a:off x="687778" y="2488540"/>
            <a:ext cx="6449292" cy="391226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b="1" i="0" u="none" strike="noStrike" dirty="0">
                <a:solidFill>
                  <a:srgbClr val="333333"/>
                </a:solidFill>
                <a:latin typeface="Noto Sans SC"/>
                <a:ea typeface="Noto Sans SC"/>
                <a:cs typeface="Noto Sans SC"/>
                <a:sym typeface="Noto Sans SC"/>
              </a:rPr>
              <a:t>01. </a:t>
            </a:r>
            <a:r>
              <a:rPr lang="en-US" b="1" i="0" u="none" strike="noStrike" dirty="0" err="1">
                <a:solidFill>
                  <a:srgbClr val="333333"/>
                </a:solidFill>
                <a:latin typeface="Noto Sans SC"/>
                <a:ea typeface="Noto Sans SC"/>
                <a:cs typeface="Noto Sans SC"/>
                <a:sym typeface="Noto Sans SC"/>
              </a:rPr>
              <a:t>编码</a:t>
            </a:r>
            <a:br>
              <a:rPr lang="en-US" b="0" i="0" u="none" strike="noStrike" dirty="0">
                <a:solidFill>
                  <a:srgbClr val="1F2329"/>
                </a:solidFill>
                <a:latin typeface="Noto Sans SC"/>
                <a:ea typeface="Noto Sans SC"/>
                <a:cs typeface="Noto Sans SC"/>
                <a:sym typeface="Noto Sans SC"/>
              </a:rPr>
            </a:br>
            <a:r>
              <a:rPr lang="en-US" b="0" i="0" u="none" strike="noStrike" dirty="0" err="1">
                <a:solidFill>
                  <a:srgbClr val="5A5A5A"/>
                </a:solidFill>
                <a:latin typeface="Noto Sans SC"/>
                <a:ea typeface="Noto Sans SC"/>
                <a:cs typeface="Noto Sans SC"/>
                <a:sym typeface="Noto Sans SC"/>
              </a:rPr>
              <a:t>将k</a:t>
            </a:r>
            <a:r>
              <a:rPr lang="en-US" b="0" i="0" u="none" strike="noStrike" dirty="0">
                <a:solidFill>
                  <a:srgbClr val="5A5A5A"/>
                </a:solidFill>
                <a:latin typeface="Noto Sans SC"/>
                <a:ea typeface="Noto Sans SC"/>
                <a:cs typeface="Noto Sans SC"/>
                <a:sym typeface="Noto Sans SC"/>
              </a:rPr>
              <a:t> </a:t>
            </a:r>
            <a:r>
              <a:rPr lang="en-US" b="0" i="0" u="none" strike="noStrike" dirty="0" err="1">
                <a:solidFill>
                  <a:srgbClr val="5A5A5A"/>
                </a:solidFill>
                <a:latin typeface="Noto Sans SC"/>
                <a:ea typeface="Noto Sans SC"/>
                <a:cs typeface="Noto Sans SC"/>
                <a:sym typeface="Noto Sans SC"/>
              </a:rPr>
              <a:t>个逻辑比特的态映射到</a:t>
            </a:r>
            <a:r>
              <a:rPr lang="en-US" b="0" i="0" u="none" strike="noStrike" dirty="0">
                <a:solidFill>
                  <a:srgbClr val="5A5A5A"/>
                </a:solidFill>
                <a:latin typeface="Noto Sans SC"/>
                <a:ea typeface="Noto Sans SC"/>
                <a:cs typeface="Noto Sans SC"/>
                <a:sym typeface="Noto Sans SC"/>
              </a:rPr>
              <a:t> n </a:t>
            </a:r>
            <a:r>
              <a:rPr lang="en-US" b="0" i="0" u="none" strike="noStrike" dirty="0" err="1">
                <a:solidFill>
                  <a:srgbClr val="5A5A5A"/>
                </a:solidFill>
                <a:latin typeface="Noto Sans SC"/>
                <a:ea typeface="Noto Sans SC"/>
                <a:cs typeface="Noto Sans SC"/>
                <a:sym typeface="Noto Sans SC"/>
              </a:rPr>
              <a:t>个物理比特的高维希尔伯特空间</a:t>
            </a:r>
            <a:r>
              <a:rPr lang="en-US" b="0" i="0" u="none" strike="noStrike" dirty="0">
                <a:solidFill>
                  <a:srgbClr val="5A5A5A"/>
                </a:solidFill>
                <a:latin typeface="Noto Sans SC"/>
                <a:ea typeface="Noto Sans SC"/>
                <a:cs typeface="Noto Sans SC"/>
                <a:sym typeface="Noto Sans SC"/>
              </a:rPr>
              <a:t> </a:t>
            </a:r>
            <a:endParaRPr lang="en-US" dirty="0"/>
          </a:p>
          <a:p>
            <a:pPr indent="0" algn="l">
              <a:lnSpc>
                <a:spcPct val="116666"/>
              </a:lnSpc>
              <a:spcBef>
                <a:spcPts val="1200"/>
              </a:spcBef>
            </a:pPr>
            <a:r>
              <a:rPr lang="en-US" b="1" i="0" u="none" strike="noStrike" dirty="0">
                <a:solidFill>
                  <a:srgbClr val="333333"/>
                </a:solidFill>
                <a:latin typeface="Noto Sans SC"/>
                <a:ea typeface="Noto Sans SC"/>
                <a:cs typeface="Noto Sans SC"/>
                <a:sym typeface="Noto Sans SC"/>
              </a:rPr>
              <a:t>02. </a:t>
            </a:r>
            <a:r>
              <a:rPr lang="en-US" b="1" i="0" u="none" strike="noStrike" dirty="0" err="1">
                <a:solidFill>
                  <a:srgbClr val="333333"/>
                </a:solidFill>
                <a:latin typeface="Noto Sans SC"/>
                <a:ea typeface="Noto Sans SC"/>
                <a:cs typeface="Noto Sans SC"/>
                <a:sym typeface="Noto Sans SC"/>
              </a:rPr>
              <a:t>非破坏性</a:t>
            </a:r>
            <a:r>
              <a:rPr lang="zh-CN" altLang="en-US" b="1" i="0" u="none" strike="noStrike" dirty="0">
                <a:solidFill>
                  <a:srgbClr val="333333"/>
                </a:solidFill>
                <a:latin typeface="Noto Sans SC"/>
                <a:ea typeface="Noto Sans SC"/>
                <a:cs typeface="Noto Sans SC"/>
                <a:sym typeface="Noto Sans SC"/>
              </a:rPr>
              <a:t>测量</a:t>
            </a:r>
            <a:br>
              <a:rPr lang="en-US" b="0" i="0" u="none" strike="noStrike" dirty="0">
                <a:solidFill>
                  <a:srgbClr val="1F2329"/>
                </a:solidFill>
                <a:latin typeface="Noto Sans SC"/>
                <a:ea typeface="Noto Sans SC"/>
                <a:cs typeface="Noto Sans SC"/>
                <a:sym typeface="Noto Sans SC"/>
              </a:rPr>
            </a:br>
            <a:r>
              <a:rPr lang="en-US" b="0" i="0" u="none" strike="noStrike" dirty="0" err="1">
                <a:solidFill>
                  <a:srgbClr val="5A5A5A"/>
                </a:solidFill>
                <a:latin typeface="Noto Sans SC"/>
                <a:ea typeface="Noto Sans SC"/>
                <a:cs typeface="Noto Sans SC"/>
                <a:sym typeface="Noto Sans SC"/>
              </a:rPr>
              <a:t>引入辅助比特</a:t>
            </a:r>
            <a:r>
              <a:rPr lang="en-US" b="0" i="0" u="none" strike="noStrike" dirty="0">
                <a:solidFill>
                  <a:srgbClr val="5A5A5A"/>
                </a:solidFill>
                <a:latin typeface="Noto Sans SC"/>
                <a:ea typeface="Noto Sans SC"/>
                <a:cs typeface="Noto Sans SC"/>
                <a:sym typeface="Noto Sans SC"/>
              </a:rPr>
              <a:t> ，</a:t>
            </a:r>
            <a:r>
              <a:rPr lang="en-US" b="0" i="0" u="none" strike="noStrike" dirty="0" err="1">
                <a:solidFill>
                  <a:srgbClr val="5A5A5A"/>
                </a:solidFill>
                <a:latin typeface="Noto Sans SC"/>
                <a:ea typeface="Noto Sans SC"/>
                <a:cs typeface="Noto Sans SC"/>
                <a:sym typeface="Noto Sans SC"/>
              </a:rPr>
              <a:t>通过特定的量子门操作，将“错误信息”转移到辅助比特上，最后仅测量辅助比特，从而在不干扰逻辑信息的前提下提取错误线索</a:t>
            </a:r>
            <a:r>
              <a:rPr lang="en-US" b="0" i="0" u="none" strike="noStrike" dirty="0">
                <a:solidFill>
                  <a:srgbClr val="5A5A5A"/>
                </a:solidFill>
                <a:latin typeface="Noto Sans SC"/>
                <a:ea typeface="Noto Sans SC"/>
                <a:cs typeface="Noto Sans SC"/>
                <a:sym typeface="Noto Sans SC"/>
              </a:rPr>
              <a:t>。</a:t>
            </a:r>
          </a:p>
          <a:p>
            <a:pPr indent="0" algn="l">
              <a:lnSpc>
                <a:spcPct val="116666"/>
              </a:lnSpc>
              <a:spcBef>
                <a:spcPts val="1200"/>
              </a:spcBef>
            </a:pPr>
            <a:r>
              <a:rPr lang="en-US" b="1" i="0" u="none" strike="noStrike" dirty="0">
                <a:solidFill>
                  <a:srgbClr val="333333"/>
                </a:solidFill>
                <a:latin typeface="Noto Sans SC"/>
                <a:ea typeface="Noto Sans SC"/>
                <a:cs typeface="Noto Sans SC"/>
                <a:sym typeface="Noto Sans SC"/>
              </a:rPr>
              <a:t>03. </a:t>
            </a:r>
            <a:r>
              <a:rPr lang="en-US" b="1" i="0" u="none" strike="noStrike" dirty="0" err="1">
                <a:solidFill>
                  <a:srgbClr val="333333"/>
                </a:solidFill>
                <a:latin typeface="Noto Sans SC"/>
                <a:ea typeface="Noto Sans SC"/>
                <a:cs typeface="Noto Sans SC"/>
                <a:sym typeface="Noto Sans SC"/>
              </a:rPr>
              <a:t>症候</a:t>
            </a:r>
            <a:r>
              <a:rPr lang="en-US" b="1" i="0" u="none" strike="noStrike" dirty="0">
                <a:solidFill>
                  <a:srgbClr val="333333"/>
                </a:solidFill>
                <a:latin typeface="Noto Sans SC"/>
                <a:ea typeface="Noto Sans SC"/>
                <a:cs typeface="Noto Sans SC"/>
                <a:sym typeface="Noto Sans SC"/>
              </a:rPr>
              <a:t> (Syndrome)</a:t>
            </a:r>
            <a:br>
              <a:rPr lang="en-US" b="0" i="0" u="none" strike="noStrike" dirty="0">
                <a:solidFill>
                  <a:srgbClr val="1F2329"/>
                </a:solidFill>
                <a:latin typeface="Noto Sans SC"/>
                <a:ea typeface="Noto Sans SC"/>
                <a:cs typeface="Noto Sans SC"/>
                <a:sym typeface="Noto Sans SC"/>
              </a:rPr>
            </a:br>
            <a:r>
              <a:rPr lang="en-US" b="0" i="0" u="none" strike="noStrike" dirty="0" err="1">
                <a:solidFill>
                  <a:srgbClr val="5A5A5A"/>
                </a:solidFill>
                <a:latin typeface="Noto Sans SC"/>
                <a:ea typeface="Noto Sans SC"/>
                <a:cs typeface="Noto Sans SC"/>
                <a:sym typeface="Noto Sans SC"/>
              </a:rPr>
              <a:t>辅助比特测量后的经典二进制输出，每一个特定的症候值都唯一对应一种物理错误的类型与位置，为后续纠正提供精确指引</a:t>
            </a:r>
            <a:r>
              <a:rPr lang="en-US" b="0" i="0" u="none" strike="noStrike" dirty="0">
                <a:solidFill>
                  <a:srgbClr val="5A5A5A"/>
                </a:solidFill>
                <a:latin typeface="Noto Sans SC"/>
                <a:ea typeface="Noto Sans SC"/>
                <a:cs typeface="Noto Sans SC"/>
                <a:sym typeface="Noto Sans SC"/>
              </a:rPr>
              <a:t>。</a:t>
            </a:r>
          </a:p>
        </p:txBody>
      </p:sp>
      <p:cxnSp>
        <p:nvCxnSpPr>
          <p:cNvPr id="11" name="直接连接符 10">
            <a:extLst>
              <a:ext uri="{FF2B5EF4-FFF2-40B4-BE49-F238E27FC236}">
                <a16:creationId xmlns:a16="http://schemas.microsoft.com/office/drawing/2014/main" id="{DCD50F3C-2A74-B258-BD64-F7407EAD907D}"/>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 name="AutoShape 11">
            <a:extLst>
              <a:ext uri="{FF2B5EF4-FFF2-40B4-BE49-F238E27FC236}">
                <a16:creationId xmlns:a16="http://schemas.microsoft.com/office/drawing/2014/main" id="{4E41CD68-F6D6-30D8-910D-44EE21E151E2}"/>
              </a:ext>
            </a:extLst>
          </p:cNvPr>
          <p:cNvSpPr/>
          <p:nvPr/>
        </p:nvSpPr>
        <p:spPr>
          <a:xfrm>
            <a:off x="667324" y="1341910"/>
            <a:ext cx="5911604" cy="1929741"/>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zh-CN" altLang="en-US" sz="2800" b="1" dirty="0">
                <a:solidFill>
                  <a:schemeClr val="accent2"/>
                </a:solidFill>
              </a:rPr>
              <a:t>直接测量将导致叠加态坍缩</a:t>
            </a:r>
            <a:endParaRPr lang="en-US" sz="2800" b="1" dirty="0">
              <a:solidFill>
                <a:schemeClr val="accent2"/>
              </a:solidFill>
            </a:endParaRPr>
          </a:p>
        </p:txBody>
      </p:sp>
      <p:pic>
        <p:nvPicPr>
          <p:cNvPr id="14" name="图片 13">
            <a:extLst>
              <a:ext uri="{FF2B5EF4-FFF2-40B4-BE49-F238E27FC236}">
                <a16:creationId xmlns:a16="http://schemas.microsoft.com/office/drawing/2014/main" id="{4520E38C-05AA-0B93-7AD4-DE392CAE2854}"/>
              </a:ext>
            </a:extLst>
          </p:cNvPr>
          <p:cNvPicPr>
            <a:picLocks noChangeAspect="1"/>
          </p:cNvPicPr>
          <p:nvPr/>
        </p:nvPicPr>
        <p:blipFill>
          <a:blip r:embed="rId3"/>
          <a:stretch>
            <a:fillRect/>
          </a:stretch>
        </p:blipFill>
        <p:spPr>
          <a:xfrm>
            <a:off x="7858536" y="1112981"/>
            <a:ext cx="4333464" cy="722244"/>
          </a:xfrm>
          <a:prstGeom prst="rect">
            <a:avLst/>
          </a:prstGeom>
        </p:spPr>
      </p:pic>
      <p:pic>
        <p:nvPicPr>
          <p:cNvPr id="16" name="图片 15">
            <a:extLst>
              <a:ext uri="{FF2B5EF4-FFF2-40B4-BE49-F238E27FC236}">
                <a16:creationId xmlns:a16="http://schemas.microsoft.com/office/drawing/2014/main" id="{DD35154A-E96F-1A55-3E6A-69D46E7580E5}"/>
              </a:ext>
            </a:extLst>
          </p:cNvPr>
          <p:cNvPicPr>
            <a:picLocks noChangeAspect="1"/>
          </p:cNvPicPr>
          <p:nvPr/>
        </p:nvPicPr>
        <p:blipFill>
          <a:blip r:embed="rId4"/>
          <a:stretch>
            <a:fillRect/>
          </a:stretch>
        </p:blipFill>
        <p:spPr>
          <a:xfrm>
            <a:off x="7823874" y="1899699"/>
            <a:ext cx="4325736" cy="1384564"/>
          </a:xfrm>
          <a:prstGeom prst="rect">
            <a:avLst/>
          </a:prstGeom>
        </p:spPr>
      </p:pic>
      <p:pic>
        <p:nvPicPr>
          <p:cNvPr id="18" name="图片 17">
            <a:extLst>
              <a:ext uri="{FF2B5EF4-FFF2-40B4-BE49-F238E27FC236}">
                <a16:creationId xmlns:a16="http://schemas.microsoft.com/office/drawing/2014/main" id="{4DCF17C7-34E1-BD07-4B80-158961F75C88}"/>
              </a:ext>
            </a:extLst>
          </p:cNvPr>
          <p:cNvPicPr>
            <a:picLocks noChangeAspect="1"/>
          </p:cNvPicPr>
          <p:nvPr/>
        </p:nvPicPr>
        <p:blipFill>
          <a:blip r:embed="rId5"/>
          <a:stretch>
            <a:fillRect/>
          </a:stretch>
        </p:blipFill>
        <p:spPr>
          <a:xfrm>
            <a:off x="7893781" y="3501368"/>
            <a:ext cx="4401164" cy="2943636"/>
          </a:xfrm>
          <a:prstGeom prst="rect">
            <a:avLst/>
          </a:prstGeom>
        </p:spPr>
      </p:pic>
      <p:sp>
        <p:nvSpPr>
          <p:cNvPr id="19" name="椭圆 18">
            <a:extLst>
              <a:ext uri="{FF2B5EF4-FFF2-40B4-BE49-F238E27FC236}">
                <a16:creationId xmlns:a16="http://schemas.microsoft.com/office/drawing/2014/main" id="{0F02576F-EA7D-C5B0-C998-F36E7366383E}"/>
              </a:ext>
            </a:extLst>
          </p:cNvPr>
          <p:cNvSpPr/>
          <p:nvPr/>
        </p:nvSpPr>
        <p:spPr>
          <a:xfrm>
            <a:off x="7642204" y="1368572"/>
            <a:ext cx="248281" cy="248281"/>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37EE7788-03D4-1F72-DDE1-8C5587B5EF69}"/>
              </a:ext>
            </a:extLst>
          </p:cNvPr>
          <p:cNvSpPr/>
          <p:nvPr/>
        </p:nvSpPr>
        <p:spPr>
          <a:xfrm>
            <a:off x="7649269" y="3749444"/>
            <a:ext cx="248281" cy="248281"/>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3E21AED-AB59-9257-281B-0EEA1366E963}"/>
              </a:ext>
            </a:extLst>
          </p:cNvPr>
          <p:cNvSpPr/>
          <p:nvPr/>
        </p:nvSpPr>
        <p:spPr>
          <a:xfrm>
            <a:off x="7644223" y="2509049"/>
            <a:ext cx="248281" cy="24828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AutoShape 2">
            <a:extLst>
              <a:ext uri="{FF2B5EF4-FFF2-40B4-BE49-F238E27FC236}">
                <a16:creationId xmlns:a16="http://schemas.microsoft.com/office/drawing/2014/main" id="{CD7AB5CB-10AC-4FAF-61CF-6A4DEB986744}"/>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01 </a:t>
            </a:r>
            <a:r>
              <a:rPr lang="en-US" sz="3200" b="1" i="0" u="none" strike="noStrike" dirty="0" err="1">
                <a:solidFill>
                  <a:srgbClr val="333333"/>
                </a:solidFill>
                <a:latin typeface="Noto Sans SC"/>
                <a:ea typeface="Noto Sans SC"/>
                <a:cs typeface="Noto Sans SC"/>
                <a:sym typeface="Noto Sans SC"/>
              </a:rPr>
              <a:t>引言</a:t>
            </a:r>
            <a:r>
              <a:rPr lang="en-US" sz="3200" b="1" dirty="0">
                <a:solidFill>
                  <a:schemeClr val="bg1">
                    <a:lumMod val="65000"/>
                  </a:schemeClr>
                </a:solidFill>
                <a:latin typeface="Noto Sans SC"/>
                <a:ea typeface="Noto Sans SC"/>
                <a:cs typeface="Noto Sans SC"/>
                <a:sym typeface="Noto Sans SC"/>
              </a:rPr>
              <a:t> I</a:t>
            </a:r>
            <a:r>
              <a:rPr lang="en-US" altLang="zh-CN" sz="3200" b="1" dirty="0">
                <a:solidFill>
                  <a:schemeClr val="bg1">
                    <a:lumMod val="65000"/>
                  </a:schemeClr>
                </a:solidFill>
                <a:latin typeface="Noto Sans SC"/>
                <a:ea typeface="Noto Sans SC"/>
                <a:cs typeface="Noto Sans SC"/>
                <a:sym typeface="Noto Sans SC"/>
              </a:rPr>
              <a:t>ntroduction</a:t>
            </a:r>
            <a:endParaRPr lang="en-US" sz="1100" dirty="0">
              <a:solidFill>
                <a:schemeClr val="bg1">
                  <a:lumMod val="65000"/>
                </a:schemeClr>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54447" y="2771900"/>
            <a:ext cx="304800" cy="304800"/>
          </a:xfrm>
          <a:prstGeom prst="rect">
            <a:avLst/>
          </a:prstGeom>
        </p:spPr>
      </p:pic>
      <p:sp>
        <p:nvSpPr>
          <p:cNvPr id="5" name="AutoShape 5"/>
          <p:cNvSpPr/>
          <p:nvPr/>
        </p:nvSpPr>
        <p:spPr>
          <a:xfrm>
            <a:off x="1783724" y="2720511"/>
            <a:ext cx="4191000" cy="39302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dirty="0" err="1">
                <a:solidFill>
                  <a:srgbClr val="333333"/>
                </a:solidFill>
                <a:latin typeface="Noto Sans SC"/>
                <a:ea typeface="Noto Sans SC"/>
                <a:cs typeface="Noto Sans SC"/>
                <a:sym typeface="Noto Sans SC"/>
              </a:rPr>
              <a:t>量子脆弱性</a:t>
            </a:r>
            <a:endParaRPr lang="en-US" sz="1100" dirty="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58734" y="3318165"/>
            <a:ext cx="304800" cy="304800"/>
          </a:xfrm>
          <a:prstGeom prst="rect">
            <a:avLst/>
          </a:prstGeom>
        </p:spPr>
      </p:pic>
      <p:sp>
        <p:nvSpPr>
          <p:cNvPr id="8" name="AutoShape 8"/>
          <p:cNvSpPr/>
          <p:nvPr/>
        </p:nvSpPr>
        <p:spPr>
          <a:xfrm>
            <a:off x="1795481" y="3217507"/>
            <a:ext cx="1446481" cy="52684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dirty="0" err="1">
                <a:solidFill>
                  <a:srgbClr val="333333"/>
                </a:solidFill>
                <a:latin typeface="Noto Sans SC"/>
                <a:ea typeface="Noto Sans SC"/>
                <a:cs typeface="Noto Sans SC"/>
                <a:sym typeface="Noto Sans SC"/>
              </a:rPr>
              <a:t>经典重复码</a:t>
            </a:r>
            <a:endParaRPr lang="en-US" sz="1100" dirty="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0385" y="3893623"/>
            <a:ext cx="304800" cy="304800"/>
          </a:xfrm>
          <a:prstGeom prst="rect">
            <a:avLst/>
          </a:prstGeom>
        </p:spPr>
      </p:pic>
      <p:sp>
        <p:nvSpPr>
          <p:cNvPr id="11" name="AutoShape 11"/>
          <p:cNvSpPr/>
          <p:nvPr/>
        </p:nvSpPr>
        <p:spPr>
          <a:xfrm>
            <a:off x="1761507" y="4376058"/>
            <a:ext cx="1735777" cy="13656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dirty="0" err="1">
                <a:solidFill>
                  <a:srgbClr val="333333"/>
                </a:solidFill>
                <a:latin typeface="Noto Sans SC"/>
                <a:ea typeface="Noto Sans SC"/>
                <a:cs typeface="Noto Sans SC"/>
                <a:sym typeface="Noto Sans SC"/>
              </a:rPr>
              <a:t>量子</a:t>
            </a:r>
            <a:r>
              <a:rPr lang="zh-CN" altLang="en-US" sz="1700" b="1" i="0" u="none" strike="noStrike" dirty="0">
                <a:solidFill>
                  <a:srgbClr val="333333"/>
                </a:solidFill>
                <a:latin typeface="Noto Sans SC"/>
                <a:ea typeface="Noto Sans SC"/>
                <a:cs typeface="Noto Sans SC"/>
                <a:sym typeface="Noto Sans SC"/>
              </a:rPr>
              <a:t>测量的不同</a:t>
            </a:r>
            <a:endParaRPr lang="en-US" sz="1100" dirty="0"/>
          </a:p>
          <a:p>
            <a:pPr indent="0" algn="l">
              <a:lnSpc>
                <a:spcPct val="108333"/>
              </a:lnSpc>
              <a:spcBef>
                <a:spcPts val="800"/>
              </a:spcBef>
            </a:pPr>
            <a:br>
              <a:rPr lang="en-US" sz="1600" b="0" i="0" u="none" strike="noStrike" dirty="0">
                <a:solidFill>
                  <a:srgbClr val="1F2329"/>
                </a:solidFill>
                <a:latin typeface="Noto Sans SC"/>
                <a:ea typeface="Noto Sans SC"/>
                <a:cs typeface="Noto Sans SC"/>
                <a:sym typeface="Noto Sans SC"/>
              </a:rPr>
            </a:br>
            <a:br>
              <a:rPr lang="en-US" sz="1600" b="0" i="0" u="none" strike="noStrike" dirty="0">
                <a:solidFill>
                  <a:srgbClr val="1F2329"/>
                </a:solidFill>
                <a:latin typeface="Noto Sans SC"/>
                <a:ea typeface="Noto Sans SC"/>
                <a:cs typeface="Noto Sans SC"/>
                <a:sym typeface="Noto Sans SC"/>
              </a:rPr>
            </a:br>
            <a:endParaRPr lang="en-US" sz="1200" b="0" i="0" u="none" strike="noStrike" dirty="0">
              <a:solidFill>
                <a:srgbClr val="555555"/>
              </a:solidFill>
              <a:latin typeface="Noto Sans SC"/>
              <a:ea typeface="Noto Sans SC"/>
              <a:cs typeface="Noto Sans SC"/>
              <a:sym typeface="Noto Sans SC"/>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70610" y="4469576"/>
            <a:ext cx="304800" cy="304800"/>
          </a:xfrm>
          <a:prstGeom prst="rect">
            <a:avLst/>
          </a:prstGeom>
        </p:spPr>
      </p:pic>
      <p:sp>
        <p:nvSpPr>
          <p:cNvPr id="14" name="AutoShape 14"/>
          <p:cNvSpPr/>
          <p:nvPr/>
        </p:nvSpPr>
        <p:spPr>
          <a:xfrm>
            <a:off x="1777667" y="4364511"/>
            <a:ext cx="2093685" cy="50437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700" b="1" i="0" u="none" strike="noStrike" dirty="0">
                <a:solidFill>
                  <a:srgbClr val="333333"/>
                </a:solidFill>
                <a:latin typeface="Noto Sans SC"/>
                <a:ea typeface="Noto Sans SC"/>
                <a:cs typeface="Noto Sans SC"/>
                <a:sym typeface="Noto Sans SC"/>
              </a:rPr>
              <a:t>特殊的</a:t>
            </a:r>
            <a:r>
              <a:rPr lang="en-US" sz="1700" b="1" i="0" u="none" strike="noStrike" dirty="0" err="1">
                <a:solidFill>
                  <a:srgbClr val="333333"/>
                </a:solidFill>
                <a:latin typeface="Noto Sans SC"/>
                <a:ea typeface="Noto Sans SC"/>
                <a:cs typeface="Noto Sans SC"/>
                <a:sym typeface="Noto Sans SC"/>
              </a:rPr>
              <a:t>量子纠错</a:t>
            </a:r>
            <a:r>
              <a:rPr lang="zh-CN" altLang="en-US" sz="1700" b="1" i="0" u="none" strike="noStrike" dirty="0">
                <a:solidFill>
                  <a:srgbClr val="333333"/>
                </a:solidFill>
                <a:latin typeface="Noto Sans SC"/>
                <a:ea typeface="Noto Sans SC"/>
                <a:cs typeface="Noto Sans SC"/>
                <a:sym typeface="Noto Sans SC"/>
              </a:rPr>
              <a:t>形式</a:t>
            </a:r>
            <a:endParaRPr lang="en-US" sz="1100" dirty="0"/>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6019800"/>
            <a:ext cx="406400" cy="406400"/>
          </a:xfrm>
          <a:prstGeom prst="rect">
            <a:avLst/>
          </a:prstGeom>
        </p:spPr>
      </p:pic>
      <p:cxnSp>
        <p:nvCxnSpPr>
          <p:cNvPr id="15" name="直接连接符 14">
            <a:extLst>
              <a:ext uri="{FF2B5EF4-FFF2-40B4-BE49-F238E27FC236}">
                <a16:creationId xmlns:a16="http://schemas.microsoft.com/office/drawing/2014/main" id="{7B61D1BA-C3B5-E945-3BCE-4AF3B399C2C2}"/>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E88D39AA-7F98-9E0C-1DB8-A4B2349B9DAB}"/>
              </a:ext>
            </a:extLst>
          </p:cNvPr>
          <p:cNvCxnSpPr>
            <a:cxnSpLocks/>
          </p:cNvCxnSpPr>
          <p:nvPr/>
        </p:nvCxnSpPr>
        <p:spPr>
          <a:xfrm>
            <a:off x="1157844" y="2778827"/>
            <a:ext cx="0" cy="199505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C77EF5D5-E969-EADB-D0C1-4887B8DE9488}"/>
              </a:ext>
            </a:extLst>
          </p:cNvPr>
          <p:cNvPicPr>
            <a:picLocks noChangeAspect="1"/>
          </p:cNvPicPr>
          <p:nvPr/>
        </p:nvPicPr>
        <p:blipFill>
          <a:blip r:embed="rId8"/>
          <a:stretch>
            <a:fillRect/>
          </a:stretch>
        </p:blipFill>
        <p:spPr>
          <a:xfrm>
            <a:off x="7858536" y="1712686"/>
            <a:ext cx="4333464" cy="722244"/>
          </a:xfrm>
          <a:prstGeom prst="rect">
            <a:avLst/>
          </a:prstGeom>
        </p:spPr>
      </p:pic>
      <p:pic>
        <p:nvPicPr>
          <p:cNvPr id="24" name="图片 23">
            <a:extLst>
              <a:ext uri="{FF2B5EF4-FFF2-40B4-BE49-F238E27FC236}">
                <a16:creationId xmlns:a16="http://schemas.microsoft.com/office/drawing/2014/main" id="{0E9415A6-CA36-75CF-CC0A-35B9224EE21B}"/>
              </a:ext>
            </a:extLst>
          </p:cNvPr>
          <p:cNvPicPr>
            <a:picLocks noChangeAspect="1"/>
          </p:cNvPicPr>
          <p:nvPr/>
        </p:nvPicPr>
        <p:blipFill>
          <a:blip r:embed="rId9"/>
          <a:stretch>
            <a:fillRect/>
          </a:stretch>
        </p:blipFill>
        <p:spPr>
          <a:xfrm>
            <a:off x="7893781" y="2693845"/>
            <a:ext cx="4401164" cy="2943636"/>
          </a:xfrm>
          <a:prstGeom prst="rect">
            <a:avLst/>
          </a:prstGeom>
        </p:spPr>
      </p:pic>
      <p:sp>
        <p:nvSpPr>
          <p:cNvPr id="25" name="AutoShape 3">
            <a:extLst>
              <a:ext uri="{FF2B5EF4-FFF2-40B4-BE49-F238E27FC236}">
                <a16:creationId xmlns:a16="http://schemas.microsoft.com/office/drawing/2014/main" id="{3F8D7A4E-0024-A580-D971-52195E37DC78}"/>
              </a:ext>
            </a:extLst>
          </p:cNvPr>
          <p:cNvSpPr/>
          <p:nvPr/>
        </p:nvSpPr>
        <p:spPr>
          <a:xfrm>
            <a:off x="1041070" y="1492497"/>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600" b="1" dirty="0">
                <a:solidFill>
                  <a:srgbClr val="666666"/>
                </a:solidFill>
                <a:latin typeface="Noto Sans SC"/>
                <a:ea typeface="Noto Sans SC"/>
                <a:sym typeface="Noto Sans SC"/>
              </a:rPr>
              <a:t>总结</a:t>
            </a:r>
            <a:endParaRPr lang="en-US" sz="3600" dirty="0"/>
          </a:p>
        </p:txBody>
      </p:sp>
      <p:sp>
        <p:nvSpPr>
          <p:cNvPr id="3" name="AutoShape 2">
            <a:extLst>
              <a:ext uri="{FF2B5EF4-FFF2-40B4-BE49-F238E27FC236}">
                <a16:creationId xmlns:a16="http://schemas.microsoft.com/office/drawing/2014/main" id="{E36E47B9-305F-D9FB-9113-0522CFE7E03F}"/>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01 </a:t>
            </a:r>
            <a:r>
              <a:rPr lang="en-US" sz="3200" b="1" i="0" u="none" strike="noStrike" dirty="0" err="1">
                <a:solidFill>
                  <a:srgbClr val="333333"/>
                </a:solidFill>
                <a:latin typeface="Noto Sans SC"/>
                <a:ea typeface="Noto Sans SC"/>
                <a:cs typeface="Noto Sans SC"/>
                <a:sym typeface="Noto Sans SC"/>
              </a:rPr>
              <a:t>引言</a:t>
            </a:r>
            <a:r>
              <a:rPr lang="en-US" sz="3200" b="1" dirty="0">
                <a:solidFill>
                  <a:schemeClr val="bg1">
                    <a:lumMod val="65000"/>
                  </a:schemeClr>
                </a:solidFill>
                <a:latin typeface="Noto Sans SC"/>
                <a:ea typeface="Noto Sans SC"/>
                <a:cs typeface="Noto Sans SC"/>
                <a:sym typeface="Noto Sans SC"/>
              </a:rPr>
              <a:t> I</a:t>
            </a:r>
            <a:r>
              <a:rPr lang="en-US" altLang="zh-CN" sz="3200" b="1" dirty="0">
                <a:solidFill>
                  <a:schemeClr val="bg1">
                    <a:lumMod val="65000"/>
                  </a:schemeClr>
                </a:solidFill>
                <a:latin typeface="Noto Sans SC"/>
                <a:ea typeface="Noto Sans SC"/>
                <a:cs typeface="Noto Sans SC"/>
                <a:sym typeface="Noto Sans SC"/>
              </a:rPr>
              <a:t>ntroduction</a:t>
            </a:r>
            <a:endParaRPr lang="en-US" sz="1100" dirty="0">
              <a:solidFill>
                <a:schemeClr val="bg1">
                  <a:lumMod val="65000"/>
                </a:schemeClr>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9BBAC-DEF5-9C28-859C-99B510B830C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C96660B-39D4-78AC-4179-6C2BBB1B84B3}"/>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DC0954DA-6793-313E-BB9F-ECF18F2ED5E4}"/>
              </a:ext>
            </a:extLst>
          </p:cNvPr>
          <p:cNvSpPr/>
          <p:nvPr/>
        </p:nvSpPr>
        <p:spPr>
          <a:xfrm>
            <a:off x="762000" y="896915"/>
            <a:ext cx="6155377" cy="491011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2.1 </a:t>
            </a:r>
            <a:r>
              <a:rPr lang="zh-CN" altLang="en-US" sz="2200" b="1" dirty="0">
                <a:solidFill>
                  <a:srgbClr val="555555"/>
                </a:solidFill>
                <a:latin typeface="Noto Sans SC"/>
                <a:ea typeface="Noto Sans SC"/>
                <a:cs typeface="Noto Sans SC"/>
                <a:sym typeface="Noto Sans SC"/>
              </a:rPr>
              <a:t>纠正</a:t>
            </a:r>
            <a:r>
              <a:rPr lang="en-US" sz="2200" b="1" i="0" u="none" strike="noStrike" dirty="0" err="1">
                <a:solidFill>
                  <a:srgbClr val="555555"/>
                </a:solidFill>
                <a:latin typeface="Noto Sans SC"/>
                <a:ea typeface="Noto Sans SC"/>
                <a:cs typeface="Noto Sans SC"/>
                <a:sym typeface="Noto Sans SC"/>
              </a:rPr>
              <a:t>比特翻转</a:t>
            </a:r>
            <a:r>
              <a:rPr lang="zh-CN" altLang="en-US" sz="2200" b="1" i="0" u="none" strike="noStrike" dirty="0">
                <a:solidFill>
                  <a:srgbClr val="555555"/>
                </a:solidFill>
                <a:latin typeface="Noto Sans SC"/>
                <a:ea typeface="Noto Sans SC"/>
                <a:cs typeface="Noto Sans SC"/>
                <a:sym typeface="Noto Sans SC"/>
              </a:rPr>
              <a:t>错误</a:t>
            </a:r>
            <a:r>
              <a:rPr lang="en-US" altLang="zh-CN" sz="2200" b="1" dirty="0">
                <a:solidFill>
                  <a:srgbClr val="555555"/>
                </a:solidFill>
                <a:latin typeface="Noto Sans SC"/>
                <a:ea typeface="Noto Sans SC"/>
                <a:cs typeface="Noto Sans SC"/>
                <a:sym typeface="Noto Sans SC"/>
              </a:rPr>
              <a:t> </a:t>
            </a:r>
            <a:r>
              <a:rPr lang="en-US" sz="2200" b="1" i="0" u="none" strike="noStrike" dirty="0">
                <a:solidFill>
                  <a:srgbClr val="555555"/>
                </a:solidFill>
                <a:latin typeface="Noto Sans SC"/>
                <a:ea typeface="Noto Sans SC"/>
                <a:cs typeface="Noto Sans SC"/>
                <a:sym typeface="Noto Sans SC"/>
              </a:rPr>
              <a:t>(</a:t>
            </a:r>
            <a:r>
              <a:rPr lang="en-US" altLang="zh-CN" sz="2200" b="1" dirty="0">
                <a:solidFill>
                  <a:srgbClr val="555555"/>
                </a:solidFill>
                <a:latin typeface="Noto Sans SC"/>
                <a:ea typeface="Noto Sans SC"/>
                <a:cs typeface="Noto Sans SC"/>
                <a:sym typeface="Noto Sans SC"/>
              </a:rPr>
              <a:t>bit flip error</a:t>
            </a:r>
            <a:r>
              <a:rPr lang="en-US" sz="2200" b="1" i="0" u="none" strike="noStrike" dirty="0">
                <a:solidFill>
                  <a:srgbClr val="555555"/>
                </a:solidFill>
                <a:latin typeface="Noto Sans SC"/>
                <a:ea typeface="Noto Sans SC"/>
                <a:cs typeface="Noto Sans SC"/>
                <a:sym typeface="Noto Sans SC"/>
              </a:rPr>
              <a:t>)</a:t>
            </a:r>
          </a:p>
          <a:p>
            <a:pPr indent="0" algn="l">
              <a:lnSpc>
                <a:spcPct val="125000"/>
              </a:lnSpc>
              <a:defRPr/>
            </a:pPr>
            <a:endParaRPr lang="en-US" sz="2200" b="1" i="0" u="none" strike="noStrike" dirty="0">
              <a:solidFill>
                <a:srgbClr val="555555"/>
              </a:solidFill>
              <a:latin typeface="Noto Sans SC"/>
              <a:ea typeface="Noto Sans SC"/>
              <a:cs typeface="Noto Sans SC"/>
              <a:sym typeface="Noto Sans SC"/>
            </a:endParaRPr>
          </a:p>
          <a:p>
            <a:pPr indent="0" algn="l">
              <a:lnSpc>
                <a:spcPct val="125000"/>
              </a:lnSpc>
              <a:defRPr/>
            </a:pPr>
            <a:r>
              <a:rPr lang="en-US" sz="2200" b="1" dirty="0">
                <a:solidFill>
                  <a:srgbClr val="555555"/>
                </a:solidFill>
                <a:latin typeface="Noto Sans SC"/>
                <a:ea typeface="Noto Sans SC"/>
                <a:sym typeface="Noto Sans SC"/>
              </a:rPr>
              <a:t>2.2 </a:t>
            </a:r>
            <a:r>
              <a:rPr lang="zh-CN" altLang="en-US" sz="2200" b="1" dirty="0">
                <a:solidFill>
                  <a:srgbClr val="555555"/>
                </a:solidFill>
                <a:latin typeface="Noto Sans SC"/>
                <a:ea typeface="Noto Sans SC"/>
                <a:sym typeface="Noto Sans SC"/>
              </a:rPr>
              <a:t>纠正相位反转错误 </a:t>
            </a:r>
            <a:r>
              <a:rPr lang="en-US" altLang="zh-CN" sz="2200" b="1" dirty="0">
                <a:solidFill>
                  <a:srgbClr val="555555"/>
                </a:solidFill>
                <a:latin typeface="Noto Sans SC"/>
                <a:ea typeface="Noto Sans SC"/>
                <a:sym typeface="Noto Sans SC"/>
              </a:rPr>
              <a:t>(phase flip error)</a:t>
            </a:r>
          </a:p>
          <a:p>
            <a:pPr indent="0" algn="l">
              <a:lnSpc>
                <a:spcPct val="125000"/>
              </a:lnSpc>
              <a:defRPr/>
            </a:pPr>
            <a:endParaRPr lang="en-US" sz="2200" b="1" dirty="0">
              <a:solidFill>
                <a:srgbClr val="555555"/>
              </a:solidFill>
              <a:latin typeface="Noto Sans SC"/>
              <a:ea typeface="Noto Sans SC"/>
              <a:sym typeface="Noto Sans SC"/>
            </a:endParaRPr>
          </a:p>
          <a:p>
            <a:pPr indent="0" algn="l">
              <a:lnSpc>
                <a:spcPct val="125000"/>
              </a:lnSpc>
              <a:defRPr/>
            </a:pPr>
            <a:endParaRPr lang="en-US" sz="1100" dirty="0"/>
          </a:p>
        </p:txBody>
      </p:sp>
      <p:cxnSp>
        <p:nvCxnSpPr>
          <p:cNvPr id="4" name="直接连接符 3">
            <a:extLst>
              <a:ext uri="{FF2B5EF4-FFF2-40B4-BE49-F238E27FC236}">
                <a16:creationId xmlns:a16="http://schemas.microsoft.com/office/drawing/2014/main" id="{91D6C7C7-3815-CFB3-16C1-299071DB385C}"/>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5AF47E0C-9BC8-E270-DA51-1F7DD26609F2}"/>
              </a:ext>
            </a:extLst>
          </p:cNvPr>
          <p:cNvPicPr>
            <a:picLocks noChangeAspect="1"/>
          </p:cNvPicPr>
          <p:nvPr/>
        </p:nvPicPr>
        <p:blipFill>
          <a:blip r:embed="rId3"/>
          <a:stretch>
            <a:fillRect/>
          </a:stretch>
        </p:blipFill>
        <p:spPr>
          <a:xfrm>
            <a:off x="8283867" y="2076846"/>
            <a:ext cx="1419423" cy="543001"/>
          </a:xfrm>
          <a:prstGeom prst="rect">
            <a:avLst/>
          </a:prstGeom>
        </p:spPr>
      </p:pic>
      <p:pic>
        <p:nvPicPr>
          <p:cNvPr id="6" name="图片 5">
            <a:extLst>
              <a:ext uri="{FF2B5EF4-FFF2-40B4-BE49-F238E27FC236}">
                <a16:creationId xmlns:a16="http://schemas.microsoft.com/office/drawing/2014/main" id="{5F99C748-60EA-735D-66C6-8323D055AD4C}"/>
              </a:ext>
            </a:extLst>
          </p:cNvPr>
          <p:cNvPicPr>
            <a:picLocks noChangeAspect="1"/>
          </p:cNvPicPr>
          <p:nvPr/>
        </p:nvPicPr>
        <p:blipFill>
          <a:blip r:embed="rId4"/>
          <a:stretch>
            <a:fillRect/>
          </a:stretch>
        </p:blipFill>
        <p:spPr>
          <a:xfrm>
            <a:off x="8301355" y="4126321"/>
            <a:ext cx="1657581" cy="695422"/>
          </a:xfrm>
          <a:prstGeom prst="rect">
            <a:avLst/>
          </a:prstGeom>
        </p:spPr>
      </p:pic>
    </p:spTree>
    <p:extLst>
      <p:ext uri="{BB962C8B-B14F-4D97-AF65-F5344CB8AC3E}">
        <p14:creationId xmlns:p14="http://schemas.microsoft.com/office/powerpoint/2010/main" val="35001051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AFA5A-BFE3-A2A4-1A34-1E7A2C42B36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6C917F8-181D-7581-F332-2B69922CBAC8}"/>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F0179B69-5B69-2B62-5F3A-541276DB0029}"/>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2.1</a:t>
            </a:r>
            <a:r>
              <a:rPr lang="en-US" sz="2200" b="1" dirty="0">
                <a:solidFill>
                  <a:srgbClr val="555555"/>
                </a:solidFill>
                <a:latin typeface="Noto Sans SC"/>
                <a:ea typeface="Noto Sans SC"/>
                <a:cs typeface="Noto Sans SC"/>
                <a:sym typeface="Noto Sans SC"/>
              </a:rPr>
              <a:t>.1</a:t>
            </a:r>
            <a:r>
              <a:rPr lang="zh-CN" altLang="en-US" sz="2200" b="1" dirty="0">
                <a:solidFill>
                  <a:srgbClr val="555555"/>
                </a:solidFill>
                <a:latin typeface="Noto Sans SC"/>
                <a:ea typeface="Noto Sans SC"/>
                <a:cs typeface="Noto Sans SC"/>
                <a:sym typeface="Noto Sans SC"/>
              </a:rPr>
              <a:t>编码实现</a:t>
            </a:r>
            <a:r>
              <a:rPr lang="en-US" altLang="zh-CN" sz="2200" b="1" dirty="0">
                <a:solidFill>
                  <a:srgbClr val="555555"/>
                </a:solidFill>
                <a:latin typeface="Noto Sans SC"/>
                <a:ea typeface="Noto Sans SC"/>
                <a:cs typeface="Noto Sans SC"/>
                <a:sym typeface="Noto Sans SC"/>
              </a:rPr>
              <a:t> </a:t>
            </a:r>
            <a:endParaRPr lang="en-US" sz="1100" dirty="0"/>
          </a:p>
        </p:txBody>
      </p:sp>
      <p:cxnSp>
        <p:nvCxnSpPr>
          <p:cNvPr id="4" name="直接连接符 3">
            <a:extLst>
              <a:ext uri="{FF2B5EF4-FFF2-40B4-BE49-F238E27FC236}">
                <a16:creationId xmlns:a16="http://schemas.microsoft.com/office/drawing/2014/main" id="{8EE1628F-3B84-BA2D-616B-5C8CCDA8315B}"/>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 name="AutoShape 7">
            <a:extLst>
              <a:ext uri="{FF2B5EF4-FFF2-40B4-BE49-F238E27FC236}">
                <a16:creationId xmlns:a16="http://schemas.microsoft.com/office/drawing/2014/main" id="{78D239FF-485F-2F02-ABE1-A762E557F24F}"/>
              </a:ext>
            </a:extLst>
          </p:cNvPr>
          <p:cNvSpPr/>
          <p:nvPr/>
        </p:nvSpPr>
        <p:spPr>
          <a:xfrm>
            <a:off x="736929" y="1861292"/>
            <a:ext cx="6340764" cy="306103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endParaRPr lang="en-US" sz="1100" dirty="0"/>
          </a:p>
          <a:p>
            <a:pPr indent="0" algn="l">
              <a:lnSpc>
                <a:spcPct val="116666"/>
              </a:lnSpc>
              <a:spcBef>
                <a:spcPts val="800"/>
              </a:spcBef>
            </a:pPr>
            <a:r>
              <a:rPr lang="en-US" sz="2800" b="0" i="0" u="none" strike="noStrike" dirty="0" err="1">
                <a:solidFill>
                  <a:srgbClr val="333333"/>
                </a:solidFill>
                <a:latin typeface="Noto Sans SC"/>
                <a:ea typeface="Noto Sans SC"/>
                <a:cs typeface="Noto Sans SC"/>
                <a:sym typeface="Noto Sans SC"/>
              </a:rPr>
              <a:t>通过CNOT门实现</a:t>
            </a:r>
            <a:r>
              <a:rPr lang="en-US" sz="2800" b="0" i="0" u="none" strike="noStrike" dirty="0">
                <a:solidFill>
                  <a:srgbClr val="333333"/>
                </a:solidFill>
                <a:latin typeface="Noto Sans SC"/>
                <a:ea typeface="Noto Sans SC"/>
                <a:cs typeface="Noto Sans SC"/>
                <a:sym typeface="Noto Sans SC"/>
              </a:rPr>
              <a:t>：</a:t>
            </a:r>
          </a:p>
          <a:p>
            <a:pPr indent="0" algn="l">
              <a:lnSpc>
                <a:spcPct val="116666"/>
              </a:lnSpc>
              <a:spcBef>
                <a:spcPts val="800"/>
              </a:spcBef>
            </a:pPr>
            <a:r>
              <a:rPr lang="en-US" sz="2800" b="0" i="0" u="none" strike="noStrike" dirty="0" err="1">
                <a:solidFill>
                  <a:srgbClr val="333333"/>
                </a:solidFill>
                <a:latin typeface="Noto Sans SC"/>
                <a:ea typeface="Noto Sans SC"/>
                <a:cs typeface="Noto Sans SC"/>
                <a:sym typeface="Noto Sans SC"/>
              </a:rPr>
              <a:t>以输入比特为控制位</a:t>
            </a:r>
            <a:r>
              <a:rPr lang="en-US" sz="2800" b="0" i="0" u="none" strike="noStrike" dirty="0">
                <a:solidFill>
                  <a:srgbClr val="333333"/>
                </a:solidFill>
                <a:latin typeface="Noto Sans SC"/>
                <a:ea typeface="Noto Sans SC"/>
                <a:cs typeface="Noto Sans SC"/>
                <a:sym typeface="Noto Sans SC"/>
              </a:rPr>
              <a:t>(C)，</a:t>
            </a:r>
          </a:p>
          <a:p>
            <a:pPr indent="0" algn="l">
              <a:lnSpc>
                <a:spcPct val="116666"/>
              </a:lnSpc>
              <a:spcBef>
                <a:spcPts val="800"/>
              </a:spcBef>
            </a:pPr>
            <a:r>
              <a:rPr lang="en-US" sz="2800" b="0" i="0" u="none" strike="noStrike" dirty="0" err="1">
                <a:solidFill>
                  <a:srgbClr val="333333"/>
                </a:solidFill>
                <a:latin typeface="Noto Sans SC"/>
                <a:ea typeface="Noto Sans SC"/>
                <a:cs typeface="Noto Sans SC"/>
                <a:sym typeface="Noto Sans SC"/>
              </a:rPr>
              <a:t>依次作用于两个初始化为</a:t>
            </a:r>
            <a:r>
              <a:rPr lang="en-US" sz="2800" b="0" i="0" u="none" strike="noStrike" dirty="0">
                <a:solidFill>
                  <a:srgbClr val="333333"/>
                </a:solidFill>
                <a:latin typeface="Noto Sans SC"/>
                <a:ea typeface="Noto Sans SC"/>
                <a:cs typeface="Noto Sans SC"/>
                <a:sym typeface="Noto Sans SC"/>
              </a:rPr>
              <a:t> |0⟩ 的</a:t>
            </a:r>
            <a:r>
              <a:rPr lang="zh-CN" altLang="en-US" sz="2800" b="0" i="0" u="none" strike="noStrike" dirty="0">
                <a:solidFill>
                  <a:srgbClr val="333333"/>
                </a:solidFill>
                <a:latin typeface="Noto Sans SC"/>
                <a:ea typeface="Noto Sans SC"/>
                <a:cs typeface="Noto Sans SC"/>
                <a:sym typeface="Noto Sans SC"/>
              </a:rPr>
              <a:t>冗余</a:t>
            </a:r>
            <a:r>
              <a:rPr lang="en-US" sz="2800" b="0" i="0" u="none" strike="noStrike" dirty="0" err="1">
                <a:solidFill>
                  <a:srgbClr val="333333"/>
                </a:solidFill>
                <a:latin typeface="Noto Sans SC"/>
                <a:ea typeface="Noto Sans SC"/>
                <a:cs typeface="Noto Sans SC"/>
                <a:sym typeface="Noto Sans SC"/>
              </a:rPr>
              <a:t>比特</a:t>
            </a:r>
            <a:r>
              <a:rPr lang="en-US" sz="2800" b="0" i="0" u="none" strike="noStrike" dirty="0">
                <a:solidFill>
                  <a:srgbClr val="333333"/>
                </a:solidFill>
                <a:latin typeface="Noto Sans SC"/>
                <a:ea typeface="Noto Sans SC"/>
                <a:cs typeface="Noto Sans SC"/>
                <a:sym typeface="Noto Sans SC"/>
              </a:rPr>
              <a:t>(T)。</a:t>
            </a:r>
          </a:p>
        </p:txBody>
      </p:sp>
      <p:pic>
        <p:nvPicPr>
          <p:cNvPr id="15" name="图片 14">
            <a:extLst>
              <a:ext uri="{FF2B5EF4-FFF2-40B4-BE49-F238E27FC236}">
                <a16:creationId xmlns:a16="http://schemas.microsoft.com/office/drawing/2014/main" id="{7F0744CF-E897-1C86-78BE-211E70CC3C9D}"/>
              </a:ext>
            </a:extLst>
          </p:cNvPr>
          <p:cNvPicPr>
            <a:picLocks noChangeAspect="1"/>
          </p:cNvPicPr>
          <p:nvPr/>
        </p:nvPicPr>
        <p:blipFill>
          <a:blip r:embed="rId3"/>
          <a:stretch>
            <a:fillRect/>
          </a:stretch>
        </p:blipFill>
        <p:spPr>
          <a:xfrm>
            <a:off x="7879066" y="1229723"/>
            <a:ext cx="3915321" cy="4315427"/>
          </a:xfrm>
          <a:prstGeom prst="rect">
            <a:avLst/>
          </a:prstGeom>
        </p:spPr>
      </p:pic>
      <p:pic>
        <p:nvPicPr>
          <p:cNvPr id="17" name="图片 16">
            <a:extLst>
              <a:ext uri="{FF2B5EF4-FFF2-40B4-BE49-F238E27FC236}">
                <a16:creationId xmlns:a16="http://schemas.microsoft.com/office/drawing/2014/main" id="{B467EC5E-661F-383F-4BF9-2EE232DEC2EB}"/>
              </a:ext>
            </a:extLst>
          </p:cNvPr>
          <p:cNvPicPr>
            <a:picLocks noChangeAspect="1"/>
          </p:cNvPicPr>
          <p:nvPr/>
        </p:nvPicPr>
        <p:blipFill>
          <a:blip r:embed="rId4"/>
          <a:stretch>
            <a:fillRect/>
          </a:stretch>
        </p:blipFill>
        <p:spPr>
          <a:xfrm>
            <a:off x="1782482" y="4507036"/>
            <a:ext cx="4315427" cy="2143424"/>
          </a:xfrm>
          <a:prstGeom prst="rect">
            <a:avLst/>
          </a:prstGeom>
        </p:spPr>
      </p:pic>
    </p:spTree>
    <p:extLst>
      <p:ext uri="{BB962C8B-B14F-4D97-AF65-F5344CB8AC3E}">
        <p14:creationId xmlns:p14="http://schemas.microsoft.com/office/powerpoint/2010/main" val="8409696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2.1</a:t>
            </a:r>
            <a:r>
              <a:rPr lang="en-US" sz="2200" b="1" dirty="0">
                <a:solidFill>
                  <a:srgbClr val="555555"/>
                </a:solidFill>
                <a:latin typeface="Noto Sans SC"/>
                <a:ea typeface="Noto Sans SC"/>
                <a:cs typeface="Noto Sans SC"/>
                <a:sym typeface="Noto Sans SC"/>
              </a:rPr>
              <a:t>.2</a:t>
            </a:r>
            <a:r>
              <a:rPr lang="zh-CN" altLang="en-US" sz="2200" b="1" dirty="0">
                <a:solidFill>
                  <a:srgbClr val="555555"/>
                </a:solidFill>
                <a:latin typeface="Noto Sans SC"/>
                <a:ea typeface="Noto Sans SC"/>
                <a:cs typeface="Noto Sans SC"/>
                <a:sym typeface="Noto Sans SC"/>
              </a:rPr>
              <a:t>错误描述</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1" name="AutoShape 11"/>
          <p:cNvSpPr/>
          <p:nvPr/>
        </p:nvSpPr>
        <p:spPr>
          <a:xfrm>
            <a:off x="779201" y="23232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2000" b="0" i="0" u="none" strike="noStrike" dirty="0" err="1">
                <a:solidFill>
                  <a:srgbClr val="4B5563"/>
                </a:solidFill>
                <a:latin typeface="Noto Sans SC"/>
                <a:ea typeface="Noto Sans SC"/>
                <a:cs typeface="Noto Sans SC"/>
                <a:sym typeface="Noto Sans SC"/>
              </a:rPr>
              <a:t>由</a:t>
            </a:r>
            <a:r>
              <a:rPr lang="en-US" sz="2000" b="1" i="0" u="none" strike="noStrike" dirty="0" err="1">
                <a:solidFill>
                  <a:srgbClr val="333333"/>
                </a:solidFill>
                <a:latin typeface="Noto Sans SC"/>
                <a:ea typeface="Noto Sans SC"/>
                <a:cs typeface="Noto Sans SC"/>
                <a:sym typeface="Noto Sans SC"/>
              </a:rPr>
              <a:t>Pauli</a:t>
            </a:r>
            <a:r>
              <a:rPr lang="en-US" sz="2000" b="1" i="0" u="none" strike="noStrike" dirty="0">
                <a:solidFill>
                  <a:srgbClr val="333333"/>
                </a:solidFill>
                <a:latin typeface="Noto Sans SC"/>
                <a:ea typeface="Noto Sans SC"/>
                <a:cs typeface="Noto Sans SC"/>
                <a:sym typeface="Noto Sans SC"/>
              </a:rPr>
              <a:t>-X </a:t>
            </a:r>
            <a:r>
              <a:rPr lang="en-US" sz="2000" b="1" i="0" u="none" strike="noStrike" dirty="0" err="1">
                <a:solidFill>
                  <a:srgbClr val="333333"/>
                </a:solidFill>
                <a:latin typeface="Noto Sans SC"/>
                <a:ea typeface="Noto Sans SC"/>
                <a:cs typeface="Noto Sans SC"/>
                <a:sym typeface="Noto Sans SC"/>
              </a:rPr>
              <a:t>算子</a:t>
            </a:r>
            <a:r>
              <a:rPr lang="en-US" sz="2000" b="0" i="0" u="none" strike="noStrike" dirty="0" err="1">
                <a:solidFill>
                  <a:srgbClr val="4B5563"/>
                </a:solidFill>
                <a:latin typeface="Noto Sans SC"/>
                <a:ea typeface="Noto Sans SC"/>
                <a:cs typeface="Noto Sans SC"/>
                <a:sym typeface="Noto Sans SC"/>
              </a:rPr>
              <a:t>描述</a:t>
            </a:r>
            <a:r>
              <a:rPr lang="zh-CN" altLang="en-US" sz="2000" b="0" i="0" u="none" strike="noStrike" dirty="0">
                <a:solidFill>
                  <a:srgbClr val="4B5563"/>
                </a:solidFill>
                <a:latin typeface="Noto Sans SC"/>
                <a:ea typeface="Noto Sans SC"/>
                <a:cs typeface="Noto Sans SC"/>
                <a:sym typeface="Noto Sans SC"/>
              </a:rPr>
              <a:t>比特翻转</a:t>
            </a:r>
            <a:endParaRPr lang="en-US" sz="2000" b="0" i="0" u="none" strike="noStrike" dirty="0">
              <a:solidFill>
                <a:srgbClr val="4B5563"/>
              </a:solidFill>
              <a:latin typeface="Noto Sans SC"/>
              <a:ea typeface="Noto Sans SC"/>
              <a:cs typeface="Noto Sans SC"/>
              <a:sym typeface="Noto Sans SC"/>
            </a:endParaRPr>
          </a:p>
        </p:txBody>
      </p:sp>
      <p:cxnSp>
        <p:nvCxnSpPr>
          <p:cNvPr id="4" name="直接连接符 3">
            <a:extLst>
              <a:ext uri="{FF2B5EF4-FFF2-40B4-BE49-F238E27FC236}">
                <a16:creationId xmlns:a16="http://schemas.microsoft.com/office/drawing/2014/main" id="{47F470BB-2341-418A-4F05-F8FCB00097C7}"/>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C7F3E105-A5E1-130B-38D4-57A4A4FE7200}"/>
              </a:ext>
            </a:extLst>
          </p:cNvPr>
          <p:cNvPicPr>
            <a:picLocks noChangeAspect="1"/>
          </p:cNvPicPr>
          <p:nvPr/>
        </p:nvPicPr>
        <p:blipFill>
          <a:blip r:embed="rId3"/>
          <a:stretch>
            <a:fillRect/>
          </a:stretch>
        </p:blipFill>
        <p:spPr>
          <a:xfrm>
            <a:off x="7735726" y="1645522"/>
            <a:ext cx="4792118" cy="2305864"/>
          </a:xfrm>
          <a:prstGeom prst="rect">
            <a:avLst/>
          </a:prstGeom>
        </p:spPr>
      </p:pic>
      <p:pic>
        <p:nvPicPr>
          <p:cNvPr id="14" name="图片 13">
            <a:extLst>
              <a:ext uri="{FF2B5EF4-FFF2-40B4-BE49-F238E27FC236}">
                <a16:creationId xmlns:a16="http://schemas.microsoft.com/office/drawing/2014/main" id="{79B644BC-CB46-D593-9123-71625818D208}"/>
              </a:ext>
            </a:extLst>
          </p:cNvPr>
          <p:cNvPicPr>
            <a:picLocks noChangeAspect="1"/>
          </p:cNvPicPr>
          <p:nvPr/>
        </p:nvPicPr>
        <p:blipFill>
          <a:blip r:embed="rId4"/>
          <a:stretch>
            <a:fillRect/>
          </a:stretch>
        </p:blipFill>
        <p:spPr>
          <a:xfrm>
            <a:off x="7671763" y="4330449"/>
            <a:ext cx="3982006" cy="7525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02EFF-ADA6-C07B-C6DF-898954B4FAC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781C5F2-82BB-8066-CC6F-07AE70058231}"/>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72CDBA42-CC71-310F-CCB2-4C2A3650D29B}"/>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2.1</a:t>
            </a:r>
            <a:r>
              <a:rPr lang="en-US" sz="2200" b="1" dirty="0">
                <a:solidFill>
                  <a:srgbClr val="555555"/>
                </a:solidFill>
                <a:latin typeface="Noto Sans SC"/>
                <a:ea typeface="Noto Sans SC"/>
                <a:cs typeface="Noto Sans SC"/>
                <a:sym typeface="Noto Sans SC"/>
              </a:rPr>
              <a:t>.3</a:t>
            </a:r>
            <a:r>
              <a:rPr lang="zh-CN" altLang="en-US" sz="2200" b="1" dirty="0">
                <a:solidFill>
                  <a:srgbClr val="555555"/>
                </a:solidFill>
                <a:latin typeface="Noto Sans SC"/>
                <a:ea typeface="Noto Sans SC"/>
                <a:cs typeface="Noto Sans SC"/>
                <a:sym typeface="Noto Sans SC"/>
              </a:rPr>
              <a:t>错误提取</a:t>
            </a:r>
            <a:r>
              <a:rPr lang="en-US" altLang="zh-CN" sz="2200" b="1" dirty="0">
                <a:solidFill>
                  <a:srgbClr val="555555"/>
                </a:solidFill>
                <a:latin typeface="Noto Sans SC"/>
                <a:ea typeface="Noto Sans SC"/>
                <a:cs typeface="Noto Sans SC"/>
                <a:sym typeface="Noto Sans SC"/>
              </a:rPr>
              <a:t>(</a:t>
            </a:r>
            <a:r>
              <a:rPr lang="zh-CN" altLang="en-US" sz="2200" b="1" dirty="0">
                <a:solidFill>
                  <a:srgbClr val="555555"/>
                </a:solidFill>
                <a:latin typeface="Noto Sans SC"/>
                <a:ea typeface="Noto Sans SC"/>
                <a:cs typeface="Noto Sans SC"/>
                <a:sym typeface="Noto Sans SC"/>
              </a:rPr>
              <a:t>辅助码</a:t>
            </a:r>
            <a:r>
              <a:rPr lang="en-US" altLang="zh-CN" sz="2200" b="1" dirty="0">
                <a:solidFill>
                  <a:srgbClr val="555555"/>
                </a:solidFill>
                <a:latin typeface="Noto Sans SC"/>
                <a:ea typeface="Noto Sans SC"/>
                <a:cs typeface="Noto Sans SC"/>
                <a:sym typeface="Noto Sans SC"/>
              </a:rPr>
              <a:t>) </a:t>
            </a:r>
            <a:endParaRPr lang="en-US" sz="1100" dirty="0"/>
          </a:p>
        </p:txBody>
      </p:sp>
      <p:cxnSp>
        <p:nvCxnSpPr>
          <p:cNvPr id="4" name="直接连接符 3">
            <a:extLst>
              <a:ext uri="{FF2B5EF4-FFF2-40B4-BE49-F238E27FC236}">
                <a16:creationId xmlns:a16="http://schemas.microsoft.com/office/drawing/2014/main" id="{BABD8B7E-22D4-746B-9D50-E7616C986843}"/>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 name="AutoShape 11">
            <a:extLst>
              <a:ext uri="{FF2B5EF4-FFF2-40B4-BE49-F238E27FC236}">
                <a16:creationId xmlns:a16="http://schemas.microsoft.com/office/drawing/2014/main" id="{571DF09A-798B-FAD3-AD1B-AE949D67776F}"/>
              </a:ext>
            </a:extLst>
          </p:cNvPr>
          <p:cNvSpPr/>
          <p:nvPr/>
        </p:nvSpPr>
        <p:spPr>
          <a:xfrm>
            <a:off x="779201" y="23232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2000" b="0" i="0" u="none" strike="noStrike" dirty="0">
              <a:solidFill>
                <a:srgbClr val="4B5563"/>
              </a:solidFill>
              <a:latin typeface="Noto Sans SC"/>
              <a:ea typeface="Noto Sans SC"/>
              <a:cs typeface="Noto Sans SC"/>
              <a:sym typeface="Noto Sans SC"/>
            </a:endParaRPr>
          </a:p>
        </p:txBody>
      </p:sp>
      <p:sp>
        <p:nvSpPr>
          <p:cNvPr id="8" name="AutoShape 11">
            <a:extLst>
              <a:ext uri="{FF2B5EF4-FFF2-40B4-BE49-F238E27FC236}">
                <a16:creationId xmlns:a16="http://schemas.microsoft.com/office/drawing/2014/main" id="{4F3A689B-E175-5F14-E02E-859E047135A9}"/>
              </a:ext>
            </a:extLst>
          </p:cNvPr>
          <p:cNvSpPr/>
          <p:nvPr/>
        </p:nvSpPr>
        <p:spPr>
          <a:xfrm>
            <a:off x="931601" y="24756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2000" b="0" i="0" u="none" strike="noStrike" dirty="0">
              <a:solidFill>
                <a:srgbClr val="4B5563"/>
              </a:solidFill>
              <a:latin typeface="Noto Sans SC"/>
              <a:ea typeface="Noto Sans SC"/>
              <a:cs typeface="Noto Sans SC"/>
              <a:sym typeface="Noto Sans SC"/>
            </a:endParaRPr>
          </a:p>
        </p:txBody>
      </p:sp>
      <p:sp>
        <p:nvSpPr>
          <p:cNvPr id="10" name="文本框 9">
            <a:extLst>
              <a:ext uri="{FF2B5EF4-FFF2-40B4-BE49-F238E27FC236}">
                <a16:creationId xmlns:a16="http://schemas.microsoft.com/office/drawing/2014/main" id="{644185A5-719F-47CA-40F0-B7574179AAD0}"/>
              </a:ext>
            </a:extLst>
          </p:cNvPr>
          <p:cNvSpPr txBox="1"/>
          <p:nvPr/>
        </p:nvSpPr>
        <p:spPr>
          <a:xfrm>
            <a:off x="716077" y="2227034"/>
            <a:ext cx="6854441" cy="2585323"/>
          </a:xfrm>
          <a:prstGeom prst="rect">
            <a:avLst/>
          </a:prstGeom>
          <a:noFill/>
        </p:spPr>
        <p:txBody>
          <a:bodyPr wrap="square">
            <a:spAutoFit/>
          </a:bodyPr>
          <a:lstStyle/>
          <a:p>
            <a:r>
              <a:rPr lang="zh-CN" altLang="en-US" dirty="0">
                <a:latin typeface="Noto Sans SC" panose="020B0200000000000000" pitchFamily="34" charset="-122"/>
                <a:ea typeface="Noto Sans SC" panose="020B0200000000000000" pitchFamily="34" charset="-122"/>
              </a:rPr>
              <a:t>额外使用两个</a:t>
            </a:r>
            <a:r>
              <a:rPr lang="zh-CN" altLang="en-US" b="1" dirty="0">
                <a:latin typeface="Noto Sans SC" panose="020B0200000000000000" pitchFamily="34" charset="-122"/>
                <a:ea typeface="Noto Sans SC" panose="020B0200000000000000" pitchFamily="34" charset="-122"/>
              </a:rPr>
              <a:t>辅助比特</a:t>
            </a:r>
            <a:r>
              <a:rPr lang="en-US" altLang="zh-CN" b="1" dirty="0">
                <a:latin typeface="Noto Sans SC" panose="020B0200000000000000" pitchFamily="34" charset="-122"/>
                <a:ea typeface="Noto Sans SC" panose="020B0200000000000000" pitchFamily="34" charset="-122"/>
              </a:rPr>
              <a:t>(a1 a2)</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r>
              <a:rPr lang="zh-CN" altLang="en-US" b="1" dirty="0">
                <a:latin typeface="Noto Sans SC" panose="020B0200000000000000" pitchFamily="34" charset="-122"/>
                <a:ea typeface="Noto Sans SC" panose="020B0200000000000000" pitchFamily="34" charset="-122"/>
              </a:rPr>
              <a:t>第一个</a:t>
            </a:r>
            <a:r>
              <a:rPr lang="zh-CN" altLang="en-US" dirty="0">
                <a:latin typeface="Noto Sans SC" panose="020B0200000000000000" pitchFamily="34" charset="-122"/>
                <a:ea typeface="Noto Sans SC" panose="020B0200000000000000" pitchFamily="34" charset="-122"/>
              </a:rPr>
              <a:t>辅助比特</a:t>
            </a:r>
            <a:r>
              <a:rPr lang="en-US" altLang="zh-CN" dirty="0">
                <a:latin typeface="Noto Sans SC" panose="020B0200000000000000" pitchFamily="34" charset="-122"/>
                <a:ea typeface="Noto Sans SC" panose="020B0200000000000000" pitchFamily="34" charset="-122"/>
              </a:rPr>
              <a:t>  a1</a:t>
            </a:r>
          </a:p>
          <a:p>
            <a:r>
              <a:rPr lang="zh-CN" altLang="en-US" dirty="0">
                <a:latin typeface="Noto Sans SC" panose="020B0200000000000000" pitchFamily="34" charset="-122"/>
                <a:ea typeface="Noto Sans SC" panose="020B0200000000000000" pitchFamily="34" charset="-122"/>
              </a:rPr>
              <a:t>由</a:t>
            </a:r>
            <a:r>
              <a:rPr lang="zh-CN" altLang="en-US" b="1" dirty="0">
                <a:latin typeface="Noto Sans SC" panose="020B0200000000000000" pitchFamily="34" charset="-122"/>
                <a:ea typeface="Noto Sans SC" panose="020B0200000000000000" pitchFamily="34" charset="-122"/>
              </a:rPr>
              <a:t>第二个</a:t>
            </a:r>
            <a:r>
              <a:rPr lang="zh-CN" altLang="en-US" dirty="0">
                <a:latin typeface="Noto Sans SC" panose="020B0200000000000000" pitchFamily="34" charset="-122"/>
                <a:ea typeface="Noto Sans SC" panose="020B0200000000000000" pitchFamily="34" charset="-122"/>
              </a:rPr>
              <a:t>物理比特和</a:t>
            </a:r>
            <a:r>
              <a:rPr lang="zh-CN" altLang="en-US" b="1" dirty="0">
                <a:latin typeface="Noto Sans SC" panose="020B0200000000000000" pitchFamily="34" charset="-122"/>
                <a:ea typeface="Noto Sans SC" panose="020B0200000000000000" pitchFamily="34" charset="-122"/>
              </a:rPr>
              <a:t>第三个</a:t>
            </a:r>
            <a:r>
              <a:rPr lang="zh-CN" altLang="en-US" dirty="0">
                <a:latin typeface="Noto Sans SC" panose="020B0200000000000000" pitchFamily="34" charset="-122"/>
                <a:ea typeface="Noto Sans SC" panose="020B0200000000000000" pitchFamily="34" charset="-122"/>
              </a:rPr>
              <a:t>物理比特相加得到</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zh-CN" altLang="en-US" b="1" dirty="0">
                <a:latin typeface="Noto Sans SC" panose="020B0200000000000000" pitchFamily="34" charset="-122"/>
                <a:ea typeface="Noto Sans SC" panose="020B0200000000000000" pitchFamily="34" charset="-122"/>
              </a:rPr>
              <a:t>第二个</a:t>
            </a:r>
            <a:r>
              <a:rPr lang="zh-CN" altLang="en-US" dirty="0">
                <a:latin typeface="Noto Sans SC" panose="020B0200000000000000" pitchFamily="34" charset="-122"/>
                <a:ea typeface="Noto Sans SC" panose="020B0200000000000000" pitchFamily="34" charset="-122"/>
              </a:rPr>
              <a:t>辅助比特  </a:t>
            </a:r>
            <a:r>
              <a:rPr lang="en-US" altLang="zh-CN" dirty="0">
                <a:latin typeface="Noto Sans SC" panose="020B0200000000000000" pitchFamily="34" charset="-122"/>
                <a:ea typeface="Noto Sans SC" panose="020B0200000000000000" pitchFamily="34" charset="-122"/>
              </a:rPr>
              <a:t>a2</a:t>
            </a:r>
          </a:p>
          <a:p>
            <a:r>
              <a:rPr lang="zh-CN" altLang="en-US" dirty="0">
                <a:latin typeface="Noto Sans SC" panose="020B0200000000000000" pitchFamily="34" charset="-122"/>
                <a:ea typeface="Noto Sans SC" panose="020B0200000000000000" pitchFamily="34" charset="-122"/>
              </a:rPr>
              <a:t>由</a:t>
            </a:r>
            <a:r>
              <a:rPr lang="zh-CN" altLang="en-US" b="1" dirty="0">
                <a:latin typeface="Noto Sans SC" panose="020B0200000000000000" pitchFamily="34" charset="-122"/>
                <a:ea typeface="Noto Sans SC" panose="020B0200000000000000" pitchFamily="34" charset="-122"/>
              </a:rPr>
              <a:t>第一个</a:t>
            </a:r>
            <a:r>
              <a:rPr lang="zh-CN" altLang="en-US" dirty="0">
                <a:latin typeface="Noto Sans SC" panose="020B0200000000000000" pitchFamily="34" charset="-122"/>
                <a:ea typeface="Noto Sans SC" panose="020B0200000000000000" pitchFamily="34" charset="-122"/>
              </a:rPr>
              <a:t>物理比特和</a:t>
            </a:r>
            <a:r>
              <a:rPr lang="zh-CN" altLang="en-US" b="1" dirty="0">
                <a:latin typeface="Noto Sans SC" panose="020B0200000000000000" pitchFamily="34" charset="-122"/>
                <a:ea typeface="Noto Sans SC" panose="020B0200000000000000" pitchFamily="34" charset="-122"/>
              </a:rPr>
              <a:t>第三个</a:t>
            </a:r>
            <a:r>
              <a:rPr lang="zh-CN" altLang="en-US" dirty="0">
                <a:latin typeface="Noto Sans SC" panose="020B0200000000000000" pitchFamily="34" charset="-122"/>
                <a:ea typeface="Noto Sans SC" panose="020B0200000000000000" pitchFamily="34" charset="-122"/>
              </a:rPr>
              <a:t>物理比特相加得到</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此处相加实际为异或操作，同出</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异出</a:t>
            </a:r>
            <a:r>
              <a:rPr lang="en-US" altLang="zh-CN" dirty="0">
                <a:latin typeface="Noto Sans SC" panose="020B0200000000000000" pitchFamily="34" charset="-122"/>
                <a:ea typeface="Noto Sans SC" panose="020B0200000000000000" pitchFamily="34" charset="-122"/>
              </a:rPr>
              <a:t>1</a:t>
            </a:r>
            <a:r>
              <a:rPr lang="zh-CN" altLang="en-US" dirty="0">
                <a:latin typeface="Noto Sans SC" panose="020B0200000000000000" pitchFamily="34" charset="-122"/>
                <a:ea typeface="Noto Sans SC" panose="020B0200000000000000" pitchFamily="34" charset="-122"/>
              </a:rPr>
              <a:t>，为测量操作，非门操作</a:t>
            </a:r>
            <a:r>
              <a:rPr lang="en-US" altLang="zh-CN" dirty="0">
                <a:latin typeface="Noto Sans SC" panose="020B0200000000000000" pitchFamily="34" charset="-122"/>
                <a:ea typeface="Noto Sans SC" panose="020B0200000000000000" pitchFamily="34" charset="-122"/>
              </a:rPr>
              <a:t>)</a:t>
            </a:r>
          </a:p>
          <a:p>
            <a:endParaRPr lang="zh-CN" altLang="en-US" dirty="0">
              <a:latin typeface="Noto Sans SC" panose="020B0200000000000000" pitchFamily="34" charset="-122"/>
              <a:ea typeface="Noto Sans SC" panose="020B0200000000000000" pitchFamily="34" charset="-122"/>
            </a:endParaRPr>
          </a:p>
        </p:txBody>
      </p:sp>
      <p:pic>
        <p:nvPicPr>
          <p:cNvPr id="18" name="图片 17">
            <a:extLst>
              <a:ext uri="{FF2B5EF4-FFF2-40B4-BE49-F238E27FC236}">
                <a16:creationId xmlns:a16="http://schemas.microsoft.com/office/drawing/2014/main" id="{90162736-0DC2-2E3C-C829-A392BD45F129}"/>
              </a:ext>
            </a:extLst>
          </p:cNvPr>
          <p:cNvPicPr>
            <a:picLocks noChangeAspect="1"/>
          </p:cNvPicPr>
          <p:nvPr/>
        </p:nvPicPr>
        <p:blipFill>
          <a:blip r:embed="rId3"/>
          <a:stretch>
            <a:fillRect/>
          </a:stretch>
        </p:blipFill>
        <p:spPr>
          <a:xfrm>
            <a:off x="7808930" y="1734402"/>
            <a:ext cx="4541568" cy="1479450"/>
          </a:xfrm>
          <a:prstGeom prst="rect">
            <a:avLst/>
          </a:prstGeom>
        </p:spPr>
      </p:pic>
      <p:pic>
        <p:nvPicPr>
          <p:cNvPr id="20" name="图片 19">
            <a:extLst>
              <a:ext uri="{FF2B5EF4-FFF2-40B4-BE49-F238E27FC236}">
                <a16:creationId xmlns:a16="http://schemas.microsoft.com/office/drawing/2014/main" id="{807DB077-3FD3-377D-7FA2-DFDBEA7E6523}"/>
              </a:ext>
            </a:extLst>
          </p:cNvPr>
          <p:cNvPicPr>
            <a:picLocks noChangeAspect="1"/>
          </p:cNvPicPr>
          <p:nvPr/>
        </p:nvPicPr>
        <p:blipFill>
          <a:blip r:embed="rId4"/>
          <a:stretch>
            <a:fillRect/>
          </a:stretch>
        </p:blipFill>
        <p:spPr>
          <a:xfrm>
            <a:off x="7760141" y="3535563"/>
            <a:ext cx="4431859" cy="1084882"/>
          </a:xfrm>
          <a:prstGeom prst="rect">
            <a:avLst/>
          </a:prstGeom>
        </p:spPr>
      </p:pic>
      <p:pic>
        <p:nvPicPr>
          <p:cNvPr id="22" name="图片 21">
            <a:extLst>
              <a:ext uri="{FF2B5EF4-FFF2-40B4-BE49-F238E27FC236}">
                <a16:creationId xmlns:a16="http://schemas.microsoft.com/office/drawing/2014/main" id="{985790F9-F446-1704-B9B9-9822D3ADA2F9}"/>
              </a:ext>
            </a:extLst>
          </p:cNvPr>
          <p:cNvPicPr>
            <a:picLocks noChangeAspect="1"/>
          </p:cNvPicPr>
          <p:nvPr/>
        </p:nvPicPr>
        <p:blipFill>
          <a:blip r:embed="rId5"/>
          <a:stretch>
            <a:fillRect/>
          </a:stretch>
        </p:blipFill>
        <p:spPr>
          <a:xfrm>
            <a:off x="726674" y="4596223"/>
            <a:ext cx="4660365" cy="2321626"/>
          </a:xfrm>
          <a:prstGeom prst="rect">
            <a:avLst/>
          </a:prstGeom>
        </p:spPr>
      </p:pic>
    </p:spTree>
    <p:extLst>
      <p:ext uri="{BB962C8B-B14F-4D97-AF65-F5344CB8AC3E}">
        <p14:creationId xmlns:p14="http://schemas.microsoft.com/office/powerpoint/2010/main" val="5615015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0D324-0BED-69F2-049A-4C593A736EE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798DE43-FCFF-70C8-8147-EBFF4A766E30}"/>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F110DDE7-1907-3C90-5CC9-ED29DCE9B273}"/>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2.1</a:t>
            </a:r>
            <a:r>
              <a:rPr lang="en-US" sz="2200" b="1" dirty="0">
                <a:solidFill>
                  <a:srgbClr val="555555"/>
                </a:solidFill>
                <a:latin typeface="Noto Sans SC"/>
                <a:ea typeface="Noto Sans SC"/>
                <a:cs typeface="Noto Sans SC"/>
                <a:sym typeface="Noto Sans SC"/>
              </a:rPr>
              <a:t>.3</a:t>
            </a:r>
            <a:r>
              <a:rPr lang="zh-CN" altLang="en-US" sz="2200" b="1" dirty="0">
                <a:solidFill>
                  <a:srgbClr val="555555"/>
                </a:solidFill>
                <a:latin typeface="Noto Sans SC"/>
                <a:ea typeface="Noto Sans SC"/>
                <a:cs typeface="Noto Sans SC"/>
                <a:sym typeface="Noto Sans SC"/>
              </a:rPr>
              <a:t>错误</a:t>
            </a:r>
            <a:r>
              <a:rPr lang="en-US" altLang="zh-CN" sz="2200" b="1" dirty="0">
                <a:solidFill>
                  <a:srgbClr val="555555"/>
                </a:solidFill>
                <a:latin typeface="Noto Sans SC"/>
                <a:ea typeface="Noto Sans SC"/>
                <a:cs typeface="Noto Sans SC"/>
                <a:sym typeface="Noto Sans SC"/>
              </a:rPr>
              <a:t>/</a:t>
            </a:r>
            <a:r>
              <a:rPr lang="zh-CN" altLang="en-US" sz="2200" b="1" dirty="0">
                <a:solidFill>
                  <a:srgbClr val="555555"/>
                </a:solidFill>
                <a:latin typeface="Noto Sans SC"/>
                <a:ea typeface="Noto Sans SC"/>
                <a:cs typeface="Noto Sans SC"/>
                <a:sym typeface="Noto Sans SC"/>
              </a:rPr>
              <a:t>症状提取</a:t>
            </a:r>
            <a:r>
              <a:rPr lang="en-US" altLang="zh-CN" sz="2200" b="1" dirty="0">
                <a:solidFill>
                  <a:srgbClr val="555555"/>
                </a:solidFill>
                <a:latin typeface="Noto Sans SC"/>
                <a:ea typeface="Noto Sans SC"/>
                <a:cs typeface="Noto Sans SC"/>
                <a:sym typeface="Noto Sans SC"/>
              </a:rPr>
              <a:t>(</a:t>
            </a:r>
            <a:r>
              <a:rPr lang="zh-CN" altLang="en-US" sz="2200" b="1" dirty="0">
                <a:solidFill>
                  <a:srgbClr val="555555"/>
                </a:solidFill>
                <a:latin typeface="Noto Sans SC"/>
                <a:ea typeface="Noto Sans SC"/>
                <a:cs typeface="Noto Sans SC"/>
                <a:sym typeface="Noto Sans SC"/>
              </a:rPr>
              <a:t>辅助码</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5" name="AutoShape 11">
            <a:extLst>
              <a:ext uri="{FF2B5EF4-FFF2-40B4-BE49-F238E27FC236}">
                <a16:creationId xmlns:a16="http://schemas.microsoft.com/office/drawing/2014/main" id="{E065972E-8F90-9A96-6A84-1F200A62E0B6}"/>
              </a:ext>
            </a:extLst>
          </p:cNvPr>
          <p:cNvSpPr/>
          <p:nvPr/>
        </p:nvSpPr>
        <p:spPr>
          <a:xfrm>
            <a:off x="779201" y="23232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2000" b="0" i="0" u="none" strike="noStrike" dirty="0">
              <a:solidFill>
                <a:srgbClr val="4B5563"/>
              </a:solidFill>
              <a:latin typeface="Noto Sans SC"/>
              <a:ea typeface="Noto Sans SC"/>
              <a:cs typeface="Noto Sans SC"/>
              <a:sym typeface="Noto Sans SC"/>
            </a:endParaRPr>
          </a:p>
        </p:txBody>
      </p:sp>
      <p:sp>
        <p:nvSpPr>
          <p:cNvPr id="8" name="AutoShape 11">
            <a:extLst>
              <a:ext uri="{FF2B5EF4-FFF2-40B4-BE49-F238E27FC236}">
                <a16:creationId xmlns:a16="http://schemas.microsoft.com/office/drawing/2014/main" id="{DEDE22D6-0295-AAA5-B11D-393F0EB1E7A4}"/>
              </a:ext>
            </a:extLst>
          </p:cNvPr>
          <p:cNvSpPr/>
          <p:nvPr/>
        </p:nvSpPr>
        <p:spPr>
          <a:xfrm>
            <a:off x="931601" y="24756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2000" b="0" i="0" u="none" strike="noStrike" dirty="0">
              <a:solidFill>
                <a:srgbClr val="4B5563"/>
              </a:solidFill>
              <a:latin typeface="Noto Sans SC"/>
              <a:ea typeface="Noto Sans SC"/>
              <a:cs typeface="Noto Sans SC"/>
              <a:sym typeface="Noto Sans SC"/>
            </a:endParaRPr>
          </a:p>
        </p:txBody>
      </p:sp>
      <p:pic>
        <p:nvPicPr>
          <p:cNvPr id="7" name="图片 6">
            <a:extLst>
              <a:ext uri="{FF2B5EF4-FFF2-40B4-BE49-F238E27FC236}">
                <a16:creationId xmlns:a16="http://schemas.microsoft.com/office/drawing/2014/main" id="{9AF316DA-F693-1CF8-3811-4CD4CF9EF21D}"/>
              </a:ext>
            </a:extLst>
          </p:cNvPr>
          <p:cNvPicPr>
            <a:picLocks noChangeAspect="1"/>
          </p:cNvPicPr>
          <p:nvPr/>
        </p:nvPicPr>
        <p:blipFill>
          <a:blip r:embed="rId3"/>
          <a:stretch>
            <a:fillRect/>
          </a:stretch>
        </p:blipFill>
        <p:spPr>
          <a:xfrm>
            <a:off x="885076" y="3203428"/>
            <a:ext cx="10379246" cy="3231362"/>
          </a:xfrm>
          <a:prstGeom prst="rect">
            <a:avLst/>
          </a:prstGeom>
        </p:spPr>
      </p:pic>
      <p:sp>
        <p:nvSpPr>
          <p:cNvPr id="9" name="文本框 8">
            <a:extLst>
              <a:ext uri="{FF2B5EF4-FFF2-40B4-BE49-F238E27FC236}">
                <a16:creationId xmlns:a16="http://schemas.microsoft.com/office/drawing/2014/main" id="{1626A26F-D3D4-5666-D200-2D3B065DEC59}"/>
              </a:ext>
            </a:extLst>
          </p:cNvPr>
          <p:cNvSpPr txBox="1"/>
          <p:nvPr/>
        </p:nvSpPr>
        <p:spPr>
          <a:xfrm>
            <a:off x="1188417" y="2517703"/>
            <a:ext cx="6181284" cy="461665"/>
          </a:xfrm>
          <a:prstGeom prst="rect">
            <a:avLst/>
          </a:prstGeom>
          <a:noFill/>
        </p:spPr>
        <p:txBody>
          <a:bodyPr wrap="square">
            <a:spAutoFit/>
          </a:bodyPr>
          <a:lstStyle/>
          <a:p>
            <a:r>
              <a:rPr lang="en-US" altLang="zh-CN" sz="2400" b="1" dirty="0">
                <a:latin typeface="Noto Sans SC" panose="020B0200000000000000" pitchFamily="34" charset="-122"/>
                <a:ea typeface="Noto Sans SC" panose="020B0200000000000000" pitchFamily="34" charset="-122"/>
              </a:rPr>
              <a:t>Syndrome – </a:t>
            </a:r>
            <a:r>
              <a:rPr lang="zh-CN" altLang="en-US" sz="2400" b="1" dirty="0">
                <a:latin typeface="Noto Sans SC" panose="020B0200000000000000" pitchFamily="34" charset="-122"/>
                <a:ea typeface="Noto Sans SC" panose="020B0200000000000000" pitchFamily="34" charset="-122"/>
              </a:rPr>
              <a:t>症状</a:t>
            </a:r>
          </a:p>
        </p:txBody>
      </p:sp>
    </p:spTree>
    <p:extLst>
      <p:ext uri="{BB962C8B-B14F-4D97-AF65-F5344CB8AC3E}">
        <p14:creationId xmlns:p14="http://schemas.microsoft.com/office/powerpoint/2010/main" val="18939802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4637A-90F0-B9CF-E52D-00AABED754F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0276B87-B47A-4A6B-C76F-3D7C5B720842}"/>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624A0B83-6F16-A8F5-9D00-3FF283E2A2EC}"/>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2.1</a:t>
            </a:r>
            <a:r>
              <a:rPr lang="en-US" sz="2200" b="1" dirty="0">
                <a:solidFill>
                  <a:srgbClr val="555555"/>
                </a:solidFill>
                <a:latin typeface="Noto Sans SC"/>
                <a:ea typeface="Noto Sans SC"/>
                <a:cs typeface="Noto Sans SC"/>
                <a:sym typeface="Noto Sans SC"/>
              </a:rPr>
              <a:t>.4</a:t>
            </a:r>
            <a:r>
              <a:rPr lang="zh-CN" altLang="en-US" sz="2200" b="1" dirty="0">
                <a:solidFill>
                  <a:srgbClr val="555555"/>
                </a:solidFill>
                <a:latin typeface="Noto Sans SC"/>
                <a:ea typeface="Noto Sans SC"/>
                <a:cs typeface="Noto Sans SC"/>
                <a:sym typeface="Noto Sans SC"/>
              </a:rPr>
              <a:t>修复</a:t>
            </a:r>
            <a:endParaRPr lang="en-US" sz="1100" dirty="0"/>
          </a:p>
        </p:txBody>
      </p:sp>
      <p:sp>
        <p:nvSpPr>
          <p:cNvPr id="5" name="AutoShape 11">
            <a:extLst>
              <a:ext uri="{FF2B5EF4-FFF2-40B4-BE49-F238E27FC236}">
                <a16:creationId xmlns:a16="http://schemas.microsoft.com/office/drawing/2014/main" id="{0432B237-2BE1-3969-FACB-426089697A5B}"/>
              </a:ext>
            </a:extLst>
          </p:cNvPr>
          <p:cNvSpPr/>
          <p:nvPr/>
        </p:nvSpPr>
        <p:spPr>
          <a:xfrm>
            <a:off x="779201" y="23232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2000" b="0" i="0" u="none" strike="noStrike" dirty="0">
              <a:solidFill>
                <a:srgbClr val="4B5563"/>
              </a:solidFill>
              <a:latin typeface="Noto Sans SC"/>
              <a:ea typeface="Noto Sans SC"/>
              <a:cs typeface="Noto Sans SC"/>
              <a:sym typeface="Noto Sans SC"/>
            </a:endParaRPr>
          </a:p>
        </p:txBody>
      </p:sp>
      <p:sp>
        <p:nvSpPr>
          <p:cNvPr id="8" name="AutoShape 11">
            <a:extLst>
              <a:ext uri="{FF2B5EF4-FFF2-40B4-BE49-F238E27FC236}">
                <a16:creationId xmlns:a16="http://schemas.microsoft.com/office/drawing/2014/main" id="{DB9EAF41-F339-E821-74A6-7AFCCA73C177}"/>
              </a:ext>
            </a:extLst>
          </p:cNvPr>
          <p:cNvSpPr/>
          <p:nvPr/>
        </p:nvSpPr>
        <p:spPr>
          <a:xfrm>
            <a:off x="931601" y="24756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2000" b="0" i="0" u="none" strike="noStrike" dirty="0">
              <a:solidFill>
                <a:srgbClr val="4B5563"/>
              </a:solidFill>
              <a:latin typeface="Noto Sans SC"/>
              <a:ea typeface="Noto Sans SC"/>
              <a:cs typeface="Noto Sans SC"/>
              <a:sym typeface="Noto Sans SC"/>
            </a:endParaRPr>
          </a:p>
        </p:txBody>
      </p:sp>
      <p:pic>
        <p:nvPicPr>
          <p:cNvPr id="17" name="图片 16">
            <a:extLst>
              <a:ext uri="{FF2B5EF4-FFF2-40B4-BE49-F238E27FC236}">
                <a16:creationId xmlns:a16="http://schemas.microsoft.com/office/drawing/2014/main" id="{62203799-8C50-34D5-8E4A-A4FAFE70DE11}"/>
              </a:ext>
            </a:extLst>
          </p:cNvPr>
          <p:cNvPicPr>
            <a:picLocks noChangeAspect="1"/>
          </p:cNvPicPr>
          <p:nvPr/>
        </p:nvPicPr>
        <p:blipFill>
          <a:blip r:embed="rId3"/>
          <a:stretch>
            <a:fillRect/>
          </a:stretch>
        </p:blipFill>
        <p:spPr>
          <a:xfrm>
            <a:off x="723343" y="3603099"/>
            <a:ext cx="10932596" cy="2491797"/>
          </a:xfrm>
          <a:prstGeom prst="rect">
            <a:avLst/>
          </a:prstGeom>
        </p:spPr>
      </p:pic>
      <p:pic>
        <p:nvPicPr>
          <p:cNvPr id="23" name="图片 22">
            <a:extLst>
              <a:ext uri="{FF2B5EF4-FFF2-40B4-BE49-F238E27FC236}">
                <a16:creationId xmlns:a16="http://schemas.microsoft.com/office/drawing/2014/main" id="{1F2F13AB-DCE3-1761-2C75-40DCB97022BA}"/>
              </a:ext>
            </a:extLst>
          </p:cNvPr>
          <p:cNvPicPr>
            <a:picLocks noChangeAspect="1"/>
          </p:cNvPicPr>
          <p:nvPr/>
        </p:nvPicPr>
        <p:blipFill>
          <a:blip r:embed="rId4"/>
          <a:stretch>
            <a:fillRect/>
          </a:stretch>
        </p:blipFill>
        <p:spPr>
          <a:xfrm>
            <a:off x="6665831" y="1076412"/>
            <a:ext cx="4449474" cy="2269651"/>
          </a:xfrm>
          <a:prstGeom prst="rect">
            <a:avLst/>
          </a:prstGeom>
        </p:spPr>
      </p:pic>
    </p:spTree>
    <p:extLst>
      <p:ext uri="{BB962C8B-B14F-4D97-AF65-F5344CB8AC3E}">
        <p14:creationId xmlns:p14="http://schemas.microsoft.com/office/powerpoint/2010/main" val="11932062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6D9B2-625F-4D0A-0E0B-E03B3F31E1E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53DBC2D-274C-C8E9-D58E-3320FDECE898}"/>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56D9D841-312A-77DA-5181-951BC5867D44}"/>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2.2</a:t>
            </a:r>
            <a:r>
              <a:rPr lang="en-US" sz="2200" b="1" dirty="0">
                <a:solidFill>
                  <a:srgbClr val="555555"/>
                </a:solidFill>
                <a:latin typeface="Noto Sans SC"/>
                <a:ea typeface="Noto Sans SC"/>
                <a:cs typeface="Noto Sans SC"/>
                <a:sym typeface="Noto Sans SC"/>
              </a:rPr>
              <a:t>.1</a:t>
            </a:r>
            <a:r>
              <a:rPr lang="zh-CN" altLang="en-US" sz="2200" b="1" dirty="0">
                <a:solidFill>
                  <a:srgbClr val="555555"/>
                </a:solidFill>
                <a:latin typeface="Noto Sans SC"/>
                <a:ea typeface="Noto Sans SC"/>
                <a:cs typeface="Noto Sans SC"/>
                <a:sym typeface="Noto Sans SC"/>
              </a:rPr>
              <a:t>编码实现</a:t>
            </a:r>
            <a:r>
              <a:rPr lang="en-US" altLang="zh-CN" sz="2200" b="1" dirty="0">
                <a:solidFill>
                  <a:srgbClr val="555555"/>
                </a:solidFill>
                <a:latin typeface="Noto Sans SC"/>
                <a:ea typeface="Noto Sans SC"/>
                <a:cs typeface="Noto Sans SC"/>
                <a:sym typeface="Noto Sans SC"/>
              </a:rPr>
              <a:t> </a:t>
            </a:r>
            <a:endParaRPr lang="en-US" sz="1100" dirty="0"/>
          </a:p>
        </p:txBody>
      </p:sp>
      <p:cxnSp>
        <p:nvCxnSpPr>
          <p:cNvPr id="4" name="直接连接符 3">
            <a:extLst>
              <a:ext uri="{FF2B5EF4-FFF2-40B4-BE49-F238E27FC236}">
                <a16:creationId xmlns:a16="http://schemas.microsoft.com/office/drawing/2014/main" id="{AB720568-5A01-3E28-0221-D0DA87B9E037}"/>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 name="AutoShape 7">
            <a:extLst>
              <a:ext uri="{FF2B5EF4-FFF2-40B4-BE49-F238E27FC236}">
                <a16:creationId xmlns:a16="http://schemas.microsoft.com/office/drawing/2014/main" id="{3431320E-CC31-65FB-6D3E-EABA738B3BD0}"/>
              </a:ext>
            </a:extLst>
          </p:cNvPr>
          <p:cNvSpPr/>
          <p:nvPr/>
        </p:nvSpPr>
        <p:spPr>
          <a:xfrm>
            <a:off x="736929" y="1861292"/>
            <a:ext cx="6340764" cy="306103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endParaRPr lang="en-US" sz="2000" dirty="0"/>
          </a:p>
          <a:p>
            <a:pPr indent="0" algn="l">
              <a:lnSpc>
                <a:spcPct val="116666"/>
              </a:lnSpc>
              <a:spcBef>
                <a:spcPts val="800"/>
              </a:spcBef>
            </a:pPr>
            <a:r>
              <a:rPr lang="en-US" sz="2000" b="0" i="0" u="none" strike="noStrike" dirty="0" err="1">
                <a:solidFill>
                  <a:srgbClr val="333333"/>
                </a:solidFill>
                <a:latin typeface="Noto Sans SC"/>
                <a:ea typeface="Noto Sans SC"/>
                <a:cs typeface="Noto Sans SC"/>
                <a:sym typeface="Noto Sans SC"/>
              </a:rPr>
              <a:t>通过</a:t>
            </a:r>
            <a:r>
              <a:rPr lang="en-US" sz="2000" b="1" i="0" u="none" strike="noStrike" dirty="0" err="1">
                <a:solidFill>
                  <a:srgbClr val="333333"/>
                </a:solidFill>
                <a:latin typeface="Noto Sans SC"/>
                <a:ea typeface="Noto Sans SC"/>
                <a:cs typeface="Noto Sans SC"/>
                <a:sym typeface="Noto Sans SC"/>
              </a:rPr>
              <a:t>CNOT门</a:t>
            </a:r>
            <a:r>
              <a:rPr lang="zh-CN" altLang="en-US" sz="2000" b="1" i="0" u="none" strike="noStrike" dirty="0">
                <a:solidFill>
                  <a:srgbClr val="333333"/>
                </a:solidFill>
                <a:latin typeface="Noto Sans SC"/>
                <a:ea typeface="Noto Sans SC"/>
                <a:cs typeface="Noto Sans SC"/>
                <a:sym typeface="Noto Sans SC"/>
              </a:rPr>
              <a:t>加</a:t>
            </a:r>
            <a:r>
              <a:rPr lang="en-US" altLang="zh-CN" sz="2000" b="1" i="0" u="none" strike="noStrike" dirty="0">
                <a:solidFill>
                  <a:srgbClr val="333333"/>
                </a:solidFill>
                <a:latin typeface="Noto Sans SC"/>
                <a:ea typeface="Noto Sans SC"/>
                <a:cs typeface="Noto Sans SC"/>
                <a:sym typeface="Noto Sans SC"/>
              </a:rPr>
              <a:t>H</a:t>
            </a:r>
            <a:r>
              <a:rPr lang="zh-CN" altLang="en-US" sz="2000" b="1" i="0" u="none" strike="noStrike" dirty="0">
                <a:solidFill>
                  <a:srgbClr val="333333"/>
                </a:solidFill>
                <a:latin typeface="Noto Sans SC"/>
                <a:ea typeface="Noto Sans SC"/>
                <a:cs typeface="Noto Sans SC"/>
                <a:sym typeface="Noto Sans SC"/>
              </a:rPr>
              <a:t>门</a:t>
            </a:r>
            <a:r>
              <a:rPr lang="en-US" sz="2000" b="0" i="0" u="none" strike="noStrike" dirty="0" err="1">
                <a:solidFill>
                  <a:srgbClr val="333333"/>
                </a:solidFill>
                <a:latin typeface="Noto Sans SC"/>
                <a:ea typeface="Noto Sans SC"/>
                <a:cs typeface="Noto Sans SC"/>
                <a:sym typeface="Noto Sans SC"/>
              </a:rPr>
              <a:t>实现</a:t>
            </a:r>
            <a:r>
              <a:rPr lang="en-US" sz="2000" b="0" i="0" u="none" strike="noStrike" dirty="0">
                <a:solidFill>
                  <a:srgbClr val="333333"/>
                </a:solidFill>
                <a:latin typeface="Noto Sans SC"/>
                <a:ea typeface="Noto Sans SC"/>
                <a:cs typeface="Noto Sans SC"/>
                <a:sym typeface="Noto Sans SC"/>
              </a:rPr>
              <a:t>：</a:t>
            </a:r>
          </a:p>
          <a:p>
            <a:pPr indent="0" algn="l">
              <a:lnSpc>
                <a:spcPct val="116666"/>
              </a:lnSpc>
              <a:spcBef>
                <a:spcPts val="800"/>
              </a:spcBef>
            </a:pPr>
            <a:r>
              <a:rPr lang="zh-CN" altLang="en-US" sz="2000" b="0" i="0" u="none" strike="noStrike" dirty="0">
                <a:solidFill>
                  <a:srgbClr val="333333"/>
                </a:solidFill>
                <a:latin typeface="Noto Sans SC"/>
                <a:ea typeface="Noto Sans SC"/>
                <a:cs typeface="Noto Sans SC"/>
                <a:sym typeface="Noto Sans SC"/>
              </a:rPr>
              <a:t>首先通过</a:t>
            </a:r>
            <a:r>
              <a:rPr lang="en-US" altLang="zh-CN" sz="2000" b="1" i="0" u="none" strike="noStrike" dirty="0">
                <a:solidFill>
                  <a:srgbClr val="333333"/>
                </a:solidFill>
                <a:latin typeface="Noto Sans SC"/>
                <a:ea typeface="Noto Sans SC"/>
                <a:cs typeface="Noto Sans SC"/>
                <a:sym typeface="Noto Sans SC"/>
              </a:rPr>
              <a:t>CNOT</a:t>
            </a:r>
            <a:r>
              <a:rPr lang="zh-CN" altLang="en-US" sz="2000" b="1" i="0" u="none" strike="noStrike" dirty="0">
                <a:solidFill>
                  <a:srgbClr val="333333"/>
                </a:solidFill>
                <a:latin typeface="Noto Sans SC"/>
                <a:ea typeface="Noto Sans SC"/>
                <a:cs typeface="Noto Sans SC"/>
                <a:sym typeface="Noto Sans SC"/>
              </a:rPr>
              <a:t>门</a:t>
            </a:r>
            <a:r>
              <a:rPr lang="zh-CN" altLang="en-US" sz="2000" b="0" i="0" u="none" strike="noStrike" dirty="0">
                <a:solidFill>
                  <a:srgbClr val="333333"/>
                </a:solidFill>
                <a:latin typeface="Noto Sans SC"/>
                <a:ea typeface="Noto Sans SC"/>
                <a:cs typeface="Noto Sans SC"/>
                <a:sym typeface="Noto Sans SC"/>
              </a:rPr>
              <a:t>获得与比特翻转时</a:t>
            </a:r>
            <a:r>
              <a:rPr lang="zh-CN" altLang="en-US" sz="2000" b="1" i="0" u="none" strike="noStrike" dirty="0">
                <a:solidFill>
                  <a:srgbClr val="333333"/>
                </a:solidFill>
                <a:latin typeface="Noto Sans SC"/>
                <a:ea typeface="Noto Sans SC"/>
                <a:cs typeface="Noto Sans SC"/>
                <a:sym typeface="Noto Sans SC"/>
              </a:rPr>
              <a:t>相同的</a:t>
            </a:r>
            <a:r>
              <a:rPr lang="zh-CN" altLang="en-US" sz="2000" b="0" i="0" u="none" strike="noStrike" dirty="0">
                <a:solidFill>
                  <a:srgbClr val="333333"/>
                </a:solidFill>
                <a:latin typeface="Noto Sans SC"/>
                <a:ea typeface="Noto Sans SC"/>
                <a:cs typeface="Noto Sans SC"/>
                <a:sym typeface="Noto Sans SC"/>
              </a:rPr>
              <a:t>冗余码，</a:t>
            </a:r>
            <a:endParaRPr lang="en-US" altLang="zh-CN" sz="2000" b="0" i="0" u="none" strike="noStrike" dirty="0">
              <a:solidFill>
                <a:srgbClr val="333333"/>
              </a:solidFill>
              <a:latin typeface="Noto Sans SC"/>
              <a:ea typeface="Noto Sans SC"/>
              <a:cs typeface="Noto Sans SC"/>
              <a:sym typeface="Noto Sans SC"/>
            </a:endParaRPr>
          </a:p>
          <a:p>
            <a:pPr>
              <a:lnSpc>
                <a:spcPct val="116666"/>
              </a:lnSpc>
              <a:spcBef>
                <a:spcPts val="800"/>
              </a:spcBef>
            </a:pPr>
            <a:r>
              <a:rPr lang="zh-CN" altLang="en-US" sz="2000" b="0" i="0" u="none" strike="noStrike" dirty="0">
                <a:solidFill>
                  <a:srgbClr val="333333"/>
                </a:solidFill>
                <a:latin typeface="Noto Sans SC"/>
                <a:ea typeface="Noto Sans SC"/>
                <a:cs typeface="Noto Sans SC"/>
                <a:sym typeface="Noto Sans SC"/>
              </a:rPr>
              <a:t>再通过</a:t>
            </a:r>
            <a:r>
              <a:rPr lang="en-US" altLang="zh-CN" sz="2000" b="1" i="0" u="none" strike="noStrike" dirty="0">
                <a:solidFill>
                  <a:srgbClr val="333333"/>
                </a:solidFill>
                <a:latin typeface="Noto Sans SC"/>
                <a:ea typeface="Noto Sans SC"/>
                <a:cs typeface="Noto Sans SC"/>
                <a:sym typeface="Noto Sans SC"/>
              </a:rPr>
              <a:t>H</a:t>
            </a:r>
            <a:r>
              <a:rPr lang="zh-CN" altLang="en-US" sz="2000" b="1" i="0" u="none" strike="noStrike" dirty="0">
                <a:solidFill>
                  <a:srgbClr val="333333"/>
                </a:solidFill>
                <a:latin typeface="Noto Sans SC"/>
                <a:ea typeface="Noto Sans SC"/>
                <a:cs typeface="Noto Sans SC"/>
                <a:sym typeface="Noto Sans SC"/>
              </a:rPr>
              <a:t>门</a:t>
            </a:r>
            <a:r>
              <a:rPr lang="zh-CN" altLang="en-US" sz="2000" b="0" i="0" u="none" strike="noStrike" dirty="0">
                <a:solidFill>
                  <a:srgbClr val="333333"/>
                </a:solidFill>
                <a:latin typeface="Noto Sans SC"/>
                <a:ea typeface="Noto Sans SC"/>
                <a:cs typeface="Noto Sans SC"/>
                <a:sym typeface="Noto Sans SC"/>
              </a:rPr>
              <a:t>获得</a:t>
            </a:r>
            <a:r>
              <a:rPr lang="en-US" altLang="zh-CN" b="1" dirty="0"/>
              <a:t>|+⟩</a:t>
            </a:r>
            <a:r>
              <a:rPr lang="zh-CN" altLang="en-US" b="1" dirty="0"/>
              <a:t>，</a:t>
            </a:r>
            <a:r>
              <a:rPr lang="en-US" altLang="zh-CN" b="1" dirty="0"/>
              <a:t>|-</a:t>
            </a:r>
            <a:r>
              <a:rPr lang="en-US" altLang="zh-CN" sz="2000" b="1" dirty="0"/>
              <a:t>⟩</a:t>
            </a:r>
            <a:endParaRPr lang="en-US" sz="2000" b="1" i="0" u="none" strike="noStrike" dirty="0">
              <a:solidFill>
                <a:srgbClr val="333333"/>
              </a:solidFill>
              <a:latin typeface="Noto Sans SC"/>
              <a:ea typeface="Noto Sans SC"/>
              <a:cs typeface="Noto Sans SC"/>
              <a:sym typeface="Noto Sans SC"/>
            </a:endParaRPr>
          </a:p>
        </p:txBody>
      </p:sp>
      <p:pic>
        <p:nvPicPr>
          <p:cNvPr id="6" name="图片 5">
            <a:extLst>
              <a:ext uri="{FF2B5EF4-FFF2-40B4-BE49-F238E27FC236}">
                <a16:creationId xmlns:a16="http://schemas.microsoft.com/office/drawing/2014/main" id="{E3D0F7F0-F534-A1B7-AF1A-35B8E2006680}"/>
              </a:ext>
            </a:extLst>
          </p:cNvPr>
          <p:cNvPicPr>
            <a:picLocks noChangeAspect="1"/>
          </p:cNvPicPr>
          <p:nvPr/>
        </p:nvPicPr>
        <p:blipFill>
          <a:blip r:embed="rId3"/>
          <a:stretch>
            <a:fillRect/>
          </a:stretch>
        </p:blipFill>
        <p:spPr>
          <a:xfrm>
            <a:off x="1834462" y="4577937"/>
            <a:ext cx="3670949" cy="2012868"/>
          </a:xfrm>
          <a:prstGeom prst="rect">
            <a:avLst/>
          </a:prstGeom>
        </p:spPr>
      </p:pic>
      <p:pic>
        <p:nvPicPr>
          <p:cNvPr id="11" name="图片 10">
            <a:extLst>
              <a:ext uri="{FF2B5EF4-FFF2-40B4-BE49-F238E27FC236}">
                <a16:creationId xmlns:a16="http://schemas.microsoft.com/office/drawing/2014/main" id="{15CF8FFC-99B3-D996-020A-76BFF439DF32}"/>
              </a:ext>
            </a:extLst>
          </p:cNvPr>
          <p:cNvPicPr>
            <a:picLocks noChangeAspect="1"/>
          </p:cNvPicPr>
          <p:nvPr/>
        </p:nvPicPr>
        <p:blipFill>
          <a:blip r:embed="rId4"/>
          <a:stretch>
            <a:fillRect/>
          </a:stretch>
        </p:blipFill>
        <p:spPr>
          <a:xfrm>
            <a:off x="7710098" y="343216"/>
            <a:ext cx="4422525" cy="619498"/>
          </a:xfrm>
          <a:prstGeom prst="rect">
            <a:avLst/>
          </a:prstGeom>
        </p:spPr>
      </p:pic>
      <p:pic>
        <p:nvPicPr>
          <p:cNvPr id="13" name="图片 12">
            <a:extLst>
              <a:ext uri="{FF2B5EF4-FFF2-40B4-BE49-F238E27FC236}">
                <a16:creationId xmlns:a16="http://schemas.microsoft.com/office/drawing/2014/main" id="{4B6D0AAC-656A-22ED-7BFC-C2B0D16E52D7}"/>
              </a:ext>
            </a:extLst>
          </p:cNvPr>
          <p:cNvPicPr>
            <a:picLocks noChangeAspect="1"/>
          </p:cNvPicPr>
          <p:nvPr/>
        </p:nvPicPr>
        <p:blipFill>
          <a:blip r:embed="rId5"/>
          <a:stretch>
            <a:fillRect/>
          </a:stretch>
        </p:blipFill>
        <p:spPr>
          <a:xfrm>
            <a:off x="7677904" y="3598200"/>
            <a:ext cx="4258269" cy="2191056"/>
          </a:xfrm>
          <a:prstGeom prst="rect">
            <a:avLst/>
          </a:prstGeom>
        </p:spPr>
      </p:pic>
      <p:pic>
        <p:nvPicPr>
          <p:cNvPr id="16" name="图片 15">
            <a:extLst>
              <a:ext uri="{FF2B5EF4-FFF2-40B4-BE49-F238E27FC236}">
                <a16:creationId xmlns:a16="http://schemas.microsoft.com/office/drawing/2014/main" id="{88CA9D39-F93A-A70F-8233-23FD86B7D924}"/>
              </a:ext>
            </a:extLst>
          </p:cNvPr>
          <p:cNvPicPr>
            <a:picLocks noChangeAspect="1"/>
          </p:cNvPicPr>
          <p:nvPr/>
        </p:nvPicPr>
        <p:blipFill>
          <a:blip r:embed="rId6"/>
          <a:stretch>
            <a:fillRect/>
          </a:stretch>
        </p:blipFill>
        <p:spPr>
          <a:xfrm>
            <a:off x="4714682" y="3047947"/>
            <a:ext cx="2762636" cy="762106"/>
          </a:xfrm>
          <a:prstGeom prst="rect">
            <a:avLst/>
          </a:prstGeom>
        </p:spPr>
      </p:pic>
      <p:pic>
        <p:nvPicPr>
          <p:cNvPr id="19" name="图片 18">
            <a:extLst>
              <a:ext uri="{FF2B5EF4-FFF2-40B4-BE49-F238E27FC236}">
                <a16:creationId xmlns:a16="http://schemas.microsoft.com/office/drawing/2014/main" id="{882E0F61-4F8F-826F-46A4-53C9C2E6473C}"/>
              </a:ext>
            </a:extLst>
          </p:cNvPr>
          <p:cNvPicPr>
            <a:picLocks noChangeAspect="1"/>
          </p:cNvPicPr>
          <p:nvPr/>
        </p:nvPicPr>
        <p:blipFill>
          <a:blip r:embed="rId7"/>
          <a:stretch>
            <a:fillRect/>
          </a:stretch>
        </p:blipFill>
        <p:spPr>
          <a:xfrm>
            <a:off x="7714366" y="856250"/>
            <a:ext cx="4554824" cy="719480"/>
          </a:xfrm>
          <a:prstGeom prst="rect">
            <a:avLst/>
          </a:prstGeom>
        </p:spPr>
      </p:pic>
      <p:pic>
        <p:nvPicPr>
          <p:cNvPr id="21" name="图片 20">
            <a:extLst>
              <a:ext uri="{FF2B5EF4-FFF2-40B4-BE49-F238E27FC236}">
                <a16:creationId xmlns:a16="http://schemas.microsoft.com/office/drawing/2014/main" id="{DD695EFE-4037-E643-0872-BEFEF035A914}"/>
              </a:ext>
            </a:extLst>
          </p:cNvPr>
          <p:cNvPicPr>
            <a:picLocks noChangeAspect="1"/>
          </p:cNvPicPr>
          <p:nvPr/>
        </p:nvPicPr>
        <p:blipFill>
          <a:blip r:embed="rId8"/>
          <a:stretch>
            <a:fillRect/>
          </a:stretch>
        </p:blipFill>
        <p:spPr>
          <a:xfrm>
            <a:off x="7770099" y="1662188"/>
            <a:ext cx="2838846" cy="695422"/>
          </a:xfrm>
          <a:prstGeom prst="rect">
            <a:avLst/>
          </a:prstGeom>
        </p:spPr>
      </p:pic>
      <p:pic>
        <p:nvPicPr>
          <p:cNvPr id="23" name="图片 22">
            <a:extLst>
              <a:ext uri="{FF2B5EF4-FFF2-40B4-BE49-F238E27FC236}">
                <a16:creationId xmlns:a16="http://schemas.microsoft.com/office/drawing/2014/main" id="{25F4D496-5282-84B9-D3D6-50AEFFF4475C}"/>
              </a:ext>
            </a:extLst>
          </p:cNvPr>
          <p:cNvPicPr>
            <a:picLocks noChangeAspect="1"/>
          </p:cNvPicPr>
          <p:nvPr/>
        </p:nvPicPr>
        <p:blipFill>
          <a:blip r:embed="rId9"/>
          <a:stretch>
            <a:fillRect/>
          </a:stretch>
        </p:blipFill>
        <p:spPr>
          <a:xfrm>
            <a:off x="7856881" y="2669372"/>
            <a:ext cx="2772162" cy="581106"/>
          </a:xfrm>
          <a:prstGeom prst="rect">
            <a:avLst/>
          </a:prstGeom>
        </p:spPr>
      </p:pic>
    </p:spTree>
    <p:extLst>
      <p:ext uri="{BB962C8B-B14F-4D97-AF65-F5344CB8AC3E}">
        <p14:creationId xmlns:p14="http://schemas.microsoft.com/office/powerpoint/2010/main" val="24208645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A1CBF-BEF3-2AC7-B1C0-A279772639A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EB15FCA-E0A3-6CE9-32A9-E7AB3A43EDDE}"/>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8B2B8058-1A79-11E3-A41B-F14A9BDCED39}"/>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2.2</a:t>
            </a:r>
            <a:r>
              <a:rPr lang="en-US" sz="2200" b="1" dirty="0">
                <a:solidFill>
                  <a:srgbClr val="555555"/>
                </a:solidFill>
                <a:latin typeface="Noto Sans SC"/>
                <a:ea typeface="Noto Sans SC"/>
                <a:cs typeface="Noto Sans SC"/>
                <a:sym typeface="Noto Sans SC"/>
              </a:rPr>
              <a:t>.2</a:t>
            </a:r>
            <a:r>
              <a:rPr lang="zh-CN" altLang="en-US" sz="2200" b="1" dirty="0">
                <a:solidFill>
                  <a:srgbClr val="555555"/>
                </a:solidFill>
                <a:latin typeface="Noto Sans SC"/>
                <a:ea typeface="Noto Sans SC"/>
                <a:cs typeface="Noto Sans SC"/>
                <a:sym typeface="Noto Sans SC"/>
              </a:rPr>
              <a:t>错误描述</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1" name="AutoShape 11">
            <a:extLst>
              <a:ext uri="{FF2B5EF4-FFF2-40B4-BE49-F238E27FC236}">
                <a16:creationId xmlns:a16="http://schemas.microsoft.com/office/drawing/2014/main" id="{314B4269-6152-4AE7-F3C4-021017A3C4E1}"/>
              </a:ext>
            </a:extLst>
          </p:cNvPr>
          <p:cNvSpPr/>
          <p:nvPr/>
        </p:nvSpPr>
        <p:spPr>
          <a:xfrm>
            <a:off x="779201" y="23232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2000" b="0" i="0" u="none" strike="noStrike" dirty="0" err="1">
                <a:solidFill>
                  <a:srgbClr val="4B5563"/>
                </a:solidFill>
                <a:latin typeface="Noto Sans SC"/>
                <a:ea typeface="Noto Sans SC"/>
                <a:cs typeface="Noto Sans SC"/>
                <a:sym typeface="Noto Sans SC"/>
              </a:rPr>
              <a:t>由</a:t>
            </a:r>
            <a:r>
              <a:rPr lang="en-US" sz="2000" b="1" i="0" u="none" strike="noStrike" dirty="0" err="1">
                <a:solidFill>
                  <a:srgbClr val="333333"/>
                </a:solidFill>
                <a:latin typeface="Noto Sans SC"/>
                <a:ea typeface="Noto Sans SC"/>
                <a:cs typeface="Noto Sans SC"/>
                <a:sym typeface="Noto Sans SC"/>
              </a:rPr>
              <a:t>Pauli</a:t>
            </a:r>
            <a:r>
              <a:rPr lang="en-US" sz="2000" b="1" i="0" u="none" strike="noStrike" dirty="0">
                <a:solidFill>
                  <a:srgbClr val="333333"/>
                </a:solidFill>
                <a:latin typeface="Noto Sans SC"/>
                <a:ea typeface="Noto Sans SC"/>
                <a:cs typeface="Noto Sans SC"/>
                <a:sym typeface="Noto Sans SC"/>
              </a:rPr>
              <a:t>-Z </a:t>
            </a:r>
            <a:r>
              <a:rPr lang="en-US" sz="2000" b="1" i="0" u="none" strike="noStrike" dirty="0" err="1">
                <a:solidFill>
                  <a:srgbClr val="333333"/>
                </a:solidFill>
                <a:latin typeface="Noto Sans SC"/>
                <a:ea typeface="Noto Sans SC"/>
                <a:cs typeface="Noto Sans SC"/>
                <a:sym typeface="Noto Sans SC"/>
              </a:rPr>
              <a:t>算子</a:t>
            </a:r>
            <a:r>
              <a:rPr lang="en-US" sz="2000" b="0" i="0" u="none" strike="noStrike" dirty="0" err="1">
                <a:solidFill>
                  <a:srgbClr val="4B5563"/>
                </a:solidFill>
                <a:latin typeface="Noto Sans SC"/>
                <a:ea typeface="Noto Sans SC"/>
                <a:cs typeface="Noto Sans SC"/>
                <a:sym typeface="Noto Sans SC"/>
              </a:rPr>
              <a:t>描述</a:t>
            </a:r>
            <a:r>
              <a:rPr lang="zh-CN" altLang="en-US" sz="2000" dirty="0">
                <a:solidFill>
                  <a:srgbClr val="4B5563"/>
                </a:solidFill>
                <a:latin typeface="Noto Sans SC"/>
                <a:ea typeface="Noto Sans SC"/>
                <a:cs typeface="Noto Sans SC"/>
                <a:sym typeface="Noto Sans SC"/>
              </a:rPr>
              <a:t>相位</a:t>
            </a:r>
            <a:r>
              <a:rPr lang="zh-CN" altLang="en-US" sz="2000" b="0" i="0" u="none" strike="noStrike" dirty="0">
                <a:solidFill>
                  <a:srgbClr val="4B5563"/>
                </a:solidFill>
                <a:latin typeface="Noto Sans SC"/>
                <a:ea typeface="Noto Sans SC"/>
                <a:cs typeface="Noto Sans SC"/>
                <a:sym typeface="Noto Sans SC"/>
              </a:rPr>
              <a:t>翻转</a:t>
            </a:r>
            <a:endParaRPr lang="en-US" sz="2000" b="0" i="0" u="none" strike="noStrike" dirty="0">
              <a:solidFill>
                <a:srgbClr val="4B5563"/>
              </a:solidFill>
              <a:latin typeface="Noto Sans SC"/>
              <a:ea typeface="Noto Sans SC"/>
              <a:cs typeface="Noto Sans SC"/>
              <a:sym typeface="Noto Sans SC"/>
            </a:endParaRPr>
          </a:p>
        </p:txBody>
      </p:sp>
      <p:cxnSp>
        <p:nvCxnSpPr>
          <p:cNvPr id="4" name="直接连接符 3">
            <a:extLst>
              <a:ext uri="{FF2B5EF4-FFF2-40B4-BE49-F238E27FC236}">
                <a16:creationId xmlns:a16="http://schemas.microsoft.com/office/drawing/2014/main" id="{698D94A2-F27C-C284-29F5-35E1CA7EE16B}"/>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543BE8F7-43FF-0F5B-80AD-1BEAA4D72A33}"/>
              </a:ext>
            </a:extLst>
          </p:cNvPr>
          <p:cNvPicPr>
            <a:picLocks noChangeAspect="1"/>
          </p:cNvPicPr>
          <p:nvPr/>
        </p:nvPicPr>
        <p:blipFill>
          <a:blip r:embed="rId3"/>
          <a:stretch>
            <a:fillRect/>
          </a:stretch>
        </p:blipFill>
        <p:spPr>
          <a:xfrm>
            <a:off x="7667803" y="1695579"/>
            <a:ext cx="4456994" cy="1993230"/>
          </a:xfrm>
          <a:prstGeom prst="rect">
            <a:avLst/>
          </a:prstGeom>
        </p:spPr>
      </p:pic>
      <p:pic>
        <p:nvPicPr>
          <p:cNvPr id="8" name="图片 7">
            <a:extLst>
              <a:ext uri="{FF2B5EF4-FFF2-40B4-BE49-F238E27FC236}">
                <a16:creationId xmlns:a16="http://schemas.microsoft.com/office/drawing/2014/main" id="{D2057352-AD93-9C59-478C-C2E9F82B5BA6}"/>
              </a:ext>
            </a:extLst>
          </p:cNvPr>
          <p:cNvPicPr>
            <a:picLocks noChangeAspect="1"/>
          </p:cNvPicPr>
          <p:nvPr/>
        </p:nvPicPr>
        <p:blipFill>
          <a:blip r:embed="rId4"/>
          <a:stretch>
            <a:fillRect/>
          </a:stretch>
        </p:blipFill>
        <p:spPr>
          <a:xfrm>
            <a:off x="7791800" y="4154909"/>
            <a:ext cx="3572374" cy="619211"/>
          </a:xfrm>
          <a:prstGeom prst="rect">
            <a:avLst/>
          </a:prstGeom>
        </p:spPr>
      </p:pic>
    </p:spTree>
    <p:extLst>
      <p:ext uri="{BB962C8B-B14F-4D97-AF65-F5344CB8AC3E}">
        <p14:creationId xmlns:p14="http://schemas.microsoft.com/office/powerpoint/2010/main" val="39907315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CF8E-E518-55AF-F455-64660C53546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32AC28F-FE9A-E96C-3917-5A61E15049E2}"/>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08E41084-8346-79CA-37A7-339B706CE372}"/>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555555"/>
                </a:solidFill>
                <a:latin typeface="Noto Sans SC"/>
                <a:ea typeface="Noto Sans SC"/>
                <a:cs typeface="Noto Sans SC"/>
                <a:sym typeface="Noto Sans SC"/>
              </a:rPr>
              <a:t>2.2</a:t>
            </a:r>
            <a:r>
              <a:rPr lang="en-US" sz="2200" b="1" dirty="0">
                <a:solidFill>
                  <a:srgbClr val="555555"/>
                </a:solidFill>
                <a:latin typeface="Noto Sans SC"/>
                <a:ea typeface="Noto Sans SC"/>
                <a:cs typeface="Noto Sans SC"/>
                <a:sym typeface="Noto Sans SC"/>
              </a:rPr>
              <a:t>.3</a:t>
            </a:r>
            <a:r>
              <a:rPr lang="zh-CN" altLang="en-US" sz="2200" b="1" dirty="0">
                <a:solidFill>
                  <a:srgbClr val="555555"/>
                </a:solidFill>
                <a:latin typeface="Noto Sans SC"/>
                <a:ea typeface="Noto Sans SC"/>
                <a:cs typeface="Noto Sans SC"/>
                <a:sym typeface="Noto Sans SC"/>
              </a:rPr>
              <a:t>错误</a:t>
            </a:r>
            <a:r>
              <a:rPr lang="en-US" altLang="zh-CN" sz="2200" b="1" dirty="0">
                <a:solidFill>
                  <a:srgbClr val="555555"/>
                </a:solidFill>
                <a:latin typeface="Noto Sans SC"/>
                <a:ea typeface="Noto Sans SC"/>
                <a:cs typeface="Noto Sans SC"/>
                <a:sym typeface="Noto Sans SC"/>
              </a:rPr>
              <a:t>/</a:t>
            </a:r>
            <a:r>
              <a:rPr lang="zh-CN" altLang="en-US" sz="2200" b="1" dirty="0">
                <a:solidFill>
                  <a:srgbClr val="555555"/>
                </a:solidFill>
                <a:latin typeface="Noto Sans SC"/>
                <a:ea typeface="Noto Sans SC"/>
                <a:cs typeface="Noto Sans SC"/>
                <a:sym typeface="Noto Sans SC"/>
              </a:rPr>
              <a:t>症状提取与修复</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1" name="AutoShape 11">
            <a:extLst>
              <a:ext uri="{FF2B5EF4-FFF2-40B4-BE49-F238E27FC236}">
                <a16:creationId xmlns:a16="http://schemas.microsoft.com/office/drawing/2014/main" id="{95ED69BD-FA22-2440-7CAA-EB409E73452D}"/>
              </a:ext>
            </a:extLst>
          </p:cNvPr>
          <p:cNvSpPr/>
          <p:nvPr/>
        </p:nvSpPr>
        <p:spPr>
          <a:xfrm>
            <a:off x="779201" y="2323271"/>
            <a:ext cx="6273800" cy="20320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zh-CN" altLang="en-US" sz="2000" dirty="0">
                <a:solidFill>
                  <a:srgbClr val="4B5563"/>
                </a:solidFill>
                <a:latin typeface="Noto Sans SC"/>
                <a:ea typeface="Noto Sans SC"/>
                <a:cs typeface="Noto Sans SC"/>
                <a:sym typeface="Noto Sans SC"/>
              </a:rPr>
              <a:t>由于</a:t>
            </a:r>
            <a:r>
              <a:rPr lang="en-US" altLang="zh-CN" sz="2000" dirty="0">
                <a:solidFill>
                  <a:srgbClr val="4B5563"/>
                </a:solidFill>
                <a:latin typeface="Noto Sans SC"/>
                <a:ea typeface="Noto Sans SC"/>
                <a:cs typeface="Noto Sans SC"/>
                <a:sym typeface="Noto Sans SC"/>
              </a:rPr>
              <a:t>CNOT</a:t>
            </a:r>
            <a:r>
              <a:rPr lang="zh-CN" altLang="en-US" sz="2000" dirty="0">
                <a:solidFill>
                  <a:srgbClr val="4B5563"/>
                </a:solidFill>
                <a:latin typeface="Noto Sans SC"/>
                <a:ea typeface="Noto Sans SC"/>
                <a:cs typeface="Noto Sans SC"/>
                <a:sym typeface="Noto Sans SC"/>
              </a:rPr>
              <a:t>门对</a:t>
            </a:r>
            <a:r>
              <a:rPr lang="en-US" altLang="zh-CN" sz="2000" b="1" dirty="0"/>
              <a:t>|++⟩</a:t>
            </a:r>
            <a:r>
              <a:rPr lang="zh-CN" altLang="en-US" sz="2000" b="1" dirty="0"/>
              <a:t>，</a:t>
            </a:r>
            <a:r>
              <a:rPr lang="en-US" altLang="zh-CN" sz="2000" b="1" dirty="0"/>
              <a:t>|--⟩</a:t>
            </a:r>
            <a:r>
              <a:rPr lang="zh-CN" altLang="en-US" sz="2000" b="1" dirty="0"/>
              <a:t>作用</a:t>
            </a:r>
            <a:endParaRPr lang="en-US" altLang="zh-CN" sz="2000" b="1" dirty="0"/>
          </a:p>
          <a:p>
            <a:pPr>
              <a:lnSpc>
                <a:spcPct val="116666"/>
              </a:lnSpc>
              <a:defRPr/>
            </a:pPr>
            <a:r>
              <a:rPr lang="zh-CN" altLang="en-US" sz="2000" b="1" dirty="0"/>
              <a:t>类似对</a:t>
            </a:r>
            <a:r>
              <a:rPr lang="en-US" altLang="zh-CN" sz="2000" b="1" dirty="0"/>
              <a:t>|00⟩</a:t>
            </a:r>
            <a:r>
              <a:rPr lang="zh-CN" altLang="en-US" sz="2000" b="1" dirty="0"/>
              <a:t>，</a:t>
            </a:r>
            <a:r>
              <a:rPr lang="en-US" altLang="zh-CN" sz="2000" b="1" dirty="0"/>
              <a:t>|11⟩</a:t>
            </a:r>
            <a:r>
              <a:rPr lang="zh-CN" altLang="en-US" sz="2000" b="1" dirty="0"/>
              <a:t>作用</a:t>
            </a:r>
            <a:endParaRPr lang="en-US" altLang="zh-CN" sz="2000" b="1" dirty="0"/>
          </a:p>
          <a:p>
            <a:pPr>
              <a:lnSpc>
                <a:spcPct val="116666"/>
              </a:lnSpc>
              <a:defRPr/>
            </a:pPr>
            <a:r>
              <a:rPr lang="zh-CN" altLang="en-US" sz="2000" b="1" i="0" u="none" strike="noStrike" dirty="0">
                <a:solidFill>
                  <a:srgbClr val="4B5563"/>
                </a:solidFill>
                <a:latin typeface="Noto Sans SC"/>
                <a:ea typeface="Noto Sans SC"/>
                <a:cs typeface="Noto Sans SC"/>
                <a:sym typeface="Noto Sans SC"/>
              </a:rPr>
              <a:t>故可直接套用比特翻转模式</a:t>
            </a:r>
            <a:endParaRPr lang="en-US" sz="2000" b="0" i="0" u="none" strike="noStrike" dirty="0">
              <a:solidFill>
                <a:srgbClr val="4B5563"/>
              </a:solidFill>
              <a:latin typeface="Noto Sans SC"/>
              <a:ea typeface="Noto Sans SC"/>
              <a:cs typeface="Noto Sans SC"/>
              <a:sym typeface="Noto Sans SC"/>
            </a:endParaRPr>
          </a:p>
        </p:txBody>
      </p:sp>
      <p:cxnSp>
        <p:nvCxnSpPr>
          <p:cNvPr id="4" name="直接连接符 3">
            <a:extLst>
              <a:ext uri="{FF2B5EF4-FFF2-40B4-BE49-F238E27FC236}">
                <a16:creationId xmlns:a16="http://schemas.microsoft.com/office/drawing/2014/main" id="{C0BE11BD-AF4B-BA63-C30D-4EF4AE611011}"/>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69E9A67C-3B17-BAD2-8B92-3021DD146ECC}"/>
              </a:ext>
            </a:extLst>
          </p:cNvPr>
          <p:cNvPicPr>
            <a:picLocks noChangeAspect="1"/>
          </p:cNvPicPr>
          <p:nvPr/>
        </p:nvPicPr>
        <p:blipFill>
          <a:blip r:embed="rId3"/>
          <a:stretch>
            <a:fillRect/>
          </a:stretch>
        </p:blipFill>
        <p:spPr>
          <a:xfrm>
            <a:off x="7772384" y="1980015"/>
            <a:ext cx="3772426" cy="1009791"/>
          </a:xfrm>
          <a:prstGeom prst="rect">
            <a:avLst/>
          </a:prstGeom>
        </p:spPr>
      </p:pic>
      <p:pic>
        <p:nvPicPr>
          <p:cNvPr id="13" name="图片 12">
            <a:extLst>
              <a:ext uri="{FF2B5EF4-FFF2-40B4-BE49-F238E27FC236}">
                <a16:creationId xmlns:a16="http://schemas.microsoft.com/office/drawing/2014/main" id="{990DEF44-DC35-22ED-B4A7-9EA7346ED56F}"/>
              </a:ext>
            </a:extLst>
          </p:cNvPr>
          <p:cNvPicPr>
            <a:picLocks noChangeAspect="1"/>
          </p:cNvPicPr>
          <p:nvPr/>
        </p:nvPicPr>
        <p:blipFill>
          <a:blip r:embed="rId4"/>
          <a:stretch>
            <a:fillRect/>
          </a:stretch>
        </p:blipFill>
        <p:spPr>
          <a:xfrm>
            <a:off x="7699958" y="3118090"/>
            <a:ext cx="3762900" cy="704948"/>
          </a:xfrm>
          <a:prstGeom prst="rect">
            <a:avLst/>
          </a:prstGeom>
        </p:spPr>
      </p:pic>
    </p:spTree>
    <p:extLst>
      <p:ext uri="{BB962C8B-B14F-4D97-AF65-F5344CB8AC3E}">
        <p14:creationId xmlns:p14="http://schemas.microsoft.com/office/powerpoint/2010/main" val="298365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733BF-8072-4E17-5048-DCD18D6B89F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CD4870E-0127-F376-6C9C-A3B9D67E32B1}"/>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02 </a:t>
            </a:r>
            <a:r>
              <a:rPr lang="en-US" sz="3200" b="1" dirty="0">
                <a:solidFill>
                  <a:srgbClr val="333333"/>
                </a:solidFill>
                <a:latin typeface="Noto Sans SC"/>
                <a:ea typeface="Noto Sans SC"/>
                <a:cs typeface="Noto Sans SC"/>
                <a:sym typeface="Noto Sans SC"/>
              </a:rPr>
              <a:t>3-</a:t>
            </a:r>
            <a:r>
              <a:rPr lang="en-US" altLang="zh-CN" sz="3200" b="1" dirty="0">
                <a:solidFill>
                  <a:srgbClr val="333333"/>
                </a:solidFill>
                <a:latin typeface="Noto Sans SC"/>
                <a:ea typeface="Noto Sans SC"/>
                <a:cs typeface="Noto Sans SC"/>
                <a:sym typeface="Noto Sans SC"/>
              </a:rPr>
              <a:t>bit</a:t>
            </a:r>
            <a:r>
              <a:rPr lang="en-US" sz="3200" b="1" i="0" u="none" strike="noStrike" dirty="0">
                <a:solidFill>
                  <a:srgbClr val="333333"/>
                </a:solidFill>
                <a:latin typeface="Noto Sans SC"/>
                <a:ea typeface="Noto Sans SC"/>
                <a:cs typeface="Noto Sans SC"/>
                <a:sym typeface="Noto Sans SC"/>
              </a:rPr>
              <a:t>量子纠错码 </a:t>
            </a:r>
            <a:r>
              <a:rPr lang="zh-CN" altLang="en-US" sz="3200" b="1" i="0" u="none" strike="noStrike" dirty="0">
                <a:solidFill>
                  <a:srgbClr val="333333"/>
                </a:solidFill>
                <a:latin typeface="Noto Sans SC"/>
                <a:ea typeface="Noto Sans SC"/>
                <a:cs typeface="Noto Sans SC"/>
                <a:sym typeface="Noto Sans SC"/>
              </a:rPr>
              <a:t>电路框架</a:t>
            </a:r>
            <a:endParaRPr lang="en-US" sz="1100" dirty="0"/>
          </a:p>
        </p:txBody>
      </p:sp>
      <p:sp>
        <p:nvSpPr>
          <p:cNvPr id="3" name="AutoShape 3">
            <a:extLst>
              <a:ext uri="{FF2B5EF4-FFF2-40B4-BE49-F238E27FC236}">
                <a16:creationId xmlns:a16="http://schemas.microsoft.com/office/drawing/2014/main" id="{3F2C612F-7C19-2E6D-8F12-FC7EA5457755}"/>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cxnSp>
        <p:nvCxnSpPr>
          <p:cNvPr id="4" name="直接连接符 3">
            <a:extLst>
              <a:ext uri="{FF2B5EF4-FFF2-40B4-BE49-F238E27FC236}">
                <a16:creationId xmlns:a16="http://schemas.microsoft.com/office/drawing/2014/main" id="{98630F4A-9D5E-EF34-E31B-DFE7A4937A46}"/>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 name="AutoShape 3">
            <a:extLst>
              <a:ext uri="{FF2B5EF4-FFF2-40B4-BE49-F238E27FC236}">
                <a16:creationId xmlns:a16="http://schemas.microsoft.com/office/drawing/2014/main" id="{58654DCE-EA30-A84A-1494-6CAA074FACA4}"/>
              </a:ext>
            </a:extLst>
          </p:cNvPr>
          <p:cNvSpPr/>
          <p:nvPr/>
        </p:nvSpPr>
        <p:spPr>
          <a:xfrm>
            <a:off x="1041070" y="1492497"/>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600" b="1" dirty="0">
                <a:solidFill>
                  <a:srgbClr val="666666"/>
                </a:solidFill>
                <a:latin typeface="Noto Sans SC"/>
                <a:ea typeface="Noto Sans SC"/>
                <a:sym typeface="Noto Sans SC"/>
              </a:rPr>
              <a:t>总结</a:t>
            </a:r>
            <a:endParaRPr lang="en-US" sz="3600" dirty="0"/>
          </a:p>
        </p:txBody>
      </p:sp>
      <p:sp>
        <p:nvSpPr>
          <p:cNvPr id="6" name="AutoShape 3">
            <a:extLst>
              <a:ext uri="{FF2B5EF4-FFF2-40B4-BE49-F238E27FC236}">
                <a16:creationId xmlns:a16="http://schemas.microsoft.com/office/drawing/2014/main" id="{29922F11-4941-C191-C416-81A82507BFD1}"/>
              </a:ext>
            </a:extLst>
          </p:cNvPr>
          <p:cNvSpPr/>
          <p:nvPr/>
        </p:nvSpPr>
        <p:spPr>
          <a:xfrm>
            <a:off x="3568265" y="3076913"/>
            <a:ext cx="1391013"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200" b="1" dirty="0">
                <a:solidFill>
                  <a:srgbClr val="555555"/>
                </a:solidFill>
                <a:latin typeface="Noto Sans SC"/>
                <a:ea typeface="Noto Sans SC"/>
                <a:cs typeface="Noto Sans SC"/>
                <a:sym typeface="Noto Sans SC"/>
              </a:rPr>
              <a:t>编码</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7" name="AutoShape 3">
            <a:extLst>
              <a:ext uri="{FF2B5EF4-FFF2-40B4-BE49-F238E27FC236}">
                <a16:creationId xmlns:a16="http://schemas.microsoft.com/office/drawing/2014/main" id="{94D2968A-7A9B-C07D-1604-FAFBEB3B320E}"/>
              </a:ext>
            </a:extLst>
          </p:cNvPr>
          <p:cNvSpPr/>
          <p:nvPr/>
        </p:nvSpPr>
        <p:spPr>
          <a:xfrm>
            <a:off x="3575329" y="3744043"/>
            <a:ext cx="2050919"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200" b="1" dirty="0">
                <a:solidFill>
                  <a:srgbClr val="555555"/>
                </a:solidFill>
                <a:latin typeface="Noto Sans SC"/>
                <a:ea typeface="Noto Sans SC"/>
                <a:sym typeface="Noto Sans SC"/>
              </a:rPr>
              <a:t>错误</a:t>
            </a:r>
            <a:r>
              <a:rPr lang="en-US" altLang="zh-CN" sz="2200" b="1" dirty="0">
                <a:solidFill>
                  <a:srgbClr val="555555"/>
                </a:solidFill>
                <a:latin typeface="Noto Sans SC"/>
                <a:ea typeface="Noto Sans SC"/>
                <a:sym typeface="Noto Sans SC"/>
              </a:rPr>
              <a:t>/</a:t>
            </a:r>
            <a:r>
              <a:rPr lang="zh-CN" altLang="en-US" sz="2200" b="1" dirty="0">
                <a:solidFill>
                  <a:srgbClr val="555555"/>
                </a:solidFill>
                <a:latin typeface="Noto Sans SC"/>
                <a:ea typeface="Noto Sans SC"/>
                <a:sym typeface="Noto Sans SC"/>
              </a:rPr>
              <a:t>症状提取</a:t>
            </a:r>
            <a:endParaRPr lang="en-US" sz="1100" dirty="0"/>
          </a:p>
        </p:txBody>
      </p:sp>
      <p:sp>
        <p:nvSpPr>
          <p:cNvPr id="8" name="AutoShape 3">
            <a:extLst>
              <a:ext uri="{FF2B5EF4-FFF2-40B4-BE49-F238E27FC236}">
                <a16:creationId xmlns:a16="http://schemas.microsoft.com/office/drawing/2014/main" id="{8C8D3348-03BA-0321-DAFF-206D047748AA}"/>
              </a:ext>
            </a:extLst>
          </p:cNvPr>
          <p:cNvSpPr/>
          <p:nvPr/>
        </p:nvSpPr>
        <p:spPr>
          <a:xfrm>
            <a:off x="3564227" y="4411171"/>
            <a:ext cx="1599446"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200" b="1" dirty="0">
                <a:solidFill>
                  <a:srgbClr val="555555"/>
                </a:solidFill>
                <a:latin typeface="Noto Sans SC"/>
                <a:ea typeface="Noto Sans SC"/>
                <a:sym typeface="Noto Sans SC"/>
              </a:rPr>
              <a:t>修复</a:t>
            </a:r>
            <a:endParaRPr lang="en-US" sz="1100" dirty="0"/>
          </a:p>
        </p:txBody>
      </p:sp>
      <p:pic>
        <p:nvPicPr>
          <p:cNvPr id="9" name="图片 8">
            <a:extLst>
              <a:ext uri="{FF2B5EF4-FFF2-40B4-BE49-F238E27FC236}">
                <a16:creationId xmlns:a16="http://schemas.microsoft.com/office/drawing/2014/main" id="{BD6440F8-199B-A74B-72CF-2536A7B3D26D}"/>
              </a:ext>
            </a:extLst>
          </p:cNvPr>
          <p:cNvPicPr>
            <a:picLocks noChangeAspect="1"/>
          </p:cNvPicPr>
          <p:nvPr/>
        </p:nvPicPr>
        <p:blipFill>
          <a:blip r:embed="rId3"/>
          <a:stretch>
            <a:fillRect/>
          </a:stretch>
        </p:blipFill>
        <p:spPr>
          <a:xfrm>
            <a:off x="7714206" y="160317"/>
            <a:ext cx="2307779" cy="1146248"/>
          </a:xfrm>
          <a:prstGeom prst="rect">
            <a:avLst/>
          </a:prstGeom>
        </p:spPr>
      </p:pic>
      <p:pic>
        <p:nvPicPr>
          <p:cNvPr id="12" name="图片 11">
            <a:extLst>
              <a:ext uri="{FF2B5EF4-FFF2-40B4-BE49-F238E27FC236}">
                <a16:creationId xmlns:a16="http://schemas.microsoft.com/office/drawing/2014/main" id="{ABB28409-8095-2561-EA4D-020FFD2D2B95}"/>
              </a:ext>
            </a:extLst>
          </p:cNvPr>
          <p:cNvPicPr>
            <a:picLocks noChangeAspect="1"/>
          </p:cNvPicPr>
          <p:nvPr/>
        </p:nvPicPr>
        <p:blipFill>
          <a:blip r:embed="rId4"/>
          <a:stretch>
            <a:fillRect/>
          </a:stretch>
        </p:blipFill>
        <p:spPr>
          <a:xfrm>
            <a:off x="9874057" y="212771"/>
            <a:ext cx="1983455" cy="1087575"/>
          </a:xfrm>
          <a:prstGeom prst="rect">
            <a:avLst/>
          </a:prstGeom>
        </p:spPr>
      </p:pic>
      <p:pic>
        <p:nvPicPr>
          <p:cNvPr id="14" name="图片 13">
            <a:extLst>
              <a:ext uri="{FF2B5EF4-FFF2-40B4-BE49-F238E27FC236}">
                <a16:creationId xmlns:a16="http://schemas.microsoft.com/office/drawing/2014/main" id="{82655A24-8B83-1C24-4DDC-43C07DF1A246}"/>
              </a:ext>
            </a:extLst>
          </p:cNvPr>
          <p:cNvPicPr>
            <a:picLocks noChangeAspect="1"/>
          </p:cNvPicPr>
          <p:nvPr/>
        </p:nvPicPr>
        <p:blipFill>
          <a:blip r:embed="rId5"/>
          <a:stretch>
            <a:fillRect/>
          </a:stretch>
        </p:blipFill>
        <p:spPr>
          <a:xfrm>
            <a:off x="7590612" y="1579890"/>
            <a:ext cx="4660365" cy="2321626"/>
          </a:xfrm>
          <a:prstGeom prst="rect">
            <a:avLst/>
          </a:prstGeom>
        </p:spPr>
      </p:pic>
      <p:pic>
        <p:nvPicPr>
          <p:cNvPr id="15" name="图片 14">
            <a:extLst>
              <a:ext uri="{FF2B5EF4-FFF2-40B4-BE49-F238E27FC236}">
                <a16:creationId xmlns:a16="http://schemas.microsoft.com/office/drawing/2014/main" id="{0B6C86BE-3439-FDED-99F2-C34851F9F9CE}"/>
              </a:ext>
            </a:extLst>
          </p:cNvPr>
          <p:cNvPicPr>
            <a:picLocks noChangeAspect="1"/>
          </p:cNvPicPr>
          <p:nvPr/>
        </p:nvPicPr>
        <p:blipFill>
          <a:blip r:embed="rId6"/>
          <a:stretch>
            <a:fillRect/>
          </a:stretch>
        </p:blipFill>
        <p:spPr>
          <a:xfrm>
            <a:off x="7639608" y="3938365"/>
            <a:ext cx="4449474" cy="2269651"/>
          </a:xfrm>
          <a:prstGeom prst="rect">
            <a:avLst/>
          </a:prstGeom>
        </p:spPr>
      </p:pic>
      <p:cxnSp>
        <p:nvCxnSpPr>
          <p:cNvPr id="16" name="直接箭头连接符 15">
            <a:extLst>
              <a:ext uri="{FF2B5EF4-FFF2-40B4-BE49-F238E27FC236}">
                <a16:creationId xmlns:a16="http://schemas.microsoft.com/office/drawing/2014/main" id="{7C2EBC7D-3D9A-0F90-3862-93113A33CD66}"/>
              </a:ext>
            </a:extLst>
          </p:cNvPr>
          <p:cNvCxnSpPr>
            <a:cxnSpLocks/>
          </p:cNvCxnSpPr>
          <p:nvPr/>
        </p:nvCxnSpPr>
        <p:spPr>
          <a:xfrm>
            <a:off x="3393830" y="3034914"/>
            <a:ext cx="0" cy="199505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3">
            <a:extLst>
              <a:ext uri="{FF2B5EF4-FFF2-40B4-BE49-F238E27FC236}">
                <a16:creationId xmlns:a16="http://schemas.microsoft.com/office/drawing/2014/main" id="{CCF0D56C-DB11-001E-FC62-DFD2E2C4474D}"/>
              </a:ext>
            </a:extLst>
          </p:cNvPr>
          <p:cNvSpPr/>
          <p:nvPr/>
        </p:nvSpPr>
        <p:spPr>
          <a:xfrm>
            <a:off x="2085501" y="3713407"/>
            <a:ext cx="1391013"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CNOT </a:t>
            </a:r>
            <a:r>
              <a:rPr lang="zh-CN" altLang="en-US" sz="2200" b="1" dirty="0">
                <a:solidFill>
                  <a:srgbClr val="555555"/>
                </a:solidFill>
                <a:latin typeface="Noto Sans SC"/>
                <a:ea typeface="Noto Sans SC"/>
                <a:cs typeface="Noto Sans SC"/>
                <a:sym typeface="Noto Sans SC"/>
              </a:rPr>
              <a:t>门</a:t>
            </a:r>
            <a:endParaRPr lang="en-US" altLang="zh-CN" sz="2200" b="1" dirty="0">
              <a:solidFill>
                <a:srgbClr val="555555"/>
              </a:solidFill>
              <a:latin typeface="Noto Sans SC"/>
              <a:ea typeface="Noto Sans SC"/>
              <a:cs typeface="Noto Sans SC"/>
              <a:sym typeface="Noto Sans SC"/>
            </a:endParaRPr>
          </a:p>
          <a:p>
            <a:pPr indent="0" algn="l">
              <a:lnSpc>
                <a:spcPct val="125000"/>
              </a:lnSpc>
              <a:defRPr/>
            </a:pPr>
            <a:r>
              <a:rPr lang="en-US" altLang="zh-CN" sz="2200" b="1" dirty="0">
                <a:solidFill>
                  <a:srgbClr val="555555"/>
                </a:solidFill>
                <a:latin typeface="Noto Sans SC"/>
                <a:ea typeface="Noto Sans SC"/>
                <a:cs typeface="Noto Sans SC"/>
                <a:sym typeface="Noto Sans SC"/>
              </a:rPr>
              <a:t>   H </a:t>
            </a:r>
            <a:r>
              <a:rPr lang="zh-CN" altLang="en-US" sz="2200" b="1" dirty="0">
                <a:solidFill>
                  <a:srgbClr val="555555"/>
                </a:solidFill>
                <a:latin typeface="Noto Sans SC"/>
                <a:ea typeface="Noto Sans SC"/>
                <a:cs typeface="Noto Sans SC"/>
                <a:sym typeface="Noto Sans SC"/>
              </a:rPr>
              <a:t>门</a:t>
            </a:r>
            <a:endParaRPr lang="en-US" sz="1100" dirty="0"/>
          </a:p>
        </p:txBody>
      </p:sp>
    </p:spTree>
    <p:extLst>
      <p:ext uri="{BB962C8B-B14F-4D97-AF65-F5344CB8AC3E}">
        <p14:creationId xmlns:p14="http://schemas.microsoft.com/office/powerpoint/2010/main" val="18625787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F6C7-1AB9-6866-5766-8F38A9B480B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D4B8998-DF69-7C16-F5E7-53E9A1C83FD2}"/>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03 </a:t>
            </a:r>
            <a:r>
              <a:rPr lang="en-US" sz="3200" b="1" i="0" u="none" strike="noStrike" dirty="0" err="1">
                <a:solidFill>
                  <a:srgbClr val="333333"/>
                </a:solidFill>
                <a:latin typeface="Noto Sans SC"/>
                <a:ea typeface="Noto Sans SC"/>
                <a:cs typeface="Noto Sans SC"/>
                <a:sym typeface="Noto Sans SC"/>
              </a:rPr>
              <a:t>shor码</a:t>
            </a:r>
            <a:r>
              <a:rPr lang="zh-CN" altLang="en-US" sz="3200" b="1" i="0" u="none" strike="noStrike" dirty="0">
                <a:solidFill>
                  <a:srgbClr val="333333"/>
                </a:solidFill>
                <a:latin typeface="Noto Sans SC"/>
                <a:ea typeface="Noto Sans SC"/>
                <a:cs typeface="Noto Sans SC"/>
                <a:sym typeface="Noto Sans SC"/>
              </a:rPr>
              <a:t>简单介绍</a:t>
            </a:r>
            <a:r>
              <a:rPr lang="en-US" sz="3200" b="1" i="0" u="none" strike="noStrike" dirty="0">
                <a:solidFill>
                  <a:srgbClr val="333333"/>
                </a:solidFill>
                <a:latin typeface="Noto Sans SC"/>
                <a:ea typeface="Noto Sans SC"/>
                <a:cs typeface="Noto Sans SC"/>
                <a:sym typeface="Noto Sans SC"/>
              </a:rPr>
              <a:t> </a:t>
            </a:r>
            <a:endParaRPr lang="en-US" sz="1100" dirty="0"/>
          </a:p>
        </p:txBody>
      </p:sp>
      <p:cxnSp>
        <p:nvCxnSpPr>
          <p:cNvPr id="4" name="直接连接符 3">
            <a:extLst>
              <a:ext uri="{FF2B5EF4-FFF2-40B4-BE49-F238E27FC236}">
                <a16:creationId xmlns:a16="http://schemas.microsoft.com/office/drawing/2014/main" id="{29A25A08-3B0D-54FE-4D95-F67955520706}"/>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AutoShape 11">
            <a:extLst>
              <a:ext uri="{FF2B5EF4-FFF2-40B4-BE49-F238E27FC236}">
                <a16:creationId xmlns:a16="http://schemas.microsoft.com/office/drawing/2014/main" id="{5266E420-ED24-A6B6-50C9-E77580CD6CBD}"/>
              </a:ext>
            </a:extLst>
          </p:cNvPr>
          <p:cNvSpPr/>
          <p:nvPr/>
        </p:nvSpPr>
        <p:spPr>
          <a:xfrm>
            <a:off x="779201" y="2323271"/>
            <a:ext cx="6273800" cy="203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altLang="zh-CN" sz="2000" b="0" i="0" u="none" strike="noStrike" dirty="0">
              <a:solidFill>
                <a:srgbClr val="4B5563"/>
              </a:solidFill>
              <a:latin typeface="Noto Sans SC"/>
              <a:ea typeface="Noto Sans SC"/>
              <a:cs typeface="Noto Sans SC"/>
              <a:sym typeface="Noto Sans SC"/>
            </a:endParaRPr>
          </a:p>
          <a:p>
            <a:pPr indent="0" algn="l">
              <a:lnSpc>
                <a:spcPct val="116666"/>
              </a:lnSpc>
              <a:defRPr/>
            </a:pPr>
            <a:r>
              <a:rPr lang="en-US" altLang="zh-CN" sz="2000" b="0" i="0" u="none" strike="noStrike" dirty="0">
                <a:solidFill>
                  <a:srgbClr val="4B5563"/>
                </a:solidFill>
                <a:latin typeface="Noto Sans SC"/>
                <a:ea typeface="Noto Sans SC"/>
                <a:cs typeface="Noto Sans SC"/>
                <a:sym typeface="Noto Sans SC"/>
              </a:rPr>
              <a:t>Shor</a:t>
            </a:r>
            <a:r>
              <a:rPr lang="zh-CN" altLang="en-US" sz="2000" b="0" i="0" u="none" strike="noStrike" dirty="0">
                <a:solidFill>
                  <a:srgbClr val="4B5563"/>
                </a:solidFill>
                <a:latin typeface="Noto Sans SC"/>
                <a:ea typeface="Noto Sans SC"/>
                <a:cs typeface="Noto Sans SC"/>
                <a:sym typeface="Noto Sans SC"/>
              </a:rPr>
              <a:t>码也叫</a:t>
            </a:r>
            <a:r>
              <a:rPr lang="en-US" altLang="zh-CN" sz="2000" b="0" i="0" u="none" strike="noStrike" dirty="0">
                <a:solidFill>
                  <a:srgbClr val="4B5563"/>
                </a:solidFill>
                <a:latin typeface="Noto Sans SC"/>
                <a:ea typeface="Noto Sans SC"/>
                <a:cs typeface="Noto Sans SC"/>
                <a:sym typeface="Noto Sans SC"/>
              </a:rPr>
              <a:t>9-qubit</a:t>
            </a:r>
            <a:r>
              <a:rPr lang="zh-CN" altLang="en-US" sz="2000" b="0" i="0" u="none" strike="noStrike" dirty="0">
                <a:solidFill>
                  <a:srgbClr val="4B5563"/>
                </a:solidFill>
                <a:latin typeface="Noto Sans SC"/>
                <a:ea typeface="Noto Sans SC"/>
                <a:cs typeface="Noto Sans SC"/>
                <a:sym typeface="Noto Sans SC"/>
              </a:rPr>
              <a:t>码</a:t>
            </a:r>
            <a:endParaRPr lang="en-US" altLang="zh-CN" sz="2000" b="0" i="0" u="none" strike="noStrike" dirty="0">
              <a:solidFill>
                <a:srgbClr val="4B5563"/>
              </a:solidFill>
              <a:latin typeface="Noto Sans SC"/>
              <a:ea typeface="Noto Sans SC"/>
              <a:cs typeface="Noto Sans SC"/>
              <a:sym typeface="Noto Sans SC"/>
            </a:endParaRPr>
          </a:p>
          <a:p>
            <a:pPr indent="0" algn="l">
              <a:lnSpc>
                <a:spcPct val="116666"/>
              </a:lnSpc>
              <a:defRPr/>
            </a:pPr>
            <a:r>
              <a:rPr lang="zh-CN" altLang="en-US" sz="2000" b="0" i="0" u="none" strike="noStrike" dirty="0">
                <a:solidFill>
                  <a:srgbClr val="4B5563"/>
                </a:solidFill>
                <a:latin typeface="Noto Sans SC"/>
                <a:ea typeface="Noto Sans SC"/>
                <a:cs typeface="Noto Sans SC"/>
                <a:sym typeface="Noto Sans SC"/>
              </a:rPr>
              <a:t>既可纠正</a:t>
            </a:r>
            <a:r>
              <a:rPr lang="en-US" altLang="zh-CN" sz="2000" b="1" i="0" u="none" strike="noStrike" dirty="0">
                <a:solidFill>
                  <a:srgbClr val="4B5563"/>
                </a:solidFill>
                <a:latin typeface="Noto Sans SC"/>
                <a:ea typeface="Noto Sans SC"/>
                <a:cs typeface="Noto Sans SC"/>
                <a:sym typeface="Noto Sans SC"/>
              </a:rPr>
              <a:t>bit flip error </a:t>
            </a:r>
            <a:r>
              <a:rPr lang="zh-CN" altLang="en-US" sz="2000" b="0" i="0" u="none" strike="noStrike" dirty="0">
                <a:solidFill>
                  <a:srgbClr val="4B5563"/>
                </a:solidFill>
                <a:latin typeface="Noto Sans SC"/>
                <a:ea typeface="Noto Sans SC"/>
                <a:cs typeface="Noto Sans SC"/>
                <a:sym typeface="Noto Sans SC"/>
              </a:rPr>
              <a:t>也可纠正 </a:t>
            </a:r>
            <a:r>
              <a:rPr lang="en-US" altLang="zh-CN" sz="2000" b="1" i="0" u="none" strike="noStrike" dirty="0">
                <a:solidFill>
                  <a:srgbClr val="4B5563"/>
                </a:solidFill>
                <a:latin typeface="Noto Sans SC"/>
                <a:ea typeface="Noto Sans SC"/>
                <a:cs typeface="Noto Sans SC"/>
                <a:sym typeface="Noto Sans SC"/>
              </a:rPr>
              <a:t>phase error</a:t>
            </a:r>
          </a:p>
          <a:p>
            <a:pPr indent="0" algn="l">
              <a:lnSpc>
                <a:spcPct val="116666"/>
              </a:lnSpc>
              <a:defRPr/>
            </a:pPr>
            <a:r>
              <a:rPr lang="zh-CN" altLang="en-US" sz="2000" i="0" u="none" strike="noStrike" dirty="0">
                <a:solidFill>
                  <a:srgbClr val="4B5563"/>
                </a:solidFill>
                <a:latin typeface="Noto Sans SC"/>
                <a:ea typeface="Noto Sans SC"/>
                <a:cs typeface="Noto Sans SC"/>
                <a:sym typeface="Noto Sans SC"/>
              </a:rPr>
              <a:t>并且支持</a:t>
            </a:r>
            <a:r>
              <a:rPr lang="zh-CN" altLang="en-US" sz="2000" b="1" i="0" u="none" strike="noStrike" dirty="0">
                <a:solidFill>
                  <a:srgbClr val="4B5563"/>
                </a:solidFill>
                <a:latin typeface="Noto Sans SC"/>
                <a:ea typeface="Noto Sans SC"/>
                <a:cs typeface="Noto Sans SC"/>
                <a:sym typeface="Noto Sans SC"/>
              </a:rPr>
              <a:t>同时</a:t>
            </a:r>
            <a:r>
              <a:rPr lang="zh-CN" altLang="en-US" sz="2000" i="0" u="none" strike="noStrike" dirty="0">
                <a:solidFill>
                  <a:srgbClr val="4B5563"/>
                </a:solidFill>
                <a:latin typeface="Noto Sans SC"/>
                <a:ea typeface="Noto Sans SC"/>
                <a:cs typeface="Noto Sans SC"/>
                <a:sym typeface="Noto Sans SC"/>
              </a:rPr>
              <a:t>纠正这两个错误</a:t>
            </a:r>
            <a:endParaRPr lang="en-US" sz="2000" i="0" u="none" strike="noStrike" dirty="0">
              <a:solidFill>
                <a:srgbClr val="4B5563"/>
              </a:solidFill>
              <a:latin typeface="Noto Sans SC"/>
              <a:ea typeface="Noto Sans SC"/>
              <a:cs typeface="Noto Sans SC"/>
              <a:sym typeface="Noto Sans SC"/>
            </a:endParaRPr>
          </a:p>
        </p:txBody>
      </p:sp>
      <p:pic>
        <p:nvPicPr>
          <p:cNvPr id="18" name="图片 17">
            <a:extLst>
              <a:ext uri="{FF2B5EF4-FFF2-40B4-BE49-F238E27FC236}">
                <a16:creationId xmlns:a16="http://schemas.microsoft.com/office/drawing/2014/main" id="{96D4A49D-81A7-C88E-AB20-8AE226B5A3F6}"/>
              </a:ext>
            </a:extLst>
          </p:cNvPr>
          <p:cNvPicPr>
            <a:picLocks noChangeAspect="1"/>
          </p:cNvPicPr>
          <p:nvPr/>
        </p:nvPicPr>
        <p:blipFill>
          <a:blip r:embed="rId3"/>
          <a:stretch>
            <a:fillRect/>
          </a:stretch>
        </p:blipFill>
        <p:spPr>
          <a:xfrm>
            <a:off x="7882443" y="1755041"/>
            <a:ext cx="3587934" cy="1447874"/>
          </a:xfrm>
          <a:prstGeom prst="rect">
            <a:avLst/>
          </a:prstGeom>
        </p:spPr>
      </p:pic>
      <p:pic>
        <p:nvPicPr>
          <p:cNvPr id="20" name="图片 19">
            <a:extLst>
              <a:ext uri="{FF2B5EF4-FFF2-40B4-BE49-F238E27FC236}">
                <a16:creationId xmlns:a16="http://schemas.microsoft.com/office/drawing/2014/main" id="{BEA0B8D8-F9B6-68D9-424B-3DC1504AADF7}"/>
              </a:ext>
            </a:extLst>
          </p:cNvPr>
          <p:cNvPicPr>
            <a:picLocks noChangeAspect="1"/>
          </p:cNvPicPr>
          <p:nvPr/>
        </p:nvPicPr>
        <p:blipFill>
          <a:blip r:embed="rId4"/>
          <a:stretch>
            <a:fillRect/>
          </a:stretch>
        </p:blipFill>
        <p:spPr>
          <a:xfrm>
            <a:off x="7848526" y="3336153"/>
            <a:ext cx="3617100" cy="489816"/>
          </a:xfrm>
          <a:prstGeom prst="rect">
            <a:avLst/>
          </a:prstGeom>
        </p:spPr>
      </p:pic>
      <p:pic>
        <p:nvPicPr>
          <p:cNvPr id="22" name="图片 21">
            <a:extLst>
              <a:ext uri="{FF2B5EF4-FFF2-40B4-BE49-F238E27FC236}">
                <a16:creationId xmlns:a16="http://schemas.microsoft.com/office/drawing/2014/main" id="{6258BEA0-8F2F-104C-DA26-EBF7CBE90CD5}"/>
              </a:ext>
            </a:extLst>
          </p:cNvPr>
          <p:cNvPicPr>
            <a:picLocks noChangeAspect="1"/>
          </p:cNvPicPr>
          <p:nvPr/>
        </p:nvPicPr>
        <p:blipFill>
          <a:blip r:embed="rId5"/>
          <a:stretch>
            <a:fillRect/>
          </a:stretch>
        </p:blipFill>
        <p:spPr>
          <a:xfrm>
            <a:off x="7796869" y="4114805"/>
            <a:ext cx="3953035" cy="891486"/>
          </a:xfrm>
          <a:prstGeom prst="rect">
            <a:avLst/>
          </a:prstGeom>
        </p:spPr>
      </p:pic>
    </p:spTree>
    <p:extLst>
      <p:ext uri="{BB962C8B-B14F-4D97-AF65-F5344CB8AC3E}">
        <p14:creationId xmlns:p14="http://schemas.microsoft.com/office/powerpoint/2010/main" val="42421219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2C9F9-40B2-528E-2400-EB57E09B7C7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DA6F049-A6D7-2734-AD5F-E078EDA5E28C}"/>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DE670F42-385E-EC54-B3CE-1BDD92A13021}"/>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E0C26ADA-31F9-E4F9-A7A0-B5A98334BCDE}"/>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4.1 </a:t>
            </a:r>
            <a:r>
              <a:rPr lang="zh-CN" altLang="en-US" sz="2200" b="1" dirty="0">
                <a:solidFill>
                  <a:srgbClr val="555555"/>
                </a:solidFill>
                <a:latin typeface="Noto Sans SC"/>
                <a:ea typeface="Noto Sans SC"/>
                <a:cs typeface="Noto Sans SC"/>
                <a:sym typeface="Noto Sans SC"/>
              </a:rPr>
              <a:t>量子纠错码的定义</a:t>
            </a:r>
            <a:r>
              <a:rPr lang="en-US" altLang="zh-CN" sz="2200" b="1" dirty="0">
                <a:solidFill>
                  <a:srgbClr val="555555"/>
                </a:solidFill>
                <a:latin typeface="Noto Sans SC"/>
                <a:ea typeface="Noto Sans SC"/>
                <a:cs typeface="Noto Sans SC"/>
                <a:sym typeface="Noto Sans SC"/>
              </a:rPr>
              <a:t> </a:t>
            </a:r>
            <a:endParaRPr lang="en-US" sz="1100" dirty="0"/>
          </a:p>
        </p:txBody>
      </p:sp>
      <p:pic>
        <p:nvPicPr>
          <p:cNvPr id="14" name="图片 13">
            <a:extLst>
              <a:ext uri="{FF2B5EF4-FFF2-40B4-BE49-F238E27FC236}">
                <a16:creationId xmlns:a16="http://schemas.microsoft.com/office/drawing/2014/main" id="{0766DD20-F633-EF8A-C37B-B3738A7BEFD3}"/>
              </a:ext>
            </a:extLst>
          </p:cNvPr>
          <p:cNvPicPr>
            <a:picLocks noChangeAspect="1"/>
          </p:cNvPicPr>
          <p:nvPr/>
        </p:nvPicPr>
        <p:blipFill>
          <a:blip r:embed="rId3"/>
          <a:stretch>
            <a:fillRect/>
          </a:stretch>
        </p:blipFill>
        <p:spPr>
          <a:xfrm>
            <a:off x="7657269" y="2160111"/>
            <a:ext cx="4336810" cy="534245"/>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EF3A509-C3E0-540B-6797-60334708A2A0}"/>
                  </a:ext>
                </a:extLst>
              </p:cNvPr>
              <p:cNvSpPr txBox="1"/>
              <p:nvPr/>
            </p:nvSpPr>
            <p:spPr>
              <a:xfrm>
                <a:off x="402274" y="2133681"/>
                <a:ext cx="6995476" cy="4801314"/>
              </a:xfrm>
              <a:prstGeom prst="rect">
                <a:avLst/>
              </a:prstGeom>
              <a:noFill/>
            </p:spPr>
            <p:txBody>
              <a:bodyPr wrap="square">
                <a:spAutoFit/>
              </a:bodyPr>
              <a:lstStyle/>
              <a:p>
                <a:r>
                  <a:rPr lang="zh-CN" altLang="en-US" b="1" i="0" dirty="0">
                    <a:solidFill>
                      <a:schemeClr val="tx1"/>
                    </a:solidFill>
                    <a:effectLst/>
                    <a:latin typeface="quote-cjk-patch"/>
                  </a:rPr>
                  <a:t>定义 </a:t>
                </a:r>
                <a:endParaRPr lang="en-US" altLang="zh-CN" b="1" i="0" dirty="0">
                  <a:solidFill>
                    <a:schemeClr val="tx1"/>
                  </a:solidFill>
                  <a:effectLst/>
                  <a:latin typeface="quote-cjk-patch"/>
                </a:endParaRPr>
              </a:p>
              <a:p>
                <a:endParaRPr lang="en-US" altLang="zh-CN" b="1" i="0" dirty="0">
                  <a:solidFill>
                    <a:schemeClr val="tx1"/>
                  </a:solidFill>
                  <a:effectLst/>
                  <a:latin typeface="quote-cjk-patch"/>
                </a:endParaRPr>
              </a:p>
              <a:p>
                <a:r>
                  <a:rPr lang="en-US" altLang="zh-CN" b="1" dirty="0">
                    <a:latin typeface="quote-cjk-patch"/>
                  </a:rPr>
                  <a:t>  </a:t>
                </a:r>
                <a:r>
                  <a:rPr lang="zh-CN" altLang="en-US" b="1" i="0" dirty="0">
                    <a:solidFill>
                      <a:schemeClr val="tx1"/>
                    </a:solidFill>
                    <a:effectLst/>
                    <a:latin typeface="quote-cjk-patch"/>
                  </a:rPr>
                  <a:t> 一个量子纠错码 </a:t>
                </a:r>
                <a14:m>
                  <m:oMath xmlns:m="http://schemas.openxmlformats.org/officeDocument/2006/math">
                    <m:d>
                      <m:dPr>
                        <m:sepChr m:val=","/>
                        <m:ctrlPr>
                          <a:rPr lang="ar-AE" altLang="zh-CN" b="1" i="1" smtClean="0">
                            <a:solidFill>
                              <a:schemeClr val="accent2"/>
                            </a:solidFill>
                            <a:latin typeface="Cambria Math" panose="02040503050406030204" pitchFamily="18" charset="0"/>
                          </a:rPr>
                        </m:ctrlPr>
                      </m:dPr>
                      <m:e>
                        <m:r>
                          <a:rPr lang="zh-CN" altLang="ar-AE" b="1" i="1">
                            <a:solidFill>
                              <a:schemeClr val="accent2"/>
                            </a:solidFill>
                            <a:latin typeface="Cambria Math" panose="02040503050406030204" pitchFamily="18" charset="0"/>
                          </a:rPr>
                          <m:t>𝑼</m:t>
                        </m:r>
                      </m:e>
                      <m:e>
                        <m:r>
                          <a:rPr lang="ar-AE" altLang="zh-CN" b="1" i="0">
                            <a:solidFill>
                              <a:schemeClr val="accent2"/>
                            </a:solidFill>
                            <a:latin typeface="Cambria Math" panose="02040503050406030204" pitchFamily="18" charset="0"/>
                          </a:rPr>
                          <m:t>𝓔</m:t>
                        </m:r>
                      </m:e>
                    </m:d>
                  </m:oMath>
                </a14:m>
                <a:r>
                  <a:rPr lang="zh-CN" altLang="ar-AE" b="1" i="0" dirty="0">
                    <a:solidFill>
                      <a:schemeClr val="tx1"/>
                    </a:solidFill>
                    <a:effectLst/>
                    <a:latin typeface="quote-cjk-patch"/>
                  </a:rPr>
                  <a:t>（</a:t>
                </a:r>
                <a:r>
                  <a:rPr lang="zh-CN" altLang="en-US" b="1" i="0" dirty="0">
                    <a:solidFill>
                      <a:schemeClr val="tx1"/>
                    </a:solidFill>
                    <a:effectLst/>
                    <a:latin typeface="quote-cjk-patch"/>
                  </a:rPr>
                  <a:t>简称 </a:t>
                </a:r>
                <a:r>
                  <a:rPr lang="en-US" altLang="zh-CN" b="1" i="0" dirty="0">
                    <a:solidFill>
                      <a:schemeClr val="tx1"/>
                    </a:solidFill>
                    <a:effectLst/>
                    <a:latin typeface="quote-cjk-patch"/>
                  </a:rPr>
                  <a:t>QECC</a:t>
                </a:r>
                <a:r>
                  <a:rPr lang="zh-CN" altLang="en-US" b="1" i="0" dirty="0">
                    <a:solidFill>
                      <a:schemeClr val="tx1"/>
                    </a:solidFill>
                    <a:effectLst/>
                    <a:latin typeface="quote-cjk-patch"/>
                  </a:rPr>
                  <a:t>）是一个部分等距映射 </a:t>
                </a:r>
                <a14:m>
                  <m:oMath xmlns:m="http://schemas.openxmlformats.org/officeDocument/2006/math">
                    <m:r>
                      <a:rPr lang="zh-CN" altLang="en-US" b="1" i="1" smtClean="0">
                        <a:solidFill>
                          <a:schemeClr val="accent2"/>
                        </a:solidFill>
                        <a:latin typeface="Cambria Math" panose="02040503050406030204" pitchFamily="18" charset="0"/>
                      </a:rPr>
                      <m:t>𝑼</m:t>
                    </m:r>
                    <m:r>
                      <a:rPr lang="en-US" altLang="zh-CN" b="1" i="0">
                        <a:solidFill>
                          <a:schemeClr val="tx1"/>
                        </a:solidFill>
                        <a:latin typeface="Cambria Math" panose="02040503050406030204" pitchFamily="18" charset="0"/>
                      </a:rPr>
                      <m:t>:</m:t>
                    </m:r>
                    <m:sSub>
                      <m:sSubPr>
                        <m:ctrlPr>
                          <a:rPr lang="ar-AE" altLang="zh-CN" b="1" i="1">
                            <a:solidFill>
                              <a:schemeClr val="tx1"/>
                            </a:solidFill>
                            <a:latin typeface="Cambria Math" panose="02040503050406030204" pitchFamily="18" charset="0"/>
                          </a:rPr>
                        </m:ctrlPr>
                      </m:sSubPr>
                      <m:e>
                        <m:r>
                          <a:rPr lang="ar-AE" altLang="zh-CN" b="1" i="0">
                            <a:solidFill>
                              <a:schemeClr val="tx1"/>
                            </a:solidFill>
                            <a:latin typeface="Cambria Math" panose="02040503050406030204" pitchFamily="18" charset="0"/>
                          </a:rPr>
                          <m:t>𝓗</m:t>
                        </m:r>
                      </m:e>
                      <m:sub>
                        <m:r>
                          <a:rPr lang="zh-CN" altLang="ar-AE" b="1" i="1">
                            <a:solidFill>
                              <a:schemeClr val="tx1"/>
                            </a:solidFill>
                            <a:latin typeface="Cambria Math" panose="02040503050406030204" pitchFamily="18" charset="0"/>
                          </a:rPr>
                          <m:t>𝑲</m:t>
                        </m:r>
                      </m:sub>
                    </m:sSub>
                    <m:r>
                      <a:rPr lang="ar-AE" altLang="zh-CN" b="1" i="0">
                        <a:solidFill>
                          <a:schemeClr val="tx1"/>
                        </a:solidFill>
                        <a:latin typeface="Cambria Math" panose="02040503050406030204" pitchFamily="18" charset="0"/>
                      </a:rPr>
                      <m:t>→</m:t>
                    </m:r>
                    <m:sSub>
                      <m:sSubPr>
                        <m:ctrlPr>
                          <a:rPr lang="ar-AE" altLang="zh-CN" b="1" i="1">
                            <a:solidFill>
                              <a:schemeClr val="tx1"/>
                            </a:solidFill>
                            <a:latin typeface="Cambria Math" panose="02040503050406030204" pitchFamily="18" charset="0"/>
                          </a:rPr>
                        </m:ctrlPr>
                      </m:sSubPr>
                      <m:e>
                        <m:r>
                          <a:rPr lang="ar-AE" altLang="zh-CN" b="1" i="0">
                            <a:solidFill>
                              <a:schemeClr val="tx1"/>
                            </a:solidFill>
                            <a:latin typeface="Cambria Math" panose="02040503050406030204" pitchFamily="18" charset="0"/>
                          </a:rPr>
                          <m:t>𝓗</m:t>
                        </m:r>
                      </m:e>
                      <m:sub>
                        <m:r>
                          <a:rPr lang="zh-CN" altLang="ar-AE" b="1" i="1">
                            <a:solidFill>
                              <a:schemeClr val="tx1"/>
                            </a:solidFill>
                            <a:latin typeface="Cambria Math" panose="02040503050406030204" pitchFamily="18" charset="0"/>
                          </a:rPr>
                          <m:t>𝑵</m:t>
                        </m:r>
                      </m:sub>
                    </m:sSub>
                  </m:oMath>
                </a14:m>
                <a:r>
                  <a:rPr lang="zh-CN" altLang="ar-AE" b="1" i="0" dirty="0">
                    <a:solidFill>
                      <a:schemeClr val="tx1"/>
                    </a:solidFill>
                    <a:effectLst/>
                    <a:latin typeface="quote-cjk-patch"/>
                  </a:rPr>
                  <a:t>，</a:t>
                </a:r>
                <a:r>
                  <a:rPr lang="zh-CN" altLang="en-US" b="1" i="0" dirty="0">
                    <a:solidFill>
                      <a:schemeClr val="tx1"/>
                    </a:solidFill>
                    <a:effectLst/>
                    <a:latin typeface="quote-cjk-patch"/>
                  </a:rPr>
                  <a:t>并配有一个可纠正错误的集合 </a:t>
                </a:r>
                <a14:m>
                  <m:oMath xmlns:m="http://schemas.openxmlformats.org/officeDocument/2006/math">
                    <m:r>
                      <a:rPr lang="en-US" altLang="zh-CN" b="1" i="1" smtClean="0">
                        <a:solidFill>
                          <a:schemeClr val="accent2"/>
                        </a:solidFill>
                        <a:latin typeface="Cambria Math" panose="02040503050406030204" pitchFamily="18" charset="0"/>
                      </a:rPr>
                      <m:t>𝓔</m:t>
                    </m:r>
                  </m:oMath>
                </a14:m>
                <a:r>
                  <a:rPr lang="zh-CN" altLang="en-US" b="1" i="0" dirty="0">
                    <a:solidFill>
                      <a:schemeClr val="tx1"/>
                    </a:solidFill>
                    <a:effectLst/>
                    <a:latin typeface="quote-cjk-patch"/>
                  </a:rPr>
                  <a:t>（</a:t>
                </a:r>
                <a14:m>
                  <m:oMath xmlns:m="http://schemas.openxmlformats.org/officeDocument/2006/math">
                    <m:r>
                      <a:rPr lang="en-US" altLang="zh-CN" b="1" i="1">
                        <a:solidFill>
                          <a:schemeClr val="tx1"/>
                        </a:solidFill>
                        <a:latin typeface="Cambria Math" panose="02040503050406030204" pitchFamily="18" charset="0"/>
                      </a:rPr>
                      <m:t>𝓔</m:t>
                    </m:r>
                  </m:oMath>
                </a14:m>
                <a:r>
                  <a:rPr lang="zh-CN" altLang="en-US" b="1" i="0" dirty="0">
                    <a:solidFill>
                      <a:schemeClr val="tx1"/>
                    </a:solidFill>
                    <a:effectLst/>
                    <a:latin typeface="quote-cjk-patch"/>
                  </a:rPr>
                  <a:t> 由线性映射 </a:t>
                </a:r>
                <a14:m>
                  <m:oMath xmlns:m="http://schemas.openxmlformats.org/officeDocument/2006/math">
                    <m:r>
                      <a:rPr lang="zh-CN" altLang="en-US" b="1" i="1" smtClean="0">
                        <a:solidFill>
                          <a:schemeClr val="accent2"/>
                        </a:solidFill>
                        <a:latin typeface="Cambria Math" panose="02040503050406030204" pitchFamily="18" charset="0"/>
                      </a:rPr>
                      <m:t>𝑬</m:t>
                    </m:r>
                    <m:r>
                      <a:rPr lang="en-US" altLang="zh-CN" b="1" i="0">
                        <a:solidFill>
                          <a:schemeClr val="tx1"/>
                        </a:solidFill>
                        <a:latin typeface="Cambria Math" panose="02040503050406030204" pitchFamily="18" charset="0"/>
                      </a:rPr>
                      <m:t>:</m:t>
                    </m:r>
                    <m:sSub>
                      <m:sSubPr>
                        <m:ctrlPr>
                          <a:rPr lang="ar-AE" altLang="zh-CN" b="1" i="1">
                            <a:solidFill>
                              <a:schemeClr val="tx1"/>
                            </a:solidFill>
                            <a:latin typeface="Cambria Math" panose="02040503050406030204" pitchFamily="18" charset="0"/>
                          </a:rPr>
                        </m:ctrlPr>
                      </m:sSubPr>
                      <m:e>
                        <m:r>
                          <a:rPr lang="ar-AE" altLang="zh-CN" b="1" i="0">
                            <a:solidFill>
                              <a:schemeClr val="tx1"/>
                            </a:solidFill>
                            <a:latin typeface="Cambria Math" panose="02040503050406030204" pitchFamily="18" charset="0"/>
                          </a:rPr>
                          <m:t>𝓗</m:t>
                        </m:r>
                      </m:e>
                      <m:sub>
                        <m:r>
                          <a:rPr lang="zh-CN" altLang="ar-AE" b="1" i="1">
                            <a:solidFill>
                              <a:schemeClr val="tx1"/>
                            </a:solidFill>
                            <a:latin typeface="Cambria Math" panose="02040503050406030204" pitchFamily="18" charset="0"/>
                          </a:rPr>
                          <m:t>𝑵</m:t>
                        </m:r>
                      </m:sub>
                    </m:sSub>
                    <m:r>
                      <a:rPr lang="ar-AE" altLang="zh-CN" b="1" i="0">
                        <a:solidFill>
                          <a:schemeClr val="tx1"/>
                        </a:solidFill>
                        <a:latin typeface="Cambria Math" panose="02040503050406030204" pitchFamily="18" charset="0"/>
                      </a:rPr>
                      <m:t>→</m:t>
                    </m:r>
                    <m:sSub>
                      <m:sSubPr>
                        <m:ctrlPr>
                          <a:rPr lang="ar-AE" altLang="zh-CN" b="1" i="1">
                            <a:solidFill>
                              <a:schemeClr val="tx1"/>
                            </a:solidFill>
                            <a:latin typeface="Cambria Math" panose="02040503050406030204" pitchFamily="18" charset="0"/>
                          </a:rPr>
                        </m:ctrlPr>
                      </m:sSubPr>
                      <m:e>
                        <m:r>
                          <a:rPr lang="ar-AE" altLang="zh-CN" b="1" i="0">
                            <a:solidFill>
                              <a:schemeClr val="tx1"/>
                            </a:solidFill>
                            <a:latin typeface="Cambria Math" panose="02040503050406030204" pitchFamily="18" charset="0"/>
                          </a:rPr>
                          <m:t>𝓗</m:t>
                        </m:r>
                      </m:e>
                      <m:sub>
                        <m:r>
                          <a:rPr lang="zh-CN" altLang="ar-AE" b="1" i="1">
                            <a:solidFill>
                              <a:schemeClr val="tx1"/>
                            </a:solidFill>
                            <a:latin typeface="Cambria Math" panose="02040503050406030204" pitchFamily="18" charset="0"/>
                          </a:rPr>
                          <m:t>𝑴</m:t>
                        </m:r>
                      </m:sub>
                    </m:sSub>
                  </m:oMath>
                </a14:m>
                <a:r>
                  <a:rPr lang="ar-AE" altLang="zh-CN" b="1" i="0" dirty="0">
                    <a:solidFill>
                      <a:schemeClr val="tx1"/>
                    </a:solidFill>
                    <a:effectLst/>
                    <a:latin typeface="quote-cjk-patch"/>
                  </a:rPr>
                  <a:t> </a:t>
                </a:r>
                <a:r>
                  <a:rPr lang="zh-CN" altLang="en-US" b="1" i="0" dirty="0">
                    <a:solidFill>
                      <a:schemeClr val="tx1"/>
                    </a:solidFill>
                    <a:effectLst/>
                    <a:latin typeface="quote-cjk-patch"/>
                  </a:rPr>
                  <a:t>组成）</a:t>
                </a:r>
                <a:endParaRPr lang="en-US" altLang="zh-CN" b="1" i="0" dirty="0">
                  <a:solidFill>
                    <a:schemeClr val="tx1"/>
                  </a:solidFill>
                  <a:effectLst/>
                  <a:latin typeface="quote-cjk-patch"/>
                </a:endParaRPr>
              </a:p>
              <a:p>
                <a:r>
                  <a:rPr lang="en-US" altLang="zh-CN" b="1" dirty="0">
                    <a:latin typeface="quote-cjk-patch"/>
                  </a:rPr>
                  <a:t>  </a:t>
                </a:r>
                <a:r>
                  <a:rPr lang="zh-CN" altLang="en-US" b="1" i="0" dirty="0">
                    <a:solidFill>
                      <a:schemeClr val="tx1"/>
                    </a:solidFill>
                    <a:effectLst/>
                    <a:latin typeface="quote-cjk-patch"/>
                  </a:rPr>
                  <a:t>满足如下性质：存在量子操作 </a:t>
                </a:r>
                <a14:m>
                  <m:oMath xmlns:m="http://schemas.openxmlformats.org/officeDocument/2006/math">
                    <m:r>
                      <a:rPr lang="zh-CN" altLang="en-US" b="1" i="1">
                        <a:solidFill>
                          <a:schemeClr val="tx1"/>
                        </a:solidFill>
                        <a:latin typeface="Cambria Math" panose="02040503050406030204" pitchFamily="18" charset="0"/>
                      </a:rPr>
                      <m:t>𝑫</m:t>
                    </m:r>
                    <m:r>
                      <a:rPr lang="en-US" altLang="zh-CN" b="1" i="0">
                        <a:solidFill>
                          <a:schemeClr val="tx1"/>
                        </a:solidFill>
                        <a:latin typeface="Cambria Math" panose="02040503050406030204" pitchFamily="18" charset="0"/>
                      </a:rPr>
                      <m:t>:</m:t>
                    </m:r>
                    <m:sSub>
                      <m:sSubPr>
                        <m:ctrlPr>
                          <a:rPr lang="ar-AE" altLang="zh-CN" b="1" i="1">
                            <a:solidFill>
                              <a:schemeClr val="tx1"/>
                            </a:solidFill>
                            <a:latin typeface="Cambria Math" panose="02040503050406030204" pitchFamily="18" charset="0"/>
                          </a:rPr>
                        </m:ctrlPr>
                      </m:sSubPr>
                      <m:e>
                        <m:r>
                          <a:rPr lang="ar-AE" altLang="zh-CN" b="1" i="0">
                            <a:solidFill>
                              <a:schemeClr val="tx1"/>
                            </a:solidFill>
                            <a:latin typeface="Cambria Math" panose="02040503050406030204" pitchFamily="18" charset="0"/>
                          </a:rPr>
                          <m:t>𝓗</m:t>
                        </m:r>
                      </m:e>
                      <m:sub>
                        <m:r>
                          <a:rPr lang="zh-CN" altLang="ar-AE" b="1" i="1">
                            <a:solidFill>
                              <a:schemeClr val="tx1"/>
                            </a:solidFill>
                            <a:latin typeface="Cambria Math" panose="02040503050406030204" pitchFamily="18" charset="0"/>
                          </a:rPr>
                          <m:t>𝑴</m:t>
                        </m:r>
                      </m:sub>
                    </m:sSub>
                    <m:r>
                      <a:rPr lang="ar-AE" altLang="zh-CN" b="1" i="0">
                        <a:solidFill>
                          <a:schemeClr val="tx1"/>
                        </a:solidFill>
                        <a:latin typeface="Cambria Math" panose="02040503050406030204" pitchFamily="18" charset="0"/>
                      </a:rPr>
                      <m:t>→</m:t>
                    </m:r>
                    <m:sSub>
                      <m:sSubPr>
                        <m:ctrlPr>
                          <a:rPr lang="ar-AE" altLang="zh-CN" b="1" i="1">
                            <a:solidFill>
                              <a:schemeClr val="tx1"/>
                            </a:solidFill>
                            <a:latin typeface="Cambria Math" panose="02040503050406030204" pitchFamily="18" charset="0"/>
                          </a:rPr>
                        </m:ctrlPr>
                      </m:sSubPr>
                      <m:e>
                        <m:r>
                          <a:rPr lang="ar-AE" altLang="zh-CN" b="1" i="0">
                            <a:solidFill>
                              <a:schemeClr val="tx1"/>
                            </a:solidFill>
                            <a:latin typeface="Cambria Math" panose="02040503050406030204" pitchFamily="18" charset="0"/>
                          </a:rPr>
                          <m:t>𝓗</m:t>
                        </m:r>
                      </m:e>
                      <m:sub>
                        <m:r>
                          <a:rPr lang="zh-CN" altLang="ar-AE" b="1" i="1">
                            <a:solidFill>
                              <a:schemeClr val="tx1"/>
                            </a:solidFill>
                            <a:latin typeface="Cambria Math" panose="02040503050406030204" pitchFamily="18" charset="0"/>
                          </a:rPr>
                          <m:t>𝑲</m:t>
                        </m:r>
                      </m:sub>
                    </m:sSub>
                  </m:oMath>
                </a14:m>
                <a:r>
                  <a:rPr lang="zh-CN" altLang="ar-AE" b="1" i="0" dirty="0">
                    <a:solidFill>
                      <a:schemeClr val="tx1"/>
                    </a:solidFill>
                    <a:effectLst/>
                    <a:latin typeface="quote-cjk-patch"/>
                  </a:rPr>
                  <a:t>，</a:t>
                </a:r>
                <a:r>
                  <a:rPr lang="zh-CN" altLang="en-US" b="1" i="0" dirty="0">
                    <a:solidFill>
                      <a:schemeClr val="tx1"/>
                    </a:solidFill>
                    <a:effectLst/>
                    <a:latin typeface="quote-cjk-patch"/>
                  </a:rPr>
                  <a:t>使得对于所有 </a:t>
                </a:r>
                <a14:m>
                  <m:oMath xmlns:m="http://schemas.openxmlformats.org/officeDocument/2006/math">
                    <m:r>
                      <a:rPr lang="zh-CN" altLang="en-US" b="1" i="1">
                        <a:solidFill>
                          <a:schemeClr val="tx1"/>
                        </a:solidFill>
                        <a:latin typeface="Cambria Math" panose="02040503050406030204" pitchFamily="18" charset="0"/>
                      </a:rPr>
                      <m:t>𝑬</m:t>
                    </m:r>
                    <m:r>
                      <a:rPr lang="zh-CN" altLang="en-US" b="1" i="0">
                        <a:solidFill>
                          <a:schemeClr val="tx1"/>
                        </a:solidFill>
                        <a:latin typeface="Cambria Math" panose="02040503050406030204" pitchFamily="18" charset="0"/>
                      </a:rPr>
                      <m:t>∈</m:t>
                    </m:r>
                    <m:r>
                      <a:rPr lang="en-US" altLang="zh-CN" b="1" i="0">
                        <a:solidFill>
                          <a:schemeClr val="tx1"/>
                        </a:solidFill>
                        <a:latin typeface="Cambria Math" panose="02040503050406030204" pitchFamily="18" charset="0"/>
                      </a:rPr>
                      <m:t>𝓔</m:t>
                    </m:r>
                  </m:oMath>
                </a14:m>
                <a:r>
                  <a:rPr lang="zh-CN" altLang="en-US" b="1" i="0" dirty="0">
                    <a:solidFill>
                      <a:schemeClr val="tx1"/>
                    </a:solidFill>
                    <a:effectLst/>
                    <a:latin typeface="quote-cjk-patch"/>
                  </a:rPr>
                  <a:t> 以及所有 </a:t>
                </a:r>
                <a14:m>
                  <m:oMath xmlns:m="http://schemas.openxmlformats.org/officeDocument/2006/math">
                    <m:d>
                      <m:dPr>
                        <m:begChr m:val=""/>
                        <m:endChr m:val="⟩"/>
                        <m:ctrlPr>
                          <a:rPr lang="ar-AE" altLang="zh-CN" b="1" i="1">
                            <a:solidFill>
                              <a:schemeClr val="tx1"/>
                            </a:solidFill>
                            <a:latin typeface="Cambria Math" panose="02040503050406030204" pitchFamily="18" charset="0"/>
                          </a:rPr>
                        </m:ctrlPr>
                      </m:dPr>
                      <m:e>
                        <m:r>
                          <a:rPr lang="ar-AE" altLang="zh-CN" b="1">
                            <a:solidFill>
                              <a:schemeClr val="tx1"/>
                            </a:solidFill>
                            <a:latin typeface="Cambria Math" panose="02040503050406030204" pitchFamily="18" charset="0"/>
                          </a:rPr>
                          <m:t>∣</m:t>
                        </m:r>
                        <m:r>
                          <a:rPr lang="zh-CN" altLang="ar-AE" b="1" i="1">
                            <a:solidFill>
                              <a:schemeClr val="tx1"/>
                            </a:solidFill>
                            <a:latin typeface="Cambria Math" panose="02040503050406030204" pitchFamily="18" charset="0"/>
                          </a:rPr>
                          <m:t>𝝍</m:t>
                        </m:r>
                      </m:e>
                    </m:d>
                    <m:r>
                      <a:rPr lang="ar-AE" altLang="zh-CN" b="1" i="0">
                        <a:solidFill>
                          <a:schemeClr val="tx1"/>
                        </a:solidFill>
                        <a:latin typeface="Cambria Math" panose="02040503050406030204" pitchFamily="18" charset="0"/>
                      </a:rPr>
                      <m:t>∈</m:t>
                    </m:r>
                    <m:sSub>
                      <m:sSubPr>
                        <m:ctrlPr>
                          <a:rPr lang="ar-AE" altLang="zh-CN" b="1" i="1">
                            <a:solidFill>
                              <a:schemeClr val="tx1"/>
                            </a:solidFill>
                            <a:latin typeface="Cambria Math" panose="02040503050406030204" pitchFamily="18" charset="0"/>
                          </a:rPr>
                        </m:ctrlPr>
                      </m:sSubPr>
                      <m:e>
                        <m:r>
                          <a:rPr lang="ar-AE" altLang="zh-CN" b="1" i="0">
                            <a:solidFill>
                              <a:schemeClr val="tx1"/>
                            </a:solidFill>
                            <a:latin typeface="Cambria Math" panose="02040503050406030204" pitchFamily="18" charset="0"/>
                          </a:rPr>
                          <m:t>𝓗</m:t>
                        </m:r>
                      </m:e>
                      <m:sub>
                        <m:r>
                          <a:rPr lang="zh-CN" altLang="ar-AE" b="1" i="1">
                            <a:solidFill>
                              <a:schemeClr val="tx1"/>
                            </a:solidFill>
                            <a:latin typeface="Cambria Math" panose="02040503050406030204" pitchFamily="18" charset="0"/>
                          </a:rPr>
                          <m:t>𝑲</m:t>
                        </m:r>
                      </m:sub>
                    </m:sSub>
                  </m:oMath>
                </a14:m>
                <a:endParaRPr lang="en-US" altLang="zh-CN" b="1" dirty="0">
                  <a:solidFill>
                    <a:schemeClr val="tx1"/>
                  </a:solidFill>
                </a:endParaRPr>
              </a:p>
              <a:p>
                <a:endParaRPr lang="en-US" altLang="zh-CN" b="1" dirty="0"/>
              </a:p>
              <a:p>
                <a:r>
                  <a:rPr lang="zh-CN" altLang="en-US" b="1" dirty="0"/>
                  <a:t>如果 </a:t>
                </a:r>
                <a:r>
                  <a:rPr lang="en-US" altLang="zh-CN" b="1" dirty="0"/>
                  <a:t>ℰ </a:t>
                </a:r>
                <a:r>
                  <a:rPr lang="zh-CN" altLang="en-US" b="1" dirty="0"/>
                  <a:t>是所有 </a:t>
                </a:r>
                <a:r>
                  <a:rPr lang="en-US" altLang="zh-CN" b="1" dirty="0">
                    <a:solidFill>
                      <a:schemeClr val="accent2"/>
                    </a:solidFill>
                  </a:rPr>
                  <a:t>t </a:t>
                </a:r>
                <a:r>
                  <a:rPr lang="zh-CN" altLang="en-US" b="1" dirty="0"/>
                  <a:t>量子比特错误的集合，我们说 </a:t>
                </a:r>
                <a:r>
                  <a:rPr lang="en-US" altLang="zh-CN" b="1" dirty="0"/>
                  <a:t>U</a:t>
                </a:r>
                <a:r>
                  <a:rPr lang="zh-CN" altLang="en-US" b="1" dirty="0"/>
                  <a:t>是一个 </a:t>
                </a:r>
                <a:r>
                  <a:rPr lang="en-US" altLang="zh-CN" b="1" dirty="0">
                    <a:solidFill>
                      <a:schemeClr val="accent2"/>
                    </a:solidFill>
                  </a:rPr>
                  <a:t>t </a:t>
                </a:r>
                <a:r>
                  <a:rPr lang="zh-CN" altLang="en-US" b="1" dirty="0">
                    <a:solidFill>
                      <a:schemeClr val="accent2"/>
                    </a:solidFill>
                  </a:rPr>
                  <a:t>纠错码</a:t>
                </a:r>
                <a:r>
                  <a:rPr lang="zh-CN" altLang="en-US" b="1" dirty="0"/>
                  <a:t>，或者说它能纠正 </a:t>
                </a:r>
                <a:r>
                  <a:rPr lang="en-US" altLang="zh-CN" b="1" dirty="0">
                    <a:solidFill>
                      <a:schemeClr val="accent2"/>
                    </a:solidFill>
                  </a:rPr>
                  <a:t>t </a:t>
                </a:r>
                <a:r>
                  <a:rPr lang="zh-CN" altLang="en-US" b="1" dirty="0"/>
                  <a:t>个错误</a:t>
                </a:r>
                <a:endParaRPr lang="en-US" altLang="zh-CN" b="1" dirty="0"/>
              </a:p>
              <a:p>
                <a:endParaRPr lang="en-US" altLang="zh-CN" b="1" dirty="0">
                  <a:solidFill>
                    <a:schemeClr val="tx1"/>
                  </a:solidFill>
                </a:endParaRPr>
              </a:p>
              <a:p>
                <a:r>
                  <a:rPr lang="zh-CN" altLang="en-US" b="1" dirty="0"/>
                  <a:t>注意到我们之前讨论过直接测量是</a:t>
                </a:r>
                <a:r>
                  <a:rPr lang="zh-CN" altLang="en-US" b="1" dirty="0">
                    <a:solidFill>
                      <a:schemeClr val="accent2"/>
                    </a:solidFill>
                  </a:rPr>
                  <a:t>非幺正</a:t>
                </a:r>
                <a:r>
                  <a:rPr lang="zh-CN" altLang="en-US" b="1" dirty="0"/>
                  <a:t>的，五哦一我们需要进行</a:t>
                </a:r>
                <a:r>
                  <a:rPr lang="zh-CN" altLang="en-US" b="1" dirty="0">
                    <a:solidFill>
                      <a:schemeClr val="accent2"/>
                    </a:solidFill>
                  </a:rPr>
                  <a:t>纯化解码器</a:t>
                </a:r>
                <a:r>
                  <a:rPr lang="en-US" altLang="zh-CN" b="1" dirty="0">
                    <a:solidFill>
                      <a:schemeClr val="accent2"/>
                    </a:solidFill>
                  </a:rPr>
                  <a:t>(Stinespring dilation)</a:t>
                </a:r>
                <a:r>
                  <a:rPr lang="zh-CN" altLang="en-US" b="1" dirty="0">
                    <a:solidFill>
                      <a:schemeClr val="accent2"/>
                    </a:solidFill>
                  </a:rPr>
                  <a:t>，</a:t>
                </a:r>
                <a:r>
                  <a:rPr lang="zh-CN" altLang="en-US" b="1" dirty="0"/>
                  <a:t>本质就是任何量子操作都可以看成在一个</a:t>
                </a:r>
                <a:r>
                  <a:rPr lang="zh-CN" altLang="en-US" b="1" dirty="0">
                    <a:solidFill>
                      <a:schemeClr val="accent2"/>
                    </a:solidFill>
                  </a:rPr>
                  <a:t>更大</a:t>
                </a:r>
                <a:r>
                  <a:rPr lang="zh-CN" altLang="en-US" b="1" dirty="0"/>
                  <a:t>空间上的幺正操作，而实现的操作就是加上</a:t>
                </a:r>
                <a:r>
                  <a:rPr lang="zh-CN" altLang="en-US" b="1" dirty="0">
                    <a:solidFill>
                      <a:schemeClr val="accent2"/>
                    </a:solidFill>
                  </a:rPr>
                  <a:t>辅助比特</a:t>
                </a:r>
                <a:endParaRPr lang="en-US" altLang="zh-CN" b="1" dirty="0">
                  <a:solidFill>
                    <a:schemeClr val="accent2"/>
                  </a:solidFill>
                </a:endParaRPr>
              </a:p>
              <a:p>
                <a:endParaRPr lang="en-US" altLang="zh-CN" b="1" dirty="0">
                  <a:solidFill>
                    <a:schemeClr val="accent2"/>
                  </a:solidFill>
                </a:endParaRPr>
              </a:p>
              <a:p>
                <a:r>
                  <a:rPr lang="zh-CN" altLang="en-US" b="1" dirty="0">
                    <a:solidFill>
                      <a:schemeClr val="tx1"/>
                    </a:solidFill>
                  </a:rPr>
                  <a:t>注意有时候我们也会用</a:t>
                </a:r>
                <a14:m>
                  <m:oMath xmlns:m="http://schemas.openxmlformats.org/officeDocument/2006/math">
                    <m:d>
                      <m:dPr>
                        <m:sepChr m:val=","/>
                        <m:ctrlPr>
                          <a:rPr lang="ar-AE" altLang="zh-CN" b="1" i="1">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𝑸</m:t>
                        </m:r>
                      </m:e>
                      <m:e>
                        <m:r>
                          <a:rPr lang="ar-AE" altLang="zh-CN" b="1">
                            <a:solidFill>
                              <a:schemeClr val="tx1"/>
                            </a:solidFill>
                            <a:latin typeface="Cambria Math" panose="02040503050406030204" pitchFamily="18" charset="0"/>
                          </a:rPr>
                          <m:t>𝓔</m:t>
                        </m:r>
                      </m:e>
                    </m:d>
                    <m:r>
                      <a:rPr lang="zh-CN" altLang="en-US" b="1" i="1">
                        <a:solidFill>
                          <a:schemeClr val="tx1"/>
                        </a:solidFill>
                        <a:latin typeface="Cambria Math" panose="02040503050406030204" pitchFamily="18" charset="0"/>
                      </a:rPr>
                      <m:t>来</m:t>
                    </m:r>
                  </m:oMath>
                </a14:m>
                <a:r>
                  <a:rPr lang="zh-CN" altLang="en-US" b="1" dirty="0">
                    <a:solidFill>
                      <a:schemeClr val="tx1"/>
                    </a:solidFill>
                  </a:rPr>
                  <a:t>定义一个</a:t>
                </a:r>
                <a:r>
                  <a:rPr lang="en-US" altLang="zh-CN" b="1" dirty="0">
                    <a:solidFill>
                      <a:schemeClr val="tx1"/>
                    </a:solidFill>
                  </a:rPr>
                  <a:t>QEEC</a:t>
                </a:r>
                <a:r>
                  <a:rPr lang="zh-CN" altLang="en-US" b="1" dirty="0">
                    <a:solidFill>
                      <a:schemeClr val="tx1"/>
                    </a:solidFill>
                  </a:rPr>
                  <a:t>其中</a:t>
                </a:r>
                <a:r>
                  <a:rPr lang="en-US" altLang="zh-CN" b="1" dirty="0">
                    <a:solidFill>
                      <a:schemeClr val="tx1"/>
                    </a:solidFill>
                  </a:rPr>
                  <a:t>Q</a:t>
                </a:r>
                <a:r>
                  <a:rPr lang="zh-CN" altLang="en-US" b="1" dirty="0">
                    <a:solidFill>
                      <a:schemeClr val="tx1"/>
                    </a:solidFill>
                  </a:rPr>
                  <a:t>代表的是</a:t>
                </a:r>
                <a:r>
                  <a:rPr lang="en-US" altLang="zh-CN" b="1" dirty="0">
                    <a:solidFill>
                      <a:schemeClr val="tx1"/>
                    </a:solidFill>
                  </a:rPr>
                  <a:t>Image(U)</a:t>
                </a:r>
                <a:r>
                  <a:rPr lang="zh-CN" altLang="en-US" b="1" dirty="0">
                    <a:solidFill>
                      <a:schemeClr val="tx1"/>
                    </a:solidFill>
                  </a:rPr>
                  <a:t>，即态的集合</a:t>
                </a:r>
              </a:p>
            </p:txBody>
          </p:sp>
        </mc:Choice>
        <mc:Fallback xmlns="">
          <p:sp>
            <p:nvSpPr>
              <p:cNvPr id="16" name="文本框 15">
                <a:extLst>
                  <a:ext uri="{FF2B5EF4-FFF2-40B4-BE49-F238E27FC236}">
                    <a16:creationId xmlns:a16="http://schemas.microsoft.com/office/drawing/2014/main" id="{DEF3A509-C3E0-540B-6797-60334708A2A0}"/>
                  </a:ext>
                </a:extLst>
              </p:cNvPr>
              <p:cNvSpPr txBox="1">
                <a:spLocks noRot="1" noChangeAspect="1" noMove="1" noResize="1" noEditPoints="1" noAdjustHandles="1" noChangeArrowheads="1" noChangeShapeType="1" noTextEdit="1"/>
              </p:cNvSpPr>
              <p:nvPr/>
            </p:nvSpPr>
            <p:spPr>
              <a:xfrm>
                <a:off x="402274" y="2133681"/>
                <a:ext cx="6995476" cy="4801314"/>
              </a:xfrm>
              <a:prstGeom prst="rect">
                <a:avLst/>
              </a:prstGeom>
              <a:blipFill>
                <a:blip r:embed="rId4"/>
                <a:stretch>
                  <a:fillRect l="-784" t="-635" r="-87" b="-1015"/>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5D8A05A7-BB72-C02D-50DC-629D4AE19594}"/>
              </a:ext>
            </a:extLst>
          </p:cNvPr>
          <p:cNvPicPr>
            <a:picLocks noChangeAspect="1"/>
          </p:cNvPicPr>
          <p:nvPr/>
        </p:nvPicPr>
        <p:blipFill>
          <a:blip r:embed="rId5"/>
          <a:stretch>
            <a:fillRect/>
          </a:stretch>
        </p:blipFill>
        <p:spPr>
          <a:xfrm>
            <a:off x="7659735" y="4494812"/>
            <a:ext cx="4409650" cy="430572"/>
          </a:xfrm>
          <a:prstGeom prst="rect">
            <a:avLst/>
          </a:prstGeom>
        </p:spPr>
      </p:pic>
      <p:sp>
        <p:nvSpPr>
          <p:cNvPr id="21" name="箭头: 下 20">
            <a:extLst>
              <a:ext uri="{FF2B5EF4-FFF2-40B4-BE49-F238E27FC236}">
                <a16:creationId xmlns:a16="http://schemas.microsoft.com/office/drawing/2014/main" id="{2BDBCFEF-BA8F-13C9-5D06-72C74DEFFAEB}"/>
              </a:ext>
            </a:extLst>
          </p:cNvPr>
          <p:cNvSpPr/>
          <p:nvPr/>
        </p:nvSpPr>
        <p:spPr>
          <a:xfrm>
            <a:off x="9642763" y="3040083"/>
            <a:ext cx="439387" cy="1021278"/>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B5C0FDF8-7332-7BAE-5872-434A3C6B6FB4}"/>
              </a:ext>
            </a:extLst>
          </p:cNvPr>
          <p:cNvPicPr>
            <a:picLocks noChangeAspect="1"/>
          </p:cNvPicPr>
          <p:nvPr/>
        </p:nvPicPr>
        <p:blipFill>
          <a:blip r:embed="rId6"/>
          <a:stretch>
            <a:fillRect/>
          </a:stretch>
        </p:blipFill>
        <p:spPr>
          <a:xfrm>
            <a:off x="7952756" y="3410109"/>
            <a:ext cx="1606633" cy="215911"/>
          </a:xfrm>
          <a:prstGeom prst="rect">
            <a:avLst/>
          </a:prstGeom>
        </p:spPr>
      </p:pic>
      <p:pic>
        <p:nvPicPr>
          <p:cNvPr id="26" name="图片 25">
            <a:extLst>
              <a:ext uri="{FF2B5EF4-FFF2-40B4-BE49-F238E27FC236}">
                <a16:creationId xmlns:a16="http://schemas.microsoft.com/office/drawing/2014/main" id="{808A6F12-21DC-DE4A-724D-AA82DB6618E4}"/>
              </a:ext>
            </a:extLst>
          </p:cNvPr>
          <p:cNvPicPr>
            <a:picLocks noChangeAspect="1"/>
          </p:cNvPicPr>
          <p:nvPr/>
        </p:nvPicPr>
        <p:blipFill>
          <a:blip r:embed="rId7"/>
          <a:stretch>
            <a:fillRect/>
          </a:stretch>
        </p:blipFill>
        <p:spPr>
          <a:xfrm>
            <a:off x="7852874" y="5128520"/>
            <a:ext cx="1914581" cy="203959"/>
          </a:xfrm>
          <a:prstGeom prst="rect">
            <a:avLst/>
          </a:prstGeom>
        </p:spPr>
      </p:pic>
    </p:spTree>
    <p:extLst>
      <p:ext uri="{BB962C8B-B14F-4D97-AF65-F5344CB8AC3E}">
        <p14:creationId xmlns:p14="http://schemas.microsoft.com/office/powerpoint/2010/main" val="2445306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6B17D-4175-9405-80BC-CF865344E3D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51BA56D-D346-2E6A-151B-74BF1488558B}"/>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29D52DBC-DCAE-2B46-203C-8E714B3919BE}"/>
              </a:ext>
            </a:extLst>
          </p:cNvPr>
          <p:cNvCxnSpPr/>
          <p:nvPr/>
        </p:nvCxnSpPr>
        <p:spPr>
          <a:xfrm>
            <a:off x="4352291"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EEAA1FF7-2F44-E401-C41D-F79480E551BF}"/>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4.1 </a:t>
            </a:r>
            <a:r>
              <a:rPr lang="zh-CN" altLang="en-US" sz="2200" b="1" dirty="0">
                <a:solidFill>
                  <a:srgbClr val="555555"/>
                </a:solidFill>
                <a:latin typeface="Noto Sans SC"/>
                <a:ea typeface="Noto Sans SC"/>
                <a:cs typeface="Noto Sans SC"/>
                <a:sym typeface="Noto Sans SC"/>
              </a:rPr>
              <a:t>量子纠错码的定义</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6" name="文本框 15">
            <a:extLst>
              <a:ext uri="{FF2B5EF4-FFF2-40B4-BE49-F238E27FC236}">
                <a16:creationId xmlns:a16="http://schemas.microsoft.com/office/drawing/2014/main" id="{C90E56BA-28CC-1693-A906-C82F086349DC}"/>
              </a:ext>
            </a:extLst>
          </p:cNvPr>
          <p:cNvSpPr txBox="1"/>
          <p:nvPr/>
        </p:nvSpPr>
        <p:spPr>
          <a:xfrm>
            <a:off x="351805" y="2437987"/>
            <a:ext cx="3804558" cy="3416320"/>
          </a:xfrm>
          <a:prstGeom prst="rect">
            <a:avLst/>
          </a:prstGeom>
          <a:noFill/>
        </p:spPr>
        <p:txBody>
          <a:bodyPr wrap="square">
            <a:spAutoFit/>
          </a:bodyPr>
          <a:lstStyle/>
          <a:p>
            <a:r>
              <a:rPr lang="zh-CN" altLang="en-US" b="1" dirty="0">
                <a:latin typeface="quote-cjk-patch"/>
              </a:rPr>
              <a:t>命题</a:t>
            </a:r>
            <a:endParaRPr lang="en-US" altLang="zh-CN" b="1" dirty="0">
              <a:latin typeface="quote-cjk-patch"/>
            </a:endParaRPr>
          </a:p>
          <a:p>
            <a:endParaRPr lang="en-US" altLang="zh-CN" b="1" i="0" dirty="0">
              <a:solidFill>
                <a:schemeClr val="tx1"/>
              </a:solidFill>
              <a:effectLst/>
              <a:latin typeface="quote-cjk-patch"/>
            </a:endParaRPr>
          </a:p>
          <a:p>
            <a:r>
              <a:rPr lang="en-US" altLang="zh-CN" b="1" i="0" dirty="0">
                <a:solidFill>
                  <a:schemeClr val="tx1"/>
                </a:solidFill>
                <a:effectLst/>
                <a:latin typeface="quote-cjk-patch"/>
              </a:rPr>
              <a:t>  </a:t>
            </a:r>
            <a:r>
              <a:rPr lang="zh-CN" altLang="en-US" b="1" dirty="0">
                <a:latin typeface="quote-cjk-patch"/>
              </a:rPr>
              <a:t> 在定义 </a:t>
            </a:r>
            <a:r>
              <a:rPr lang="en-US" altLang="zh-CN" b="1" dirty="0">
                <a:latin typeface="quote-cjk-patch"/>
              </a:rPr>
              <a:t>1 </a:t>
            </a:r>
            <a:r>
              <a:rPr lang="zh-CN" altLang="en-US" b="1" dirty="0">
                <a:latin typeface="quote-cjk-patch"/>
              </a:rPr>
              <a:t>中，</a:t>
            </a:r>
            <a:r>
              <a:rPr lang="en-US" altLang="zh-CN" b="1" dirty="0">
                <a:latin typeface="quote-cjk-patch"/>
              </a:rPr>
              <a:t>c(</a:t>
            </a:r>
            <a:r>
              <a:rPr lang="en-US" altLang="zh-CN" b="1" dirty="0" err="1">
                <a:latin typeface="quote-cjk-patch"/>
              </a:rPr>
              <a:t>E,|ψ</a:t>
            </a:r>
            <a:r>
              <a:rPr lang="en-US" altLang="zh-CN" b="1" dirty="0">
                <a:latin typeface="quote-cjk-patch"/>
              </a:rPr>
              <a:t>⟩) </a:t>
            </a:r>
            <a:r>
              <a:rPr lang="zh-CN" altLang="en-US" b="1" dirty="0">
                <a:latin typeface="quote-cjk-patch"/>
              </a:rPr>
              <a:t>与 </a:t>
            </a:r>
            <a:r>
              <a:rPr lang="en-US" altLang="zh-CN" b="1" dirty="0">
                <a:latin typeface="quote-cjk-patch"/>
              </a:rPr>
              <a:t>|ψ⟩ </a:t>
            </a:r>
            <a:r>
              <a:rPr lang="zh-CN" altLang="en-US" b="1" dirty="0">
                <a:solidFill>
                  <a:schemeClr val="accent2"/>
                </a:solidFill>
                <a:latin typeface="quote-cjk-patch"/>
              </a:rPr>
              <a:t>无关</a:t>
            </a:r>
            <a:r>
              <a:rPr lang="zh-CN" altLang="en-US" b="1" dirty="0">
                <a:latin typeface="quote-cjk-patch"/>
              </a:rPr>
              <a:t>，当我们纯化解码器时，</a:t>
            </a:r>
            <a:r>
              <a:rPr lang="en-US" altLang="zh-CN" b="1" dirty="0">
                <a:latin typeface="quote-cjk-patch"/>
              </a:rPr>
              <a:t>|A(</a:t>
            </a:r>
            <a:r>
              <a:rPr lang="en-US" altLang="zh-CN" b="1" dirty="0" err="1">
                <a:latin typeface="quote-cjk-patch"/>
              </a:rPr>
              <a:t>E,|ψ</a:t>
            </a:r>
            <a:r>
              <a:rPr lang="en-US" altLang="zh-CN" b="1" dirty="0">
                <a:latin typeface="quote-cjk-patch"/>
              </a:rPr>
              <a:t>⟩)⟩ </a:t>
            </a:r>
            <a:r>
              <a:rPr lang="zh-CN" altLang="en-US" b="1" dirty="0">
                <a:latin typeface="quote-cjk-patch"/>
              </a:rPr>
              <a:t>也是如此。</a:t>
            </a:r>
            <a:endParaRPr lang="en-US" altLang="zh-CN" b="1" dirty="0">
              <a:latin typeface="quote-cjk-patch"/>
            </a:endParaRPr>
          </a:p>
          <a:p>
            <a:endParaRPr lang="en-US" altLang="zh-CN" b="1" i="0" dirty="0">
              <a:solidFill>
                <a:schemeClr val="tx1"/>
              </a:solidFill>
              <a:effectLst/>
              <a:latin typeface="quote-cjk-patch"/>
            </a:endParaRPr>
          </a:p>
          <a:p>
            <a:r>
              <a:rPr lang="zh-CN" altLang="en-US" b="1" i="0" dirty="0">
                <a:solidFill>
                  <a:schemeClr val="tx1"/>
                </a:solidFill>
                <a:effectLst/>
                <a:latin typeface="quote-cjk-patch"/>
              </a:rPr>
              <a:t>物理意义</a:t>
            </a:r>
            <a:endParaRPr lang="en-US" altLang="zh-CN" b="1" i="0" dirty="0">
              <a:solidFill>
                <a:schemeClr val="tx1"/>
              </a:solidFill>
              <a:effectLst/>
              <a:latin typeface="quote-cjk-patch"/>
            </a:endParaRPr>
          </a:p>
          <a:p>
            <a:endParaRPr lang="en-US" altLang="zh-CN" b="1" dirty="0">
              <a:latin typeface="quote-cjk-patch"/>
            </a:endParaRPr>
          </a:p>
          <a:p>
            <a:r>
              <a:rPr lang="zh-CN" altLang="en-US" b="1" dirty="0">
                <a:latin typeface="quote-cjk-patch"/>
              </a:rPr>
              <a:t>  为了在解码器输出中</a:t>
            </a:r>
            <a:r>
              <a:rPr lang="zh-CN" altLang="en-US" b="1" dirty="0">
                <a:solidFill>
                  <a:schemeClr val="accent2"/>
                </a:solidFill>
                <a:latin typeface="quote-cjk-patch"/>
              </a:rPr>
              <a:t>保持相干叠加</a:t>
            </a:r>
            <a:r>
              <a:rPr lang="zh-CN" altLang="en-US" b="1" dirty="0">
                <a:latin typeface="quote-cjk-patch"/>
              </a:rPr>
              <a:t>，辅助系统中</a:t>
            </a:r>
            <a:r>
              <a:rPr lang="zh-CN" altLang="en-US" b="1" dirty="0">
                <a:solidFill>
                  <a:schemeClr val="accent2"/>
                </a:solidFill>
                <a:latin typeface="quote-cjk-patch"/>
              </a:rPr>
              <a:t>不能留下</a:t>
            </a:r>
            <a:r>
              <a:rPr lang="zh-CN" altLang="en-US" b="1" dirty="0">
                <a:latin typeface="quote-cjk-patch"/>
              </a:rPr>
              <a:t>关于编码状态的任何信息</a:t>
            </a:r>
            <a:endParaRPr lang="en-US" altLang="zh-CN" b="1" i="0" dirty="0">
              <a:solidFill>
                <a:schemeClr val="tx1"/>
              </a:solidFill>
              <a:effectLst/>
              <a:latin typeface="quote-cjk-patch"/>
            </a:endParaRPr>
          </a:p>
          <a:p>
            <a:r>
              <a:rPr lang="en-US" altLang="zh-CN" b="1" dirty="0">
                <a:latin typeface="quote-cjk-patch"/>
              </a:rPr>
              <a:t>  </a:t>
            </a:r>
            <a:endParaRPr lang="zh-CN" altLang="en-US" b="1" dirty="0">
              <a:solidFill>
                <a:schemeClr val="accent2"/>
              </a:solidFill>
            </a:endParaRPr>
          </a:p>
        </p:txBody>
      </p:sp>
      <p:pic>
        <p:nvPicPr>
          <p:cNvPr id="5" name="图片 4">
            <a:extLst>
              <a:ext uri="{FF2B5EF4-FFF2-40B4-BE49-F238E27FC236}">
                <a16:creationId xmlns:a16="http://schemas.microsoft.com/office/drawing/2014/main" id="{AFEA344A-5002-60D1-A7F8-0458E60AB9E5}"/>
              </a:ext>
            </a:extLst>
          </p:cNvPr>
          <p:cNvPicPr>
            <a:picLocks noChangeAspect="1"/>
          </p:cNvPicPr>
          <p:nvPr/>
        </p:nvPicPr>
        <p:blipFill>
          <a:blip r:embed="rId3"/>
          <a:stretch>
            <a:fillRect/>
          </a:stretch>
        </p:blipFill>
        <p:spPr>
          <a:xfrm>
            <a:off x="6300010" y="1009404"/>
            <a:ext cx="4409650" cy="430572"/>
          </a:xfrm>
          <a:prstGeom prst="rect">
            <a:avLst/>
          </a:prstGeom>
        </p:spPr>
      </p:pic>
      <p:pic>
        <p:nvPicPr>
          <p:cNvPr id="7" name="图片 6">
            <a:extLst>
              <a:ext uri="{FF2B5EF4-FFF2-40B4-BE49-F238E27FC236}">
                <a16:creationId xmlns:a16="http://schemas.microsoft.com/office/drawing/2014/main" id="{EDA83995-81F7-4CE7-7C8D-F286CBD64AB9}"/>
              </a:ext>
            </a:extLst>
          </p:cNvPr>
          <p:cNvPicPr>
            <a:picLocks noChangeAspect="1"/>
          </p:cNvPicPr>
          <p:nvPr/>
        </p:nvPicPr>
        <p:blipFill>
          <a:blip r:embed="rId4"/>
          <a:stretch>
            <a:fillRect/>
          </a:stretch>
        </p:blipFill>
        <p:spPr>
          <a:xfrm>
            <a:off x="6848145" y="2363338"/>
            <a:ext cx="3257717" cy="635033"/>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5B0A714-CF05-A97B-C505-7C6D837A001F}"/>
                  </a:ext>
                </a:extLst>
              </p:cNvPr>
              <p:cNvSpPr txBox="1"/>
              <p:nvPr/>
            </p:nvSpPr>
            <p:spPr>
              <a:xfrm>
                <a:off x="4634345" y="1828799"/>
                <a:ext cx="9922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solidFill>
                          <a:latin typeface="Cambria Math" panose="02040503050406030204" pitchFamily="18" charset="0"/>
                        </a:rPr>
                        <m:t>𝑷</m:t>
                      </m:r>
                      <m:r>
                        <a:rPr lang="en-US" altLang="zh-CN" sz="2400" b="1" i="1">
                          <a:solidFill>
                            <a:schemeClr val="accent2"/>
                          </a:solidFill>
                          <a:latin typeface="Cambria Math" panose="02040503050406030204" pitchFamily="18" charset="0"/>
                        </a:rPr>
                        <m:t>𝒓𝒐𝒐𝒇</m:t>
                      </m:r>
                    </m:oMath>
                  </m:oMathPara>
                </a14:m>
                <a:endParaRPr lang="zh-CN" altLang="en-US" sz="2400" b="1" i="1" dirty="0">
                  <a:latin typeface="Brush Script MT" panose="03060802040406070304" pitchFamily="66" charset="0"/>
                </a:endParaRPr>
              </a:p>
            </p:txBody>
          </p:sp>
        </mc:Choice>
        <mc:Fallback xmlns="">
          <p:sp>
            <p:nvSpPr>
              <p:cNvPr id="9" name="文本框 8">
                <a:extLst>
                  <a:ext uri="{FF2B5EF4-FFF2-40B4-BE49-F238E27FC236}">
                    <a16:creationId xmlns:a16="http://schemas.microsoft.com/office/drawing/2014/main" id="{F5B0A714-CF05-A97B-C505-7C6D837A001F}"/>
                  </a:ext>
                </a:extLst>
              </p:cNvPr>
              <p:cNvSpPr txBox="1">
                <a:spLocks noRot="1" noChangeAspect="1" noMove="1" noResize="1" noEditPoints="1" noAdjustHandles="1" noChangeArrowheads="1" noChangeShapeType="1" noTextEdit="1"/>
              </p:cNvSpPr>
              <p:nvPr/>
            </p:nvSpPr>
            <p:spPr>
              <a:xfrm>
                <a:off x="4634345" y="1828799"/>
                <a:ext cx="992259" cy="369332"/>
              </a:xfrm>
              <a:prstGeom prst="rect">
                <a:avLst/>
              </a:prstGeom>
              <a:blipFill>
                <a:blip r:embed="rId5"/>
                <a:stretch>
                  <a:fillRect l="-5521" t="-3279" r="-9816" b="-29508"/>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62637885-281C-976E-6C13-B39B71AE05FD}"/>
              </a:ext>
            </a:extLst>
          </p:cNvPr>
          <p:cNvPicPr>
            <a:picLocks noChangeAspect="1"/>
          </p:cNvPicPr>
          <p:nvPr/>
        </p:nvPicPr>
        <p:blipFill>
          <a:blip r:embed="rId6"/>
          <a:stretch>
            <a:fillRect/>
          </a:stretch>
        </p:blipFill>
        <p:spPr>
          <a:xfrm>
            <a:off x="5350705" y="3652922"/>
            <a:ext cx="6216970" cy="692186"/>
          </a:xfrm>
          <a:prstGeom prst="rect">
            <a:avLst/>
          </a:prstGeom>
        </p:spPr>
      </p:pic>
      <p:sp>
        <p:nvSpPr>
          <p:cNvPr id="12" name="箭头: 下 11">
            <a:extLst>
              <a:ext uri="{FF2B5EF4-FFF2-40B4-BE49-F238E27FC236}">
                <a16:creationId xmlns:a16="http://schemas.microsoft.com/office/drawing/2014/main" id="{CBAF8A1A-949A-6542-C8E9-0F4E487C9DAE}"/>
              </a:ext>
            </a:extLst>
          </p:cNvPr>
          <p:cNvSpPr/>
          <p:nvPr/>
        </p:nvSpPr>
        <p:spPr>
          <a:xfrm>
            <a:off x="8330540" y="3182587"/>
            <a:ext cx="439387" cy="374073"/>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ED0DFDDE-5470-8F82-A5ED-C4589DA4DDF7}"/>
              </a:ext>
            </a:extLst>
          </p:cNvPr>
          <p:cNvPicPr>
            <a:picLocks noChangeAspect="1"/>
          </p:cNvPicPr>
          <p:nvPr/>
        </p:nvPicPr>
        <p:blipFill>
          <a:blip r:embed="rId7"/>
          <a:stretch>
            <a:fillRect/>
          </a:stretch>
        </p:blipFill>
        <p:spPr>
          <a:xfrm>
            <a:off x="6523291" y="4886719"/>
            <a:ext cx="3753043" cy="730288"/>
          </a:xfrm>
          <a:prstGeom prst="rect">
            <a:avLst/>
          </a:prstGeom>
        </p:spPr>
      </p:pic>
      <p:sp>
        <p:nvSpPr>
          <p:cNvPr id="22" name="箭头: 下 21">
            <a:extLst>
              <a:ext uri="{FF2B5EF4-FFF2-40B4-BE49-F238E27FC236}">
                <a16:creationId xmlns:a16="http://schemas.microsoft.com/office/drawing/2014/main" id="{A075E893-77E9-EE79-29A9-4BDD9506E99E}"/>
              </a:ext>
            </a:extLst>
          </p:cNvPr>
          <p:cNvSpPr/>
          <p:nvPr/>
        </p:nvSpPr>
        <p:spPr>
          <a:xfrm>
            <a:off x="8334498" y="4463142"/>
            <a:ext cx="439387" cy="374073"/>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93290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F982-992A-1326-DE6E-D86EF8E41CF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68E0BAD-8393-BACC-0E52-C6EE5204FF84}"/>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7B4AEFE8-A529-751F-3AF4-ED5E8FA5063A}"/>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BA0F4CA1-1039-A62F-4E56-EFFF3E5C1481}"/>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4.1 </a:t>
            </a:r>
            <a:r>
              <a:rPr lang="zh-CN" altLang="en-US" sz="2200" b="1" dirty="0">
                <a:solidFill>
                  <a:srgbClr val="555555"/>
                </a:solidFill>
                <a:latin typeface="Noto Sans SC"/>
                <a:ea typeface="Noto Sans SC"/>
                <a:cs typeface="Noto Sans SC"/>
                <a:sym typeface="Noto Sans SC"/>
              </a:rPr>
              <a:t>量子纠错码的定义</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6" name="文本框 15">
            <a:extLst>
              <a:ext uri="{FF2B5EF4-FFF2-40B4-BE49-F238E27FC236}">
                <a16:creationId xmlns:a16="http://schemas.microsoft.com/office/drawing/2014/main" id="{00CA4B4A-823C-CBE9-3E73-71575D81C1C1}"/>
              </a:ext>
            </a:extLst>
          </p:cNvPr>
          <p:cNvSpPr txBox="1"/>
          <p:nvPr/>
        </p:nvSpPr>
        <p:spPr>
          <a:xfrm>
            <a:off x="455261" y="2344871"/>
            <a:ext cx="6950773" cy="3139321"/>
          </a:xfrm>
          <a:prstGeom prst="rect">
            <a:avLst/>
          </a:prstGeom>
          <a:noFill/>
        </p:spPr>
        <p:txBody>
          <a:bodyPr wrap="square">
            <a:spAutoFit/>
          </a:bodyPr>
          <a:lstStyle/>
          <a:p>
            <a:r>
              <a:rPr lang="zh-CN" altLang="en-US" b="1" dirty="0">
                <a:latin typeface="quote-cjk-patch"/>
              </a:rPr>
              <a:t>注意点</a:t>
            </a:r>
            <a:endParaRPr lang="en-US" altLang="zh-CN" b="1" dirty="0">
              <a:latin typeface="quote-cjk-patch"/>
            </a:endParaRPr>
          </a:p>
          <a:p>
            <a:endParaRPr lang="en-US" altLang="zh-CN" b="1" dirty="0">
              <a:latin typeface="quote-cjk-patch"/>
            </a:endParaRPr>
          </a:p>
          <a:p>
            <a:r>
              <a:rPr lang="en-US" altLang="zh-CN" b="1" dirty="0"/>
              <a:t>1. </a:t>
            </a:r>
            <a:r>
              <a:rPr lang="en-US" altLang="zh-CN" b="1" i="1" dirty="0"/>
              <a:t>ℰ  </a:t>
            </a:r>
            <a:r>
              <a:rPr lang="zh-CN" altLang="en-US" b="1" dirty="0"/>
              <a:t>不是</a:t>
            </a:r>
            <a:r>
              <a:rPr lang="zh-CN" altLang="en-US" b="1" dirty="0">
                <a:solidFill>
                  <a:schemeClr val="accent2"/>
                </a:solidFill>
              </a:rPr>
              <a:t>唯一</a:t>
            </a:r>
            <a:r>
              <a:rPr lang="zh-CN" altLang="en-US" b="1" dirty="0"/>
              <a:t>的，正因如此我们将其作为定义的一部分</a:t>
            </a:r>
            <a:endParaRPr lang="en-US" altLang="zh-CN" b="1" dirty="0"/>
          </a:p>
          <a:p>
            <a:r>
              <a:rPr lang="en-US" altLang="zh-CN" b="1" dirty="0">
                <a:latin typeface="quote-cjk-patch"/>
              </a:rPr>
              <a:t>     </a:t>
            </a:r>
            <a:r>
              <a:rPr lang="zh-CN" altLang="en-US" b="1" dirty="0">
                <a:latin typeface="quote-cjk-patch"/>
              </a:rPr>
              <a:t>且 </a:t>
            </a:r>
            <a:r>
              <a:rPr lang="en-US" altLang="zh-CN" b="1" i="1" dirty="0"/>
              <a:t>ℰ </a:t>
            </a:r>
            <a:r>
              <a:rPr lang="zh-CN" altLang="en-US" b="1" i="1" dirty="0"/>
              <a:t> </a:t>
            </a:r>
            <a:r>
              <a:rPr lang="zh-CN" altLang="en-US" b="1" dirty="0"/>
              <a:t>中</a:t>
            </a:r>
            <a:r>
              <a:rPr lang="zh-CN" altLang="en-US" b="1" dirty="0">
                <a:solidFill>
                  <a:schemeClr val="accent2"/>
                </a:solidFill>
              </a:rPr>
              <a:t>不能放入</a:t>
            </a:r>
            <a:r>
              <a:rPr lang="en-US" altLang="zh-CN" b="1" dirty="0" err="1">
                <a:solidFill>
                  <a:schemeClr val="accent2"/>
                </a:solidFill>
              </a:rPr>
              <a:t>syndorme</a:t>
            </a:r>
            <a:r>
              <a:rPr lang="zh-CN" altLang="en-US" b="1" dirty="0">
                <a:solidFill>
                  <a:schemeClr val="accent2"/>
                </a:solidFill>
              </a:rPr>
              <a:t>相同的错误</a:t>
            </a:r>
            <a:endParaRPr lang="en-US" altLang="zh-CN" b="1" dirty="0">
              <a:solidFill>
                <a:schemeClr val="accent2"/>
              </a:solidFill>
              <a:latin typeface="quote-cjk-patch"/>
            </a:endParaRPr>
          </a:p>
          <a:p>
            <a:r>
              <a:rPr lang="en-US" altLang="zh-CN" b="1" i="0" dirty="0">
                <a:solidFill>
                  <a:schemeClr val="tx1"/>
                </a:solidFill>
                <a:effectLst/>
                <a:latin typeface="quote-cjk-patch"/>
              </a:rPr>
              <a:t>2. </a:t>
            </a:r>
            <a:r>
              <a:rPr lang="zh-CN" altLang="en-US" b="1" i="1" dirty="0"/>
              <a:t>𝒟  </a:t>
            </a:r>
            <a:r>
              <a:rPr lang="zh-CN" altLang="en-US" b="1" dirty="0"/>
              <a:t>在 </a:t>
            </a:r>
            <a:r>
              <a:rPr lang="en-US" altLang="zh-CN" b="1" dirty="0">
                <a:solidFill>
                  <a:schemeClr val="accent2"/>
                </a:solidFill>
              </a:rPr>
              <a:t>ℰ </a:t>
            </a:r>
            <a:r>
              <a:rPr lang="zh-CN" altLang="en-US" b="1" dirty="0">
                <a:solidFill>
                  <a:schemeClr val="accent2"/>
                </a:solidFill>
              </a:rPr>
              <a:t>导致的错误子空间</a:t>
            </a:r>
            <a:r>
              <a:rPr lang="zh-CN" altLang="en-US" b="1" dirty="0"/>
              <a:t>上所产生的行为是</a:t>
            </a:r>
            <a:r>
              <a:rPr lang="zh-CN" altLang="en-US" b="1" dirty="0">
                <a:solidFill>
                  <a:schemeClr val="accent2"/>
                </a:solidFill>
              </a:rPr>
              <a:t>唯一</a:t>
            </a:r>
            <a:r>
              <a:rPr lang="zh-CN" altLang="en-US" b="1" dirty="0"/>
              <a:t>的，但在该子空间</a:t>
            </a:r>
            <a:r>
              <a:rPr lang="zh-CN" altLang="en-US" b="1" dirty="0">
                <a:solidFill>
                  <a:schemeClr val="accent2"/>
                </a:solidFill>
              </a:rPr>
              <a:t>外</a:t>
            </a:r>
            <a:r>
              <a:rPr lang="zh-CN" altLang="en-US" b="1" dirty="0"/>
              <a:t>，</a:t>
            </a:r>
            <a:r>
              <a:rPr lang="zh-CN" altLang="en-US" b="1" dirty="0">
                <a:solidFill>
                  <a:schemeClr val="accent2"/>
                </a:solidFill>
              </a:rPr>
              <a:t>并不唯一</a:t>
            </a:r>
            <a:r>
              <a:rPr lang="zh-CN" altLang="en-US" b="1" dirty="0"/>
              <a:t>，且也是我们需要考虑的</a:t>
            </a:r>
            <a:endParaRPr lang="en-US" altLang="zh-CN" b="1" dirty="0"/>
          </a:p>
          <a:p>
            <a:r>
              <a:rPr lang="en-US" altLang="zh-CN" b="1" dirty="0">
                <a:latin typeface="quote-cjk-patch"/>
              </a:rPr>
              <a:t>  </a:t>
            </a:r>
            <a:r>
              <a:rPr lang="zh-CN" altLang="en-US" b="1" dirty="0">
                <a:latin typeface="quote-cjk-patch"/>
              </a:rPr>
              <a:t>原因</a:t>
            </a:r>
            <a:r>
              <a:rPr lang="en-US" altLang="zh-CN" b="1" dirty="0">
                <a:latin typeface="quote-cjk-patch"/>
              </a:rPr>
              <a:t> </a:t>
            </a:r>
          </a:p>
          <a:p>
            <a:r>
              <a:rPr lang="en-US" altLang="zh-CN" b="1" i="1" dirty="0">
                <a:latin typeface="quote-cjk-patch"/>
              </a:rPr>
              <a:t>    </a:t>
            </a:r>
            <a:r>
              <a:rPr lang="zh-CN" altLang="en-US" b="1" i="1" dirty="0"/>
              <a:t>𝒟 </a:t>
            </a:r>
            <a:r>
              <a:rPr lang="zh-CN" altLang="en-US" b="1" dirty="0"/>
              <a:t>本身会</a:t>
            </a:r>
            <a:r>
              <a:rPr lang="zh-CN" altLang="en-US" b="1" dirty="0">
                <a:solidFill>
                  <a:schemeClr val="accent2"/>
                </a:solidFill>
              </a:rPr>
              <a:t>出错</a:t>
            </a:r>
            <a:r>
              <a:rPr lang="zh-CN" altLang="en-US" b="1" dirty="0"/>
              <a:t>，所以确保</a:t>
            </a:r>
            <a:r>
              <a:rPr lang="en-US" altLang="zh-CN" b="1" dirty="0">
                <a:latin typeface="quote-cjk-patch"/>
              </a:rPr>
              <a:t> </a:t>
            </a:r>
            <a:r>
              <a:rPr lang="en-US" altLang="zh-CN" b="1" dirty="0">
                <a:solidFill>
                  <a:schemeClr val="accent2"/>
                </a:solidFill>
              </a:rPr>
              <a:t>ℰ </a:t>
            </a:r>
            <a:r>
              <a:rPr lang="zh-CN" altLang="en-US" b="1" dirty="0"/>
              <a:t>外的操作不会有糟糕影响</a:t>
            </a:r>
            <a:r>
              <a:rPr lang="en-US" altLang="zh-CN" b="1" dirty="0"/>
              <a:t>(</a:t>
            </a:r>
            <a:r>
              <a:rPr lang="zh-CN" altLang="en-US" b="1" dirty="0"/>
              <a:t>导致新的错误</a:t>
            </a:r>
            <a:r>
              <a:rPr lang="en-US" altLang="zh-CN" b="1" dirty="0"/>
              <a:t>)</a:t>
            </a:r>
            <a:r>
              <a:rPr lang="zh-CN" altLang="en-US" b="1" dirty="0"/>
              <a:t>很重要</a:t>
            </a:r>
            <a:r>
              <a:rPr lang="en-US" altLang="zh-CN" b="1" dirty="0"/>
              <a:t>(</a:t>
            </a:r>
            <a:r>
              <a:rPr lang="zh-CN" altLang="en-US" b="1" dirty="0"/>
              <a:t>容错</a:t>
            </a:r>
            <a:r>
              <a:rPr lang="en-US" altLang="zh-CN" b="1" dirty="0"/>
              <a:t>)</a:t>
            </a:r>
            <a:r>
              <a:rPr lang="zh-CN" altLang="en-US" b="1" dirty="0"/>
              <a:t>，甚至可以让 </a:t>
            </a:r>
            <a:r>
              <a:rPr lang="zh-CN" altLang="en-US" b="1" i="1" dirty="0"/>
              <a:t>𝒟  </a:t>
            </a:r>
            <a:r>
              <a:rPr lang="zh-CN" altLang="en-US" b="1" dirty="0"/>
              <a:t>实现</a:t>
            </a:r>
            <a:r>
              <a:rPr lang="zh-CN" altLang="en-US" b="1" dirty="0">
                <a:solidFill>
                  <a:schemeClr val="accent2"/>
                </a:solidFill>
              </a:rPr>
              <a:t>丢弃态</a:t>
            </a:r>
            <a:r>
              <a:rPr lang="zh-CN" altLang="en-US" b="1" dirty="0"/>
              <a:t>或者</a:t>
            </a:r>
            <a:r>
              <a:rPr lang="zh-CN" altLang="en-US" b="1" dirty="0">
                <a:solidFill>
                  <a:schemeClr val="accent2"/>
                </a:solidFill>
              </a:rPr>
              <a:t>报错</a:t>
            </a:r>
            <a:r>
              <a:rPr lang="en-US" altLang="zh-CN" b="1" dirty="0">
                <a:solidFill>
                  <a:schemeClr val="accent2"/>
                </a:solidFill>
              </a:rPr>
              <a:t>(</a:t>
            </a:r>
            <a:r>
              <a:rPr lang="zh-CN" altLang="en-US" b="1" dirty="0"/>
              <a:t>无法用于纠正</a:t>
            </a:r>
            <a:r>
              <a:rPr lang="en-US" altLang="zh-CN" b="1" dirty="0"/>
              <a:t>)</a:t>
            </a:r>
            <a:r>
              <a:rPr lang="zh-CN" altLang="en-US" b="1" dirty="0"/>
              <a:t>，等有利行为 ，最后 </a:t>
            </a:r>
            <a:r>
              <a:rPr lang="zh-CN" altLang="en-US" b="1" i="1" dirty="0"/>
              <a:t>𝒟 </a:t>
            </a:r>
            <a:r>
              <a:rPr lang="zh-CN" altLang="en-US" b="1" dirty="0"/>
              <a:t>的子空间外的</a:t>
            </a:r>
            <a:r>
              <a:rPr lang="zh-CN" altLang="en-US" b="1" dirty="0">
                <a:solidFill>
                  <a:schemeClr val="accent2"/>
                </a:solidFill>
              </a:rPr>
              <a:t>平滑行为</a:t>
            </a:r>
            <a:r>
              <a:rPr lang="zh-CN" altLang="en-US" b="1" dirty="0"/>
              <a:t>也可为</a:t>
            </a:r>
            <a:r>
              <a:rPr lang="zh-CN" altLang="en-US" b="1" dirty="0">
                <a:solidFill>
                  <a:schemeClr val="accent2"/>
                </a:solidFill>
              </a:rPr>
              <a:t>近似纠错</a:t>
            </a:r>
            <a:r>
              <a:rPr lang="zh-CN" altLang="en-US" b="1" dirty="0"/>
              <a:t>服务</a:t>
            </a:r>
            <a:endParaRPr lang="en-US" altLang="zh-CN" b="1" dirty="0"/>
          </a:p>
        </p:txBody>
      </p:sp>
      <p:sp>
        <p:nvSpPr>
          <p:cNvPr id="5" name="文本框 4">
            <a:extLst>
              <a:ext uri="{FF2B5EF4-FFF2-40B4-BE49-F238E27FC236}">
                <a16:creationId xmlns:a16="http://schemas.microsoft.com/office/drawing/2014/main" id="{EBB2EB6B-C349-BF76-D3DB-FFE8C17B7F8B}"/>
              </a:ext>
            </a:extLst>
          </p:cNvPr>
          <p:cNvSpPr txBox="1"/>
          <p:nvPr/>
        </p:nvSpPr>
        <p:spPr>
          <a:xfrm>
            <a:off x="8837897" y="2586657"/>
            <a:ext cx="915324" cy="276999"/>
          </a:xfrm>
          <a:prstGeom prst="rect">
            <a:avLst/>
          </a:prstGeom>
          <a:noFill/>
        </p:spPr>
        <p:txBody>
          <a:bodyPr wrap="square" lIns="0" tIns="0" rIns="0" bIns="0" rtlCol="0">
            <a:spAutoFit/>
          </a:bodyPr>
          <a:lstStyle/>
          <a:p>
            <a:r>
              <a:rPr lang="en-US" altLang="zh-CN" b="1" i="1" dirty="0"/>
              <a:t>ℰ       </a:t>
            </a:r>
            <a:r>
              <a:rPr lang="zh-CN" altLang="en-US" b="1" i="1" dirty="0"/>
              <a:t>𝒟</a:t>
            </a:r>
            <a:endParaRPr lang="zh-CN" altLang="en-US" b="1" dirty="0"/>
          </a:p>
        </p:txBody>
      </p:sp>
      <p:pic>
        <p:nvPicPr>
          <p:cNvPr id="7" name="图片 6">
            <a:extLst>
              <a:ext uri="{FF2B5EF4-FFF2-40B4-BE49-F238E27FC236}">
                <a16:creationId xmlns:a16="http://schemas.microsoft.com/office/drawing/2014/main" id="{BFBB95F4-6258-FBAA-E9AF-675E3E4A568C}"/>
              </a:ext>
            </a:extLst>
          </p:cNvPr>
          <p:cNvPicPr>
            <a:picLocks noChangeAspect="1"/>
          </p:cNvPicPr>
          <p:nvPr/>
        </p:nvPicPr>
        <p:blipFill>
          <a:blip r:embed="rId3"/>
          <a:stretch>
            <a:fillRect/>
          </a:stretch>
        </p:blipFill>
        <p:spPr>
          <a:xfrm>
            <a:off x="8923905" y="4054301"/>
            <a:ext cx="1219263" cy="234962"/>
          </a:xfrm>
          <a:prstGeom prst="rect">
            <a:avLst/>
          </a:prstGeom>
        </p:spPr>
      </p:pic>
      <p:pic>
        <p:nvPicPr>
          <p:cNvPr id="9" name="图片 8">
            <a:extLst>
              <a:ext uri="{FF2B5EF4-FFF2-40B4-BE49-F238E27FC236}">
                <a16:creationId xmlns:a16="http://schemas.microsoft.com/office/drawing/2014/main" id="{12B2BF3F-FD13-A1A6-61A9-03F8C2FB2F58}"/>
              </a:ext>
            </a:extLst>
          </p:cNvPr>
          <p:cNvPicPr>
            <a:picLocks noChangeAspect="1"/>
          </p:cNvPicPr>
          <p:nvPr/>
        </p:nvPicPr>
        <p:blipFill>
          <a:blip r:embed="rId4"/>
          <a:stretch>
            <a:fillRect/>
          </a:stretch>
        </p:blipFill>
        <p:spPr>
          <a:xfrm>
            <a:off x="8900207" y="3266248"/>
            <a:ext cx="1276416" cy="228612"/>
          </a:xfrm>
          <a:prstGeom prst="rect">
            <a:avLst/>
          </a:prstGeom>
        </p:spPr>
      </p:pic>
      <p:pic>
        <p:nvPicPr>
          <p:cNvPr id="11" name="图片 10">
            <a:extLst>
              <a:ext uri="{FF2B5EF4-FFF2-40B4-BE49-F238E27FC236}">
                <a16:creationId xmlns:a16="http://schemas.microsoft.com/office/drawing/2014/main" id="{E6846D36-9378-7A09-CF63-ACE1E88197A1}"/>
              </a:ext>
            </a:extLst>
          </p:cNvPr>
          <p:cNvPicPr>
            <a:picLocks noChangeAspect="1"/>
          </p:cNvPicPr>
          <p:nvPr/>
        </p:nvPicPr>
        <p:blipFill>
          <a:blip r:embed="rId5"/>
          <a:stretch>
            <a:fillRect/>
          </a:stretch>
        </p:blipFill>
        <p:spPr>
          <a:xfrm>
            <a:off x="8895020" y="3675446"/>
            <a:ext cx="1873346" cy="209561"/>
          </a:xfrm>
          <a:prstGeom prst="rect">
            <a:avLst/>
          </a:prstGeom>
        </p:spPr>
      </p:pic>
      <p:sp>
        <p:nvSpPr>
          <p:cNvPr id="12" name="椭圆 11">
            <a:extLst>
              <a:ext uri="{FF2B5EF4-FFF2-40B4-BE49-F238E27FC236}">
                <a16:creationId xmlns:a16="http://schemas.microsoft.com/office/drawing/2014/main" id="{FD2C6C38-2115-6DAC-15F3-F3AA8320E8EE}"/>
              </a:ext>
            </a:extLst>
          </p:cNvPr>
          <p:cNvSpPr/>
          <p:nvPr/>
        </p:nvSpPr>
        <p:spPr>
          <a:xfrm>
            <a:off x="8727486" y="3702218"/>
            <a:ext cx="133224" cy="13322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a:extLst>
              <a:ext uri="{FF2B5EF4-FFF2-40B4-BE49-F238E27FC236}">
                <a16:creationId xmlns:a16="http://schemas.microsoft.com/office/drawing/2014/main" id="{E5C14188-C3EE-E213-1325-83484BFE3343}"/>
              </a:ext>
            </a:extLst>
          </p:cNvPr>
          <p:cNvSpPr/>
          <p:nvPr/>
        </p:nvSpPr>
        <p:spPr>
          <a:xfrm>
            <a:off x="8709235" y="3307677"/>
            <a:ext cx="133224" cy="13322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2927D714-A511-31D0-07B0-D1875A95CCD0}"/>
              </a:ext>
            </a:extLst>
          </p:cNvPr>
          <p:cNvSpPr/>
          <p:nvPr/>
        </p:nvSpPr>
        <p:spPr>
          <a:xfrm>
            <a:off x="8730661" y="4108618"/>
            <a:ext cx="133224" cy="13322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6009362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6180E-11FF-6107-3485-AD40F508F61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03D9620-47AB-8DF2-3E98-4229FE36CF3D}"/>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EFB89F97-CA2D-4196-AEBA-36BC3FCD07D1}"/>
              </a:ext>
            </a:extLst>
          </p:cNvPr>
          <p:cNvCxnSpPr/>
          <p:nvPr/>
        </p:nvCxnSpPr>
        <p:spPr>
          <a:xfrm>
            <a:off x="49567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E53C509F-1BB1-F53B-DC1E-2C2D4169C402}"/>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4.2 </a:t>
            </a:r>
            <a:r>
              <a:rPr lang="zh-CN" altLang="en-US" sz="2200" b="1" dirty="0">
                <a:solidFill>
                  <a:srgbClr val="555555"/>
                </a:solidFill>
                <a:latin typeface="Noto Sans SC"/>
                <a:ea typeface="Noto Sans SC"/>
                <a:cs typeface="Noto Sans SC"/>
                <a:sym typeface="Noto Sans SC"/>
              </a:rPr>
              <a:t>量子纠错的线性性质</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6" name="文本框 15">
            <a:extLst>
              <a:ext uri="{FF2B5EF4-FFF2-40B4-BE49-F238E27FC236}">
                <a16:creationId xmlns:a16="http://schemas.microsoft.com/office/drawing/2014/main" id="{B73F14DE-3FBB-FEA9-65C4-E269E013C899}"/>
              </a:ext>
            </a:extLst>
          </p:cNvPr>
          <p:cNvSpPr txBox="1"/>
          <p:nvPr/>
        </p:nvSpPr>
        <p:spPr>
          <a:xfrm>
            <a:off x="258411" y="2319471"/>
            <a:ext cx="4669189" cy="3970318"/>
          </a:xfrm>
          <a:prstGeom prst="rect">
            <a:avLst/>
          </a:prstGeom>
          <a:noFill/>
        </p:spPr>
        <p:txBody>
          <a:bodyPr wrap="square">
            <a:spAutoFit/>
          </a:bodyPr>
          <a:lstStyle/>
          <a:p>
            <a:r>
              <a:rPr lang="zh-CN" altLang="en-US" b="1" dirty="0"/>
              <a:t>定理 </a:t>
            </a:r>
            <a:r>
              <a:rPr lang="en-US" altLang="zh-CN" b="1" dirty="0"/>
              <a:t>2</a:t>
            </a:r>
          </a:p>
          <a:p>
            <a:r>
              <a:rPr lang="en-US" altLang="zh-CN" b="1" dirty="0"/>
              <a:t>  </a:t>
            </a:r>
          </a:p>
          <a:p>
            <a:r>
              <a:rPr lang="zh-CN" altLang="en-US" b="1" dirty="0"/>
              <a:t>  如果 </a:t>
            </a:r>
            <a:r>
              <a:rPr lang="en-US" altLang="zh-CN" b="1" dirty="0"/>
              <a:t>(U, ℰ) </a:t>
            </a:r>
            <a:r>
              <a:rPr lang="zh-CN" altLang="en-US" b="1" dirty="0"/>
              <a:t>是一个 </a:t>
            </a:r>
            <a:r>
              <a:rPr lang="en-US" altLang="zh-CN" b="1" dirty="0"/>
              <a:t>QECC</a:t>
            </a:r>
            <a:r>
              <a:rPr lang="zh-CN" altLang="en-US" b="1" dirty="0"/>
              <a:t>，那么 </a:t>
            </a:r>
            <a:r>
              <a:rPr lang="en-US" altLang="zh-CN" b="1" dirty="0"/>
              <a:t>(U, ℰ′) </a:t>
            </a:r>
            <a:r>
              <a:rPr lang="zh-CN" altLang="en-US" b="1" dirty="0"/>
              <a:t>也是一个 </a:t>
            </a:r>
            <a:r>
              <a:rPr lang="en-US" altLang="zh-CN" b="1" dirty="0"/>
              <a:t>QECC</a:t>
            </a:r>
            <a:r>
              <a:rPr lang="zh-CN" altLang="en-US" b="1" dirty="0"/>
              <a:t>，其中 </a:t>
            </a:r>
            <a:r>
              <a:rPr lang="en-US" altLang="zh-CN" b="1" dirty="0"/>
              <a:t>ℰ′ = span ℰ </a:t>
            </a:r>
            <a:r>
              <a:rPr lang="zh-CN" altLang="en-US" b="1" dirty="0"/>
              <a:t>是 </a:t>
            </a:r>
            <a:r>
              <a:rPr lang="en-US" altLang="zh-CN" b="1" dirty="0"/>
              <a:t>ℰ </a:t>
            </a:r>
            <a:r>
              <a:rPr lang="zh-CN" altLang="en-US" b="1" dirty="0"/>
              <a:t>的</a:t>
            </a:r>
            <a:r>
              <a:rPr lang="zh-CN" altLang="en-US" b="1" dirty="0">
                <a:solidFill>
                  <a:schemeClr val="accent2"/>
                </a:solidFill>
              </a:rPr>
              <a:t>线性</a:t>
            </a:r>
            <a:r>
              <a:rPr lang="zh-CN" altLang="en-US" b="1" dirty="0"/>
              <a:t>张成空间。换句话说，如果一个 </a:t>
            </a:r>
            <a:r>
              <a:rPr lang="en-US" altLang="zh-CN" b="1" dirty="0"/>
              <a:t>QECC </a:t>
            </a:r>
            <a:r>
              <a:rPr lang="zh-CN" altLang="en-US" b="1" dirty="0"/>
              <a:t>能纠正 </a:t>
            </a:r>
            <a:r>
              <a:rPr lang="en-US" altLang="zh-CN" b="1" dirty="0"/>
              <a:t>E </a:t>
            </a:r>
            <a:r>
              <a:rPr lang="zh-CN" altLang="en-US" b="1" dirty="0"/>
              <a:t>和 </a:t>
            </a:r>
            <a:r>
              <a:rPr lang="en-US" altLang="zh-CN" b="1" dirty="0"/>
              <a:t>F</a:t>
            </a:r>
            <a:r>
              <a:rPr lang="zh-CN" altLang="en-US" b="1" dirty="0"/>
              <a:t>，那么它也能纠正 </a:t>
            </a:r>
            <a:r>
              <a:rPr lang="en-US" altLang="zh-CN" b="1" dirty="0">
                <a:solidFill>
                  <a:schemeClr val="accent2"/>
                </a:solidFill>
              </a:rPr>
              <a:t>αE + βF</a:t>
            </a:r>
            <a:r>
              <a:rPr lang="zh-CN" altLang="en-US" b="1" dirty="0"/>
              <a:t>。</a:t>
            </a:r>
            <a:endParaRPr lang="en-US" altLang="zh-CN" b="1" dirty="0"/>
          </a:p>
          <a:p>
            <a:endParaRPr lang="en-US" altLang="zh-CN" b="1" dirty="0"/>
          </a:p>
          <a:p>
            <a:r>
              <a:rPr lang="zh-CN" altLang="en-US" b="1" dirty="0"/>
              <a:t>证明用到了之前的</a:t>
            </a:r>
            <a:r>
              <a:rPr lang="zh-CN" altLang="en-US" b="1" dirty="0">
                <a:solidFill>
                  <a:schemeClr val="accent2"/>
                </a:solidFill>
              </a:rPr>
              <a:t>命题 </a:t>
            </a:r>
            <a:r>
              <a:rPr lang="en-US" altLang="zh-CN" b="1" dirty="0">
                <a:solidFill>
                  <a:schemeClr val="accent2"/>
                </a:solidFill>
              </a:rPr>
              <a:t>1</a:t>
            </a:r>
          </a:p>
          <a:p>
            <a:endParaRPr lang="en-US" altLang="zh-CN" b="1" dirty="0">
              <a:solidFill>
                <a:schemeClr val="accent2"/>
              </a:solidFill>
            </a:endParaRPr>
          </a:p>
          <a:p>
            <a:r>
              <a:rPr lang="zh-CN" altLang="en-US" b="1" dirty="0"/>
              <a:t>推论 </a:t>
            </a:r>
            <a:r>
              <a:rPr lang="en-US" altLang="zh-CN" b="1" dirty="0"/>
              <a:t>3</a:t>
            </a:r>
          </a:p>
          <a:p>
            <a:r>
              <a:rPr lang="en-US" altLang="zh-CN" b="1" dirty="0"/>
              <a:t>  </a:t>
            </a:r>
          </a:p>
          <a:p>
            <a:r>
              <a:rPr lang="zh-CN" altLang="en-US" b="1" dirty="0"/>
              <a:t>  如果 </a:t>
            </a:r>
            <a:r>
              <a:rPr lang="en-US" altLang="zh-CN" b="1" i="1" dirty="0">
                <a:solidFill>
                  <a:schemeClr val="accent2"/>
                </a:solidFill>
              </a:rPr>
              <a:t>ℰ</a:t>
            </a:r>
            <a:r>
              <a:rPr lang="en-US" altLang="zh-CN" b="1" i="1" dirty="0"/>
              <a:t> </a:t>
            </a:r>
            <a:r>
              <a:rPr lang="zh-CN" altLang="en-US" b="1" dirty="0"/>
              <a:t>包含了所有权重为 </a:t>
            </a:r>
            <a:r>
              <a:rPr lang="en-US" altLang="zh-CN" b="1" dirty="0">
                <a:solidFill>
                  <a:schemeClr val="accent2"/>
                </a:solidFill>
              </a:rPr>
              <a:t>t</a:t>
            </a:r>
            <a:r>
              <a:rPr lang="en-US" altLang="zh-CN" b="1" dirty="0"/>
              <a:t> </a:t>
            </a:r>
            <a:r>
              <a:rPr lang="zh-CN" altLang="en-US" b="1" dirty="0"/>
              <a:t>或</a:t>
            </a:r>
            <a:r>
              <a:rPr lang="zh-CN" altLang="en-US" b="1" dirty="0">
                <a:solidFill>
                  <a:schemeClr val="accent2"/>
                </a:solidFill>
              </a:rPr>
              <a:t>更小</a:t>
            </a:r>
            <a:r>
              <a:rPr lang="zh-CN" altLang="en-US" b="1" dirty="0"/>
              <a:t>的 </a:t>
            </a:r>
            <a:r>
              <a:rPr lang="en-US" altLang="zh-CN" b="1" dirty="0">
                <a:solidFill>
                  <a:schemeClr val="accent2"/>
                </a:solidFill>
              </a:rPr>
              <a:t>I</a:t>
            </a:r>
            <a:r>
              <a:rPr lang="zh-CN" altLang="en-US" b="1" dirty="0">
                <a:solidFill>
                  <a:schemeClr val="accent2"/>
                </a:solidFill>
              </a:rPr>
              <a:t>、</a:t>
            </a:r>
            <a:r>
              <a:rPr lang="en-US" altLang="zh-CN" b="1" dirty="0">
                <a:solidFill>
                  <a:schemeClr val="accent2"/>
                </a:solidFill>
              </a:rPr>
              <a:t>X</a:t>
            </a:r>
            <a:r>
              <a:rPr lang="zh-CN" altLang="en-US" b="1" dirty="0">
                <a:solidFill>
                  <a:schemeClr val="accent2"/>
                </a:solidFill>
              </a:rPr>
              <a:t>、</a:t>
            </a:r>
            <a:r>
              <a:rPr lang="en-US" altLang="zh-CN" b="1" dirty="0">
                <a:solidFill>
                  <a:schemeClr val="accent2"/>
                </a:solidFill>
              </a:rPr>
              <a:t>Y</a:t>
            </a:r>
            <a:r>
              <a:rPr lang="zh-CN" altLang="en-US" b="1" dirty="0">
                <a:solidFill>
                  <a:schemeClr val="accent2"/>
                </a:solidFill>
              </a:rPr>
              <a:t>、</a:t>
            </a:r>
            <a:r>
              <a:rPr lang="en-US" altLang="zh-CN" b="1" dirty="0">
                <a:solidFill>
                  <a:schemeClr val="accent2"/>
                </a:solidFill>
              </a:rPr>
              <a:t>Z </a:t>
            </a:r>
            <a:r>
              <a:rPr lang="zh-CN" altLang="en-US" b="1" dirty="0"/>
              <a:t>的张量积，那么它是一个 </a:t>
            </a:r>
            <a:r>
              <a:rPr lang="en-US" altLang="zh-CN" b="1" dirty="0">
                <a:solidFill>
                  <a:schemeClr val="accent2"/>
                </a:solidFill>
              </a:rPr>
              <a:t>t </a:t>
            </a:r>
            <a:r>
              <a:rPr lang="zh-CN" altLang="en-US" b="1" dirty="0">
                <a:solidFill>
                  <a:schemeClr val="accent2"/>
                </a:solidFill>
              </a:rPr>
              <a:t>纠错码</a:t>
            </a:r>
            <a:r>
              <a:rPr lang="zh-CN" altLang="en-US" b="1" dirty="0"/>
              <a:t>。</a:t>
            </a:r>
            <a:endParaRPr lang="en-US" altLang="zh-CN" b="1" dirty="0"/>
          </a:p>
          <a:p>
            <a:endParaRPr lang="en-US" altLang="zh-CN" b="1" dirty="0">
              <a:solidFill>
                <a:schemeClr val="accent2"/>
              </a:solidFill>
            </a:endParaRPr>
          </a:p>
        </p:txBody>
      </p:sp>
      <p:pic>
        <p:nvPicPr>
          <p:cNvPr id="8" name="图片 7">
            <a:extLst>
              <a:ext uri="{FF2B5EF4-FFF2-40B4-BE49-F238E27FC236}">
                <a16:creationId xmlns:a16="http://schemas.microsoft.com/office/drawing/2014/main" id="{16056168-CC49-135B-DC5B-E6EF64DF9C7C}"/>
              </a:ext>
            </a:extLst>
          </p:cNvPr>
          <p:cNvPicPr>
            <a:picLocks noChangeAspect="1"/>
          </p:cNvPicPr>
          <p:nvPr/>
        </p:nvPicPr>
        <p:blipFill>
          <a:blip r:embed="rId3"/>
          <a:stretch>
            <a:fillRect/>
          </a:stretch>
        </p:blipFill>
        <p:spPr>
          <a:xfrm>
            <a:off x="6668788" y="1054100"/>
            <a:ext cx="4148510" cy="876315"/>
          </a:xfrm>
          <a:prstGeom prst="rect">
            <a:avLst/>
          </a:prstGeom>
        </p:spPr>
      </p:pic>
      <p:pic>
        <p:nvPicPr>
          <p:cNvPr id="14" name="图片 13">
            <a:extLst>
              <a:ext uri="{FF2B5EF4-FFF2-40B4-BE49-F238E27FC236}">
                <a16:creationId xmlns:a16="http://schemas.microsoft.com/office/drawing/2014/main" id="{7D1AEA17-3C84-2868-7903-47F69382F8F2}"/>
              </a:ext>
            </a:extLst>
          </p:cNvPr>
          <p:cNvPicPr>
            <a:picLocks noChangeAspect="1"/>
          </p:cNvPicPr>
          <p:nvPr/>
        </p:nvPicPr>
        <p:blipFill>
          <a:blip r:embed="rId4"/>
          <a:stretch>
            <a:fillRect/>
          </a:stretch>
        </p:blipFill>
        <p:spPr>
          <a:xfrm>
            <a:off x="5372083" y="1406398"/>
            <a:ext cx="901717" cy="279532"/>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638AFD5-BE25-739A-8DE4-BB05B5C87D04}"/>
                  </a:ext>
                </a:extLst>
              </p:cNvPr>
              <p:cNvSpPr txBox="1"/>
              <p:nvPr/>
            </p:nvSpPr>
            <p:spPr>
              <a:xfrm>
                <a:off x="5167745" y="520699"/>
                <a:ext cx="9922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solidFill>
                          <a:latin typeface="Cambria Math" panose="02040503050406030204" pitchFamily="18" charset="0"/>
                        </a:rPr>
                        <m:t>𝑷</m:t>
                      </m:r>
                      <m:r>
                        <a:rPr lang="en-US" altLang="zh-CN" sz="2400" b="1" i="1">
                          <a:solidFill>
                            <a:schemeClr val="accent2"/>
                          </a:solidFill>
                          <a:latin typeface="Cambria Math" panose="02040503050406030204" pitchFamily="18" charset="0"/>
                        </a:rPr>
                        <m:t>𝒓𝒐𝒐𝒇</m:t>
                      </m:r>
                    </m:oMath>
                  </m:oMathPara>
                </a14:m>
                <a:endParaRPr lang="zh-CN" altLang="en-US" sz="2400" b="1" i="1" dirty="0">
                  <a:latin typeface="Brush Script MT" panose="03060802040406070304" pitchFamily="66" charset="0"/>
                </a:endParaRPr>
              </a:p>
            </p:txBody>
          </p:sp>
        </mc:Choice>
        <mc:Fallback xmlns="">
          <p:sp>
            <p:nvSpPr>
              <p:cNvPr id="17" name="文本框 16">
                <a:extLst>
                  <a:ext uri="{FF2B5EF4-FFF2-40B4-BE49-F238E27FC236}">
                    <a16:creationId xmlns:a16="http://schemas.microsoft.com/office/drawing/2014/main" id="{8638AFD5-BE25-739A-8DE4-BB05B5C87D04}"/>
                  </a:ext>
                </a:extLst>
              </p:cNvPr>
              <p:cNvSpPr txBox="1">
                <a:spLocks noRot="1" noChangeAspect="1" noMove="1" noResize="1" noEditPoints="1" noAdjustHandles="1" noChangeArrowheads="1" noChangeShapeType="1" noTextEdit="1"/>
              </p:cNvSpPr>
              <p:nvPr/>
            </p:nvSpPr>
            <p:spPr>
              <a:xfrm>
                <a:off x="5167745" y="520699"/>
                <a:ext cx="992259" cy="369332"/>
              </a:xfrm>
              <a:prstGeom prst="rect">
                <a:avLst/>
              </a:prstGeom>
              <a:blipFill>
                <a:blip r:embed="rId5"/>
                <a:stretch>
                  <a:fillRect l="-6173" t="-3279" r="-9877" b="-31148"/>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BEBBAA66-6AB7-9A4F-C421-AC372087EE5D}"/>
              </a:ext>
            </a:extLst>
          </p:cNvPr>
          <p:cNvPicPr>
            <a:picLocks noChangeAspect="1"/>
          </p:cNvPicPr>
          <p:nvPr/>
        </p:nvPicPr>
        <p:blipFill>
          <a:blip r:embed="rId6"/>
          <a:stretch>
            <a:fillRect/>
          </a:stretch>
        </p:blipFill>
        <p:spPr>
          <a:xfrm>
            <a:off x="5020593" y="3352800"/>
            <a:ext cx="7171407" cy="857250"/>
          </a:xfrm>
          <a:prstGeom prst="rect">
            <a:avLst/>
          </a:prstGeom>
        </p:spPr>
      </p:pic>
      <p:sp>
        <p:nvSpPr>
          <p:cNvPr id="20" name="箭头: 下 19">
            <a:extLst>
              <a:ext uri="{FF2B5EF4-FFF2-40B4-BE49-F238E27FC236}">
                <a16:creationId xmlns:a16="http://schemas.microsoft.com/office/drawing/2014/main" id="{503EEDC9-9704-807F-3EBB-9160867A8EF5}"/>
              </a:ext>
            </a:extLst>
          </p:cNvPr>
          <p:cNvSpPr/>
          <p:nvPr/>
        </p:nvSpPr>
        <p:spPr>
          <a:xfrm>
            <a:off x="8404513" y="2024083"/>
            <a:ext cx="439387" cy="1021278"/>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565035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AED27-5DA6-5C29-CF0D-1A9576B9FC1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A2A8FCB-098F-06D5-2DEA-36ACDBA502CD}"/>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7C5A5407-7735-2281-F87A-4E6606C328D0}"/>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594D432D-490C-C9BA-BB0B-ED2D0F74978E}"/>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4.3 </a:t>
            </a:r>
            <a:r>
              <a:rPr lang="zh-CN" altLang="en-US" sz="2200" b="1" dirty="0">
                <a:solidFill>
                  <a:srgbClr val="555555"/>
                </a:solidFill>
                <a:latin typeface="Noto Sans SC"/>
                <a:ea typeface="Noto Sans SC"/>
                <a:cs typeface="Noto Sans SC"/>
                <a:sym typeface="Noto Sans SC"/>
              </a:rPr>
              <a:t>量子纠错的条件</a:t>
            </a:r>
            <a:r>
              <a:rPr lang="en-US" altLang="zh-CN" sz="2200" b="1" dirty="0">
                <a:solidFill>
                  <a:srgbClr val="555555"/>
                </a:solidFill>
                <a:latin typeface="Noto Sans SC"/>
                <a:ea typeface="Noto Sans SC"/>
                <a:cs typeface="Noto Sans SC"/>
                <a:sym typeface="Noto Sans SC"/>
              </a:rPr>
              <a:t> </a:t>
            </a:r>
            <a:endParaRPr lang="en-US" sz="11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C667DD7-421C-7F6E-50E2-5F21AAF23354}"/>
                  </a:ext>
                </a:extLst>
              </p:cNvPr>
              <p:cNvSpPr txBox="1"/>
              <p:nvPr/>
            </p:nvSpPr>
            <p:spPr>
              <a:xfrm>
                <a:off x="620361" y="2338521"/>
                <a:ext cx="6950773" cy="3416320"/>
              </a:xfrm>
              <a:prstGeom prst="rect">
                <a:avLst/>
              </a:prstGeom>
              <a:noFill/>
            </p:spPr>
            <p:txBody>
              <a:bodyPr wrap="square">
                <a:spAutoFit/>
              </a:bodyPr>
              <a:lstStyle/>
              <a:p>
                <a:r>
                  <a:rPr lang="zh-CN" altLang="en-US" b="1" dirty="0"/>
                  <a:t>充分条件</a:t>
                </a:r>
                <a:endParaRPr lang="en-US" altLang="zh-CN" b="1" dirty="0"/>
              </a:p>
              <a:p>
                <a:endParaRPr lang="en-US" altLang="zh-CN" b="1" dirty="0"/>
              </a:p>
              <a:p>
                <a:r>
                  <a:rPr lang="en-US" altLang="zh-CN" b="1" dirty="0"/>
                  <a:t>  1. </a:t>
                </a:r>
                <a:r>
                  <a:rPr lang="zh-CN" altLang="en-US" b="1" dirty="0"/>
                  <a:t>错误子空间相互</a:t>
                </a:r>
                <a:r>
                  <a:rPr lang="zh-CN" altLang="en-US" b="1" dirty="0">
                    <a:solidFill>
                      <a:schemeClr val="accent2"/>
                    </a:solidFill>
                  </a:rPr>
                  <a:t>正交</a:t>
                </a:r>
                <a:endParaRPr lang="en-US" altLang="zh-CN" b="1" dirty="0">
                  <a:solidFill>
                    <a:schemeClr val="accent2"/>
                  </a:solidFill>
                </a:endParaRPr>
              </a:p>
              <a:p>
                <a:r>
                  <a:rPr lang="en-US" altLang="zh-CN" b="1" dirty="0"/>
                  <a:t>  2. E</a:t>
                </a:r>
                <a:r>
                  <a:rPr lang="zh-CN" altLang="en-US" b="1" dirty="0"/>
                  <a:t>是</a:t>
                </a:r>
                <a:r>
                  <a:rPr lang="zh-CN" altLang="en-US" b="1" dirty="0">
                    <a:solidFill>
                      <a:schemeClr val="accent2"/>
                    </a:solidFill>
                  </a:rPr>
                  <a:t>幺正</a:t>
                </a:r>
                <a:r>
                  <a:rPr lang="zh-CN" altLang="en-US" b="1" dirty="0"/>
                  <a:t>的</a:t>
                </a:r>
                <a:endParaRPr lang="en-US" altLang="zh-CN" b="1" dirty="0"/>
              </a:p>
              <a:p>
                <a:endParaRPr lang="en-US" altLang="zh-CN" b="1" dirty="0"/>
              </a:p>
              <a:p>
                <a:r>
                  <a:rPr lang="en-US" altLang="zh-CN" b="1" dirty="0"/>
                  <a:t>Shor</a:t>
                </a:r>
                <a:r>
                  <a:rPr lang="zh-CN" altLang="en-US" b="1" dirty="0"/>
                  <a:t>码特例</a:t>
                </a:r>
                <a:endParaRPr lang="en-US" altLang="zh-CN" b="1" dirty="0"/>
              </a:p>
              <a:p>
                <a:endParaRPr lang="en-US" altLang="zh-CN" b="1" dirty="0"/>
              </a:p>
              <a:p>
                <a:r>
                  <a:rPr lang="en-US" altLang="zh-CN" b="1" dirty="0"/>
                  <a:t>  </a:t>
                </a:r>
                <a14:m>
                  <m:oMath xmlns:m="http://schemas.openxmlformats.org/officeDocument/2006/math">
                    <m:r>
                      <a:rPr lang="en-US" altLang="zh-CN" b="1" i="1" smtClean="0">
                        <a:latin typeface="Cambria Math" panose="02040503050406030204" pitchFamily="18" charset="0"/>
                      </a:rPr>
                      <m:t>𝒛</m:t>
                    </m:r>
                    <m:r>
                      <a:rPr lang="en-US" altLang="zh-CN" b="1" i="1" smtClean="0">
                        <a:latin typeface="Cambria Math" panose="02040503050406030204" pitchFamily="18" charset="0"/>
                      </a:rPr>
                      <m:t>𝟏</m:t>
                    </m:r>
                    <m:r>
                      <a:rPr lang="en-US" altLang="zh-CN" b="1" i="1" smtClean="0">
                        <a:latin typeface="Cambria Math" panose="02040503050406030204" pitchFamily="18" charset="0"/>
                      </a:rPr>
                      <m:t> </m:t>
                    </m:r>
                    <m:r>
                      <a:rPr lang="en-US" altLang="zh-CN" b="1" i="1" smtClean="0">
                        <a:latin typeface="Cambria Math" panose="02040503050406030204" pitchFamily="18" charset="0"/>
                      </a:rPr>
                      <m:t>𝒛</m:t>
                    </m:r>
                    <m:r>
                      <a:rPr lang="en-US" altLang="zh-CN" b="1" i="1" smtClean="0">
                        <a:latin typeface="Cambria Math" panose="02040503050406030204" pitchFamily="18" charset="0"/>
                      </a:rPr>
                      <m:t>𝟐</m:t>
                    </m:r>
                  </m:oMath>
                </a14:m>
                <a:r>
                  <a:rPr lang="zh-CN" altLang="en-US" b="1" dirty="0"/>
                  <a:t>得到了</a:t>
                </a:r>
                <a:r>
                  <a:rPr lang="zh-CN" altLang="en-US" b="1" dirty="0">
                    <a:solidFill>
                      <a:schemeClr val="accent2"/>
                    </a:solidFill>
                  </a:rPr>
                  <a:t>一毛一样</a:t>
                </a:r>
                <a:r>
                  <a:rPr lang="zh-CN" altLang="en-US" b="1" dirty="0"/>
                  <a:t>的错误子空间</a:t>
                </a:r>
                <a:endParaRPr lang="en-US" altLang="zh-CN" b="1" dirty="0"/>
              </a:p>
              <a:p>
                <a:r>
                  <a:rPr lang="en-US" altLang="zh-CN" b="1" dirty="0"/>
                  <a:t>  </a:t>
                </a:r>
              </a:p>
              <a:p>
                <a:endParaRPr lang="en-US" altLang="zh-CN" b="1" dirty="0"/>
              </a:p>
              <a:p>
                <a:endParaRPr lang="en-US" altLang="zh-CN" b="1" dirty="0"/>
              </a:p>
              <a:p>
                <a:r>
                  <a:rPr lang="en-US" altLang="zh-CN" b="1" dirty="0"/>
                  <a:t>  </a:t>
                </a:r>
              </a:p>
            </p:txBody>
          </p:sp>
        </mc:Choice>
        <mc:Fallback xmlns="">
          <p:sp>
            <p:nvSpPr>
              <p:cNvPr id="16" name="文本框 15">
                <a:extLst>
                  <a:ext uri="{FF2B5EF4-FFF2-40B4-BE49-F238E27FC236}">
                    <a16:creationId xmlns:a16="http://schemas.microsoft.com/office/drawing/2014/main" id="{EC667DD7-421C-7F6E-50E2-5F21AAF23354}"/>
                  </a:ext>
                </a:extLst>
              </p:cNvPr>
              <p:cNvSpPr txBox="1">
                <a:spLocks noRot="1" noChangeAspect="1" noMove="1" noResize="1" noEditPoints="1" noAdjustHandles="1" noChangeArrowheads="1" noChangeShapeType="1" noTextEdit="1"/>
              </p:cNvSpPr>
              <p:nvPr/>
            </p:nvSpPr>
            <p:spPr>
              <a:xfrm>
                <a:off x="620361" y="2338521"/>
                <a:ext cx="6950773" cy="3416320"/>
              </a:xfrm>
              <a:prstGeom prst="rect">
                <a:avLst/>
              </a:prstGeom>
              <a:blipFill>
                <a:blip r:embed="rId3"/>
                <a:stretch>
                  <a:fillRect l="-789" t="-1071"/>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1A0F4FD-2CCD-2214-D527-ABD83A1777F0}"/>
              </a:ext>
            </a:extLst>
          </p:cNvPr>
          <p:cNvPicPr>
            <a:picLocks noChangeAspect="1"/>
          </p:cNvPicPr>
          <p:nvPr/>
        </p:nvPicPr>
        <p:blipFill>
          <a:blip r:embed="rId4"/>
          <a:stretch>
            <a:fillRect/>
          </a:stretch>
        </p:blipFill>
        <p:spPr>
          <a:xfrm>
            <a:off x="7761471" y="2520950"/>
            <a:ext cx="3849549" cy="847735"/>
          </a:xfrm>
          <a:prstGeom prst="rect">
            <a:avLst/>
          </a:prstGeom>
        </p:spPr>
      </p:pic>
      <p:pic>
        <p:nvPicPr>
          <p:cNvPr id="14" name="图片 13">
            <a:extLst>
              <a:ext uri="{FF2B5EF4-FFF2-40B4-BE49-F238E27FC236}">
                <a16:creationId xmlns:a16="http://schemas.microsoft.com/office/drawing/2014/main" id="{A2214A9E-CE94-3FB2-30EC-AE4DFA892806}"/>
              </a:ext>
            </a:extLst>
          </p:cNvPr>
          <p:cNvPicPr>
            <a:picLocks noChangeAspect="1"/>
          </p:cNvPicPr>
          <p:nvPr/>
        </p:nvPicPr>
        <p:blipFill>
          <a:blip r:embed="rId5"/>
          <a:stretch>
            <a:fillRect/>
          </a:stretch>
        </p:blipFill>
        <p:spPr>
          <a:xfrm>
            <a:off x="7928885" y="1444119"/>
            <a:ext cx="3799565" cy="371985"/>
          </a:xfrm>
          <a:prstGeom prst="rect">
            <a:avLst/>
          </a:prstGeom>
        </p:spPr>
      </p:pic>
      <p:pic>
        <p:nvPicPr>
          <p:cNvPr id="19" name="图片 18">
            <a:extLst>
              <a:ext uri="{FF2B5EF4-FFF2-40B4-BE49-F238E27FC236}">
                <a16:creationId xmlns:a16="http://schemas.microsoft.com/office/drawing/2014/main" id="{D9310050-60A2-C4C5-E209-420C0C659FB9}"/>
              </a:ext>
            </a:extLst>
          </p:cNvPr>
          <p:cNvPicPr>
            <a:picLocks noChangeAspect="1"/>
          </p:cNvPicPr>
          <p:nvPr/>
        </p:nvPicPr>
        <p:blipFill>
          <a:blip r:embed="rId6"/>
          <a:stretch>
            <a:fillRect/>
          </a:stretch>
        </p:blipFill>
        <p:spPr>
          <a:xfrm>
            <a:off x="9093182" y="234950"/>
            <a:ext cx="1318931" cy="469900"/>
          </a:xfrm>
          <a:prstGeom prst="rect">
            <a:avLst/>
          </a:prstGeom>
        </p:spPr>
      </p:pic>
      <p:pic>
        <p:nvPicPr>
          <p:cNvPr id="20" name="图片 19">
            <a:extLst>
              <a:ext uri="{FF2B5EF4-FFF2-40B4-BE49-F238E27FC236}">
                <a16:creationId xmlns:a16="http://schemas.microsoft.com/office/drawing/2014/main" id="{537E813D-0263-903A-EF44-B1E17F6629A5}"/>
              </a:ext>
            </a:extLst>
          </p:cNvPr>
          <p:cNvPicPr>
            <a:picLocks noChangeAspect="1"/>
          </p:cNvPicPr>
          <p:nvPr/>
        </p:nvPicPr>
        <p:blipFill>
          <a:blip r:embed="rId7"/>
          <a:stretch>
            <a:fillRect/>
          </a:stretch>
        </p:blipFill>
        <p:spPr>
          <a:xfrm>
            <a:off x="8142793" y="3710841"/>
            <a:ext cx="3587934" cy="1447874"/>
          </a:xfrm>
          <a:prstGeom prst="rect">
            <a:avLst/>
          </a:prstGeom>
        </p:spPr>
      </p:pic>
      <p:cxnSp>
        <p:nvCxnSpPr>
          <p:cNvPr id="22" name="直接连接符 21">
            <a:extLst>
              <a:ext uri="{FF2B5EF4-FFF2-40B4-BE49-F238E27FC236}">
                <a16:creationId xmlns:a16="http://schemas.microsoft.com/office/drawing/2014/main" id="{36B47F30-01B3-BFC7-7DAA-2C89BE5D2AF4}"/>
              </a:ext>
            </a:extLst>
          </p:cNvPr>
          <p:cNvCxnSpPr>
            <a:cxnSpLocks/>
          </p:cNvCxnSpPr>
          <p:nvPr/>
        </p:nvCxnSpPr>
        <p:spPr>
          <a:xfrm flipH="1">
            <a:off x="7537450" y="3670300"/>
            <a:ext cx="4699000" cy="0"/>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B1773685-761F-279C-7CC6-3DA58BAB17D5}"/>
              </a:ext>
            </a:extLst>
          </p:cNvPr>
          <p:cNvPicPr>
            <a:picLocks noChangeAspect="1"/>
          </p:cNvPicPr>
          <p:nvPr/>
        </p:nvPicPr>
        <p:blipFill>
          <a:blip r:embed="rId8"/>
          <a:stretch>
            <a:fillRect/>
          </a:stretch>
        </p:blipFill>
        <p:spPr>
          <a:xfrm>
            <a:off x="8966201" y="5271818"/>
            <a:ext cx="2016164" cy="284438"/>
          </a:xfrm>
          <a:prstGeom prst="rect">
            <a:avLst/>
          </a:prstGeom>
        </p:spPr>
      </p:pic>
      <p:pic>
        <p:nvPicPr>
          <p:cNvPr id="30" name="图片 29">
            <a:extLst>
              <a:ext uri="{FF2B5EF4-FFF2-40B4-BE49-F238E27FC236}">
                <a16:creationId xmlns:a16="http://schemas.microsoft.com/office/drawing/2014/main" id="{D23E3B40-B9A3-DA4D-1374-55569A4F98A9}"/>
              </a:ext>
            </a:extLst>
          </p:cNvPr>
          <p:cNvPicPr>
            <a:picLocks noChangeAspect="1"/>
          </p:cNvPicPr>
          <p:nvPr/>
        </p:nvPicPr>
        <p:blipFill>
          <a:blip r:embed="rId9"/>
          <a:stretch>
            <a:fillRect/>
          </a:stretch>
        </p:blipFill>
        <p:spPr>
          <a:xfrm>
            <a:off x="8940801" y="5867400"/>
            <a:ext cx="2057425" cy="431805"/>
          </a:xfrm>
          <a:prstGeom prst="rect">
            <a:avLst/>
          </a:prstGeom>
        </p:spPr>
      </p:pic>
    </p:spTree>
    <p:extLst>
      <p:ext uri="{BB962C8B-B14F-4D97-AF65-F5344CB8AC3E}">
        <p14:creationId xmlns:p14="http://schemas.microsoft.com/office/powerpoint/2010/main" val="32075482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D76A5-A0AB-87CB-2F08-92764D3DD15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DFB5D8A-3742-048D-7C05-0EB970C930B2}"/>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C66CF105-D423-44B5-7438-8DD3144AA736}"/>
              </a:ext>
            </a:extLst>
          </p:cNvPr>
          <p:cNvCxnSpPr/>
          <p:nvPr/>
        </p:nvCxnSpPr>
        <p:spPr>
          <a:xfrm>
            <a:off x="52742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EDE7C807-8C5F-7F60-70A8-7A18690DA635}"/>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4.3 </a:t>
            </a:r>
            <a:r>
              <a:rPr lang="zh-CN" altLang="en-US" sz="2200" b="1" dirty="0">
                <a:solidFill>
                  <a:srgbClr val="555555"/>
                </a:solidFill>
                <a:latin typeface="Noto Sans SC"/>
                <a:ea typeface="Noto Sans SC"/>
                <a:cs typeface="Noto Sans SC"/>
                <a:sym typeface="Noto Sans SC"/>
              </a:rPr>
              <a:t>量子纠错的条件</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6" name="文本框 15">
            <a:extLst>
              <a:ext uri="{FF2B5EF4-FFF2-40B4-BE49-F238E27FC236}">
                <a16:creationId xmlns:a16="http://schemas.microsoft.com/office/drawing/2014/main" id="{512BBCF9-48FA-D8FA-349A-7BC7F96AF7A4}"/>
              </a:ext>
            </a:extLst>
          </p:cNvPr>
          <p:cNvSpPr txBox="1"/>
          <p:nvPr/>
        </p:nvSpPr>
        <p:spPr>
          <a:xfrm>
            <a:off x="391761" y="2459171"/>
            <a:ext cx="4751739" cy="2862322"/>
          </a:xfrm>
          <a:prstGeom prst="rect">
            <a:avLst/>
          </a:prstGeom>
          <a:noFill/>
        </p:spPr>
        <p:txBody>
          <a:bodyPr wrap="square">
            <a:spAutoFit/>
          </a:bodyPr>
          <a:lstStyle/>
          <a:p>
            <a:r>
              <a:rPr lang="en-US" altLang="zh-CN" b="1" dirty="0"/>
              <a:t>QECC</a:t>
            </a:r>
            <a:r>
              <a:rPr lang="zh-CN" altLang="en-US" b="1" dirty="0"/>
              <a:t>条件</a:t>
            </a:r>
            <a:r>
              <a:rPr lang="en-US" altLang="zh-CN" b="1" dirty="0"/>
              <a:t>/</a:t>
            </a:r>
            <a:r>
              <a:rPr lang="zh-CN" altLang="en-US" b="1" dirty="0"/>
              <a:t>充要条件</a:t>
            </a:r>
            <a:endParaRPr lang="en-US" altLang="zh-CN" b="1" dirty="0"/>
          </a:p>
          <a:p>
            <a:endParaRPr lang="en-US" altLang="zh-CN" b="1" dirty="0"/>
          </a:p>
          <a:p>
            <a:r>
              <a:rPr lang="en-US" altLang="zh-CN" b="1" dirty="0"/>
              <a:t>  ⟨</a:t>
            </a:r>
            <a:r>
              <a:rPr lang="en-US" altLang="zh-CN" b="1" dirty="0" err="1"/>
              <a:t>ψ|E</a:t>
            </a:r>
            <a:r>
              <a:rPr lang="en-US" altLang="zh-CN" b="1" dirty="0"/>
              <a:t>ₐ†Eᵦ|φ⟩ = Cₐᵦ ⟨</a:t>
            </a:r>
            <a:r>
              <a:rPr lang="en-US" altLang="zh-CN" b="1" dirty="0" err="1"/>
              <a:t>ψ|φ</a:t>
            </a:r>
            <a:r>
              <a:rPr lang="en-US" altLang="zh-CN" b="1" dirty="0"/>
              <a:t>⟩</a:t>
            </a:r>
          </a:p>
          <a:p>
            <a:r>
              <a:rPr lang="zh-CN" altLang="en-US" b="1" dirty="0"/>
              <a:t>  其中 </a:t>
            </a:r>
            <a:r>
              <a:rPr lang="en-US" altLang="zh-CN" b="1" dirty="0"/>
              <a:t>Cₐᵦ </a:t>
            </a:r>
            <a:r>
              <a:rPr lang="zh-CN" altLang="en-US" b="1" dirty="0"/>
              <a:t>是一个与 </a:t>
            </a:r>
            <a:r>
              <a:rPr lang="en-US" altLang="zh-CN" b="1" dirty="0"/>
              <a:t>|ψ⟩,|φ⟩ </a:t>
            </a:r>
            <a:r>
              <a:rPr lang="zh-CN" altLang="en-US" b="1" dirty="0">
                <a:solidFill>
                  <a:schemeClr val="accent2"/>
                </a:solidFill>
              </a:rPr>
              <a:t>无关</a:t>
            </a:r>
            <a:r>
              <a:rPr lang="zh-CN" altLang="en-US" b="1" dirty="0"/>
              <a:t>的</a:t>
            </a:r>
            <a:r>
              <a:rPr lang="zh-CN" altLang="en-US" b="1" dirty="0">
                <a:solidFill>
                  <a:schemeClr val="accent2"/>
                </a:solidFill>
              </a:rPr>
              <a:t>常数</a:t>
            </a:r>
            <a:r>
              <a:rPr lang="zh-CN" altLang="en-US" b="1" dirty="0"/>
              <a:t>矩阵</a:t>
            </a:r>
            <a:endParaRPr lang="en-US" altLang="zh-CN" b="1" dirty="0"/>
          </a:p>
          <a:p>
            <a:r>
              <a:rPr lang="en-US" altLang="zh-CN" b="1" dirty="0"/>
              <a:t>  </a:t>
            </a:r>
          </a:p>
          <a:p>
            <a:endParaRPr lang="en-US" altLang="zh-CN" b="1" dirty="0"/>
          </a:p>
          <a:p>
            <a:r>
              <a:rPr lang="en-US" altLang="zh-CN" b="1" dirty="0"/>
              <a:t>  </a:t>
            </a:r>
          </a:p>
          <a:p>
            <a:endParaRPr lang="en-US" altLang="zh-CN" b="1" dirty="0"/>
          </a:p>
          <a:p>
            <a:endParaRPr lang="en-US" altLang="zh-CN" b="1" dirty="0"/>
          </a:p>
          <a:p>
            <a:r>
              <a:rPr lang="en-US" altLang="zh-CN" b="1" dirty="0"/>
              <a:t>  </a:t>
            </a:r>
          </a:p>
        </p:txBody>
      </p:sp>
      <p:pic>
        <p:nvPicPr>
          <p:cNvPr id="6" name="图片 5">
            <a:extLst>
              <a:ext uri="{FF2B5EF4-FFF2-40B4-BE49-F238E27FC236}">
                <a16:creationId xmlns:a16="http://schemas.microsoft.com/office/drawing/2014/main" id="{9CAEFC9D-C52B-2327-9E12-3AC4EA8F6318}"/>
              </a:ext>
            </a:extLst>
          </p:cNvPr>
          <p:cNvPicPr>
            <a:picLocks noChangeAspect="1"/>
          </p:cNvPicPr>
          <p:nvPr/>
        </p:nvPicPr>
        <p:blipFill>
          <a:blip r:embed="rId3"/>
          <a:stretch>
            <a:fillRect/>
          </a:stretch>
        </p:blipFill>
        <p:spPr>
          <a:xfrm>
            <a:off x="7397753" y="38100"/>
            <a:ext cx="3251244" cy="406406"/>
          </a:xfrm>
          <a:prstGeom prst="rect">
            <a:avLst/>
          </a:prstGeom>
        </p:spPr>
      </p:pic>
      <p:pic>
        <p:nvPicPr>
          <p:cNvPr id="11" name="图片 10">
            <a:extLst>
              <a:ext uri="{FF2B5EF4-FFF2-40B4-BE49-F238E27FC236}">
                <a16:creationId xmlns:a16="http://schemas.microsoft.com/office/drawing/2014/main" id="{D2B79A5C-34DD-A17E-0422-736B9BB691B4}"/>
              </a:ext>
            </a:extLst>
          </p:cNvPr>
          <p:cNvPicPr>
            <a:picLocks noChangeAspect="1"/>
          </p:cNvPicPr>
          <p:nvPr/>
        </p:nvPicPr>
        <p:blipFill>
          <a:blip r:embed="rId4"/>
          <a:stretch>
            <a:fillRect/>
          </a:stretch>
        </p:blipFill>
        <p:spPr>
          <a:xfrm>
            <a:off x="6891762" y="457201"/>
            <a:ext cx="4211265" cy="752484"/>
          </a:xfrm>
          <a:prstGeom prst="rect">
            <a:avLst/>
          </a:prstGeom>
        </p:spPr>
      </p:pic>
      <p:pic>
        <p:nvPicPr>
          <p:cNvPr id="13" name="图片 12">
            <a:extLst>
              <a:ext uri="{FF2B5EF4-FFF2-40B4-BE49-F238E27FC236}">
                <a16:creationId xmlns:a16="http://schemas.microsoft.com/office/drawing/2014/main" id="{60618674-1C5B-FB44-F6F9-A7E743561C03}"/>
              </a:ext>
            </a:extLst>
          </p:cNvPr>
          <p:cNvPicPr>
            <a:picLocks noChangeAspect="1"/>
          </p:cNvPicPr>
          <p:nvPr/>
        </p:nvPicPr>
        <p:blipFill>
          <a:blip r:embed="rId5"/>
          <a:stretch>
            <a:fillRect/>
          </a:stretch>
        </p:blipFill>
        <p:spPr>
          <a:xfrm>
            <a:off x="6907613" y="1187416"/>
            <a:ext cx="4306487" cy="444541"/>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A4B6B79-D1CA-BF37-4322-A00B635298A0}"/>
                  </a:ext>
                </a:extLst>
              </p:cNvPr>
              <p:cNvSpPr txBox="1"/>
              <p:nvPr/>
            </p:nvSpPr>
            <p:spPr>
              <a:xfrm>
                <a:off x="5383645" y="1733549"/>
                <a:ext cx="9922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solidFill>
                          <a:latin typeface="Cambria Math" panose="02040503050406030204" pitchFamily="18" charset="0"/>
                        </a:rPr>
                        <m:t>𝑷</m:t>
                      </m:r>
                      <m:r>
                        <a:rPr lang="en-US" altLang="zh-CN" sz="2400" b="1" i="1">
                          <a:solidFill>
                            <a:schemeClr val="accent2"/>
                          </a:solidFill>
                          <a:latin typeface="Cambria Math" panose="02040503050406030204" pitchFamily="18" charset="0"/>
                        </a:rPr>
                        <m:t>𝒓𝒐𝒐𝒇</m:t>
                      </m:r>
                    </m:oMath>
                  </m:oMathPara>
                </a14:m>
                <a:endParaRPr lang="zh-CN" altLang="en-US" sz="2400" b="1" i="1" dirty="0">
                  <a:latin typeface="Brush Script MT" panose="03060802040406070304" pitchFamily="66" charset="0"/>
                </a:endParaRPr>
              </a:p>
            </p:txBody>
          </p:sp>
        </mc:Choice>
        <mc:Fallback xmlns="">
          <p:sp>
            <p:nvSpPr>
              <p:cNvPr id="15" name="文本框 14">
                <a:extLst>
                  <a:ext uri="{FF2B5EF4-FFF2-40B4-BE49-F238E27FC236}">
                    <a16:creationId xmlns:a16="http://schemas.microsoft.com/office/drawing/2014/main" id="{BA4B6B79-D1CA-BF37-4322-A00B635298A0}"/>
                  </a:ext>
                </a:extLst>
              </p:cNvPr>
              <p:cNvSpPr txBox="1">
                <a:spLocks noRot="1" noChangeAspect="1" noMove="1" noResize="1" noEditPoints="1" noAdjustHandles="1" noChangeArrowheads="1" noChangeShapeType="1" noTextEdit="1"/>
              </p:cNvSpPr>
              <p:nvPr/>
            </p:nvSpPr>
            <p:spPr>
              <a:xfrm>
                <a:off x="5383645" y="1733549"/>
                <a:ext cx="992259" cy="369332"/>
              </a:xfrm>
              <a:prstGeom prst="rect">
                <a:avLst/>
              </a:prstGeom>
              <a:blipFill>
                <a:blip r:embed="rId6"/>
                <a:stretch>
                  <a:fillRect l="-5521" t="-3279" r="-9816" b="-31148"/>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8F738E24-C215-B82F-8C23-AEAE43108F78}"/>
              </a:ext>
            </a:extLst>
          </p:cNvPr>
          <p:cNvSpPr txBox="1"/>
          <p:nvPr/>
        </p:nvSpPr>
        <p:spPr>
          <a:xfrm>
            <a:off x="5632450" y="2247384"/>
            <a:ext cx="2540000" cy="369332"/>
          </a:xfrm>
          <a:prstGeom prst="rect">
            <a:avLst/>
          </a:prstGeom>
          <a:noFill/>
        </p:spPr>
        <p:txBody>
          <a:bodyPr wrap="square">
            <a:spAutoFit/>
          </a:bodyPr>
          <a:lstStyle/>
          <a:p>
            <a:r>
              <a:rPr lang="zh-CN" altLang="en-US" b="1" dirty="0"/>
              <a:t>⟨ψ|Eₐ†Eᵦ|φ⟩ = Cₐᵦ ⟨ψ|φ⟩</a:t>
            </a:r>
          </a:p>
        </p:txBody>
      </p:sp>
      <p:sp>
        <p:nvSpPr>
          <p:cNvPr id="21" name="文本框 20">
            <a:extLst>
              <a:ext uri="{FF2B5EF4-FFF2-40B4-BE49-F238E27FC236}">
                <a16:creationId xmlns:a16="http://schemas.microsoft.com/office/drawing/2014/main" id="{3D0E11C3-C46E-C187-3F56-869877F1C802}"/>
              </a:ext>
            </a:extLst>
          </p:cNvPr>
          <p:cNvSpPr txBox="1"/>
          <p:nvPr/>
        </p:nvSpPr>
        <p:spPr>
          <a:xfrm>
            <a:off x="8959850" y="2266434"/>
            <a:ext cx="2940050" cy="369332"/>
          </a:xfrm>
          <a:prstGeom prst="rect">
            <a:avLst/>
          </a:prstGeom>
          <a:noFill/>
        </p:spPr>
        <p:txBody>
          <a:bodyPr wrap="square">
            <a:spAutoFit/>
          </a:bodyPr>
          <a:lstStyle/>
          <a:p>
            <a:r>
              <a:rPr lang="zh-CN" altLang="en-US" b="1" dirty="0"/>
              <a:t>⟨φ|Eᵦ†Eₐ|ψ⟩ = Cₐᵦ* ⟨φ|ψ⟩</a:t>
            </a:r>
          </a:p>
        </p:txBody>
      </p:sp>
      <p:sp>
        <p:nvSpPr>
          <p:cNvPr id="22" name="箭头: 下 21">
            <a:extLst>
              <a:ext uri="{FF2B5EF4-FFF2-40B4-BE49-F238E27FC236}">
                <a16:creationId xmlns:a16="http://schemas.microsoft.com/office/drawing/2014/main" id="{62FA3221-4613-CFCE-D3D5-6D236FA60A94}"/>
              </a:ext>
            </a:extLst>
          </p:cNvPr>
          <p:cNvSpPr/>
          <p:nvPr/>
        </p:nvSpPr>
        <p:spPr>
          <a:xfrm rot="16200000">
            <a:off x="8440474" y="2174049"/>
            <a:ext cx="388380" cy="624981"/>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1315149B-F1EA-55C2-DEDA-B5BE060C3348}"/>
              </a:ext>
            </a:extLst>
          </p:cNvPr>
          <p:cNvSpPr txBox="1"/>
          <p:nvPr/>
        </p:nvSpPr>
        <p:spPr>
          <a:xfrm>
            <a:off x="5664200" y="2825234"/>
            <a:ext cx="2527300" cy="369332"/>
          </a:xfrm>
          <a:prstGeom prst="rect">
            <a:avLst/>
          </a:prstGeom>
          <a:noFill/>
        </p:spPr>
        <p:txBody>
          <a:bodyPr wrap="square">
            <a:spAutoFit/>
          </a:bodyPr>
          <a:lstStyle/>
          <a:p>
            <a:r>
              <a:rPr lang="zh-CN" altLang="en-US" b="1" dirty="0"/>
              <a:t>⟨φ|Eᵦ†Eₐ|ψ⟩ = Cᵦₐ ⟨φ|ψ⟩</a:t>
            </a:r>
          </a:p>
        </p:txBody>
      </p:sp>
      <p:sp>
        <p:nvSpPr>
          <p:cNvPr id="25" name="箭头: 下 24">
            <a:extLst>
              <a:ext uri="{FF2B5EF4-FFF2-40B4-BE49-F238E27FC236}">
                <a16:creationId xmlns:a16="http://schemas.microsoft.com/office/drawing/2014/main" id="{D9174A82-D59F-431D-020D-1B0E6E40721B}"/>
              </a:ext>
            </a:extLst>
          </p:cNvPr>
          <p:cNvSpPr/>
          <p:nvPr/>
        </p:nvSpPr>
        <p:spPr>
          <a:xfrm>
            <a:off x="6713275" y="2631249"/>
            <a:ext cx="388380" cy="226251"/>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B747C890-361A-85B2-1963-09D19E674674}"/>
              </a:ext>
            </a:extLst>
          </p:cNvPr>
          <p:cNvSpPr txBox="1"/>
          <p:nvPr/>
        </p:nvSpPr>
        <p:spPr>
          <a:xfrm>
            <a:off x="5683250" y="3415784"/>
            <a:ext cx="1816100" cy="369332"/>
          </a:xfrm>
          <a:prstGeom prst="rect">
            <a:avLst/>
          </a:prstGeom>
          <a:noFill/>
        </p:spPr>
        <p:txBody>
          <a:bodyPr wrap="square">
            <a:spAutoFit/>
          </a:bodyPr>
          <a:lstStyle/>
          <a:p>
            <a:r>
              <a:rPr lang="zh-CN" altLang="en-US" b="1" dirty="0"/>
              <a:t>Cᵦₐ = Cₐᵦ*</a:t>
            </a:r>
          </a:p>
        </p:txBody>
      </p:sp>
      <p:sp>
        <p:nvSpPr>
          <p:cNvPr id="29" name="椭圆 28">
            <a:extLst>
              <a:ext uri="{FF2B5EF4-FFF2-40B4-BE49-F238E27FC236}">
                <a16:creationId xmlns:a16="http://schemas.microsoft.com/office/drawing/2014/main" id="{60A72F5B-52EC-3875-A42D-232986DE58D9}"/>
              </a:ext>
            </a:extLst>
          </p:cNvPr>
          <p:cNvSpPr/>
          <p:nvPr/>
        </p:nvSpPr>
        <p:spPr>
          <a:xfrm>
            <a:off x="5410200" y="2415540"/>
            <a:ext cx="70843" cy="6667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47D7D718-2516-1FC0-7B2C-E88A76AF611A}"/>
              </a:ext>
            </a:extLst>
          </p:cNvPr>
          <p:cNvSpPr/>
          <p:nvPr/>
        </p:nvSpPr>
        <p:spPr>
          <a:xfrm>
            <a:off x="5415280" y="3578860"/>
            <a:ext cx="70843" cy="6667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3831F622-54B4-1AB3-6C4E-35C4B1D8C8FD}"/>
              </a:ext>
            </a:extLst>
          </p:cNvPr>
          <p:cNvSpPr/>
          <p:nvPr/>
        </p:nvSpPr>
        <p:spPr>
          <a:xfrm>
            <a:off x="5567680" y="3578860"/>
            <a:ext cx="70843" cy="6667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AAB57D89-9CFD-277F-F63C-9B62E28E30C1}"/>
              </a:ext>
            </a:extLst>
          </p:cNvPr>
          <p:cNvSpPr txBox="1"/>
          <p:nvPr/>
        </p:nvSpPr>
        <p:spPr>
          <a:xfrm>
            <a:off x="7587888" y="3449183"/>
            <a:ext cx="1210941" cy="369332"/>
          </a:xfrm>
          <a:prstGeom prst="rect">
            <a:avLst/>
          </a:prstGeom>
          <a:noFill/>
        </p:spPr>
        <p:txBody>
          <a:bodyPr wrap="square">
            <a:spAutoFit/>
          </a:bodyPr>
          <a:lstStyle/>
          <a:p>
            <a:r>
              <a:rPr lang="zh-CN" altLang="en-US" b="1" dirty="0">
                <a:solidFill>
                  <a:srgbClr val="00B050"/>
                </a:solidFill>
              </a:rPr>
              <a:t>可对角化</a:t>
            </a:r>
          </a:p>
        </p:txBody>
      </p:sp>
      <p:sp>
        <p:nvSpPr>
          <p:cNvPr id="34" name="箭头: 下 33">
            <a:extLst>
              <a:ext uri="{FF2B5EF4-FFF2-40B4-BE49-F238E27FC236}">
                <a16:creationId xmlns:a16="http://schemas.microsoft.com/office/drawing/2014/main" id="{09479BCB-57AF-20B5-EAB3-F4CB04E7E3D8}"/>
              </a:ext>
            </a:extLst>
          </p:cNvPr>
          <p:cNvSpPr/>
          <p:nvPr/>
        </p:nvSpPr>
        <p:spPr>
          <a:xfrm rot="16200000">
            <a:off x="7179588" y="3299791"/>
            <a:ext cx="245011" cy="624981"/>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382959B3-F1A5-C677-8D78-8B7E282280F8}"/>
              </a:ext>
            </a:extLst>
          </p:cNvPr>
          <p:cNvSpPr txBox="1"/>
          <p:nvPr/>
        </p:nvSpPr>
        <p:spPr>
          <a:xfrm>
            <a:off x="9306273" y="3441554"/>
            <a:ext cx="2792875" cy="369332"/>
          </a:xfrm>
          <a:prstGeom prst="rect">
            <a:avLst/>
          </a:prstGeom>
          <a:noFill/>
        </p:spPr>
        <p:txBody>
          <a:bodyPr wrap="square">
            <a:spAutoFit/>
          </a:bodyPr>
          <a:lstStyle/>
          <a:p>
            <a:r>
              <a:rPr lang="zh-CN" altLang="en-US" b="1" dirty="0"/>
              <a:t>D = U† C U，Dₐᵦ = dₐ δₐᵦ</a:t>
            </a:r>
          </a:p>
        </p:txBody>
      </p:sp>
      <p:sp>
        <p:nvSpPr>
          <p:cNvPr id="37" name="箭头: 下 36">
            <a:extLst>
              <a:ext uri="{FF2B5EF4-FFF2-40B4-BE49-F238E27FC236}">
                <a16:creationId xmlns:a16="http://schemas.microsoft.com/office/drawing/2014/main" id="{800E1817-2EFF-6F69-F3B4-8C8AD4294359}"/>
              </a:ext>
            </a:extLst>
          </p:cNvPr>
          <p:cNvSpPr/>
          <p:nvPr/>
        </p:nvSpPr>
        <p:spPr>
          <a:xfrm rot="16200000">
            <a:off x="8864064" y="3318968"/>
            <a:ext cx="245011" cy="624981"/>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4A8A0B1C-4221-C800-DF25-888A686DB220}"/>
              </a:ext>
            </a:extLst>
          </p:cNvPr>
          <p:cNvSpPr txBox="1"/>
          <p:nvPr/>
        </p:nvSpPr>
        <p:spPr>
          <a:xfrm>
            <a:off x="9327182" y="3854438"/>
            <a:ext cx="1651673" cy="369332"/>
          </a:xfrm>
          <a:prstGeom prst="rect">
            <a:avLst/>
          </a:prstGeom>
          <a:noFill/>
        </p:spPr>
        <p:txBody>
          <a:bodyPr wrap="square">
            <a:spAutoFit/>
          </a:bodyPr>
          <a:lstStyle/>
          <a:p>
            <a:r>
              <a:rPr lang="zh-CN" altLang="en-US" b="1" dirty="0"/>
              <a:t>Fₐ = Σᵦ U†ₐᵦ E</a:t>
            </a:r>
            <a:r>
              <a:rPr lang="zh-CN" altLang="en-US" dirty="0"/>
              <a:t>ᵦ</a:t>
            </a:r>
          </a:p>
        </p:txBody>
      </p:sp>
      <p:sp>
        <p:nvSpPr>
          <p:cNvPr id="41" name="文本框 40">
            <a:extLst>
              <a:ext uri="{FF2B5EF4-FFF2-40B4-BE49-F238E27FC236}">
                <a16:creationId xmlns:a16="http://schemas.microsoft.com/office/drawing/2014/main" id="{F00EB1CB-2634-2D93-1A08-AF4D87267FB0}"/>
              </a:ext>
            </a:extLst>
          </p:cNvPr>
          <p:cNvSpPr txBox="1"/>
          <p:nvPr/>
        </p:nvSpPr>
        <p:spPr>
          <a:xfrm>
            <a:off x="5711971" y="4338889"/>
            <a:ext cx="2929411" cy="369332"/>
          </a:xfrm>
          <a:prstGeom prst="rect">
            <a:avLst/>
          </a:prstGeom>
          <a:noFill/>
        </p:spPr>
        <p:txBody>
          <a:bodyPr wrap="square">
            <a:spAutoFit/>
          </a:bodyPr>
          <a:lstStyle/>
          <a:p>
            <a:r>
              <a:rPr lang="zh-CN" altLang="en-US" b="1" dirty="0"/>
              <a:t>⟨ψ|Fₐ† Fᵦ |φ⟩ = dₐ δₐᵦ ⟨ψ|φ⟩</a:t>
            </a:r>
          </a:p>
        </p:txBody>
      </p:sp>
      <p:sp>
        <p:nvSpPr>
          <p:cNvPr id="42" name="椭圆 41">
            <a:extLst>
              <a:ext uri="{FF2B5EF4-FFF2-40B4-BE49-F238E27FC236}">
                <a16:creationId xmlns:a16="http://schemas.microsoft.com/office/drawing/2014/main" id="{5695CC33-7748-3350-1789-E9086942E3E9}"/>
              </a:ext>
            </a:extLst>
          </p:cNvPr>
          <p:cNvSpPr/>
          <p:nvPr/>
        </p:nvSpPr>
        <p:spPr>
          <a:xfrm>
            <a:off x="5428401" y="4457936"/>
            <a:ext cx="70843" cy="6667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C3241AA7-BD75-02A3-3A1F-1770F328C2F5}"/>
              </a:ext>
            </a:extLst>
          </p:cNvPr>
          <p:cNvSpPr/>
          <p:nvPr/>
        </p:nvSpPr>
        <p:spPr>
          <a:xfrm>
            <a:off x="5580801" y="4457936"/>
            <a:ext cx="70843" cy="6667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3831823D-043C-3639-A933-C22B40259300}"/>
              </a:ext>
            </a:extLst>
          </p:cNvPr>
          <p:cNvSpPr/>
          <p:nvPr/>
        </p:nvSpPr>
        <p:spPr>
          <a:xfrm>
            <a:off x="5429410" y="4610336"/>
            <a:ext cx="70843" cy="6667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87F464FA-8DFA-C2CE-F501-63EFE78A8865}"/>
              </a:ext>
            </a:extLst>
          </p:cNvPr>
          <p:cNvSpPr txBox="1"/>
          <p:nvPr/>
        </p:nvSpPr>
        <p:spPr>
          <a:xfrm>
            <a:off x="7250102" y="5743800"/>
            <a:ext cx="6094990" cy="369332"/>
          </a:xfrm>
          <a:prstGeom prst="rect">
            <a:avLst/>
          </a:prstGeom>
          <a:noFill/>
        </p:spPr>
        <p:txBody>
          <a:bodyPr wrap="square">
            <a:spAutoFit/>
          </a:bodyPr>
          <a:lstStyle/>
          <a:p>
            <a:r>
              <a:rPr lang="zh-CN" altLang="en-US" b="1" dirty="0"/>
              <a:t>⟨ψ|Z₁†Z₂|φ⟩ = ⟨ψ|I|φ⟩ = ⟨ψ|φ⟩</a:t>
            </a: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E0D7A5C5-A37C-6705-E350-C38366D6C116}"/>
                  </a:ext>
                </a:extLst>
              </p:cNvPr>
              <p:cNvSpPr txBox="1"/>
              <p:nvPr/>
            </p:nvSpPr>
            <p:spPr>
              <a:xfrm>
                <a:off x="5384655" y="5143878"/>
                <a:ext cx="141545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solidFill>
                          <a:latin typeface="Cambria Math" panose="02040503050406030204" pitchFamily="18" charset="0"/>
                        </a:rPr>
                        <m:t>𝑬𝒙𝒂𝒎𝒑𝒍𝒆</m:t>
                      </m:r>
                    </m:oMath>
                  </m:oMathPara>
                </a14:m>
                <a:endParaRPr lang="zh-CN" altLang="en-US" sz="2400" b="1" i="1" dirty="0">
                  <a:solidFill>
                    <a:schemeClr val="accent2"/>
                  </a:solidFill>
                  <a:latin typeface="Brush Script MT" panose="03060802040406070304" pitchFamily="66" charset="0"/>
                </a:endParaRPr>
              </a:p>
            </p:txBody>
          </p:sp>
        </mc:Choice>
        <mc:Fallback xmlns="">
          <p:sp>
            <p:nvSpPr>
              <p:cNvPr id="47" name="文本框 46">
                <a:extLst>
                  <a:ext uri="{FF2B5EF4-FFF2-40B4-BE49-F238E27FC236}">
                    <a16:creationId xmlns:a16="http://schemas.microsoft.com/office/drawing/2014/main" id="{E0D7A5C5-A37C-6705-E350-C38366D6C116}"/>
                  </a:ext>
                </a:extLst>
              </p:cNvPr>
              <p:cNvSpPr txBox="1">
                <a:spLocks noRot="1" noChangeAspect="1" noMove="1" noResize="1" noEditPoints="1" noAdjustHandles="1" noChangeArrowheads="1" noChangeShapeType="1" noTextEdit="1"/>
              </p:cNvSpPr>
              <p:nvPr/>
            </p:nvSpPr>
            <p:spPr>
              <a:xfrm>
                <a:off x="5384655" y="5143878"/>
                <a:ext cx="1415452" cy="369332"/>
              </a:xfrm>
              <a:prstGeom prst="rect">
                <a:avLst/>
              </a:prstGeom>
              <a:blipFill>
                <a:blip r:embed="rId7"/>
                <a:stretch>
                  <a:fillRect l="-6438" t="-3333" r="-6438" b="-31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35649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81E80-66C1-61FD-250B-895D58D165C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2FD7880-AD3E-7417-1056-D54478A15AFB}"/>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C78B6343-724A-6361-7F36-74D29C2917D0}"/>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E77BFB64-C469-1B19-A0C3-C3E13BAEA8C6}"/>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4.3 </a:t>
            </a:r>
            <a:r>
              <a:rPr lang="zh-CN" altLang="en-US" sz="2200" b="1" dirty="0">
                <a:solidFill>
                  <a:srgbClr val="555555"/>
                </a:solidFill>
                <a:latin typeface="Noto Sans SC"/>
                <a:ea typeface="Noto Sans SC"/>
                <a:cs typeface="Noto Sans SC"/>
                <a:sym typeface="Noto Sans SC"/>
              </a:rPr>
              <a:t>量子纠错的条件</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6" name="文本框 15">
            <a:extLst>
              <a:ext uri="{FF2B5EF4-FFF2-40B4-BE49-F238E27FC236}">
                <a16:creationId xmlns:a16="http://schemas.microsoft.com/office/drawing/2014/main" id="{E7FB1B4C-05A7-D758-0502-C16E9F8AAC54}"/>
              </a:ext>
            </a:extLst>
          </p:cNvPr>
          <p:cNvSpPr txBox="1"/>
          <p:nvPr/>
        </p:nvSpPr>
        <p:spPr>
          <a:xfrm>
            <a:off x="489732" y="2350397"/>
            <a:ext cx="6950773" cy="3970318"/>
          </a:xfrm>
          <a:prstGeom prst="rect">
            <a:avLst/>
          </a:prstGeom>
          <a:noFill/>
        </p:spPr>
        <p:txBody>
          <a:bodyPr wrap="square">
            <a:spAutoFit/>
          </a:bodyPr>
          <a:lstStyle/>
          <a:p>
            <a:r>
              <a:rPr lang="zh-CN" altLang="en-US" b="1" dirty="0"/>
              <a:t>简并码</a:t>
            </a:r>
            <a:endParaRPr lang="en-US" altLang="zh-CN" b="1" dirty="0"/>
          </a:p>
          <a:p>
            <a:endParaRPr lang="en-US" altLang="zh-CN" b="1" dirty="0"/>
          </a:p>
          <a:p>
            <a:r>
              <a:rPr lang="en-US" altLang="zh-CN" b="1" dirty="0"/>
              <a:t>    </a:t>
            </a:r>
            <a:r>
              <a:rPr lang="zh-CN" altLang="en-US" b="1" dirty="0"/>
              <a:t>观察</a:t>
            </a:r>
            <a:r>
              <a:rPr lang="en-US" altLang="zh-CN" b="1" dirty="0"/>
              <a:t>C</a:t>
            </a:r>
            <a:r>
              <a:rPr lang="zh-CN" altLang="en-US" b="1" dirty="0"/>
              <a:t>的秩我们发现当可以取到</a:t>
            </a:r>
            <a:r>
              <a:rPr lang="zh-CN" altLang="en-US" b="1" dirty="0">
                <a:solidFill>
                  <a:schemeClr val="accent2"/>
                </a:solidFill>
              </a:rPr>
              <a:t>最大秩</a:t>
            </a:r>
            <a:r>
              <a:rPr lang="zh-CN" altLang="en-US" b="1" dirty="0"/>
              <a:t>的时候实际就</a:t>
            </a:r>
            <a:r>
              <a:rPr lang="zh-CN" altLang="en-US" b="1" dirty="0">
                <a:solidFill>
                  <a:schemeClr val="accent2"/>
                </a:solidFill>
              </a:rPr>
              <a:t>退化</a:t>
            </a:r>
            <a:r>
              <a:rPr lang="zh-CN" altLang="en-US" b="1" dirty="0"/>
              <a:t>成了</a:t>
            </a:r>
            <a:r>
              <a:rPr lang="zh-CN" altLang="en-US" b="1" dirty="0">
                <a:solidFill>
                  <a:schemeClr val="accent2"/>
                </a:solidFill>
              </a:rPr>
              <a:t>充分条件</a:t>
            </a:r>
            <a:r>
              <a:rPr lang="zh-CN" altLang="en-US" b="1" dirty="0"/>
              <a:t>的情况</a:t>
            </a:r>
            <a:endParaRPr lang="en-US" altLang="zh-CN" b="1" dirty="0"/>
          </a:p>
          <a:p>
            <a:r>
              <a:rPr lang="en-US" altLang="zh-CN" b="1" dirty="0"/>
              <a:t>    </a:t>
            </a:r>
            <a:r>
              <a:rPr lang="zh-CN" altLang="en-US" b="1" dirty="0"/>
              <a:t>而当无法取最大秩时就无法进行退化，此时会出现一种奇妙的状况，错误集里面的错误都是</a:t>
            </a:r>
            <a:r>
              <a:rPr lang="zh-CN" altLang="en-US" b="1" dirty="0">
                <a:solidFill>
                  <a:schemeClr val="accent2"/>
                </a:solidFill>
              </a:rPr>
              <a:t>完全线性无关</a:t>
            </a:r>
            <a:r>
              <a:rPr lang="zh-CN" altLang="en-US" b="1" dirty="0"/>
              <a:t>的，但</a:t>
            </a:r>
            <a:r>
              <a:rPr lang="en-US" altLang="zh-CN" b="1" dirty="0"/>
              <a:t>C</a:t>
            </a:r>
            <a:r>
              <a:rPr lang="zh-CN" altLang="en-US" b="1" dirty="0">
                <a:solidFill>
                  <a:schemeClr val="accent2"/>
                </a:solidFill>
              </a:rPr>
              <a:t>仍无法取到最大秩</a:t>
            </a:r>
            <a:r>
              <a:rPr lang="zh-CN" altLang="en-US" b="1" dirty="0"/>
              <a:t>，这实际就是之前</a:t>
            </a:r>
            <a:r>
              <a:rPr lang="en-US" altLang="zh-CN" b="1" dirty="0" err="1"/>
              <a:t>shor</a:t>
            </a:r>
            <a:r>
              <a:rPr lang="zh-CN" altLang="en-US" b="1" dirty="0"/>
              <a:t>码的状况，我们称之为</a:t>
            </a:r>
            <a:r>
              <a:rPr lang="zh-CN" altLang="en-US" b="1" dirty="0">
                <a:solidFill>
                  <a:schemeClr val="accent2"/>
                </a:solidFill>
              </a:rPr>
              <a:t>简并码。</a:t>
            </a:r>
            <a:endParaRPr lang="en-US" altLang="zh-CN" b="1" dirty="0">
              <a:solidFill>
                <a:schemeClr val="accent2"/>
              </a:solidFill>
            </a:endParaRPr>
          </a:p>
          <a:p>
            <a:endParaRPr lang="en-US" altLang="zh-CN" b="1" dirty="0">
              <a:solidFill>
                <a:schemeClr val="accent2"/>
              </a:solidFill>
            </a:endParaRPr>
          </a:p>
          <a:p>
            <a:r>
              <a:rPr lang="zh-CN" altLang="en-US" b="1" dirty="0"/>
              <a:t>定义</a:t>
            </a:r>
            <a:endParaRPr lang="en-US" altLang="zh-CN" b="1" dirty="0"/>
          </a:p>
          <a:p>
            <a:endParaRPr lang="en-US" altLang="zh-CN" b="1" dirty="0"/>
          </a:p>
          <a:p>
            <a:r>
              <a:rPr lang="zh-CN" altLang="en-US" b="1" dirty="0"/>
              <a:t>    假设 </a:t>
            </a:r>
            <a:r>
              <a:rPr lang="en-US" altLang="zh-CN" b="1" dirty="0"/>
              <a:t>(U, ℰ) </a:t>
            </a:r>
            <a:r>
              <a:rPr lang="zh-CN" altLang="en-US" b="1" dirty="0"/>
              <a:t>是一个 </a:t>
            </a:r>
            <a:r>
              <a:rPr lang="en-US" altLang="zh-CN" b="1" dirty="0"/>
              <a:t>QECC </a:t>
            </a:r>
            <a:r>
              <a:rPr lang="zh-CN" altLang="en-US" b="1" dirty="0"/>
              <a:t>且 </a:t>
            </a:r>
            <a:r>
              <a:rPr lang="en-US" altLang="zh-CN" b="1" dirty="0">
                <a:solidFill>
                  <a:schemeClr val="accent2"/>
                </a:solidFill>
              </a:rPr>
              <a:t>ℰ </a:t>
            </a:r>
            <a:r>
              <a:rPr lang="zh-CN" altLang="en-US" b="1" dirty="0">
                <a:solidFill>
                  <a:schemeClr val="accent2"/>
                </a:solidFill>
              </a:rPr>
              <a:t>线性无关</a:t>
            </a:r>
            <a:r>
              <a:rPr lang="zh-CN" altLang="en-US" b="1" dirty="0"/>
              <a:t>。如果 </a:t>
            </a:r>
            <a:r>
              <a:rPr lang="en-US" altLang="zh-CN" b="1" dirty="0">
                <a:solidFill>
                  <a:schemeClr val="accent2"/>
                </a:solidFill>
              </a:rPr>
              <a:t>rank(Cₐᵦ) &lt; |ℰ|</a:t>
            </a:r>
            <a:r>
              <a:rPr lang="zh-CN" altLang="en-US" b="1" dirty="0"/>
              <a:t>，则该码是</a:t>
            </a:r>
            <a:r>
              <a:rPr lang="zh-CN" altLang="en-US" b="1" dirty="0">
                <a:solidFill>
                  <a:schemeClr val="accent2"/>
                </a:solidFill>
              </a:rPr>
              <a:t>简并</a:t>
            </a:r>
            <a:r>
              <a:rPr lang="zh-CN" altLang="en-US" b="1" dirty="0"/>
              <a:t>的。</a:t>
            </a:r>
            <a:endParaRPr lang="en-US" altLang="zh-CN" b="1" dirty="0"/>
          </a:p>
          <a:p>
            <a:endParaRPr lang="en-US" altLang="zh-CN" b="1" dirty="0"/>
          </a:p>
          <a:p>
            <a:r>
              <a:rPr lang="en-US" altLang="zh-CN" b="1" dirty="0"/>
              <a:t>  </a:t>
            </a:r>
          </a:p>
        </p:txBody>
      </p:sp>
      <p:sp>
        <p:nvSpPr>
          <p:cNvPr id="5" name="文本框 4">
            <a:extLst>
              <a:ext uri="{FF2B5EF4-FFF2-40B4-BE49-F238E27FC236}">
                <a16:creationId xmlns:a16="http://schemas.microsoft.com/office/drawing/2014/main" id="{40E09B18-C3C5-C203-427C-96EB4EB05E61}"/>
              </a:ext>
            </a:extLst>
          </p:cNvPr>
          <p:cNvSpPr txBox="1"/>
          <p:nvPr/>
        </p:nvSpPr>
        <p:spPr>
          <a:xfrm>
            <a:off x="9548776" y="3084290"/>
            <a:ext cx="2658421" cy="369332"/>
          </a:xfrm>
          <a:prstGeom prst="rect">
            <a:avLst/>
          </a:prstGeom>
          <a:noFill/>
        </p:spPr>
        <p:txBody>
          <a:bodyPr wrap="square">
            <a:spAutoFit/>
          </a:bodyPr>
          <a:lstStyle/>
          <a:p>
            <a:r>
              <a:rPr lang="zh-CN" altLang="en-US" b="1" dirty="0"/>
              <a:t>⟨ψ|Gₐ†Gᵦ|φ⟩ = δₐᵦ ⟨ψ|φ⟩</a:t>
            </a:r>
          </a:p>
        </p:txBody>
      </p:sp>
      <p:sp>
        <p:nvSpPr>
          <p:cNvPr id="6" name="文本框 5">
            <a:extLst>
              <a:ext uri="{FF2B5EF4-FFF2-40B4-BE49-F238E27FC236}">
                <a16:creationId xmlns:a16="http://schemas.microsoft.com/office/drawing/2014/main" id="{34B96303-B134-C6A6-52CF-47870C11C08B}"/>
              </a:ext>
            </a:extLst>
          </p:cNvPr>
          <p:cNvSpPr txBox="1"/>
          <p:nvPr/>
        </p:nvSpPr>
        <p:spPr>
          <a:xfrm>
            <a:off x="7641256" y="3078235"/>
            <a:ext cx="1628964" cy="369332"/>
          </a:xfrm>
          <a:prstGeom prst="rect">
            <a:avLst/>
          </a:prstGeom>
          <a:noFill/>
        </p:spPr>
        <p:txBody>
          <a:bodyPr wrap="square">
            <a:spAutoFit/>
          </a:bodyPr>
          <a:lstStyle/>
          <a:p>
            <a:r>
              <a:rPr lang="zh-CN" altLang="en-US" b="1" dirty="0"/>
              <a:t>Gₐ = Fₐ/√dₐ</a:t>
            </a:r>
          </a:p>
        </p:txBody>
      </p:sp>
      <p:sp>
        <p:nvSpPr>
          <p:cNvPr id="7" name="箭头: 下 6">
            <a:extLst>
              <a:ext uri="{FF2B5EF4-FFF2-40B4-BE49-F238E27FC236}">
                <a16:creationId xmlns:a16="http://schemas.microsoft.com/office/drawing/2014/main" id="{6C31F49E-676B-1EFE-3661-EF12047B2DA6}"/>
              </a:ext>
            </a:extLst>
          </p:cNvPr>
          <p:cNvSpPr/>
          <p:nvPr/>
        </p:nvSpPr>
        <p:spPr>
          <a:xfrm rot="16200000">
            <a:off x="9185733" y="3213274"/>
            <a:ext cx="245011" cy="168086"/>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74776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95744-4A46-D935-A2A4-BB21AE5FDA4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63232BC-7A3E-CB84-1301-CA0522F09CC0}"/>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3EC8DAAC-197A-4B49-FC39-A0F06E7FC71C}"/>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6906D91C-D781-B8F2-EF78-A5AD2912AB26}"/>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200" b="1" dirty="0">
                <a:solidFill>
                  <a:srgbClr val="555555"/>
                </a:solidFill>
                <a:latin typeface="Noto Sans SC"/>
                <a:ea typeface="Noto Sans SC"/>
                <a:cs typeface="Noto Sans SC"/>
                <a:sym typeface="Noto Sans SC"/>
              </a:rPr>
              <a:t>回顾</a:t>
            </a:r>
            <a:r>
              <a:rPr lang="en-US" altLang="zh-CN" sz="2200" b="1" dirty="0">
                <a:solidFill>
                  <a:srgbClr val="555555"/>
                </a:solidFill>
                <a:latin typeface="Noto Sans SC"/>
                <a:ea typeface="Noto Sans SC"/>
                <a:cs typeface="Noto Sans SC"/>
                <a:sym typeface="Noto Sans SC"/>
              </a:rPr>
              <a:t> </a:t>
            </a:r>
            <a:endParaRPr lang="en-US" sz="11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5466041-96C6-68C5-21B0-73743B2D07C3}"/>
                  </a:ext>
                </a:extLst>
              </p:cNvPr>
              <p:cNvSpPr txBox="1"/>
              <p:nvPr/>
            </p:nvSpPr>
            <p:spPr>
              <a:xfrm>
                <a:off x="489732" y="2350397"/>
                <a:ext cx="6950773" cy="2862322"/>
              </a:xfrm>
              <a:prstGeom prst="rect">
                <a:avLst/>
              </a:prstGeom>
              <a:noFill/>
            </p:spPr>
            <p:txBody>
              <a:bodyPr wrap="square">
                <a:spAutoFit/>
              </a:bodyPr>
              <a:lstStyle/>
              <a:p>
                <a:pPr marL="342900" indent="-342900">
                  <a:buAutoNum type="arabicPeriod"/>
                </a:pPr>
                <a:r>
                  <a:rPr lang="en-US" altLang="zh-CN" b="1" dirty="0"/>
                  <a:t>3bit</a:t>
                </a:r>
                <a:r>
                  <a:rPr lang="zh-CN" altLang="en-US" b="1" dirty="0"/>
                  <a:t>码的电路模型</a:t>
                </a:r>
                <a:endParaRPr lang="en-US" altLang="zh-CN" b="1" dirty="0"/>
              </a:p>
              <a:p>
                <a:r>
                  <a:rPr lang="en-US" altLang="zh-CN" b="1" dirty="0"/>
                  <a:t>        </a:t>
                </a:r>
                <a:r>
                  <a:rPr lang="zh-CN" altLang="en-US" b="1" dirty="0"/>
                  <a:t>辅助码，症候，</a:t>
                </a:r>
                <a:r>
                  <a:rPr lang="en-US" altLang="zh-CN" b="1" dirty="0" err="1"/>
                  <a:t>cnot</a:t>
                </a:r>
                <a:r>
                  <a:rPr lang="zh-CN" altLang="en-US" b="1" dirty="0"/>
                  <a:t>门</a:t>
                </a:r>
                <a:endParaRPr lang="en-US" altLang="zh-CN" b="1" dirty="0"/>
              </a:p>
              <a:p>
                <a:pPr marL="342900" indent="-342900">
                  <a:buAutoNum type="arabicPeriod" startAt="2"/>
                </a:pPr>
                <a:r>
                  <a:rPr lang="en-US" altLang="zh-CN" b="1" dirty="0"/>
                  <a:t>Shor</a:t>
                </a:r>
                <a:r>
                  <a:rPr lang="zh-CN" altLang="en-US" b="1" dirty="0"/>
                  <a:t>码</a:t>
                </a:r>
                <a:endParaRPr lang="en-US" altLang="zh-CN" b="1" dirty="0"/>
              </a:p>
              <a:p>
                <a:r>
                  <a:rPr lang="en-US" altLang="zh-CN" b="1" dirty="0"/>
                  <a:t>        </a:t>
                </a:r>
                <a:r>
                  <a:rPr lang="zh-CN" altLang="en-US" b="1" dirty="0"/>
                  <a:t>同时修复比特翻转与相位翻转</a:t>
                </a:r>
                <a:endParaRPr lang="en-US" altLang="zh-CN" b="1" dirty="0"/>
              </a:p>
              <a:p>
                <a:pPr marL="342900" indent="-342900">
                  <a:buAutoNum type="arabicPeriod" startAt="3"/>
                </a:pPr>
                <a:r>
                  <a:rPr lang="zh-CN" altLang="en-US" b="1" dirty="0"/>
                  <a:t>量子纠错理论概念</a:t>
                </a:r>
                <a:endParaRPr lang="en-US" altLang="zh-CN" b="1" dirty="0"/>
              </a:p>
              <a:p>
                <a:r>
                  <a:rPr lang="en-US" altLang="zh-CN" b="1" dirty="0"/>
                  <a:t>        </a:t>
                </a:r>
                <a:r>
                  <a:rPr lang="zh-CN" altLang="en-US" b="1" dirty="0"/>
                  <a:t>定义 </a:t>
                </a:r>
                <a14:m>
                  <m:oMath xmlns:m="http://schemas.openxmlformats.org/officeDocument/2006/math">
                    <m:d>
                      <m:dPr>
                        <m:sepChr m:val=","/>
                        <m:ctrlPr>
                          <a:rPr lang="ar-AE" altLang="zh-CN" b="1" i="1">
                            <a:solidFill>
                              <a:schemeClr val="accent2"/>
                            </a:solidFill>
                            <a:latin typeface="Cambria Math" panose="02040503050406030204" pitchFamily="18" charset="0"/>
                          </a:rPr>
                        </m:ctrlPr>
                      </m:dPr>
                      <m:e>
                        <m:r>
                          <a:rPr lang="zh-CN" altLang="ar-AE" b="1" i="1">
                            <a:solidFill>
                              <a:schemeClr val="accent2"/>
                            </a:solidFill>
                            <a:latin typeface="Cambria Math" panose="02040503050406030204" pitchFamily="18" charset="0"/>
                          </a:rPr>
                          <m:t>𝑼</m:t>
                        </m:r>
                      </m:e>
                      <m:e>
                        <m:r>
                          <a:rPr lang="ar-AE" altLang="zh-CN" b="1">
                            <a:solidFill>
                              <a:schemeClr val="accent2"/>
                            </a:solidFill>
                            <a:latin typeface="Cambria Math" panose="02040503050406030204" pitchFamily="18" charset="0"/>
                          </a:rPr>
                          <m:t>𝓔</m:t>
                        </m:r>
                      </m:e>
                    </m:d>
                  </m:oMath>
                </a14:m>
                <a:r>
                  <a:rPr lang="en-US" altLang="zh-CN" b="1" dirty="0"/>
                  <a:t> / </a:t>
                </a:r>
                <a14:m>
                  <m:oMath xmlns:m="http://schemas.openxmlformats.org/officeDocument/2006/math">
                    <m:d>
                      <m:dPr>
                        <m:sepChr m:val=","/>
                        <m:ctrlPr>
                          <a:rPr lang="ar-AE" altLang="zh-CN" b="1" i="1" smtClean="0">
                            <a:solidFill>
                              <a:schemeClr val="accent2"/>
                            </a:solidFill>
                            <a:latin typeface="Cambria Math" panose="02040503050406030204" pitchFamily="18" charset="0"/>
                          </a:rPr>
                        </m:ctrlPr>
                      </m:dPr>
                      <m:e>
                        <m:r>
                          <a:rPr lang="en-US" altLang="zh-CN" b="1" i="1">
                            <a:solidFill>
                              <a:schemeClr val="accent2"/>
                            </a:solidFill>
                            <a:latin typeface="Cambria Math" panose="02040503050406030204" pitchFamily="18" charset="0"/>
                          </a:rPr>
                          <m:t>𝑸</m:t>
                        </m:r>
                      </m:e>
                      <m:e>
                        <m:r>
                          <a:rPr lang="ar-AE" altLang="zh-CN" b="1">
                            <a:solidFill>
                              <a:schemeClr val="accent2"/>
                            </a:solidFill>
                            <a:latin typeface="Cambria Math" panose="02040503050406030204" pitchFamily="18" charset="0"/>
                          </a:rPr>
                          <m:t>𝓔</m:t>
                        </m:r>
                      </m:e>
                    </m:d>
                  </m:oMath>
                </a14:m>
                <a:endParaRPr lang="en-US" altLang="zh-CN" b="1" dirty="0"/>
              </a:p>
              <a:p>
                <a:r>
                  <a:rPr lang="en-US" altLang="zh-CN" b="1" dirty="0"/>
                  <a:t>        </a:t>
                </a:r>
                <a:r>
                  <a:rPr lang="zh-CN" altLang="en-US" b="1" dirty="0"/>
                  <a:t>性质 </a:t>
                </a:r>
                <a:r>
                  <a:rPr lang="zh-CN" altLang="en-US" b="1" dirty="0">
                    <a:solidFill>
                      <a:schemeClr val="accent2"/>
                    </a:solidFill>
                  </a:rPr>
                  <a:t>线性性质</a:t>
                </a:r>
                <a:endParaRPr lang="en-US" altLang="zh-CN" b="1" dirty="0">
                  <a:solidFill>
                    <a:schemeClr val="accent2"/>
                  </a:solidFill>
                </a:endParaRPr>
              </a:p>
              <a:p>
                <a:r>
                  <a:rPr lang="en-US" altLang="zh-CN" b="1" dirty="0"/>
                  <a:t>        </a:t>
                </a:r>
                <a:r>
                  <a:rPr lang="zh-CN" altLang="en-US" b="1" dirty="0"/>
                  <a:t>条件 </a:t>
                </a:r>
                <a:r>
                  <a:rPr lang="zh-CN" altLang="en-US" b="1" dirty="0">
                    <a:solidFill>
                      <a:schemeClr val="accent2"/>
                    </a:solidFill>
                  </a:rPr>
                  <a:t>充分条件</a:t>
                </a:r>
                <a:r>
                  <a:rPr lang="en-US" altLang="zh-CN" b="1" dirty="0"/>
                  <a:t>/ </a:t>
                </a:r>
                <a:r>
                  <a:rPr lang="en-US" altLang="zh-CN" b="1" dirty="0">
                    <a:solidFill>
                      <a:schemeClr val="accent2"/>
                    </a:solidFill>
                  </a:rPr>
                  <a:t>QECC</a:t>
                </a:r>
                <a:r>
                  <a:rPr lang="zh-CN" altLang="en-US" b="1" dirty="0">
                    <a:solidFill>
                      <a:schemeClr val="accent2"/>
                    </a:solidFill>
                  </a:rPr>
                  <a:t>条件</a:t>
                </a:r>
                <a:r>
                  <a:rPr lang="en-US" altLang="zh-CN" b="1" dirty="0">
                    <a:solidFill>
                      <a:schemeClr val="accent2"/>
                    </a:solidFill>
                  </a:rPr>
                  <a:t> </a:t>
                </a:r>
                <a:r>
                  <a:rPr lang="en-US" altLang="zh-CN" b="1" dirty="0">
                    <a:sym typeface="Wingdings" panose="05000000000000000000" pitchFamily="2" charset="2"/>
                  </a:rPr>
                  <a:t> </a:t>
                </a:r>
                <a:r>
                  <a:rPr lang="zh-CN" altLang="en-US" b="1" dirty="0">
                    <a:sym typeface="Wingdings" panose="05000000000000000000" pitchFamily="2" charset="2"/>
                  </a:rPr>
                  <a:t>简并码 </a:t>
                </a:r>
                <a:r>
                  <a:rPr lang="en-US" altLang="zh-CN" b="1" dirty="0">
                    <a:sym typeface="Wingdings" panose="05000000000000000000" pitchFamily="2" charset="2"/>
                  </a:rPr>
                  <a:t>(Shor</a:t>
                </a:r>
                <a:r>
                  <a:rPr lang="zh-CN" altLang="en-US" b="1" dirty="0">
                    <a:sym typeface="Wingdings" panose="05000000000000000000" pitchFamily="2" charset="2"/>
                  </a:rPr>
                  <a:t>码</a:t>
                </a:r>
                <a:r>
                  <a:rPr lang="en-US" altLang="zh-CN" b="1" dirty="0">
                    <a:sym typeface="Wingdings" panose="05000000000000000000" pitchFamily="2" charset="2"/>
                  </a:rPr>
                  <a:t>)</a:t>
                </a:r>
                <a:endParaRPr lang="en-US" altLang="zh-CN" b="1" dirty="0"/>
              </a:p>
              <a:p>
                <a:r>
                  <a:rPr lang="en-US" altLang="zh-CN" b="1" dirty="0"/>
                  <a:t>      </a:t>
                </a:r>
              </a:p>
              <a:p>
                <a:r>
                  <a:rPr lang="en-US" altLang="zh-CN" b="1" dirty="0"/>
                  <a:t>  </a:t>
                </a:r>
              </a:p>
            </p:txBody>
          </p:sp>
        </mc:Choice>
        <mc:Fallback xmlns="">
          <p:sp>
            <p:nvSpPr>
              <p:cNvPr id="16" name="文本框 15">
                <a:extLst>
                  <a:ext uri="{FF2B5EF4-FFF2-40B4-BE49-F238E27FC236}">
                    <a16:creationId xmlns:a16="http://schemas.microsoft.com/office/drawing/2014/main" id="{A5466041-96C6-68C5-21B0-73743B2D07C3}"/>
                  </a:ext>
                </a:extLst>
              </p:cNvPr>
              <p:cNvSpPr txBox="1">
                <a:spLocks noRot="1" noChangeAspect="1" noMove="1" noResize="1" noEditPoints="1" noAdjustHandles="1" noChangeArrowheads="1" noChangeShapeType="1" noTextEdit="1"/>
              </p:cNvSpPr>
              <p:nvPr/>
            </p:nvSpPr>
            <p:spPr>
              <a:xfrm>
                <a:off x="489732" y="2350397"/>
                <a:ext cx="6950773" cy="2862322"/>
              </a:xfrm>
              <a:prstGeom prst="rect">
                <a:avLst/>
              </a:prstGeom>
              <a:blipFill>
                <a:blip r:embed="rId3"/>
                <a:stretch>
                  <a:fillRect l="-438" t="-1279"/>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8ECF971E-F576-23BE-3AAA-04CB09942F83}"/>
              </a:ext>
            </a:extLst>
          </p:cNvPr>
          <p:cNvPicPr>
            <a:picLocks noChangeAspect="1"/>
          </p:cNvPicPr>
          <p:nvPr/>
        </p:nvPicPr>
        <p:blipFill>
          <a:blip r:embed="rId4"/>
          <a:stretch>
            <a:fillRect/>
          </a:stretch>
        </p:blipFill>
        <p:spPr>
          <a:xfrm>
            <a:off x="7856474" y="2181509"/>
            <a:ext cx="3849549" cy="847735"/>
          </a:xfrm>
          <a:prstGeom prst="rect">
            <a:avLst/>
          </a:prstGeom>
        </p:spPr>
      </p:pic>
      <p:pic>
        <p:nvPicPr>
          <p:cNvPr id="9" name="图片 8">
            <a:extLst>
              <a:ext uri="{FF2B5EF4-FFF2-40B4-BE49-F238E27FC236}">
                <a16:creationId xmlns:a16="http://schemas.microsoft.com/office/drawing/2014/main" id="{95CC13A0-D303-39F0-0A5A-260E0B505E79}"/>
              </a:ext>
            </a:extLst>
          </p:cNvPr>
          <p:cNvPicPr>
            <a:picLocks noChangeAspect="1"/>
          </p:cNvPicPr>
          <p:nvPr/>
        </p:nvPicPr>
        <p:blipFill>
          <a:blip r:embed="rId5"/>
          <a:stretch>
            <a:fillRect/>
          </a:stretch>
        </p:blipFill>
        <p:spPr>
          <a:xfrm>
            <a:off x="7928885" y="1882515"/>
            <a:ext cx="3799565" cy="371985"/>
          </a:xfrm>
          <a:prstGeom prst="rect">
            <a:avLst/>
          </a:prstGeom>
        </p:spPr>
      </p:pic>
      <p:pic>
        <p:nvPicPr>
          <p:cNvPr id="10" name="图片 9">
            <a:extLst>
              <a:ext uri="{FF2B5EF4-FFF2-40B4-BE49-F238E27FC236}">
                <a16:creationId xmlns:a16="http://schemas.microsoft.com/office/drawing/2014/main" id="{EA1BEF77-EDDF-CBA7-9E02-EB00D5991108}"/>
              </a:ext>
            </a:extLst>
          </p:cNvPr>
          <p:cNvPicPr>
            <a:picLocks noChangeAspect="1"/>
          </p:cNvPicPr>
          <p:nvPr/>
        </p:nvPicPr>
        <p:blipFill>
          <a:blip r:embed="rId6"/>
          <a:stretch>
            <a:fillRect/>
          </a:stretch>
        </p:blipFill>
        <p:spPr>
          <a:xfrm>
            <a:off x="9116933" y="1225550"/>
            <a:ext cx="1318931" cy="469900"/>
          </a:xfrm>
          <a:prstGeom prst="rect">
            <a:avLst/>
          </a:prstGeom>
        </p:spPr>
      </p:pic>
      <p:pic>
        <p:nvPicPr>
          <p:cNvPr id="11" name="图片 10">
            <a:extLst>
              <a:ext uri="{FF2B5EF4-FFF2-40B4-BE49-F238E27FC236}">
                <a16:creationId xmlns:a16="http://schemas.microsoft.com/office/drawing/2014/main" id="{4DE4D9D9-5854-BE03-FBDF-62EC6EA6B0BA}"/>
              </a:ext>
            </a:extLst>
          </p:cNvPr>
          <p:cNvPicPr>
            <a:picLocks noChangeAspect="1"/>
          </p:cNvPicPr>
          <p:nvPr/>
        </p:nvPicPr>
        <p:blipFill>
          <a:blip r:embed="rId7"/>
          <a:stretch>
            <a:fillRect/>
          </a:stretch>
        </p:blipFill>
        <p:spPr>
          <a:xfrm>
            <a:off x="8163711" y="4352142"/>
            <a:ext cx="3251244" cy="406406"/>
          </a:xfrm>
          <a:prstGeom prst="rect">
            <a:avLst/>
          </a:prstGeom>
        </p:spPr>
      </p:pic>
      <p:pic>
        <p:nvPicPr>
          <p:cNvPr id="12" name="图片 11">
            <a:extLst>
              <a:ext uri="{FF2B5EF4-FFF2-40B4-BE49-F238E27FC236}">
                <a16:creationId xmlns:a16="http://schemas.microsoft.com/office/drawing/2014/main" id="{9B5EF09A-FBCA-B0BB-1D58-CA253755907E}"/>
              </a:ext>
            </a:extLst>
          </p:cNvPr>
          <p:cNvPicPr>
            <a:picLocks noChangeAspect="1"/>
          </p:cNvPicPr>
          <p:nvPr/>
        </p:nvPicPr>
        <p:blipFill>
          <a:blip r:embed="rId8"/>
          <a:stretch>
            <a:fillRect/>
          </a:stretch>
        </p:blipFill>
        <p:spPr>
          <a:xfrm>
            <a:off x="7657720" y="4771243"/>
            <a:ext cx="4211265" cy="752484"/>
          </a:xfrm>
          <a:prstGeom prst="rect">
            <a:avLst/>
          </a:prstGeom>
        </p:spPr>
      </p:pic>
      <p:pic>
        <p:nvPicPr>
          <p:cNvPr id="13" name="图片 12">
            <a:extLst>
              <a:ext uri="{FF2B5EF4-FFF2-40B4-BE49-F238E27FC236}">
                <a16:creationId xmlns:a16="http://schemas.microsoft.com/office/drawing/2014/main" id="{6D36917A-53FE-0A80-D14A-58B192098191}"/>
              </a:ext>
            </a:extLst>
          </p:cNvPr>
          <p:cNvPicPr>
            <a:picLocks noChangeAspect="1"/>
          </p:cNvPicPr>
          <p:nvPr/>
        </p:nvPicPr>
        <p:blipFill>
          <a:blip r:embed="rId9"/>
          <a:stretch>
            <a:fillRect/>
          </a:stretch>
        </p:blipFill>
        <p:spPr>
          <a:xfrm>
            <a:off x="7673571" y="5501458"/>
            <a:ext cx="4306487" cy="444541"/>
          </a:xfrm>
          <a:prstGeom prst="rect">
            <a:avLst/>
          </a:prstGeom>
        </p:spPr>
      </p:pic>
      <p:sp>
        <p:nvSpPr>
          <p:cNvPr id="15" name="文本框 14">
            <a:extLst>
              <a:ext uri="{FF2B5EF4-FFF2-40B4-BE49-F238E27FC236}">
                <a16:creationId xmlns:a16="http://schemas.microsoft.com/office/drawing/2014/main" id="{49F4DBF7-2298-17E3-158B-CFA07E1589A8}"/>
              </a:ext>
            </a:extLst>
          </p:cNvPr>
          <p:cNvSpPr txBox="1"/>
          <p:nvPr/>
        </p:nvSpPr>
        <p:spPr>
          <a:xfrm>
            <a:off x="7631380" y="1168131"/>
            <a:ext cx="6095010" cy="369332"/>
          </a:xfrm>
          <a:prstGeom prst="rect">
            <a:avLst/>
          </a:prstGeom>
          <a:noFill/>
        </p:spPr>
        <p:txBody>
          <a:bodyPr wrap="square">
            <a:spAutoFit/>
          </a:bodyPr>
          <a:lstStyle/>
          <a:p>
            <a:r>
              <a:rPr lang="zh-CN" altLang="en-US" b="1" dirty="0">
                <a:solidFill>
                  <a:schemeClr val="accent2"/>
                </a:solidFill>
              </a:rPr>
              <a:t>充分条件</a:t>
            </a:r>
            <a:endParaRPr lang="zh-CN" altLang="en-US" dirty="0"/>
          </a:p>
        </p:txBody>
      </p:sp>
      <p:sp>
        <p:nvSpPr>
          <p:cNvPr id="18" name="文本框 17">
            <a:extLst>
              <a:ext uri="{FF2B5EF4-FFF2-40B4-BE49-F238E27FC236}">
                <a16:creationId xmlns:a16="http://schemas.microsoft.com/office/drawing/2014/main" id="{412C3995-78E8-0688-2AD4-FAC338FD2F4A}"/>
              </a:ext>
            </a:extLst>
          </p:cNvPr>
          <p:cNvSpPr txBox="1"/>
          <p:nvPr/>
        </p:nvSpPr>
        <p:spPr>
          <a:xfrm>
            <a:off x="7628579" y="4014240"/>
            <a:ext cx="6864054" cy="369332"/>
          </a:xfrm>
          <a:prstGeom prst="rect">
            <a:avLst/>
          </a:prstGeom>
          <a:noFill/>
        </p:spPr>
        <p:txBody>
          <a:bodyPr wrap="square">
            <a:spAutoFit/>
          </a:bodyPr>
          <a:lstStyle/>
          <a:p>
            <a:r>
              <a:rPr lang="en-US" altLang="zh-CN" b="1" dirty="0">
                <a:solidFill>
                  <a:schemeClr val="accent2"/>
                </a:solidFill>
              </a:rPr>
              <a:t>QECC</a:t>
            </a:r>
            <a:r>
              <a:rPr lang="zh-CN" altLang="en-US" b="1" dirty="0">
                <a:solidFill>
                  <a:schemeClr val="accent2"/>
                </a:solidFill>
              </a:rPr>
              <a:t>条件</a:t>
            </a:r>
            <a:endParaRPr lang="zh-CN" altLang="en-US" dirty="0"/>
          </a:p>
        </p:txBody>
      </p:sp>
    </p:spTree>
    <p:extLst>
      <p:ext uri="{BB962C8B-B14F-4D97-AF65-F5344CB8AC3E}">
        <p14:creationId xmlns:p14="http://schemas.microsoft.com/office/powerpoint/2010/main" val="29045692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96FC6-6E27-B2C1-CC7B-28C3FBDD090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C2EAC1C-3519-8F89-11C4-84642ABA2F1C}"/>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345B3228-6DCD-D4D0-4095-CA90D8C3F4E7}"/>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955AC964-B623-591D-E75A-9F0C2991029A}"/>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4.3 </a:t>
            </a:r>
            <a:r>
              <a:rPr lang="zh-CN" altLang="en-US" sz="2200" b="1" dirty="0">
                <a:solidFill>
                  <a:srgbClr val="555555"/>
                </a:solidFill>
                <a:latin typeface="Noto Sans SC"/>
                <a:ea typeface="Noto Sans SC"/>
                <a:cs typeface="Noto Sans SC"/>
                <a:sym typeface="Noto Sans SC"/>
              </a:rPr>
              <a:t>量子纠错的条件</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16" name="文本框 15">
            <a:extLst>
              <a:ext uri="{FF2B5EF4-FFF2-40B4-BE49-F238E27FC236}">
                <a16:creationId xmlns:a16="http://schemas.microsoft.com/office/drawing/2014/main" id="{46AFF781-BA10-C302-7D9A-37FEC606E913}"/>
              </a:ext>
            </a:extLst>
          </p:cNvPr>
          <p:cNvSpPr txBox="1"/>
          <p:nvPr/>
        </p:nvSpPr>
        <p:spPr>
          <a:xfrm>
            <a:off x="489732" y="2350397"/>
            <a:ext cx="6950773" cy="3693319"/>
          </a:xfrm>
          <a:prstGeom prst="rect">
            <a:avLst/>
          </a:prstGeom>
          <a:noFill/>
        </p:spPr>
        <p:txBody>
          <a:bodyPr wrap="square">
            <a:spAutoFit/>
          </a:bodyPr>
          <a:lstStyle/>
          <a:p>
            <a:r>
              <a:rPr lang="zh-CN" altLang="en-US" b="1" dirty="0"/>
              <a:t>权</a:t>
            </a:r>
            <a:r>
              <a:rPr lang="en-US" altLang="zh-CN" b="1" dirty="0"/>
              <a:t>(weight)</a:t>
            </a:r>
          </a:p>
          <a:p>
            <a:endParaRPr lang="en-US" altLang="zh-CN" b="1" dirty="0"/>
          </a:p>
          <a:p>
            <a:r>
              <a:rPr lang="zh-CN" altLang="en-US" b="1" dirty="0"/>
              <a:t>  指一个错误算子</a:t>
            </a:r>
            <a:r>
              <a:rPr lang="en-US" altLang="zh-CN" b="1" dirty="0"/>
              <a:t>(</a:t>
            </a:r>
            <a:r>
              <a:rPr lang="zh-CN" altLang="en-US" b="1" dirty="0"/>
              <a:t>通常是 </a:t>
            </a:r>
            <a:r>
              <a:rPr lang="en-US" altLang="zh-CN" b="1" dirty="0"/>
              <a:t>Pauli </a:t>
            </a:r>
            <a:r>
              <a:rPr lang="zh-CN" altLang="en-US" b="1" dirty="0"/>
              <a:t>算子</a:t>
            </a:r>
            <a:r>
              <a:rPr lang="en-US" altLang="zh-CN" b="1" dirty="0"/>
              <a:t>)</a:t>
            </a:r>
            <a:r>
              <a:rPr lang="zh-CN" altLang="en-US" b="1" dirty="0">
                <a:solidFill>
                  <a:schemeClr val="accent2"/>
                </a:solidFill>
              </a:rPr>
              <a:t>非平凡作用</a:t>
            </a:r>
            <a:r>
              <a:rPr lang="zh-CN" altLang="en-US" b="1" dirty="0"/>
              <a:t>的量子比特个数</a:t>
            </a:r>
            <a:endParaRPr lang="en-US" altLang="zh-CN" b="1" dirty="0"/>
          </a:p>
          <a:p>
            <a:endParaRPr lang="en-US" altLang="zh-CN" b="1" dirty="0"/>
          </a:p>
          <a:p>
            <a:r>
              <a:rPr lang="zh-CN" altLang="en-US" b="1" dirty="0"/>
              <a:t>距离</a:t>
            </a:r>
            <a:r>
              <a:rPr lang="en-US" altLang="zh-CN" b="1" dirty="0"/>
              <a:t>(distance)</a:t>
            </a:r>
          </a:p>
          <a:p>
            <a:endParaRPr lang="en-US" altLang="zh-CN" b="1" dirty="0"/>
          </a:p>
          <a:p>
            <a:r>
              <a:rPr lang="zh-CN" altLang="en-US" b="1" dirty="0"/>
              <a:t>  </a:t>
            </a:r>
            <a:r>
              <a:rPr lang="zh-CN" altLang="en-US" b="1" dirty="0">
                <a:solidFill>
                  <a:schemeClr val="accent2"/>
                </a:solidFill>
              </a:rPr>
              <a:t>无法满足</a:t>
            </a:r>
            <a:r>
              <a:rPr lang="en-US" altLang="zh-CN" b="1" dirty="0">
                <a:solidFill>
                  <a:schemeClr val="accent2"/>
                </a:solidFill>
              </a:rPr>
              <a:t>QECC</a:t>
            </a:r>
            <a:r>
              <a:rPr lang="zh-CN" altLang="en-US" b="1" dirty="0">
                <a:solidFill>
                  <a:schemeClr val="accent2"/>
                </a:solidFill>
              </a:rPr>
              <a:t>条件</a:t>
            </a:r>
            <a:r>
              <a:rPr lang="zh-CN" altLang="en-US" b="1" dirty="0"/>
              <a:t>的</a:t>
            </a:r>
            <a:r>
              <a:rPr lang="zh-CN" altLang="en-US" b="1" dirty="0">
                <a:solidFill>
                  <a:schemeClr val="accent2"/>
                </a:solidFill>
              </a:rPr>
              <a:t>错误组合</a:t>
            </a:r>
            <a:r>
              <a:rPr lang="zh-CN" altLang="en-US" b="1" dirty="0"/>
              <a:t>的</a:t>
            </a:r>
            <a:r>
              <a:rPr lang="zh-CN" altLang="en-US" b="1" dirty="0">
                <a:solidFill>
                  <a:schemeClr val="accent2"/>
                </a:solidFill>
              </a:rPr>
              <a:t>最小的的权值</a:t>
            </a:r>
            <a:endParaRPr lang="en-US" altLang="zh-CN" b="1" dirty="0">
              <a:solidFill>
                <a:schemeClr val="accent2"/>
              </a:solidFill>
            </a:endParaRPr>
          </a:p>
          <a:p>
            <a:endParaRPr lang="en-US" altLang="zh-CN" b="1" dirty="0">
              <a:solidFill>
                <a:schemeClr val="accent2"/>
              </a:solidFill>
            </a:endParaRPr>
          </a:p>
          <a:p>
            <a:r>
              <a:rPr lang="zh-CN" altLang="en-US" b="1" dirty="0"/>
              <a:t>定理 </a:t>
            </a:r>
            <a:r>
              <a:rPr lang="en-US" altLang="zh-CN" b="1" dirty="0"/>
              <a:t>1</a:t>
            </a:r>
          </a:p>
          <a:p>
            <a:endParaRPr lang="en-US" altLang="zh-CN" b="1" dirty="0">
              <a:solidFill>
                <a:schemeClr val="accent2"/>
              </a:solidFill>
            </a:endParaRPr>
          </a:p>
          <a:p>
            <a:r>
              <a:rPr lang="en-US" altLang="zh-CN" b="1" dirty="0">
                <a:solidFill>
                  <a:schemeClr val="accent2"/>
                </a:solidFill>
              </a:rPr>
              <a:t>  </a:t>
            </a:r>
            <a:r>
              <a:rPr lang="zh-CN" altLang="en-US" b="1" dirty="0"/>
              <a:t>一个可以纠正所有</a:t>
            </a:r>
            <a:r>
              <a:rPr lang="en-US" altLang="zh-CN" b="1" dirty="0">
                <a:solidFill>
                  <a:schemeClr val="accent2"/>
                </a:solidFill>
              </a:rPr>
              <a:t>t</a:t>
            </a:r>
            <a:r>
              <a:rPr lang="zh-CN" altLang="en-US" b="1" dirty="0">
                <a:solidFill>
                  <a:schemeClr val="accent2"/>
                </a:solidFill>
              </a:rPr>
              <a:t>权值</a:t>
            </a:r>
            <a:r>
              <a:rPr lang="zh-CN" altLang="en-US" b="1" dirty="0"/>
              <a:t>错误的纠错码其</a:t>
            </a:r>
            <a:r>
              <a:rPr lang="zh-CN" altLang="en-US" b="1" dirty="0">
                <a:solidFill>
                  <a:schemeClr val="accent2"/>
                </a:solidFill>
              </a:rPr>
              <a:t>距离</a:t>
            </a:r>
            <a:r>
              <a:rPr lang="en-US" altLang="zh-CN" b="1" dirty="0">
                <a:solidFill>
                  <a:schemeClr val="accent2"/>
                </a:solidFill>
              </a:rPr>
              <a:t>d</a:t>
            </a:r>
            <a:r>
              <a:rPr lang="zh-CN" altLang="en-US" b="1" dirty="0"/>
              <a:t>至少为</a:t>
            </a:r>
            <a:r>
              <a:rPr lang="en-US" altLang="zh-CN" b="1" dirty="0">
                <a:solidFill>
                  <a:schemeClr val="accent2"/>
                </a:solidFill>
              </a:rPr>
              <a:t>2t+1</a:t>
            </a:r>
          </a:p>
          <a:p>
            <a:endParaRPr lang="en-US" altLang="zh-CN" b="1" dirty="0">
              <a:solidFill>
                <a:schemeClr val="accent2"/>
              </a:solidFill>
            </a:endParaRPr>
          </a:p>
          <a:p>
            <a:endParaRPr lang="en-US" altLang="zh-CN" b="1" dirty="0">
              <a:solidFill>
                <a:schemeClr val="accent2"/>
              </a:solidFill>
            </a:endParaRPr>
          </a:p>
        </p:txBody>
      </p:sp>
      <p:sp>
        <p:nvSpPr>
          <p:cNvPr id="6" name="文本框 5">
            <a:extLst>
              <a:ext uri="{FF2B5EF4-FFF2-40B4-BE49-F238E27FC236}">
                <a16:creationId xmlns:a16="http://schemas.microsoft.com/office/drawing/2014/main" id="{7D1EB998-9C8E-0EB0-16C4-84A297BAC8B2}"/>
              </a:ext>
            </a:extLst>
          </p:cNvPr>
          <p:cNvSpPr txBox="1"/>
          <p:nvPr/>
        </p:nvSpPr>
        <p:spPr>
          <a:xfrm>
            <a:off x="9144000" y="1688584"/>
            <a:ext cx="6096000" cy="369332"/>
          </a:xfrm>
          <a:prstGeom prst="rect">
            <a:avLst/>
          </a:prstGeom>
          <a:noFill/>
        </p:spPr>
        <p:txBody>
          <a:bodyPr wrap="square">
            <a:spAutoFit/>
          </a:bodyPr>
          <a:lstStyle/>
          <a:p>
            <a:r>
              <a:rPr lang="zh-CN" altLang="en-US" b="1" dirty="0">
                <a:latin typeface="Artifakt Element Black" panose="020B0A03050000020004" pitchFamily="34" charset="0"/>
              </a:rPr>
              <a:t> X⊗</a:t>
            </a:r>
            <a:r>
              <a:rPr lang="en-US" altLang="zh-CN" b="1" dirty="0">
                <a:latin typeface="Artifakt Element Black" panose="020B0A03050000020004" pitchFamily="34" charset="0"/>
                <a:ea typeface="Artifakt Element Black" panose="020B0A03050000020004" pitchFamily="34" charset="0"/>
              </a:rPr>
              <a:t>I</a:t>
            </a:r>
            <a:r>
              <a:rPr lang="zh-CN" altLang="en-US" b="1" dirty="0">
                <a:latin typeface="Artifakt Element Black" panose="020B0A03050000020004" pitchFamily="34" charset="0"/>
              </a:rPr>
              <a:t>⊗X</a:t>
            </a:r>
          </a:p>
        </p:txBody>
      </p:sp>
      <p:pic>
        <p:nvPicPr>
          <p:cNvPr id="8" name="图片 7">
            <a:extLst>
              <a:ext uri="{FF2B5EF4-FFF2-40B4-BE49-F238E27FC236}">
                <a16:creationId xmlns:a16="http://schemas.microsoft.com/office/drawing/2014/main" id="{BBCECA69-1135-F136-1076-743D16B9E418}"/>
              </a:ext>
            </a:extLst>
          </p:cNvPr>
          <p:cNvPicPr>
            <a:picLocks noChangeAspect="1"/>
          </p:cNvPicPr>
          <p:nvPr/>
        </p:nvPicPr>
        <p:blipFill>
          <a:blip r:embed="rId3"/>
          <a:stretch>
            <a:fillRect/>
          </a:stretch>
        </p:blipFill>
        <p:spPr>
          <a:xfrm>
            <a:off x="8494540" y="2260560"/>
            <a:ext cx="2467319" cy="571580"/>
          </a:xfrm>
          <a:prstGeom prst="rect">
            <a:avLst/>
          </a:prstGeom>
        </p:spPr>
      </p:pic>
      <p:pic>
        <p:nvPicPr>
          <p:cNvPr id="9" name="图片 8">
            <a:extLst>
              <a:ext uri="{FF2B5EF4-FFF2-40B4-BE49-F238E27FC236}">
                <a16:creationId xmlns:a16="http://schemas.microsoft.com/office/drawing/2014/main" id="{58CA4376-F1F5-38D5-FAEF-E29F556A8E08}"/>
              </a:ext>
            </a:extLst>
          </p:cNvPr>
          <p:cNvPicPr>
            <a:picLocks noChangeAspect="1"/>
          </p:cNvPicPr>
          <p:nvPr/>
        </p:nvPicPr>
        <p:blipFill>
          <a:blip r:embed="rId4"/>
          <a:stretch>
            <a:fillRect/>
          </a:stretch>
        </p:blipFill>
        <p:spPr>
          <a:xfrm>
            <a:off x="8163711" y="4091792"/>
            <a:ext cx="3251244" cy="406406"/>
          </a:xfrm>
          <a:prstGeom prst="rect">
            <a:avLst/>
          </a:prstGeom>
        </p:spPr>
      </p:pic>
      <p:pic>
        <p:nvPicPr>
          <p:cNvPr id="10" name="图片 9">
            <a:extLst>
              <a:ext uri="{FF2B5EF4-FFF2-40B4-BE49-F238E27FC236}">
                <a16:creationId xmlns:a16="http://schemas.microsoft.com/office/drawing/2014/main" id="{4992DBA7-1C0A-283E-4665-71A9ACE2C533}"/>
              </a:ext>
            </a:extLst>
          </p:cNvPr>
          <p:cNvPicPr>
            <a:picLocks noChangeAspect="1"/>
          </p:cNvPicPr>
          <p:nvPr/>
        </p:nvPicPr>
        <p:blipFill>
          <a:blip r:embed="rId5"/>
          <a:stretch>
            <a:fillRect/>
          </a:stretch>
        </p:blipFill>
        <p:spPr>
          <a:xfrm>
            <a:off x="7657720" y="4510893"/>
            <a:ext cx="4211265" cy="752484"/>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592E105-4BC0-17D8-D7FD-AA8F832AE901}"/>
                  </a:ext>
                </a:extLst>
              </p:cNvPr>
              <p:cNvSpPr txBox="1"/>
              <p:nvPr/>
            </p:nvSpPr>
            <p:spPr>
              <a:xfrm>
                <a:off x="539750" y="5829300"/>
                <a:ext cx="2297617" cy="661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solidFill>
                              <a:latin typeface="Cambria Math" panose="02040503050406030204" pitchFamily="18" charset="0"/>
                            </a:rPr>
                          </m:ctrlPr>
                        </m:sSubPr>
                        <m:e>
                          <m:d>
                            <m:dPr>
                              <m:ctrlPr>
                                <a:rPr lang="en-US" altLang="zh-CN" b="1" i="1" smtClean="0">
                                  <a:solidFill>
                                    <a:schemeClr val="accent2"/>
                                  </a:solidFill>
                                  <a:latin typeface="Cambria Math" panose="02040503050406030204" pitchFamily="18" charset="0"/>
                                </a:rPr>
                              </m:ctrlPr>
                            </m:dPr>
                            <m:e>
                              <m:d>
                                <m:dPr>
                                  <m:ctrlPr>
                                    <a:rPr lang="en-US" altLang="zh-CN" b="1" i="1" smtClean="0">
                                      <a:solidFill>
                                        <a:schemeClr val="accent2"/>
                                      </a:solidFill>
                                      <a:latin typeface="Cambria Math" panose="02040503050406030204" pitchFamily="18" charset="0"/>
                                    </a:rPr>
                                  </m:ctrlPr>
                                </m:dPr>
                                <m:e>
                                  <m:r>
                                    <a:rPr lang="en-US" altLang="zh-CN" b="1" i="1" smtClean="0">
                                      <a:solidFill>
                                        <a:schemeClr val="accent2"/>
                                      </a:solidFill>
                                      <a:latin typeface="Cambria Math" panose="02040503050406030204" pitchFamily="18" charset="0"/>
                                    </a:rPr>
                                    <m:t>𝒏</m:t>
                                  </m:r>
                                  <m:r>
                                    <a:rPr lang="en-US" altLang="zh-CN" b="1" i="1" smtClean="0">
                                      <a:solidFill>
                                        <a:schemeClr val="accent2"/>
                                      </a:solidFill>
                                      <a:latin typeface="Cambria Math" panose="02040503050406030204" pitchFamily="18" charset="0"/>
                                    </a:rPr>
                                    <m:t>,</m:t>
                                  </m:r>
                                  <m:r>
                                    <a:rPr lang="en-US" altLang="zh-CN" b="1" i="1" smtClean="0">
                                      <a:solidFill>
                                        <a:schemeClr val="accent2"/>
                                      </a:solidFill>
                                      <a:latin typeface="Cambria Math" panose="02040503050406030204" pitchFamily="18" charset="0"/>
                                    </a:rPr>
                                    <m:t>𝑲</m:t>
                                  </m:r>
                                  <m:r>
                                    <a:rPr lang="en-US" altLang="zh-CN" b="1" i="1" smtClean="0">
                                      <a:solidFill>
                                        <a:schemeClr val="accent2"/>
                                      </a:solidFill>
                                      <a:latin typeface="Cambria Math" panose="02040503050406030204" pitchFamily="18" charset="0"/>
                                    </a:rPr>
                                    <m:t>,</m:t>
                                  </m:r>
                                  <m:r>
                                    <a:rPr lang="en-US" altLang="zh-CN" b="1" i="1" smtClean="0">
                                      <a:solidFill>
                                        <a:schemeClr val="accent2"/>
                                      </a:solidFill>
                                      <a:latin typeface="Cambria Math" panose="02040503050406030204" pitchFamily="18" charset="0"/>
                                    </a:rPr>
                                    <m:t>𝒅</m:t>
                                  </m:r>
                                </m:e>
                              </m:d>
                            </m:e>
                          </m:d>
                        </m:e>
                        <m:sub>
                          <m:r>
                            <a:rPr lang="en-US" altLang="zh-CN" b="1" i="1" smtClean="0">
                              <a:solidFill>
                                <a:schemeClr val="accent2"/>
                              </a:solidFill>
                              <a:latin typeface="Cambria Math" panose="02040503050406030204" pitchFamily="18" charset="0"/>
                            </a:rPr>
                            <m:t>𝒒</m:t>
                          </m:r>
                        </m:sub>
                      </m:sSub>
                      <m:r>
                        <a:rPr lang="en-US" altLang="zh-CN" b="1" i="1" smtClean="0">
                          <a:solidFill>
                            <a:schemeClr val="accent2"/>
                          </a:solidFill>
                          <a:latin typeface="Cambria Math" panose="02040503050406030204" pitchFamily="18" charset="0"/>
                        </a:rPr>
                        <m:t> </m:t>
                      </m:r>
                      <m:sSub>
                        <m:sSubPr>
                          <m:ctrlPr>
                            <a:rPr lang="en-US" altLang="zh-CN" b="1" i="1" smtClean="0">
                              <a:solidFill>
                                <a:schemeClr val="accent2"/>
                              </a:solidFill>
                              <a:latin typeface="Cambria Math" panose="02040503050406030204" pitchFamily="18" charset="0"/>
                            </a:rPr>
                          </m:ctrlPr>
                        </m:sSubPr>
                        <m:e>
                          <m:d>
                            <m:dPr>
                              <m:ctrlPr>
                                <a:rPr lang="en-US" altLang="zh-CN" b="1" i="1" smtClean="0">
                                  <a:solidFill>
                                    <a:schemeClr val="accent2"/>
                                  </a:solidFill>
                                  <a:latin typeface="Cambria Math" panose="02040503050406030204" pitchFamily="18" charset="0"/>
                                </a:rPr>
                              </m:ctrlPr>
                            </m:dPr>
                            <m:e>
                              <m:d>
                                <m:dPr>
                                  <m:ctrlPr>
                                    <a:rPr lang="en-US" altLang="zh-CN" b="1" i="1" smtClean="0">
                                      <a:solidFill>
                                        <a:schemeClr val="accent2"/>
                                      </a:solidFill>
                                      <a:latin typeface="Cambria Math" panose="02040503050406030204" pitchFamily="18" charset="0"/>
                                    </a:rPr>
                                  </m:ctrlPr>
                                </m:dPr>
                                <m:e>
                                  <m:r>
                                    <a:rPr lang="en-US" altLang="zh-CN" b="1" i="1" smtClean="0">
                                      <a:solidFill>
                                        <a:schemeClr val="accent2"/>
                                      </a:solidFill>
                                      <a:latin typeface="Cambria Math" panose="02040503050406030204" pitchFamily="18" charset="0"/>
                                    </a:rPr>
                                    <m:t>𝒏</m:t>
                                  </m:r>
                                  <m:r>
                                    <a:rPr lang="en-US" altLang="zh-CN" b="1" i="1" smtClean="0">
                                      <a:solidFill>
                                        <a:schemeClr val="accent2"/>
                                      </a:solidFill>
                                      <a:latin typeface="Cambria Math" panose="02040503050406030204" pitchFamily="18" charset="0"/>
                                    </a:rPr>
                                    <m:t>,</m:t>
                                  </m:r>
                                  <m:r>
                                    <a:rPr lang="en-US" altLang="zh-CN" b="1" i="1" smtClean="0">
                                      <a:solidFill>
                                        <a:schemeClr val="accent2"/>
                                      </a:solidFill>
                                      <a:latin typeface="Cambria Math" panose="02040503050406030204" pitchFamily="18" charset="0"/>
                                    </a:rPr>
                                    <m:t>𝑲</m:t>
                                  </m:r>
                                </m:e>
                              </m:d>
                            </m:e>
                          </m:d>
                        </m:e>
                        <m:sub>
                          <m:r>
                            <a:rPr lang="en-US" altLang="zh-CN" b="1" i="1" smtClean="0">
                              <a:solidFill>
                                <a:schemeClr val="accent2"/>
                              </a:solidFill>
                              <a:latin typeface="Cambria Math" panose="02040503050406030204" pitchFamily="18" charset="0"/>
                            </a:rPr>
                            <m:t>𝒒</m:t>
                          </m:r>
                        </m:sub>
                      </m:sSub>
                    </m:oMath>
                  </m:oMathPara>
                </a14:m>
                <a:endParaRPr lang="en-US" altLang="zh-CN" b="1" i="1" dirty="0">
                  <a:solidFill>
                    <a:schemeClr val="accent2"/>
                  </a:solidFill>
                </a:endParaRPr>
              </a:p>
              <a:p>
                <a:endParaRPr lang="zh-CN" altLang="en-US" b="1" i="1" dirty="0">
                  <a:solidFill>
                    <a:schemeClr val="accent2"/>
                  </a:solidFill>
                </a:endParaRPr>
              </a:p>
            </p:txBody>
          </p:sp>
        </mc:Choice>
        <mc:Fallback xmlns="">
          <p:sp>
            <p:nvSpPr>
              <p:cNvPr id="11" name="文本框 10">
                <a:extLst>
                  <a:ext uri="{FF2B5EF4-FFF2-40B4-BE49-F238E27FC236}">
                    <a16:creationId xmlns:a16="http://schemas.microsoft.com/office/drawing/2014/main" id="{D592E105-4BC0-17D8-D7FD-AA8F832AE901}"/>
                  </a:ext>
                </a:extLst>
              </p:cNvPr>
              <p:cNvSpPr txBox="1">
                <a:spLocks noRot="1" noChangeAspect="1" noMove="1" noResize="1" noEditPoints="1" noAdjustHandles="1" noChangeArrowheads="1" noChangeShapeType="1" noTextEdit="1"/>
              </p:cNvSpPr>
              <p:nvPr/>
            </p:nvSpPr>
            <p:spPr>
              <a:xfrm>
                <a:off x="539750" y="5829300"/>
                <a:ext cx="2297617" cy="66127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443AFA8-B9AF-6961-028D-06734EC406EB}"/>
                  </a:ext>
                </a:extLst>
              </p:cNvPr>
              <p:cNvSpPr txBox="1"/>
              <p:nvPr/>
            </p:nvSpPr>
            <p:spPr>
              <a:xfrm>
                <a:off x="7612495" y="3600449"/>
                <a:ext cx="9922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accent2"/>
                          </a:solidFill>
                          <a:latin typeface="Cambria Math" panose="02040503050406030204" pitchFamily="18" charset="0"/>
                        </a:rPr>
                        <m:t>𝑷</m:t>
                      </m:r>
                      <m:r>
                        <a:rPr lang="en-US" altLang="zh-CN" sz="2400" b="1" i="1">
                          <a:solidFill>
                            <a:schemeClr val="accent2"/>
                          </a:solidFill>
                          <a:latin typeface="Cambria Math" panose="02040503050406030204" pitchFamily="18" charset="0"/>
                        </a:rPr>
                        <m:t>𝒓𝒐𝒐𝒇</m:t>
                      </m:r>
                    </m:oMath>
                  </m:oMathPara>
                </a14:m>
                <a:endParaRPr lang="zh-CN" altLang="en-US" sz="2400" b="1" i="1" dirty="0">
                  <a:latin typeface="Brush Script MT" panose="03060802040406070304" pitchFamily="66" charset="0"/>
                </a:endParaRPr>
              </a:p>
            </p:txBody>
          </p:sp>
        </mc:Choice>
        <mc:Fallback xmlns="">
          <p:sp>
            <p:nvSpPr>
              <p:cNvPr id="12" name="文本框 11">
                <a:extLst>
                  <a:ext uri="{FF2B5EF4-FFF2-40B4-BE49-F238E27FC236}">
                    <a16:creationId xmlns:a16="http://schemas.microsoft.com/office/drawing/2014/main" id="{9443AFA8-B9AF-6961-028D-06734EC406EB}"/>
                  </a:ext>
                </a:extLst>
              </p:cNvPr>
              <p:cNvSpPr txBox="1">
                <a:spLocks noRot="1" noChangeAspect="1" noMove="1" noResize="1" noEditPoints="1" noAdjustHandles="1" noChangeArrowheads="1" noChangeShapeType="1" noTextEdit="1"/>
              </p:cNvSpPr>
              <p:nvPr/>
            </p:nvSpPr>
            <p:spPr>
              <a:xfrm>
                <a:off x="7612495" y="3600449"/>
                <a:ext cx="992259" cy="369332"/>
              </a:xfrm>
              <a:prstGeom prst="rect">
                <a:avLst/>
              </a:prstGeom>
              <a:blipFill>
                <a:blip r:embed="rId7"/>
                <a:stretch>
                  <a:fillRect l="-6135" t="-3333" r="-9202" b="-31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47772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24C7B-1EC9-C74A-863A-2397DB59100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597B1A-917F-F796-C63A-72B653C65CF1}"/>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8D0B51A2-7E73-BDD6-4AC3-6678EFA2FB2E}"/>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0DB010BE-1429-2647-F103-C5A84B9282AD}"/>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4.3 </a:t>
            </a:r>
            <a:r>
              <a:rPr lang="zh-CN" altLang="en-US" sz="2200" b="1" dirty="0">
                <a:solidFill>
                  <a:srgbClr val="555555"/>
                </a:solidFill>
                <a:latin typeface="Noto Sans SC"/>
                <a:ea typeface="Noto Sans SC"/>
                <a:cs typeface="Noto Sans SC"/>
                <a:sym typeface="Noto Sans SC"/>
              </a:rPr>
              <a:t>量子纠错的条件</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7" name="文本框 6">
            <a:extLst>
              <a:ext uri="{FF2B5EF4-FFF2-40B4-BE49-F238E27FC236}">
                <a16:creationId xmlns:a16="http://schemas.microsoft.com/office/drawing/2014/main" id="{FA2F4436-30DF-D5E0-1293-F77814DD0E8B}"/>
              </a:ext>
            </a:extLst>
          </p:cNvPr>
          <p:cNvSpPr txBox="1"/>
          <p:nvPr/>
        </p:nvSpPr>
        <p:spPr>
          <a:xfrm>
            <a:off x="559582" y="2274197"/>
            <a:ext cx="6950773" cy="5078313"/>
          </a:xfrm>
          <a:prstGeom prst="rect">
            <a:avLst/>
          </a:prstGeom>
          <a:noFill/>
        </p:spPr>
        <p:txBody>
          <a:bodyPr wrap="square">
            <a:spAutoFit/>
          </a:bodyPr>
          <a:lstStyle/>
          <a:p>
            <a:r>
              <a:rPr lang="zh-CN" altLang="en-US" b="1" dirty="0"/>
              <a:t>错误检测</a:t>
            </a:r>
            <a:endParaRPr lang="en-US" altLang="zh-CN" b="1" dirty="0"/>
          </a:p>
          <a:p>
            <a:r>
              <a:rPr lang="en-US" altLang="zh-CN" b="1" dirty="0"/>
              <a:t>  </a:t>
            </a:r>
          </a:p>
          <a:p>
            <a:r>
              <a:rPr lang="en-US" altLang="zh-CN" b="1" dirty="0"/>
              <a:t>  </a:t>
            </a:r>
            <a:r>
              <a:rPr lang="zh-CN" altLang="en-US" b="1" dirty="0"/>
              <a:t>只要求</a:t>
            </a:r>
            <a:r>
              <a:rPr lang="zh-CN" altLang="en-US" b="1" dirty="0">
                <a:solidFill>
                  <a:schemeClr val="accent2"/>
                </a:solidFill>
              </a:rPr>
              <a:t>检测</a:t>
            </a:r>
            <a:r>
              <a:rPr lang="zh-CN" altLang="en-US" b="1" dirty="0"/>
              <a:t>到错误不要求</a:t>
            </a:r>
            <a:r>
              <a:rPr lang="zh-CN" altLang="en-US" b="1" dirty="0">
                <a:solidFill>
                  <a:schemeClr val="accent2"/>
                </a:solidFill>
              </a:rPr>
              <a:t>纠正</a:t>
            </a:r>
            <a:endParaRPr lang="en-US" altLang="zh-CN" b="1" dirty="0">
              <a:solidFill>
                <a:schemeClr val="accent2"/>
              </a:solidFill>
            </a:endParaRPr>
          </a:p>
          <a:p>
            <a:endParaRPr lang="en-US" altLang="zh-CN" b="1" dirty="0">
              <a:solidFill>
                <a:schemeClr val="accent2"/>
              </a:solidFill>
            </a:endParaRPr>
          </a:p>
          <a:p>
            <a:r>
              <a:rPr lang="zh-CN" altLang="en-US" b="1" dirty="0"/>
              <a:t>定理 </a:t>
            </a:r>
            <a:r>
              <a:rPr lang="en-US" altLang="zh-CN" b="1" dirty="0"/>
              <a:t>2</a:t>
            </a:r>
          </a:p>
          <a:p>
            <a:endParaRPr lang="en-US" altLang="zh-CN" b="1" dirty="0"/>
          </a:p>
          <a:p>
            <a:r>
              <a:rPr lang="zh-CN" altLang="en-US" b="1" dirty="0"/>
              <a:t>  距离为 </a:t>
            </a:r>
            <a:r>
              <a:rPr lang="en-US" altLang="zh-CN" b="1" dirty="0">
                <a:solidFill>
                  <a:schemeClr val="accent2"/>
                </a:solidFill>
              </a:rPr>
              <a:t>d</a:t>
            </a:r>
            <a:r>
              <a:rPr lang="en-US" altLang="zh-CN" b="1" dirty="0"/>
              <a:t> </a:t>
            </a:r>
            <a:r>
              <a:rPr lang="zh-CN" altLang="en-US" b="1" dirty="0"/>
              <a:t>的码可以</a:t>
            </a:r>
            <a:r>
              <a:rPr lang="zh-CN" altLang="en-US" b="1" dirty="0">
                <a:solidFill>
                  <a:schemeClr val="accent2"/>
                </a:solidFill>
              </a:rPr>
              <a:t>检测</a:t>
            </a:r>
            <a:r>
              <a:rPr lang="zh-CN" altLang="en-US" b="1" dirty="0"/>
              <a:t>任意 </a:t>
            </a:r>
            <a:r>
              <a:rPr lang="en-US" altLang="zh-CN" b="1" dirty="0">
                <a:solidFill>
                  <a:schemeClr val="accent2"/>
                </a:solidFill>
              </a:rPr>
              <a:t>(d−1) </a:t>
            </a:r>
            <a:r>
              <a:rPr lang="zh-CN" altLang="en-US" b="1" dirty="0">
                <a:solidFill>
                  <a:schemeClr val="accent2"/>
                </a:solidFill>
              </a:rPr>
              <a:t>权值</a:t>
            </a:r>
            <a:r>
              <a:rPr lang="zh-CN" altLang="en-US" b="1" dirty="0"/>
              <a:t>的量子比特错误</a:t>
            </a:r>
            <a:endParaRPr lang="en-US" altLang="zh-CN" b="1" dirty="0"/>
          </a:p>
          <a:p>
            <a:endParaRPr lang="en-US" altLang="zh-CN" b="1" dirty="0"/>
          </a:p>
          <a:p>
            <a:r>
              <a:rPr lang="zh-CN" altLang="en-US" b="1" dirty="0"/>
              <a:t>擦除错误</a:t>
            </a:r>
            <a:endParaRPr lang="en-US" altLang="zh-CN" b="1" dirty="0"/>
          </a:p>
          <a:p>
            <a:r>
              <a:rPr lang="en-US" altLang="zh-CN" b="1" dirty="0"/>
              <a:t>  </a:t>
            </a:r>
          </a:p>
          <a:p>
            <a:r>
              <a:rPr lang="en-US" altLang="zh-CN" b="1" dirty="0"/>
              <a:t>  </a:t>
            </a:r>
            <a:r>
              <a:rPr lang="zh-CN" altLang="en-US" b="1" dirty="0"/>
              <a:t>知道</a:t>
            </a:r>
            <a:r>
              <a:rPr lang="zh-CN" altLang="en-US" b="1" dirty="0">
                <a:solidFill>
                  <a:schemeClr val="accent2"/>
                </a:solidFill>
              </a:rPr>
              <a:t>位置</a:t>
            </a:r>
            <a:r>
              <a:rPr lang="zh-CN" altLang="en-US" b="1" dirty="0"/>
              <a:t>但不知道</a:t>
            </a:r>
            <a:r>
              <a:rPr lang="zh-CN" altLang="en-US" b="1" dirty="0">
                <a:solidFill>
                  <a:schemeClr val="accent2"/>
                </a:solidFill>
              </a:rPr>
              <a:t>类型</a:t>
            </a:r>
            <a:r>
              <a:rPr lang="zh-CN" altLang="en-US" b="1" dirty="0"/>
              <a:t>的错误</a:t>
            </a:r>
            <a:endParaRPr lang="en-US" altLang="zh-CN" b="1" dirty="0"/>
          </a:p>
          <a:p>
            <a:endParaRPr lang="en-US" altLang="zh-CN" b="1" dirty="0"/>
          </a:p>
          <a:p>
            <a:r>
              <a:rPr lang="zh-CN" altLang="en-US" b="1" dirty="0"/>
              <a:t>定理 </a:t>
            </a:r>
            <a:r>
              <a:rPr lang="en-US" altLang="zh-CN" b="1" dirty="0"/>
              <a:t>3</a:t>
            </a:r>
          </a:p>
          <a:p>
            <a:r>
              <a:rPr lang="en-US" altLang="zh-CN" b="1" dirty="0"/>
              <a:t>  </a:t>
            </a:r>
          </a:p>
          <a:p>
            <a:r>
              <a:rPr lang="zh-CN" altLang="en-US" b="1" dirty="0"/>
              <a:t>  距离为 </a:t>
            </a:r>
            <a:r>
              <a:rPr lang="en-US" altLang="zh-CN" b="1" dirty="0"/>
              <a:t>d </a:t>
            </a:r>
            <a:r>
              <a:rPr lang="zh-CN" altLang="en-US" b="1" dirty="0"/>
              <a:t>的 </a:t>
            </a:r>
            <a:r>
              <a:rPr lang="en-US" altLang="zh-CN" b="1" dirty="0"/>
              <a:t>QECC </a:t>
            </a:r>
            <a:r>
              <a:rPr lang="zh-CN" altLang="en-US" b="1" dirty="0"/>
              <a:t>可以纠正 </a:t>
            </a:r>
            <a:r>
              <a:rPr lang="en-US" altLang="zh-CN" b="1" dirty="0"/>
              <a:t>d−1 </a:t>
            </a:r>
            <a:r>
              <a:rPr lang="zh-CN" altLang="en-US" b="1" dirty="0"/>
              <a:t>个擦除错误</a:t>
            </a:r>
            <a:endParaRPr lang="en-US" altLang="zh-CN" b="1" dirty="0"/>
          </a:p>
          <a:p>
            <a:endParaRPr lang="en-US" altLang="zh-CN" b="1" dirty="0"/>
          </a:p>
          <a:p>
            <a:endParaRPr lang="en-US" altLang="zh-CN" b="1" dirty="0">
              <a:solidFill>
                <a:schemeClr val="accent2"/>
              </a:solidFill>
            </a:endParaRPr>
          </a:p>
          <a:p>
            <a:endParaRPr lang="en-US" altLang="zh-CN" b="1" dirty="0">
              <a:solidFill>
                <a:schemeClr val="accent2"/>
              </a:solidFill>
            </a:endParaRPr>
          </a:p>
        </p:txBody>
      </p:sp>
      <p:pic>
        <p:nvPicPr>
          <p:cNvPr id="12" name="图片 11">
            <a:extLst>
              <a:ext uri="{FF2B5EF4-FFF2-40B4-BE49-F238E27FC236}">
                <a16:creationId xmlns:a16="http://schemas.microsoft.com/office/drawing/2014/main" id="{7EB65703-A70F-BC3C-F90D-3C5FCA51C3AC}"/>
              </a:ext>
            </a:extLst>
          </p:cNvPr>
          <p:cNvPicPr>
            <a:picLocks noChangeAspect="1"/>
          </p:cNvPicPr>
          <p:nvPr/>
        </p:nvPicPr>
        <p:blipFill>
          <a:blip r:embed="rId3"/>
          <a:stretch>
            <a:fillRect/>
          </a:stretch>
        </p:blipFill>
        <p:spPr>
          <a:xfrm>
            <a:off x="8521519" y="377784"/>
            <a:ext cx="2591162" cy="590632"/>
          </a:xfrm>
          <a:prstGeom prst="rect">
            <a:avLst/>
          </a:prstGeom>
        </p:spPr>
      </p:pic>
      <p:sp>
        <p:nvSpPr>
          <p:cNvPr id="14" name="文本框 13">
            <a:extLst>
              <a:ext uri="{FF2B5EF4-FFF2-40B4-BE49-F238E27FC236}">
                <a16:creationId xmlns:a16="http://schemas.microsoft.com/office/drawing/2014/main" id="{A4E53F99-545C-E2FD-822D-39BFA10C2005}"/>
              </a:ext>
            </a:extLst>
          </p:cNvPr>
          <p:cNvSpPr txBox="1"/>
          <p:nvPr/>
        </p:nvSpPr>
        <p:spPr>
          <a:xfrm>
            <a:off x="8604250" y="1159986"/>
            <a:ext cx="3098800" cy="2308324"/>
          </a:xfrm>
          <a:prstGeom prst="rect">
            <a:avLst/>
          </a:prstGeom>
          <a:noFill/>
        </p:spPr>
        <p:txBody>
          <a:bodyPr wrap="square">
            <a:spAutoFit/>
          </a:bodyPr>
          <a:lstStyle/>
          <a:p>
            <a:r>
              <a:rPr lang="zh-CN" altLang="en-US"/>
              <a:t>000 →	0	✅</a:t>
            </a:r>
            <a:endParaRPr lang="en-US" altLang="zh-CN"/>
          </a:p>
          <a:p>
            <a:r>
              <a:rPr lang="zh-CN" altLang="en-US"/>
              <a:t>001 →	0	✅</a:t>
            </a:r>
            <a:endParaRPr lang="en-US" altLang="zh-CN"/>
          </a:p>
          <a:p>
            <a:r>
              <a:rPr lang="zh-CN" altLang="en-US"/>
              <a:t>010 →	0	✅</a:t>
            </a:r>
            <a:endParaRPr lang="en-US" altLang="zh-CN"/>
          </a:p>
          <a:p>
            <a:r>
              <a:rPr lang="zh-CN" altLang="en-US"/>
              <a:t>100 →	0	✅</a:t>
            </a:r>
            <a:endParaRPr lang="en-US" altLang="zh-CN"/>
          </a:p>
          <a:p>
            <a:r>
              <a:rPr lang="zh-CN" altLang="en-US"/>
              <a:t>110 →	1	❌</a:t>
            </a:r>
            <a:endParaRPr lang="en-US" altLang="zh-CN"/>
          </a:p>
          <a:p>
            <a:r>
              <a:rPr lang="zh-CN" altLang="en-US"/>
              <a:t>101 →	1	❌</a:t>
            </a:r>
            <a:endParaRPr lang="en-US" altLang="zh-CN"/>
          </a:p>
          <a:p>
            <a:r>
              <a:rPr lang="zh-CN" altLang="en-US"/>
              <a:t>011 →	1	❌</a:t>
            </a:r>
            <a:endParaRPr lang="en-US" altLang="zh-CN"/>
          </a:p>
          <a:p>
            <a:r>
              <a:rPr lang="zh-CN" altLang="en-US"/>
              <a:t>111 →	1	✅</a:t>
            </a:r>
            <a:endParaRPr lang="zh-CN" altLang="en-US" dirty="0"/>
          </a:p>
        </p:txBody>
      </p:sp>
      <p:sp>
        <p:nvSpPr>
          <p:cNvPr id="17" name="文本框 16">
            <a:extLst>
              <a:ext uri="{FF2B5EF4-FFF2-40B4-BE49-F238E27FC236}">
                <a16:creationId xmlns:a16="http://schemas.microsoft.com/office/drawing/2014/main" id="{4B042183-C51C-0669-D41E-D97E18F6A353}"/>
              </a:ext>
            </a:extLst>
          </p:cNvPr>
          <p:cNvSpPr txBox="1"/>
          <p:nvPr/>
        </p:nvSpPr>
        <p:spPr>
          <a:xfrm>
            <a:off x="8572500" y="3631337"/>
            <a:ext cx="2609850" cy="2308324"/>
          </a:xfrm>
          <a:prstGeom prst="rect">
            <a:avLst/>
          </a:prstGeom>
          <a:noFill/>
        </p:spPr>
        <p:txBody>
          <a:bodyPr wrap="square">
            <a:spAutoFit/>
          </a:bodyPr>
          <a:lstStyle/>
          <a:p>
            <a:r>
              <a:rPr lang="zh-CN" altLang="en-US" dirty="0"/>
              <a:t>000	✅ 	接受001	❌ 	丢弃010	❌ 	丢弃100	❌ 	丢弃110	❌ 	丢弃101	❌ 	丢弃011	❌ 	丢弃111	✅ 	接受</a:t>
            </a:r>
          </a:p>
        </p:txBody>
      </p:sp>
    </p:spTree>
    <p:extLst>
      <p:ext uri="{BB962C8B-B14F-4D97-AF65-F5344CB8AC3E}">
        <p14:creationId xmlns:p14="http://schemas.microsoft.com/office/powerpoint/2010/main" val="4397031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12BE9-F76E-4AD9-51F6-7714F89708C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23325E-D84A-B3B8-8870-2B2EC5818C38}"/>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C3BC2802-3568-3C82-5528-E1FBD7DF607F}"/>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CF969287-1204-5BFC-6A86-31E2902BE460}"/>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4.3 </a:t>
            </a:r>
            <a:r>
              <a:rPr lang="zh-CN" altLang="en-US" sz="2200" b="1" dirty="0">
                <a:solidFill>
                  <a:srgbClr val="555555"/>
                </a:solidFill>
                <a:latin typeface="Noto Sans SC"/>
                <a:ea typeface="Noto Sans SC"/>
                <a:cs typeface="Noto Sans SC"/>
                <a:sym typeface="Noto Sans SC"/>
              </a:rPr>
              <a:t>量子纠错的条件</a:t>
            </a:r>
            <a:r>
              <a:rPr lang="en-US" altLang="zh-CN" sz="2200" b="1" dirty="0">
                <a:solidFill>
                  <a:srgbClr val="555555"/>
                </a:solidFill>
                <a:latin typeface="Noto Sans SC"/>
                <a:ea typeface="Noto Sans SC"/>
                <a:cs typeface="Noto Sans SC"/>
                <a:sym typeface="Noto Sans SC"/>
              </a:rPr>
              <a:t> </a:t>
            </a:r>
            <a:endParaRPr lang="en-US" sz="1100" dirty="0"/>
          </a:p>
        </p:txBody>
      </p:sp>
      <p:sp>
        <p:nvSpPr>
          <p:cNvPr id="7" name="文本框 6">
            <a:extLst>
              <a:ext uri="{FF2B5EF4-FFF2-40B4-BE49-F238E27FC236}">
                <a16:creationId xmlns:a16="http://schemas.microsoft.com/office/drawing/2014/main" id="{9D3652EA-BE48-1601-8248-26331FB18284}"/>
              </a:ext>
            </a:extLst>
          </p:cNvPr>
          <p:cNvSpPr txBox="1"/>
          <p:nvPr/>
        </p:nvSpPr>
        <p:spPr>
          <a:xfrm>
            <a:off x="692932" y="2413897"/>
            <a:ext cx="6950773" cy="3693319"/>
          </a:xfrm>
          <a:prstGeom prst="rect">
            <a:avLst/>
          </a:prstGeom>
          <a:noFill/>
        </p:spPr>
        <p:txBody>
          <a:bodyPr wrap="square">
            <a:spAutoFit/>
          </a:bodyPr>
          <a:lstStyle/>
          <a:p>
            <a:r>
              <a:rPr lang="en-US" altLang="zh-CN" b="1" dirty="0"/>
              <a:t>QECC</a:t>
            </a:r>
            <a:r>
              <a:rPr lang="zh-CN" altLang="en-US" b="1" dirty="0"/>
              <a:t>条件的等价表示</a:t>
            </a:r>
            <a:endParaRPr lang="en-US" altLang="zh-CN" b="1" dirty="0"/>
          </a:p>
          <a:p>
            <a:endParaRPr lang="en-US" altLang="zh-CN" b="1" dirty="0">
              <a:solidFill>
                <a:schemeClr val="accent2"/>
              </a:solidFill>
            </a:endParaRPr>
          </a:p>
          <a:p>
            <a:r>
              <a:rPr lang="zh-CN" altLang="en-US" b="1" dirty="0">
                <a:solidFill>
                  <a:schemeClr val="accent2"/>
                </a:solidFill>
              </a:rPr>
              <a:t>  物理意义</a:t>
            </a:r>
            <a:r>
              <a:rPr lang="en-US" altLang="zh-CN" b="1" dirty="0"/>
              <a:t>:</a:t>
            </a:r>
            <a:r>
              <a:rPr lang="zh-CN" altLang="en-US" b="1" dirty="0"/>
              <a:t>错误不会泄漏信息</a:t>
            </a:r>
            <a:r>
              <a:rPr lang="en-US" altLang="zh-CN" b="1" dirty="0"/>
              <a:t>(</a:t>
            </a:r>
            <a:r>
              <a:rPr lang="zh-CN" altLang="en-US" b="1" dirty="0"/>
              <a:t>实际就是不丢失相干性的原因</a:t>
            </a:r>
            <a:r>
              <a:rPr lang="en-US" altLang="zh-CN" b="1" dirty="0"/>
              <a:t>)</a:t>
            </a:r>
          </a:p>
          <a:p>
            <a:endParaRPr lang="en-US" altLang="zh-CN" b="1" dirty="0"/>
          </a:p>
          <a:p>
            <a:r>
              <a:rPr lang="zh-CN" altLang="en-US" b="1" dirty="0"/>
              <a:t>等价码</a:t>
            </a:r>
            <a:endParaRPr lang="en-US" altLang="zh-CN" b="1" dirty="0"/>
          </a:p>
          <a:p>
            <a:r>
              <a:rPr lang="en-US" altLang="zh-CN" b="1" dirty="0"/>
              <a:t>  </a:t>
            </a:r>
          </a:p>
          <a:p>
            <a:r>
              <a:rPr lang="en-US" altLang="zh-CN" b="1" dirty="0"/>
              <a:t>  </a:t>
            </a:r>
            <a:r>
              <a:rPr lang="zh-CN" altLang="en-US" b="1" dirty="0"/>
              <a:t>一个纠错码在</a:t>
            </a:r>
            <a:r>
              <a:rPr lang="zh-CN" altLang="en-US" b="1" dirty="0">
                <a:solidFill>
                  <a:schemeClr val="accent2"/>
                </a:solidFill>
              </a:rPr>
              <a:t>单量子比特门操作</a:t>
            </a:r>
            <a:r>
              <a:rPr lang="en-US" altLang="zh-CN" b="1" dirty="0"/>
              <a:t>(</a:t>
            </a:r>
            <a:r>
              <a:rPr lang="zh-CN" altLang="en-US" b="1" dirty="0"/>
              <a:t>任意一个</a:t>
            </a:r>
            <a:r>
              <a:rPr lang="en-US" altLang="zh-CN" b="1" dirty="0"/>
              <a:t>qubit)</a:t>
            </a:r>
            <a:r>
              <a:rPr lang="zh-CN" altLang="en-US" b="1" dirty="0"/>
              <a:t>或者</a:t>
            </a:r>
            <a:r>
              <a:rPr lang="zh-CN" altLang="en-US" b="1" dirty="0">
                <a:solidFill>
                  <a:schemeClr val="accent2"/>
                </a:solidFill>
              </a:rPr>
              <a:t>重排</a:t>
            </a:r>
            <a:r>
              <a:rPr lang="zh-CN" altLang="en-US" b="1" dirty="0"/>
              <a:t>量子比特顺序获得的量子纠错</a:t>
            </a:r>
            <a:endParaRPr lang="en-US" altLang="zh-CN" b="1" dirty="0"/>
          </a:p>
          <a:p>
            <a:endParaRPr lang="en-US" altLang="zh-CN" b="1" dirty="0"/>
          </a:p>
          <a:p>
            <a:r>
              <a:rPr lang="zh-CN" altLang="en-US" b="1" dirty="0"/>
              <a:t>性质</a:t>
            </a:r>
            <a:endParaRPr lang="en-US" altLang="zh-CN" b="1" dirty="0"/>
          </a:p>
          <a:p>
            <a:r>
              <a:rPr lang="en-US" altLang="zh-CN" b="1" dirty="0"/>
              <a:t>  </a:t>
            </a:r>
            <a:r>
              <a:rPr lang="en-US" altLang="zh-CN" b="1" dirty="0" err="1"/>
              <a:t>nkd</a:t>
            </a:r>
            <a:r>
              <a:rPr lang="zh-CN" altLang="en-US" b="1" dirty="0"/>
              <a:t>相同</a:t>
            </a:r>
            <a:endParaRPr lang="en-US" altLang="zh-CN" b="1" dirty="0"/>
          </a:p>
          <a:p>
            <a:r>
              <a:rPr lang="en-US" altLang="zh-CN" b="1" dirty="0"/>
              <a:t>  </a:t>
            </a:r>
            <a:r>
              <a:rPr lang="zh-CN" altLang="en-US" b="1" dirty="0"/>
              <a:t>擦除集相同</a:t>
            </a:r>
            <a:r>
              <a:rPr lang="en-US" altLang="zh-CN" b="1" dirty="0"/>
              <a:t>(</a:t>
            </a:r>
            <a:r>
              <a:rPr lang="zh-CN" altLang="en-US" b="1" dirty="0"/>
              <a:t>只看位置</a:t>
            </a:r>
            <a:r>
              <a:rPr lang="en-US" altLang="zh-CN" b="1" dirty="0"/>
              <a:t>)</a:t>
            </a:r>
          </a:p>
          <a:p>
            <a:r>
              <a:rPr lang="en-US" altLang="zh-CN" b="1" dirty="0"/>
              <a:t>  </a:t>
            </a:r>
            <a:r>
              <a:rPr lang="zh-CN" altLang="en-US" b="1" dirty="0"/>
              <a:t>纠错集不一定相同</a:t>
            </a:r>
            <a:endParaRPr lang="en-US" altLang="zh-CN" b="1" dirty="0"/>
          </a:p>
        </p:txBody>
      </p:sp>
      <p:pic>
        <p:nvPicPr>
          <p:cNvPr id="6" name="图片 5">
            <a:extLst>
              <a:ext uri="{FF2B5EF4-FFF2-40B4-BE49-F238E27FC236}">
                <a16:creationId xmlns:a16="http://schemas.microsoft.com/office/drawing/2014/main" id="{D16BDB0D-68CD-CFDB-EFDD-4D7158650086}"/>
              </a:ext>
            </a:extLst>
          </p:cNvPr>
          <p:cNvPicPr>
            <a:picLocks noChangeAspect="1"/>
          </p:cNvPicPr>
          <p:nvPr/>
        </p:nvPicPr>
        <p:blipFill>
          <a:blip r:embed="rId3"/>
          <a:stretch>
            <a:fillRect/>
          </a:stretch>
        </p:blipFill>
        <p:spPr>
          <a:xfrm>
            <a:off x="7645097" y="1787484"/>
            <a:ext cx="4344006" cy="590632"/>
          </a:xfrm>
          <a:prstGeom prst="rect">
            <a:avLst/>
          </a:prstGeom>
        </p:spPr>
      </p:pic>
      <p:pic>
        <p:nvPicPr>
          <p:cNvPr id="9" name="图片 8">
            <a:extLst>
              <a:ext uri="{FF2B5EF4-FFF2-40B4-BE49-F238E27FC236}">
                <a16:creationId xmlns:a16="http://schemas.microsoft.com/office/drawing/2014/main" id="{67F8B134-2101-B4A5-242D-8CB51A1F74BB}"/>
              </a:ext>
            </a:extLst>
          </p:cNvPr>
          <p:cNvPicPr>
            <a:picLocks noChangeAspect="1"/>
          </p:cNvPicPr>
          <p:nvPr/>
        </p:nvPicPr>
        <p:blipFill>
          <a:blip r:embed="rId4"/>
          <a:stretch>
            <a:fillRect/>
          </a:stretch>
        </p:blipFill>
        <p:spPr>
          <a:xfrm>
            <a:off x="8281771" y="2727286"/>
            <a:ext cx="3096057" cy="552527"/>
          </a:xfrm>
          <a:prstGeom prst="rect">
            <a:avLst/>
          </a:prstGeom>
        </p:spPr>
      </p:pic>
      <p:pic>
        <p:nvPicPr>
          <p:cNvPr id="11" name="图片 10">
            <a:extLst>
              <a:ext uri="{FF2B5EF4-FFF2-40B4-BE49-F238E27FC236}">
                <a16:creationId xmlns:a16="http://schemas.microsoft.com/office/drawing/2014/main" id="{195593F6-0BF0-B78B-8C1D-C738473C97A7}"/>
              </a:ext>
            </a:extLst>
          </p:cNvPr>
          <p:cNvPicPr>
            <a:picLocks noChangeAspect="1"/>
          </p:cNvPicPr>
          <p:nvPr/>
        </p:nvPicPr>
        <p:blipFill>
          <a:blip r:embed="rId5"/>
          <a:stretch>
            <a:fillRect/>
          </a:stretch>
        </p:blipFill>
        <p:spPr>
          <a:xfrm>
            <a:off x="8446892" y="3560723"/>
            <a:ext cx="2791215" cy="562053"/>
          </a:xfrm>
          <a:prstGeom prst="rect">
            <a:avLst/>
          </a:prstGeom>
        </p:spPr>
      </p:pic>
      <p:sp>
        <p:nvSpPr>
          <p:cNvPr id="14" name="文本框 13">
            <a:extLst>
              <a:ext uri="{FF2B5EF4-FFF2-40B4-BE49-F238E27FC236}">
                <a16:creationId xmlns:a16="http://schemas.microsoft.com/office/drawing/2014/main" id="{217D32FD-F1BC-3008-2F1A-8F99EF2BA4CD}"/>
              </a:ext>
            </a:extLst>
          </p:cNvPr>
          <p:cNvSpPr txBox="1"/>
          <p:nvPr/>
        </p:nvSpPr>
        <p:spPr>
          <a:xfrm>
            <a:off x="8477250" y="5308084"/>
            <a:ext cx="6096000" cy="369332"/>
          </a:xfrm>
          <a:prstGeom prst="rect">
            <a:avLst/>
          </a:prstGeom>
          <a:noFill/>
        </p:spPr>
        <p:txBody>
          <a:bodyPr wrap="square">
            <a:spAutoFit/>
          </a:bodyPr>
          <a:lstStyle/>
          <a:p>
            <a:r>
              <a:rPr lang="zh-CN" altLang="en-US" b="1" dirty="0"/>
              <a:t>|000⟩                           </a:t>
            </a:r>
            <a:r>
              <a:rPr lang="en-US" altLang="zh-CN" b="1" dirty="0"/>
              <a:t>|+++⟩</a:t>
            </a:r>
            <a:endParaRPr lang="zh-CN" altLang="en-US" b="1" dirty="0"/>
          </a:p>
        </p:txBody>
      </p:sp>
    </p:spTree>
    <p:extLst>
      <p:ext uri="{BB962C8B-B14F-4D97-AF65-F5344CB8AC3E}">
        <p14:creationId xmlns:p14="http://schemas.microsoft.com/office/powerpoint/2010/main" val="35198424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5C3D0-2295-8C02-50E6-32C94949065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7722DD4-7326-F203-BF4B-D7E8928BE23D}"/>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a:ea typeface="Noto Sans SC"/>
                <a:cs typeface="Noto Sans SC"/>
                <a:sym typeface="Noto Sans SC"/>
              </a:rPr>
              <a:t>0</a:t>
            </a:r>
            <a:r>
              <a:rPr lang="en-US" sz="3200" b="1" dirty="0">
                <a:solidFill>
                  <a:srgbClr val="333333"/>
                </a:solidFill>
                <a:latin typeface="Noto Sans SC"/>
                <a:ea typeface="Noto Sans SC"/>
                <a:cs typeface="Noto Sans SC"/>
                <a:sym typeface="Noto Sans SC"/>
              </a:rPr>
              <a:t>4</a:t>
            </a:r>
            <a:r>
              <a:rPr lang="en-US" sz="3200" b="1" i="0" u="none" strike="noStrike" dirty="0">
                <a:solidFill>
                  <a:srgbClr val="333333"/>
                </a:solidFill>
                <a:latin typeface="Noto Sans SC"/>
                <a:ea typeface="Noto Sans SC"/>
                <a:cs typeface="Noto Sans SC"/>
                <a:sym typeface="Noto Sans SC"/>
              </a:rPr>
              <a:t>  </a:t>
            </a:r>
            <a:r>
              <a:rPr lang="zh-CN" altLang="en-US" sz="3200" b="1" i="0" u="none" strike="noStrike" dirty="0">
                <a:solidFill>
                  <a:srgbClr val="333333"/>
                </a:solidFill>
                <a:latin typeface="Noto Sans SC"/>
                <a:ea typeface="Noto Sans SC"/>
                <a:cs typeface="Noto Sans SC"/>
                <a:sym typeface="Noto Sans SC"/>
              </a:rPr>
              <a:t>稳定子</a:t>
            </a:r>
            <a:endParaRPr lang="en-US" sz="1100" dirty="0"/>
          </a:p>
        </p:txBody>
      </p:sp>
      <p:cxnSp>
        <p:nvCxnSpPr>
          <p:cNvPr id="4" name="直接连接符 3">
            <a:extLst>
              <a:ext uri="{FF2B5EF4-FFF2-40B4-BE49-F238E27FC236}">
                <a16:creationId xmlns:a16="http://schemas.microsoft.com/office/drawing/2014/main" id="{A0D52E4C-5E34-D52C-5619-B532CCF4551C}"/>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AutoShape 3">
            <a:extLst>
              <a:ext uri="{FF2B5EF4-FFF2-40B4-BE49-F238E27FC236}">
                <a16:creationId xmlns:a16="http://schemas.microsoft.com/office/drawing/2014/main" id="{D1FB2B39-3931-1035-37DE-019CB14775CC}"/>
              </a:ext>
            </a:extLst>
          </p:cNvPr>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200" b="1" dirty="0">
                <a:solidFill>
                  <a:srgbClr val="555555"/>
                </a:solidFill>
                <a:latin typeface="Noto Sans SC"/>
                <a:ea typeface="Noto Sans SC"/>
                <a:cs typeface="Noto Sans SC"/>
                <a:sym typeface="Noto Sans SC"/>
              </a:rPr>
              <a:t>4.1~3 </a:t>
            </a:r>
            <a:r>
              <a:rPr lang="zh-CN" altLang="en-US" sz="2200" b="1" dirty="0">
                <a:solidFill>
                  <a:srgbClr val="555555"/>
                </a:solidFill>
                <a:latin typeface="Noto Sans SC"/>
                <a:ea typeface="Noto Sans SC"/>
                <a:cs typeface="Noto Sans SC"/>
                <a:sym typeface="Noto Sans SC"/>
              </a:rPr>
              <a:t>总结</a:t>
            </a:r>
            <a:endParaRPr lang="en-US" sz="11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2AF2BCF-CFE4-611D-F030-4F223EB19B91}"/>
                  </a:ext>
                </a:extLst>
              </p:cNvPr>
              <p:cNvSpPr txBox="1"/>
              <p:nvPr/>
            </p:nvSpPr>
            <p:spPr>
              <a:xfrm>
                <a:off x="718332" y="2953647"/>
                <a:ext cx="6950773" cy="2308324"/>
              </a:xfrm>
              <a:prstGeom prst="rect">
                <a:avLst/>
              </a:prstGeom>
              <a:noFill/>
            </p:spPr>
            <p:txBody>
              <a:bodyPr wrap="square">
                <a:spAutoFit/>
              </a:bodyPr>
              <a:lstStyle/>
              <a:p>
                <a:r>
                  <a:rPr lang="zh-CN" altLang="en-US" b="1" dirty="0"/>
                  <a:t>量子纠错理论概念</a:t>
                </a:r>
                <a:endParaRPr lang="en-US" altLang="zh-CN" b="1" dirty="0"/>
              </a:p>
              <a:p>
                <a:r>
                  <a:rPr lang="en-US" altLang="zh-CN" b="1" dirty="0"/>
                  <a:t>        </a:t>
                </a:r>
                <a:r>
                  <a:rPr lang="zh-CN" altLang="en-US" b="1" dirty="0"/>
                  <a:t>定义 </a:t>
                </a:r>
                <a14:m>
                  <m:oMath xmlns:m="http://schemas.openxmlformats.org/officeDocument/2006/math">
                    <m:d>
                      <m:dPr>
                        <m:sepChr m:val=","/>
                        <m:ctrlPr>
                          <a:rPr lang="ar-AE" altLang="zh-CN" b="1" i="1">
                            <a:solidFill>
                              <a:schemeClr val="accent2"/>
                            </a:solidFill>
                            <a:latin typeface="Cambria Math" panose="02040503050406030204" pitchFamily="18" charset="0"/>
                          </a:rPr>
                        </m:ctrlPr>
                      </m:dPr>
                      <m:e>
                        <m:r>
                          <a:rPr lang="zh-CN" altLang="ar-AE" b="1" i="1">
                            <a:solidFill>
                              <a:schemeClr val="accent2"/>
                            </a:solidFill>
                            <a:latin typeface="Cambria Math" panose="02040503050406030204" pitchFamily="18" charset="0"/>
                          </a:rPr>
                          <m:t>𝑼</m:t>
                        </m:r>
                      </m:e>
                      <m:e>
                        <m:r>
                          <a:rPr lang="ar-AE" altLang="zh-CN" b="1">
                            <a:solidFill>
                              <a:schemeClr val="accent2"/>
                            </a:solidFill>
                            <a:latin typeface="Cambria Math" panose="02040503050406030204" pitchFamily="18" charset="0"/>
                          </a:rPr>
                          <m:t>𝓔</m:t>
                        </m:r>
                      </m:e>
                    </m:d>
                  </m:oMath>
                </a14:m>
                <a:r>
                  <a:rPr lang="en-US" altLang="zh-CN" b="1" dirty="0"/>
                  <a:t> / </a:t>
                </a:r>
                <a14:m>
                  <m:oMath xmlns:m="http://schemas.openxmlformats.org/officeDocument/2006/math">
                    <m:d>
                      <m:dPr>
                        <m:sepChr m:val=","/>
                        <m:ctrlPr>
                          <a:rPr lang="ar-AE" altLang="zh-CN" b="1" i="1" smtClean="0">
                            <a:solidFill>
                              <a:schemeClr val="accent2"/>
                            </a:solidFill>
                            <a:latin typeface="Cambria Math" panose="02040503050406030204" pitchFamily="18" charset="0"/>
                          </a:rPr>
                        </m:ctrlPr>
                      </m:dPr>
                      <m:e>
                        <m:r>
                          <a:rPr lang="en-US" altLang="zh-CN" b="1" i="1">
                            <a:solidFill>
                              <a:schemeClr val="accent2"/>
                            </a:solidFill>
                            <a:latin typeface="Cambria Math" panose="02040503050406030204" pitchFamily="18" charset="0"/>
                          </a:rPr>
                          <m:t>𝑸</m:t>
                        </m:r>
                      </m:e>
                      <m:e>
                        <m:r>
                          <a:rPr lang="ar-AE" altLang="zh-CN" b="1">
                            <a:solidFill>
                              <a:schemeClr val="accent2"/>
                            </a:solidFill>
                            <a:latin typeface="Cambria Math" panose="02040503050406030204" pitchFamily="18" charset="0"/>
                          </a:rPr>
                          <m:t>𝓔</m:t>
                        </m:r>
                      </m:e>
                    </m:d>
                  </m:oMath>
                </a14:m>
                <a:endParaRPr lang="en-US" altLang="zh-CN" b="1" dirty="0"/>
              </a:p>
              <a:p>
                <a:r>
                  <a:rPr lang="en-US" altLang="zh-CN" b="1" dirty="0"/>
                  <a:t>        </a:t>
                </a:r>
                <a:r>
                  <a:rPr lang="zh-CN" altLang="en-US" b="1" dirty="0"/>
                  <a:t>性质 </a:t>
                </a:r>
                <a:r>
                  <a:rPr lang="zh-CN" altLang="en-US" b="1" dirty="0">
                    <a:solidFill>
                      <a:schemeClr val="accent2"/>
                    </a:solidFill>
                  </a:rPr>
                  <a:t>线性性质</a:t>
                </a:r>
                <a:endParaRPr lang="en-US" altLang="zh-CN" b="1" dirty="0">
                  <a:solidFill>
                    <a:schemeClr val="accent2"/>
                  </a:solidFill>
                </a:endParaRPr>
              </a:p>
              <a:p>
                <a:r>
                  <a:rPr lang="en-US" altLang="zh-CN" b="1" dirty="0"/>
                  <a:t>        </a:t>
                </a:r>
                <a:r>
                  <a:rPr lang="zh-CN" altLang="en-US" b="1" dirty="0"/>
                  <a:t>条件 </a:t>
                </a:r>
                <a:r>
                  <a:rPr lang="zh-CN" altLang="en-US" b="1" dirty="0">
                    <a:solidFill>
                      <a:schemeClr val="accent2"/>
                    </a:solidFill>
                  </a:rPr>
                  <a:t>充分条件</a:t>
                </a:r>
                <a:r>
                  <a:rPr lang="en-US" altLang="zh-CN" b="1" dirty="0"/>
                  <a:t>/ </a:t>
                </a:r>
                <a:r>
                  <a:rPr lang="en-US" altLang="zh-CN" b="1" dirty="0">
                    <a:solidFill>
                      <a:schemeClr val="accent2"/>
                    </a:solidFill>
                  </a:rPr>
                  <a:t>QECC</a:t>
                </a:r>
                <a:r>
                  <a:rPr lang="zh-CN" altLang="en-US" b="1" dirty="0">
                    <a:solidFill>
                      <a:schemeClr val="accent2"/>
                    </a:solidFill>
                  </a:rPr>
                  <a:t>条件</a:t>
                </a:r>
                <a:r>
                  <a:rPr lang="en-US" altLang="zh-CN" b="1" dirty="0">
                    <a:solidFill>
                      <a:schemeClr val="accent2"/>
                    </a:solidFill>
                  </a:rPr>
                  <a:t> </a:t>
                </a:r>
                <a:r>
                  <a:rPr lang="en-US" altLang="zh-CN" b="1" dirty="0">
                    <a:sym typeface="Wingdings" panose="05000000000000000000" pitchFamily="2" charset="2"/>
                  </a:rPr>
                  <a:t> </a:t>
                </a:r>
                <a:r>
                  <a:rPr lang="zh-CN" altLang="en-US" b="1" dirty="0">
                    <a:sym typeface="Wingdings" panose="05000000000000000000" pitchFamily="2" charset="2"/>
                  </a:rPr>
                  <a:t>简并码 </a:t>
                </a:r>
                <a:r>
                  <a:rPr lang="en-US" altLang="zh-CN" b="1" dirty="0">
                    <a:sym typeface="Wingdings" panose="05000000000000000000" pitchFamily="2" charset="2"/>
                  </a:rPr>
                  <a:t>(Shor</a:t>
                </a:r>
                <a:r>
                  <a:rPr lang="zh-CN" altLang="en-US" b="1" dirty="0">
                    <a:sym typeface="Wingdings" panose="05000000000000000000" pitchFamily="2" charset="2"/>
                  </a:rPr>
                  <a:t>码</a:t>
                </a:r>
                <a:r>
                  <a:rPr lang="en-US" altLang="zh-CN" b="1" dirty="0">
                    <a:sym typeface="Wingdings" panose="05000000000000000000" pitchFamily="2" charset="2"/>
                  </a:rPr>
                  <a:t>)</a:t>
                </a:r>
              </a:p>
              <a:p>
                <a:r>
                  <a:rPr lang="en-US" altLang="zh-CN" b="1" dirty="0">
                    <a:sym typeface="Wingdings" panose="05000000000000000000" pitchFamily="2" charset="2"/>
                  </a:rPr>
                  <a:t>                 </a:t>
                </a:r>
                <a:r>
                  <a:rPr lang="zh-CN" altLang="en-US" b="1" dirty="0">
                    <a:solidFill>
                      <a:schemeClr val="accent2"/>
                    </a:solidFill>
                    <a:sym typeface="Wingdings" panose="05000000000000000000" pitchFamily="2" charset="2"/>
                  </a:rPr>
                  <a:t>权</a:t>
                </a:r>
                <a:r>
                  <a:rPr lang="zh-CN" altLang="en-US" b="1" dirty="0">
                    <a:sym typeface="Wingdings" panose="05000000000000000000" pitchFamily="2" charset="2"/>
                  </a:rPr>
                  <a:t> </a:t>
                </a:r>
                <a:r>
                  <a:rPr lang="en-US" altLang="zh-CN" b="1" dirty="0">
                    <a:sym typeface="Wingdings" panose="05000000000000000000" pitchFamily="2" charset="2"/>
                  </a:rPr>
                  <a:t> </a:t>
                </a:r>
                <a:r>
                  <a:rPr lang="zh-CN" altLang="en-US" b="1" dirty="0">
                    <a:solidFill>
                      <a:schemeClr val="accent2"/>
                    </a:solidFill>
                    <a:sym typeface="Wingdings" panose="05000000000000000000" pitchFamily="2" charset="2"/>
                  </a:rPr>
                  <a:t>距离</a:t>
                </a:r>
                <a:r>
                  <a:rPr lang="zh-CN" altLang="en-US" b="1" dirty="0">
                    <a:sym typeface="Wingdings" panose="05000000000000000000" pitchFamily="2" charset="2"/>
                  </a:rPr>
                  <a:t> </a:t>
                </a:r>
                <a:r>
                  <a:rPr lang="en-US" altLang="zh-CN" b="1" dirty="0">
                    <a:sym typeface="Wingdings" panose="05000000000000000000" pitchFamily="2" charset="2"/>
                  </a:rPr>
                  <a:t> </a:t>
                </a:r>
                <a:r>
                  <a:rPr lang="zh-CN" altLang="en-US" b="1" dirty="0">
                    <a:solidFill>
                      <a:schemeClr val="accent2"/>
                    </a:solidFill>
                    <a:sym typeface="Wingdings" panose="05000000000000000000" pitchFamily="2" charset="2"/>
                  </a:rPr>
                  <a:t>错误检测</a:t>
                </a:r>
                <a:r>
                  <a:rPr lang="zh-CN" altLang="en-US" b="1" dirty="0">
                    <a:sym typeface="Wingdings" panose="05000000000000000000" pitchFamily="2" charset="2"/>
                  </a:rPr>
                  <a:t>  </a:t>
                </a:r>
                <a:r>
                  <a:rPr lang="en-US" altLang="zh-CN" b="1" dirty="0">
                    <a:sym typeface="Wingdings" panose="05000000000000000000" pitchFamily="2" charset="2"/>
                  </a:rPr>
                  <a:t> </a:t>
                </a:r>
                <a:r>
                  <a:rPr lang="zh-CN" altLang="en-US" b="1" dirty="0">
                    <a:solidFill>
                      <a:schemeClr val="accent2"/>
                    </a:solidFill>
                    <a:sym typeface="Wingdings" panose="05000000000000000000" pitchFamily="2" charset="2"/>
                  </a:rPr>
                  <a:t>擦除错误</a:t>
                </a:r>
                <a:endParaRPr lang="en-US" altLang="zh-CN" b="1" dirty="0">
                  <a:solidFill>
                    <a:schemeClr val="accent2"/>
                  </a:solidFill>
                  <a:sym typeface="Wingdings" panose="05000000000000000000" pitchFamily="2" charset="2"/>
                </a:endParaRPr>
              </a:p>
              <a:p>
                <a:r>
                  <a:rPr lang="en-US" altLang="zh-CN" b="1" dirty="0">
                    <a:sym typeface="Wingdings" panose="05000000000000000000" pitchFamily="2" charset="2"/>
                  </a:rPr>
                  <a:t>                 </a:t>
                </a:r>
                <a:r>
                  <a:rPr lang="zh-CN" altLang="en-US" b="1" dirty="0">
                    <a:solidFill>
                      <a:schemeClr val="accent2"/>
                    </a:solidFill>
                    <a:sym typeface="Wingdings" panose="05000000000000000000" pitchFamily="2" charset="2"/>
                  </a:rPr>
                  <a:t>等价码</a:t>
                </a:r>
                <a:endParaRPr lang="en-US" altLang="zh-CN" b="1" dirty="0">
                  <a:solidFill>
                    <a:schemeClr val="accent2"/>
                  </a:solidFill>
                </a:endParaRPr>
              </a:p>
              <a:p>
                <a:r>
                  <a:rPr lang="en-US" altLang="zh-CN" b="1" dirty="0"/>
                  <a:t>      </a:t>
                </a:r>
              </a:p>
              <a:p>
                <a:r>
                  <a:rPr lang="en-US" altLang="zh-CN" b="1" dirty="0"/>
                  <a:t>  </a:t>
                </a:r>
              </a:p>
            </p:txBody>
          </p:sp>
        </mc:Choice>
        <mc:Fallback xmlns="">
          <p:sp>
            <p:nvSpPr>
              <p:cNvPr id="5" name="文本框 4">
                <a:extLst>
                  <a:ext uri="{FF2B5EF4-FFF2-40B4-BE49-F238E27FC236}">
                    <a16:creationId xmlns:a16="http://schemas.microsoft.com/office/drawing/2014/main" id="{42AF2BCF-CFE4-611D-F030-4F223EB19B91}"/>
                  </a:ext>
                </a:extLst>
              </p:cNvPr>
              <p:cNvSpPr txBox="1">
                <a:spLocks noRot="1" noChangeAspect="1" noMove="1" noResize="1" noEditPoints="1" noAdjustHandles="1" noChangeArrowheads="1" noChangeShapeType="1" noTextEdit="1"/>
              </p:cNvSpPr>
              <p:nvPr/>
            </p:nvSpPr>
            <p:spPr>
              <a:xfrm>
                <a:off x="718332" y="2953647"/>
                <a:ext cx="6950773" cy="2308324"/>
              </a:xfrm>
              <a:prstGeom prst="rect">
                <a:avLst/>
              </a:prstGeom>
              <a:blipFill>
                <a:blip r:embed="rId3"/>
                <a:stretch>
                  <a:fillRect l="-789" t="-15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28186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9C38A-B3F2-52F5-01D3-1009370D9DF4}"/>
            </a:ext>
          </a:extLst>
        </p:cNvPr>
        <p:cNvGrpSpPr/>
        <p:nvPr/>
      </p:nvGrpSpPr>
      <p:grpSpPr>
        <a:xfrm>
          <a:off x="0" y="0"/>
          <a:ext cx="0" cy="0"/>
          <a:chOff x="0" y="0"/>
          <a:chExt cx="0" cy="0"/>
        </a:xfrm>
      </p:grpSpPr>
      <p:sp>
        <p:nvSpPr>
          <p:cNvPr id="2" name="TextBox 1"/>
          <p:cNvSpPr txBox="1"/>
          <p:nvPr/>
        </p:nvSpPr>
        <p:spPr>
          <a:xfrm>
            <a:off x="762000" y="635000"/>
            <a:ext cx="10668000" cy="571500"/>
          </a:xfrm>
          <a:prstGeom prst="rect">
            <a:avLst/>
          </a:prstGeom>
          <a:noFill/>
        </p:spPr>
        <p:txBody>
          <a:bodyPr wrap="square">
            <a:spAutoFit/>
          </a:bodyPr>
          <a:lstStyle/>
          <a:p>
            <a:pPr algn="l"/>
            <a:r>
              <a:rPr sz="3200" b="1">
                <a:solidFill>
                  <a:srgbClr val="333333"/>
                </a:solidFill>
                <a:latin typeface="Noto Sans SC"/>
              </a:rPr>
              <a:t>04  稳定子</a:t>
            </a:r>
          </a:p>
        </p:txBody>
      </p:sp>
      <p:sp>
        <p:nvSpPr>
          <p:cNvPr id="3" name="TextBox 2"/>
          <p:cNvSpPr txBox="1"/>
          <p:nvPr/>
        </p:nvSpPr>
        <p:spPr>
          <a:xfrm>
            <a:off x="762000" y="1397000"/>
            <a:ext cx="10668000" cy="444500"/>
          </a:xfrm>
          <a:prstGeom prst="rect">
            <a:avLst/>
          </a:prstGeom>
          <a:noFill/>
        </p:spPr>
        <p:txBody>
          <a:bodyPr wrap="square">
            <a:spAutoFit/>
          </a:bodyPr>
          <a:lstStyle/>
          <a:p>
            <a:pPr algn="l"/>
            <a:r>
              <a:rPr sz="2200" b="1" dirty="0">
                <a:solidFill>
                  <a:srgbClr val="666666"/>
                </a:solidFill>
                <a:latin typeface="Noto Sans SC"/>
              </a:rPr>
              <a:t>4.4 </a:t>
            </a:r>
            <a:r>
              <a:rPr sz="2200" b="1" dirty="0" err="1">
                <a:solidFill>
                  <a:srgbClr val="666666"/>
                </a:solidFill>
                <a:latin typeface="Noto Sans SC"/>
              </a:rPr>
              <a:t>Shor码回顾</a:t>
            </a:r>
            <a:endParaRPr sz="2200" b="1" dirty="0">
              <a:solidFill>
                <a:srgbClr val="666666"/>
              </a:solidFill>
              <a:latin typeface="Noto Sans SC"/>
            </a:endParaRPr>
          </a:p>
        </p:txBody>
      </p:sp>
      <p:cxnSp>
        <p:nvCxnSpPr>
          <p:cNvPr id="8" name="直接连接符 7">
            <a:extLst>
              <a:ext uri="{FF2B5EF4-FFF2-40B4-BE49-F238E27FC236}">
                <a16:creationId xmlns:a16="http://schemas.microsoft.com/office/drawing/2014/main" id="{94F26774-9D22-E872-35FE-5DA997DABBCF}"/>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F394B001-F56C-9AA5-6B54-244D92C2F1F7}"/>
              </a:ext>
            </a:extLst>
          </p:cNvPr>
          <p:cNvPicPr>
            <a:picLocks noChangeAspect="1"/>
          </p:cNvPicPr>
          <p:nvPr/>
        </p:nvPicPr>
        <p:blipFill>
          <a:blip r:embed="rId3"/>
          <a:stretch>
            <a:fillRect/>
          </a:stretch>
        </p:blipFill>
        <p:spPr>
          <a:xfrm>
            <a:off x="8019603" y="455287"/>
            <a:ext cx="3587934" cy="1447874"/>
          </a:xfrm>
          <a:prstGeom prst="rect">
            <a:avLst/>
          </a:prstGeom>
        </p:spPr>
      </p:pic>
      <p:pic>
        <p:nvPicPr>
          <p:cNvPr id="12" name="图片 11">
            <a:extLst>
              <a:ext uri="{FF2B5EF4-FFF2-40B4-BE49-F238E27FC236}">
                <a16:creationId xmlns:a16="http://schemas.microsoft.com/office/drawing/2014/main" id="{A2FF9B27-E2CE-E10A-E902-D3CFFF4CAEA0}"/>
              </a:ext>
            </a:extLst>
          </p:cNvPr>
          <p:cNvPicPr>
            <a:picLocks noChangeAspect="1"/>
          </p:cNvPicPr>
          <p:nvPr/>
        </p:nvPicPr>
        <p:blipFill>
          <a:blip r:embed="rId4"/>
          <a:stretch>
            <a:fillRect/>
          </a:stretch>
        </p:blipFill>
        <p:spPr>
          <a:xfrm>
            <a:off x="7799298" y="2142308"/>
            <a:ext cx="3919896" cy="1074309"/>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8C920B6-F33B-3764-998A-16169378C3B9}"/>
                  </a:ext>
                </a:extLst>
              </p:cNvPr>
              <p:cNvSpPr txBox="1"/>
              <p:nvPr/>
            </p:nvSpPr>
            <p:spPr>
              <a:xfrm>
                <a:off x="7945767" y="3497674"/>
                <a:ext cx="4055149" cy="1386983"/>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 </m:t>
                    </m:r>
                  </m:oMath>
                </a14:m>
                <a:r>
                  <a:rPr lang="en-US" altLang="zh-CN" b="0" dirty="0"/>
                  <a:t> </a:t>
                </a:r>
              </a:p>
              <a:p>
                <a:r>
                  <a:rPr lang="en-US" altLang="zh-CN" dirty="0"/>
                  <a:t> </a:t>
                </a:r>
                <a14:m>
                  <m:oMath xmlns:m="http://schemas.openxmlformats.org/officeDocument/2006/math">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m>
                          <m:mPr>
                            <m:plcHide m:val="on"/>
                            <m:mcs>
                              <m:mc>
                                <m:mcPr>
                                  <m:count m:val="4"/>
                                  <m:mcJc m:val="center"/>
                                </m:mcPr>
                              </m:mc>
                            </m:mcs>
                            <m:ctrlPr>
                              <a:rPr lang="en-US" altLang="zh-CN" b="0" i="1" smtClean="0">
                                <a:latin typeface="Cambria Math" panose="02040503050406030204" pitchFamily="18" charset="0"/>
                              </a:rPr>
                            </m:ctrlPr>
                          </m:mPr>
                          <m:mr>
                            <m:e>
                              <m:r>
                                <a:rPr lang="en-US" altLang="zh-CN" b="0" i="1" smtClean="0">
                                  <a:latin typeface="Cambria Math" panose="02040503050406030204" pitchFamily="18" charset="0"/>
                                </a:rPr>
                                <m:t>+1 </m:t>
                              </m:r>
                            </m:e>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0 </m:t>
                              </m:r>
                            </m:e>
                          </m:mr>
                          <m:mr>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−1 </m:t>
                              </m:r>
                            </m:e>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0 </m:t>
                              </m:r>
                            </m:e>
                          </m:mr>
                          <m:mr>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−1 </m:t>
                              </m:r>
                            </m:e>
                            <m:e>
                              <m:r>
                                <a:rPr lang="en-US" altLang="zh-CN" b="0" i="1" smtClean="0">
                                  <a:latin typeface="Cambria Math" panose="02040503050406030204" pitchFamily="18" charset="0"/>
                                </a:rPr>
                                <m:t> 0 </m:t>
                              </m:r>
                            </m:e>
                          </m:mr>
                          <m:mr>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0 </m:t>
                              </m:r>
                            </m:e>
                            <m:e>
                              <m:r>
                                <a:rPr lang="en-US" altLang="zh-CN" b="0" i="1" smtClean="0">
                                  <a:latin typeface="Cambria Math" panose="02040503050406030204" pitchFamily="18" charset="0"/>
                                </a:rPr>
                                <m:t> 0 </m:t>
                              </m:r>
                            </m:e>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 </m:t>
                    </m:r>
                    <m:m>
                      <m:mPr>
                        <m:plcHide m:val="on"/>
                        <m:mcs>
                          <m:mc>
                            <m:mcPr>
                              <m:count m:val="1"/>
                              <m:mcJc m:val="center"/>
                            </m:mcPr>
                          </m:mc>
                        </m:mcs>
                        <m:ctrlPr>
                          <a:rPr lang="en-US" altLang="zh-CN" b="0" i="1" smtClean="0">
                            <a:latin typeface="Cambria Math" panose="02040503050406030204" pitchFamily="18" charset="0"/>
                          </a:rPr>
                        </m:ctrlPr>
                      </m:mPr>
                      <m:mr>
                        <m:e>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even</m:t>
                              </m:r>
                            </m:e>
                          </m:d>
                          <m:r>
                            <a:rPr lang="en-US" altLang="zh-CN" b="0" i="1" smtClean="0">
                              <a:latin typeface="Cambria Math" panose="02040503050406030204" pitchFamily="18" charset="0"/>
                            </a:rPr>
                            <m:t> </m:t>
                          </m:r>
                        </m:e>
                      </m:mr>
                      <m:mr>
                        <m:e>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odd</m:t>
                              </m:r>
                            </m:e>
                          </m:d>
                          <m:r>
                            <a:rPr lang="en-US" altLang="zh-CN" b="0" i="1" smtClean="0">
                              <a:latin typeface="Cambria Math" panose="02040503050406030204" pitchFamily="18" charset="0"/>
                            </a:rPr>
                            <m:t> </m:t>
                          </m:r>
                        </m:e>
                      </m:mr>
                      <m:mr>
                        <m:e>
                          <m:r>
                            <a:rPr lang="en-US" altLang="zh-CN" b="0" i="1" smtClean="0">
                              <a:latin typeface="Cambria Math" panose="02040503050406030204" pitchFamily="18" charset="0"/>
                            </a:rPr>
                            <m:t> − +</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odd</m:t>
                              </m:r>
                            </m:e>
                          </m:d>
                          <m:r>
                            <a:rPr lang="en-US" altLang="zh-CN" b="0" i="1" smtClean="0">
                              <a:latin typeface="Cambria Math" panose="02040503050406030204" pitchFamily="18" charset="0"/>
                            </a:rPr>
                            <m:t> </m:t>
                          </m:r>
                        </m:e>
                      </m:mr>
                      <m:mr>
                        <m:e>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even</m:t>
                              </m:r>
                            </m:e>
                          </m:d>
                        </m:e>
                      </m:mr>
                    </m:m>
                  </m:oMath>
                </a14:m>
                <a:endParaRPr lang="en-US" altLang="zh-CN" dirty="0"/>
              </a:p>
            </p:txBody>
          </p:sp>
        </mc:Choice>
        <mc:Fallback xmlns="">
          <p:sp>
            <p:nvSpPr>
              <p:cNvPr id="14" name="文本框 13">
                <a:extLst>
                  <a:ext uri="{FF2B5EF4-FFF2-40B4-BE49-F238E27FC236}">
                    <a16:creationId xmlns:a16="http://schemas.microsoft.com/office/drawing/2014/main" id="{18C920B6-F33B-3764-998A-16169378C3B9}"/>
                  </a:ext>
                </a:extLst>
              </p:cNvPr>
              <p:cNvSpPr txBox="1">
                <a:spLocks noRot="1" noChangeAspect="1" noMove="1" noResize="1" noEditPoints="1" noAdjustHandles="1" noChangeArrowheads="1" noChangeShapeType="1" noTextEdit="1"/>
              </p:cNvSpPr>
              <p:nvPr/>
            </p:nvSpPr>
            <p:spPr>
              <a:xfrm>
                <a:off x="7945767" y="3497674"/>
                <a:ext cx="4055149" cy="1386983"/>
              </a:xfrm>
              <a:prstGeom prst="rect">
                <a:avLst/>
              </a:prstGeom>
              <a:blipFill>
                <a:blip r:embed="rId5"/>
                <a:stretch>
                  <a:fillRect l="-1952" t="-441"/>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E7C92BDD-49EE-C82C-628C-448A4BCB83DD}"/>
              </a:ext>
            </a:extLst>
          </p:cNvPr>
          <p:cNvPicPr>
            <a:picLocks noChangeAspect="1"/>
          </p:cNvPicPr>
          <p:nvPr/>
        </p:nvPicPr>
        <p:blipFill>
          <a:blip r:embed="rId6"/>
          <a:stretch>
            <a:fillRect/>
          </a:stretch>
        </p:blipFill>
        <p:spPr>
          <a:xfrm>
            <a:off x="8421755" y="5129145"/>
            <a:ext cx="3010067" cy="1567026"/>
          </a:xfrm>
          <a:prstGeom prst="rect">
            <a:avLst/>
          </a:prstGeom>
        </p:spPr>
      </p:pic>
      <p:sp>
        <p:nvSpPr>
          <p:cNvPr id="18" name="AutoShape 11">
            <a:extLst>
              <a:ext uri="{FF2B5EF4-FFF2-40B4-BE49-F238E27FC236}">
                <a16:creationId xmlns:a16="http://schemas.microsoft.com/office/drawing/2014/main" id="{3B6599AF-FB57-4BF5-1F98-F1F170F21E02}"/>
              </a:ext>
            </a:extLst>
          </p:cNvPr>
          <p:cNvSpPr/>
          <p:nvPr/>
        </p:nvSpPr>
        <p:spPr>
          <a:xfrm>
            <a:off x="935955" y="2617185"/>
            <a:ext cx="6273800" cy="3071689"/>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zh-CN" altLang="en-US" b="1" dirty="0">
                <a:solidFill>
                  <a:schemeClr val="accent2"/>
                </a:solidFill>
                <a:ea typeface="Noto Sans SC"/>
                <a:cs typeface="Noto Sans SC"/>
                <a:sym typeface="Noto Sans SC"/>
              </a:rPr>
              <a:t>算符</a:t>
            </a:r>
            <a:r>
              <a:rPr lang="zh-CN" altLang="en-US" b="1" i="0" u="none" strike="noStrike" dirty="0">
                <a:ea typeface="Noto Sans SC"/>
                <a:cs typeface="Noto Sans SC"/>
                <a:sym typeface="Noto Sans SC"/>
              </a:rPr>
              <a:t>作用于态获得</a:t>
            </a:r>
            <a:r>
              <a:rPr lang="zh-CN" altLang="en-US" b="1" i="0" u="none" strike="noStrike" dirty="0">
                <a:solidFill>
                  <a:schemeClr val="accent2"/>
                </a:solidFill>
                <a:ea typeface="Noto Sans SC"/>
                <a:cs typeface="Noto Sans SC"/>
                <a:sym typeface="Noto Sans SC"/>
              </a:rPr>
              <a:t>本征值</a:t>
            </a:r>
            <a:r>
              <a:rPr lang="zh-CN" altLang="en-US" b="1" i="0" u="none" strike="noStrike" dirty="0">
                <a:ea typeface="Noto Sans SC"/>
                <a:cs typeface="Noto Sans SC"/>
                <a:sym typeface="Noto Sans SC"/>
              </a:rPr>
              <a:t>来</a:t>
            </a:r>
            <a:r>
              <a:rPr lang="zh-CN" altLang="en-US" b="1" i="0" u="none" strike="noStrike" dirty="0">
                <a:solidFill>
                  <a:schemeClr val="accent2"/>
                </a:solidFill>
                <a:ea typeface="Noto Sans SC"/>
                <a:cs typeface="Noto Sans SC"/>
                <a:sym typeface="Noto Sans SC"/>
              </a:rPr>
              <a:t>检测错误</a:t>
            </a:r>
            <a:endParaRPr lang="en-US" altLang="zh-CN" b="1" i="0" u="none" strike="noStrike" dirty="0">
              <a:solidFill>
                <a:schemeClr val="accent2"/>
              </a:solidFill>
              <a:ea typeface="Noto Sans SC"/>
              <a:cs typeface="Noto Sans SC"/>
              <a:sym typeface="Noto Sans SC"/>
            </a:endParaRPr>
          </a:p>
          <a:p>
            <a:pPr indent="0" algn="l">
              <a:lnSpc>
                <a:spcPct val="116666"/>
              </a:lnSpc>
              <a:defRPr/>
            </a:pPr>
            <a:endParaRPr lang="en-US" altLang="zh-CN" b="1" dirty="0">
              <a:solidFill>
                <a:schemeClr val="accent2"/>
              </a:solidFill>
              <a:ea typeface="Noto Sans SC"/>
              <a:cs typeface="Noto Sans SC"/>
              <a:sym typeface="Noto Sans SC"/>
            </a:endParaRPr>
          </a:p>
          <a:p>
            <a:pPr indent="0" algn="l">
              <a:lnSpc>
                <a:spcPct val="116666"/>
              </a:lnSpc>
              <a:defRPr/>
            </a:pPr>
            <a:r>
              <a:rPr lang="zh-CN" altLang="en-US" b="1" i="0" u="none" strike="noStrike" dirty="0">
                <a:ea typeface="Noto Sans SC"/>
                <a:cs typeface="Noto Sans SC"/>
                <a:sym typeface="Noto Sans SC"/>
              </a:rPr>
              <a:t>而这些算符的</a:t>
            </a:r>
            <a:r>
              <a:rPr lang="zh-CN" altLang="en-US" b="1" i="0" u="none" strike="noStrike" dirty="0">
                <a:solidFill>
                  <a:schemeClr val="accent2"/>
                </a:solidFill>
                <a:ea typeface="Noto Sans SC"/>
                <a:cs typeface="Noto Sans SC"/>
                <a:sym typeface="Noto Sans SC"/>
              </a:rPr>
              <a:t>集合</a:t>
            </a:r>
            <a:r>
              <a:rPr lang="zh-CN" altLang="en-US" b="1" i="0" u="none" strike="noStrike" dirty="0">
                <a:ea typeface="Noto Sans SC"/>
                <a:cs typeface="Noto Sans SC"/>
                <a:sym typeface="Noto Sans SC"/>
              </a:rPr>
              <a:t>就是</a:t>
            </a:r>
            <a:r>
              <a:rPr lang="zh-CN" altLang="en-US" b="1" i="0" u="none" strike="noStrike" dirty="0">
                <a:solidFill>
                  <a:schemeClr val="accent2"/>
                </a:solidFill>
                <a:ea typeface="Noto Sans SC"/>
                <a:cs typeface="Noto Sans SC"/>
                <a:sym typeface="Noto Sans SC"/>
              </a:rPr>
              <a:t>稳定子</a:t>
            </a:r>
            <a:r>
              <a:rPr lang="en-US" altLang="zh-CN" b="1" i="0" u="none" strike="noStrike" dirty="0">
                <a:solidFill>
                  <a:schemeClr val="accent2"/>
                </a:solidFill>
                <a:ea typeface="Noto Sans SC"/>
                <a:cs typeface="Noto Sans SC"/>
                <a:sym typeface="Noto Sans SC"/>
              </a:rPr>
              <a:t>(</a:t>
            </a:r>
            <a:r>
              <a:rPr lang="en-US" altLang="zh-CN" b="1" i="0" u="none" strike="noStrike" dirty="0" err="1">
                <a:solidFill>
                  <a:schemeClr val="accent2"/>
                </a:solidFill>
                <a:ea typeface="Noto Sans SC"/>
                <a:cs typeface="Noto Sans SC"/>
                <a:sym typeface="Noto Sans SC"/>
              </a:rPr>
              <a:t>stablizer</a:t>
            </a:r>
            <a:r>
              <a:rPr lang="en-US" altLang="zh-CN" b="1" i="0" u="none" strike="noStrike" dirty="0">
                <a:solidFill>
                  <a:schemeClr val="accent2"/>
                </a:solidFill>
                <a:ea typeface="Noto Sans SC"/>
                <a:cs typeface="Noto Sans SC"/>
                <a:sym typeface="Noto Sans SC"/>
              </a:rPr>
              <a:t>)</a:t>
            </a:r>
          </a:p>
          <a:p>
            <a:pPr indent="0" algn="l">
              <a:lnSpc>
                <a:spcPct val="116666"/>
              </a:lnSpc>
              <a:defRPr/>
            </a:pPr>
            <a:endParaRPr lang="en-US" altLang="zh-CN" b="1" dirty="0">
              <a:solidFill>
                <a:schemeClr val="accent2"/>
              </a:solidFill>
              <a:ea typeface="Noto Sans SC"/>
              <a:cs typeface="Noto Sans SC"/>
              <a:sym typeface="Noto Sans SC"/>
            </a:endParaRPr>
          </a:p>
          <a:p>
            <a:pPr indent="0" algn="l">
              <a:lnSpc>
                <a:spcPct val="116666"/>
              </a:lnSpc>
              <a:defRPr/>
            </a:pPr>
            <a:r>
              <a:rPr lang="zh-CN" altLang="en-US" b="1" dirty="0">
                <a:ea typeface="Noto Sans SC"/>
                <a:cs typeface="Noto Sans SC"/>
                <a:sym typeface="Noto Sans SC"/>
              </a:rPr>
              <a:t>最下方的</a:t>
            </a:r>
            <a:r>
              <a:rPr lang="en-US" altLang="zh-CN" b="1" dirty="0">
                <a:ea typeface="Noto Sans SC"/>
                <a:cs typeface="Noto Sans SC"/>
                <a:sym typeface="Noto Sans SC"/>
              </a:rPr>
              <a:t>8</a:t>
            </a:r>
            <a:r>
              <a:rPr lang="zh-CN" altLang="en-US" b="1" dirty="0">
                <a:ea typeface="Noto Sans SC"/>
                <a:cs typeface="Noto Sans SC"/>
                <a:sym typeface="Noto Sans SC"/>
              </a:rPr>
              <a:t>个算符可以</a:t>
            </a:r>
            <a:r>
              <a:rPr lang="zh-CN" altLang="en-US" b="1" dirty="0">
                <a:solidFill>
                  <a:schemeClr val="accent2"/>
                </a:solidFill>
                <a:ea typeface="Noto Sans SC"/>
                <a:cs typeface="Noto Sans SC"/>
                <a:sym typeface="Noto Sans SC"/>
              </a:rPr>
              <a:t>组合出</a:t>
            </a:r>
            <a:r>
              <a:rPr lang="en-US" altLang="zh-CN" b="1" dirty="0" err="1">
                <a:ea typeface="Noto Sans SC"/>
                <a:cs typeface="Noto Sans SC"/>
                <a:sym typeface="Noto Sans SC"/>
              </a:rPr>
              <a:t>shor</a:t>
            </a:r>
            <a:r>
              <a:rPr lang="zh-CN" altLang="en-US" b="1" dirty="0">
                <a:ea typeface="Noto Sans SC"/>
                <a:cs typeface="Noto Sans SC"/>
                <a:sym typeface="Noto Sans SC"/>
              </a:rPr>
              <a:t>码稳定子里的所有算符</a:t>
            </a:r>
            <a:endParaRPr lang="en-US" altLang="zh-CN" b="1" dirty="0">
              <a:ea typeface="Noto Sans SC"/>
              <a:cs typeface="Noto Sans SC"/>
              <a:sym typeface="Noto Sans SC"/>
            </a:endParaRPr>
          </a:p>
          <a:p>
            <a:pPr indent="0" algn="l">
              <a:lnSpc>
                <a:spcPct val="116666"/>
              </a:lnSpc>
              <a:defRPr/>
            </a:pPr>
            <a:r>
              <a:rPr lang="zh-CN" altLang="en-US" b="1" i="0" u="none" strike="noStrike" dirty="0">
                <a:ea typeface="Noto Sans SC"/>
                <a:cs typeface="Noto Sans SC"/>
                <a:sym typeface="Noto Sans SC"/>
              </a:rPr>
              <a:t>所以被称为</a:t>
            </a:r>
            <a:r>
              <a:rPr lang="zh-CN" altLang="en-US" b="1" i="0" u="none" strike="noStrike" dirty="0">
                <a:solidFill>
                  <a:schemeClr val="accent2"/>
                </a:solidFill>
                <a:ea typeface="Noto Sans SC"/>
                <a:cs typeface="Noto Sans SC"/>
                <a:sym typeface="Noto Sans SC"/>
              </a:rPr>
              <a:t>生成元</a:t>
            </a:r>
            <a:r>
              <a:rPr lang="en-US" altLang="zh-CN" b="1" i="0" u="none" strike="noStrike" dirty="0">
                <a:solidFill>
                  <a:schemeClr val="accent2"/>
                </a:solidFill>
                <a:ea typeface="Noto Sans SC"/>
                <a:cs typeface="Noto Sans SC"/>
                <a:sym typeface="Noto Sans SC"/>
              </a:rPr>
              <a:t>(generators)</a:t>
            </a:r>
          </a:p>
          <a:p>
            <a:pPr indent="0" algn="l">
              <a:lnSpc>
                <a:spcPct val="116666"/>
              </a:lnSpc>
              <a:defRPr/>
            </a:pPr>
            <a:r>
              <a:rPr lang="zh-CN" altLang="en-US" b="1" dirty="0">
                <a:ea typeface="Noto Sans SC"/>
                <a:cs typeface="Noto Sans SC"/>
                <a:sym typeface="Noto Sans SC"/>
              </a:rPr>
              <a:t>我们之后会发现生成元作为</a:t>
            </a:r>
            <a:r>
              <a:rPr lang="zh-CN" altLang="en-US" b="1" dirty="0">
                <a:solidFill>
                  <a:schemeClr val="accent2"/>
                </a:solidFill>
                <a:ea typeface="Noto Sans SC"/>
                <a:cs typeface="Noto Sans SC"/>
                <a:sym typeface="Noto Sans SC"/>
              </a:rPr>
              <a:t>完整稳定子群的基</a:t>
            </a:r>
            <a:r>
              <a:rPr lang="zh-CN" altLang="en-US" b="1" dirty="0">
                <a:ea typeface="Noto Sans SC"/>
                <a:cs typeface="Noto Sans SC"/>
                <a:sym typeface="Noto Sans SC"/>
              </a:rPr>
              <a:t>，他是最</a:t>
            </a:r>
            <a:r>
              <a:rPr lang="zh-CN" altLang="en-US" b="1" dirty="0">
                <a:solidFill>
                  <a:schemeClr val="accent2"/>
                </a:solidFill>
                <a:ea typeface="Noto Sans SC"/>
                <a:cs typeface="Noto Sans SC"/>
                <a:sym typeface="Noto Sans SC"/>
              </a:rPr>
              <a:t>简洁</a:t>
            </a:r>
            <a:r>
              <a:rPr lang="zh-CN" altLang="en-US" b="1" dirty="0">
                <a:ea typeface="Noto Sans SC"/>
                <a:cs typeface="Noto Sans SC"/>
                <a:sym typeface="Noto Sans SC"/>
              </a:rPr>
              <a:t>而</a:t>
            </a:r>
            <a:r>
              <a:rPr lang="zh-CN" altLang="en-US" b="1" dirty="0">
                <a:solidFill>
                  <a:schemeClr val="accent2"/>
                </a:solidFill>
                <a:ea typeface="Noto Sans SC"/>
                <a:cs typeface="Noto Sans SC"/>
                <a:sym typeface="Noto Sans SC"/>
              </a:rPr>
              <a:t>完备</a:t>
            </a:r>
            <a:r>
              <a:rPr lang="zh-CN" altLang="en-US" b="1" dirty="0">
                <a:ea typeface="Noto Sans SC"/>
                <a:cs typeface="Noto Sans SC"/>
                <a:sym typeface="Noto Sans SC"/>
              </a:rPr>
              <a:t>的纠错工具</a:t>
            </a:r>
            <a:endParaRPr lang="en-US" altLang="zh-CN" b="1" i="0" u="none" strike="noStrike" dirty="0">
              <a:ea typeface="Noto Sans SC"/>
              <a:cs typeface="Noto Sans SC"/>
              <a:sym typeface="Noto Sans SC"/>
            </a:endParaRPr>
          </a:p>
        </p:txBody>
      </p:sp>
    </p:spTree>
    <p:extLst>
      <p:ext uri="{BB962C8B-B14F-4D97-AF65-F5344CB8AC3E}">
        <p14:creationId xmlns:p14="http://schemas.microsoft.com/office/powerpoint/2010/main" val="5577304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8A25B-C3B4-DC45-01D2-B078B4E8BE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375BBB-8A62-DF94-4E86-7AE69D3BD17A}"/>
              </a:ext>
            </a:extLst>
          </p:cNvPr>
          <p:cNvSpPr txBox="1"/>
          <p:nvPr/>
        </p:nvSpPr>
        <p:spPr>
          <a:xfrm>
            <a:off x="762000" y="635000"/>
            <a:ext cx="10668000" cy="571500"/>
          </a:xfrm>
          <a:prstGeom prst="rect">
            <a:avLst/>
          </a:prstGeom>
          <a:noFill/>
        </p:spPr>
        <p:txBody>
          <a:bodyPr wrap="square">
            <a:spAutoFit/>
          </a:bodyPr>
          <a:lstStyle/>
          <a:p>
            <a:pPr algn="l"/>
            <a:r>
              <a:rPr sz="3200" b="1">
                <a:solidFill>
                  <a:srgbClr val="333333"/>
                </a:solidFill>
                <a:latin typeface="Noto Sans SC"/>
              </a:rPr>
              <a:t>04  稳定子</a:t>
            </a:r>
          </a:p>
        </p:txBody>
      </p:sp>
      <p:sp>
        <p:nvSpPr>
          <p:cNvPr id="3" name="TextBox 2">
            <a:extLst>
              <a:ext uri="{FF2B5EF4-FFF2-40B4-BE49-F238E27FC236}">
                <a16:creationId xmlns:a16="http://schemas.microsoft.com/office/drawing/2014/main" id="{F97EA2AE-EF77-64AA-727A-40C3C256BC07}"/>
              </a:ext>
            </a:extLst>
          </p:cNvPr>
          <p:cNvSpPr txBox="1"/>
          <p:nvPr/>
        </p:nvSpPr>
        <p:spPr>
          <a:xfrm>
            <a:off x="762000" y="1397000"/>
            <a:ext cx="10668000" cy="444500"/>
          </a:xfrm>
          <a:prstGeom prst="rect">
            <a:avLst/>
          </a:prstGeom>
          <a:noFill/>
        </p:spPr>
        <p:txBody>
          <a:bodyPr wrap="square">
            <a:spAutoFit/>
          </a:bodyPr>
          <a:lstStyle/>
          <a:p>
            <a:pPr algn="l"/>
            <a:r>
              <a:rPr sz="2200" b="1" dirty="0">
                <a:solidFill>
                  <a:srgbClr val="666666"/>
                </a:solidFill>
                <a:latin typeface="Noto Sans SC"/>
              </a:rPr>
              <a:t>4.</a:t>
            </a:r>
            <a:r>
              <a:rPr lang="en-US" sz="2200" b="1" dirty="0">
                <a:solidFill>
                  <a:srgbClr val="666666"/>
                </a:solidFill>
                <a:latin typeface="Noto Sans SC"/>
              </a:rPr>
              <a:t>5</a:t>
            </a:r>
            <a:r>
              <a:rPr sz="2200" b="1" dirty="0">
                <a:solidFill>
                  <a:srgbClr val="666666"/>
                </a:solidFill>
                <a:latin typeface="Noto Sans SC"/>
              </a:rPr>
              <a:t> </a:t>
            </a:r>
            <a:r>
              <a:rPr lang="zh-CN" altLang="en-US" sz="2200" b="1" dirty="0">
                <a:solidFill>
                  <a:srgbClr val="666666"/>
                </a:solidFill>
                <a:latin typeface="Noto Sans SC"/>
              </a:rPr>
              <a:t>泡利群</a:t>
            </a:r>
            <a:endParaRPr sz="2200" b="1" dirty="0">
              <a:solidFill>
                <a:srgbClr val="666666"/>
              </a:solidFill>
              <a:latin typeface="Noto Sans SC"/>
            </a:endParaRPr>
          </a:p>
        </p:txBody>
      </p:sp>
      <p:cxnSp>
        <p:nvCxnSpPr>
          <p:cNvPr id="8" name="直接连接符 7">
            <a:extLst>
              <a:ext uri="{FF2B5EF4-FFF2-40B4-BE49-F238E27FC236}">
                <a16:creationId xmlns:a16="http://schemas.microsoft.com/office/drawing/2014/main" id="{A8747A23-F164-FAE4-8F5E-9D74D37A5963}"/>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AutoShape 11">
                <a:extLst>
                  <a:ext uri="{FF2B5EF4-FFF2-40B4-BE49-F238E27FC236}">
                    <a16:creationId xmlns:a16="http://schemas.microsoft.com/office/drawing/2014/main" id="{FBD89B2D-C61C-6008-81C8-8A09F8AEE66C}"/>
                  </a:ext>
                </a:extLst>
              </p:cNvPr>
              <p:cNvSpPr/>
              <p:nvPr/>
            </p:nvSpPr>
            <p:spPr>
              <a:xfrm>
                <a:off x="622444" y="1776548"/>
                <a:ext cx="6836445" cy="6518366"/>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r>
                  <a:rPr lang="zh-CN" altLang="en-US" b="1" dirty="0">
                    <a:ea typeface="Noto Sans SC"/>
                    <a:cs typeface="Noto Sans SC"/>
                    <a:sym typeface="Noto Sans SC"/>
                  </a:rPr>
                  <a:t>可以发现上面提到的各种错误表征，测量算符都由</a:t>
                </a:r>
                <a:r>
                  <a:rPr lang="zh-CN" altLang="en-US" b="1" dirty="0">
                    <a:solidFill>
                      <a:schemeClr val="accent2"/>
                    </a:solidFill>
                    <a:ea typeface="Noto Sans SC"/>
                    <a:cs typeface="Noto Sans SC"/>
                    <a:sym typeface="Noto Sans SC"/>
                  </a:rPr>
                  <a:t>泡利算符</a:t>
                </a:r>
                <a:r>
                  <a:rPr lang="zh-CN" altLang="en-US" b="1" dirty="0">
                    <a:ea typeface="Noto Sans SC"/>
                    <a:cs typeface="Noto Sans SC"/>
                    <a:sym typeface="Noto Sans SC"/>
                  </a:rPr>
                  <a:t>组成</a:t>
                </a:r>
                <a:endParaRPr lang="en-US" altLang="zh-CN" b="1" dirty="0">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r>
                  <a:rPr lang="zh-CN" altLang="en-US" b="1" dirty="0">
                    <a:ea typeface="Noto Sans SC"/>
                    <a:cs typeface="Noto Sans SC"/>
                    <a:sym typeface="Noto Sans SC"/>
                  </a:rPr>
                  <a:t>因此我们需要了解一下</a:t>
                </a:r>
                <a:r>
                  <a:rPr lang="zh-CN" altLang="en-US" b="1" dirty="0">
                    <a:solidFill>
                      <a:schemeClr val="accent2"/>
                    </a:solidFill>
                    <a:ea typeface="Noto Sans SC"/>
                    <a:cs typeface="Noto Sans SC"/>
                    <a:sym typeface="Noto Sans SC"/>
                  </a:rPr>
                  <a:t>泡利群</a:t>
                </a:r>
                <a:r>
                  <a:rPr lang="zh-CN" altLang="en-US" b="1" dirty="0">
                    <a:ea typeface="Noto Sans SC"/>
                    <a:cs typeface="Noto Sans SC"/>
                    <a:sym typeface="Noto Sans SC"/>
                  </a:rPr>
                  <a:t>的概念</a:t>
                </a:r>
                <a:endParaRPr lang="en-US" altLang="zh-CN" b="1" dirty="0">
                  <a:ea typeface="Noto Sans SC"/>
                  <a:cs typeface="Noto Sans SC"/>
                  <a:sym typeface="Noto Sans SC"/>
                </a:endParaRPr>
              </a:p>
              <a:p>
                <a:pPr indent="0">
                  <a:lnSpc>
                    <a:spcPct val="116666"/>
                  </a:lnSpc>
                  <a:defRPr/>
                </a:pPr>
                <a:endParaRPr lang="en-US" altLang="zh-CN" b="1" i="0" u="none" strike="noStrike" dirty="0">
                  <a:ea typeface="Noto Sans SC"/>
                  <a:cs typeface="Noto Sans SC"/>
                  <a:sym typeface="Noto Sans SC"/>
                </a:endParaRPr>
              </a:p>
              <a:p>
                <a:pPr indent="0">
                  <a:lnSpc>
                    <a:spcPct val="116666"/>
                  </a:lnSpc>
                  <a:defRPr/>
                </a:pPr>
                <a:r>
                  <a:rPr lang="zh-CN" altLang="en-US" b="1" dirty="0">
                    <a:ea typeface="Noto Sans SC"/>
                    <a:cs typeface="Noto Sans SC"/>
                    <a:sym typeface="Noto Sans SC"/>
                  </a:rPr>
                  <a:t>一个泡利群即</a:t>
                </a:r>
                <a:r>
                  <a:rPr lang="en-US" altLang="zh-CN" b="1" dirty="0">
                    <a:solidFill>
                      <a:schemeClr val="accent2"/>
                    </a:solidFill>
                    <a:ea typeface="Noto Sans SC"/>
                    <a:cs typeface="Noto Sans SC"/>
                    <a:sym typeface="Noto Sans SC"/>
                  </a:rPr>
                  <a:t>n</a:t>
                </a:r>
                <a:r>
                  <a:rPr lang="zh-CN" altLang="en-US" b="1" dirty="0">
                    <a:solidFill>
                      <a:schemeClr val="accent2"/>
                    </a:solidFill>
                    <a:ea typeface="Noto Sans SC"/>
                    <a:cs typeface="Noto Sans SC"/>
                    <a:sym typeface="Noto Sans SC"/>
                  </a:rPr>
                  <a:t>个泡利算符</a:t>
                </a:r>
                <a:r>
                  <a:rPr lang="zh-CN" altLang="en-US" b="1" dirty="0">
                    <a:ea typeface="Noto Sans SC"/>
                    <a:cs typeface="Noto Sans SC"/>
                    <a:sym typeface="Noto Sans SC"/>
                  </a:rPr>
                  <a:t>的</a:t>
                </a:r>
                <a:r>
                  <a:rPr lang="zh-CN" altLang="en-US" b="1" dirty="0">
                    <a:solidFill>
                      <a:schemeClr val="accent2"/>
                    </a:solidFill>
                    <a:ea typeface="Noto Sans SC"/>
                    <a:cs typeface="Noto Sans SC"/>
                    <a:sym typeface="Noto Sans SC"/>
                  </a:rPr>
                  <a:t>张量积</a:t>
                </a:r>
                <a:r>
                  <a:rPr lang="zh-CN" altLang="en-US" b="1" dirty="0">
                    <a:ea typeface="Noto Sans SC"/>
                    <a:cs typeface="Noto Sans SC"/>
                    <a:sym typeface="Noto Sans SC"/>
                  </a:rPr>
                  <a:t>和</a:t>
                </a:r>
                <a14:m>
                  <m:oMath xmlns:m="http://schemas.openxmlformats.org/officeDocument/2006/math">
                    <m:r>
                      <a:rPr lang="en-US" altLang="zh-CN" b="1" i="0" smtClean="0">
                        <a:solidFill>
                          <a:schemeClr val="accent2"/>
                        </a:solidFill>
                        <a:latin typeface="Cambria Math" panose="02040503050406030204" pitchFamily="18" charset="0"/>
                        <a:ea typeface="Noto Sans SC"/>
                        <a:cs typeface="Noto Sans SC"/>
                        <a:sym typeface="Noto Sans SC"/>
                      </a:rPr>
                      <m:t>{</m:t>
                    </m:r>
                    <m:r>
                      <a:rPr lang="en-US" altLang="zh-CN" b="1" i="1" smtClean="0">
                        <a:solidFill>
                          <a:schemeClr val="accent2"/>
                        </a:solidFill>
                        <a:latin typeface="Cambria Math" panose="02040503050406030204" pitchFamily="18" charset="0"/>
                        <a:ea typeface="Noto Sans SC"/>
                        <a:cs typeface="Noto Sans SC"/>
                        <a:sym typeface="Noto Sans SC"/>
                      </a:rPr>
                      <m:t>±</m:t>
                    </m:r>
                    <m:r>
                      <a:rPr lang="en-US" altLang="zh-CN" b="1" i="1" smtClean="0">
                        <a:solidFill>
                          <a:schemeClr val="accent2"/>
                        </a:solidFill>
                        <a:latin typeface="Cambria Math" panose="02040503050406030204" pitchFamily="18" charset="0"/>
                        <a:ea typeface="Noto Sans SC"/>
                        <a:cs typeface="Noto Sans SC"/>
                        <a:sym typeface="Noto Sans SC"/>
                      </a:rPr>
                      <m:t>𝟏</m:t>
                    </m:r>
                    <m:r>
                      <a:rPr lang="en-US" altLang="zh-CN" b="1" i="1" smtClean="0">
                        <a:solidFill>
                          <a:schemeClr val="accent2"/>
                        </a:solidFill>
                        <a:latin typeface="Cambria Math" panose="02040503050406030204" pitchFamily="18" charset="0"/>
                        <a:ea typeface="Noto Sans SC"/>
                        <a:cs typeface="Noto Sans SC"/>
                        <a:sym typeface="Noto Sans SC"/>
                      </a:rPr>
                      <m:t>,±</m:t>
                    </m:r>
                    <m:r>
                      <a:rPr lang="en-US" altLang="zh-CN" b="1" i="1" dirty="0">
                        <a:solidFill>
                          <a:schemeClr val="accent2"/>
                        </a:solidFill>
                        <a:latin typeface="Cambria Math" panose="02040503050406030204" pitchFamily="18" charset="0"/>
                        <a:ea typeface="Noto Sans SC"/>
                        <a:cs typeface="Noto Sans SC"/>
                        <a:sym typeface="Noto Sans SC"/>
                      </a:rPr>
                      <m:t>𝒊</m:t>
                    </m:r>
                    <m:r>
                      <a:rPr lang="en-US" altLang="zh-CN" b="1" i="1" dirty="0" smtClean="0">
                        <a:solidFill>
                          <a:schemeClr val="accent2"/>
                        </a:solidFill>
                        <a:latin typeface="Cambria Math" panose="02040503050406030204" pitchFamily="18" charset="0"/>
                        <a:ea typeface="Noto Sans SC"/>
                        <a:cs typeface="Noto Sans SC"/>
                        <a:sym typeface="Noto Sans SC"/>
                      </a:rPr>
                      <m:t>}</m:t>
                    </m:r>
                  </m:oMath>
                </a14:m>
                <a:r>
                  <a:rPr lang="zh-CN" altLang="en-US" b="1" u="none" strike="noStrike" dirty="0">
                    <a:solidFill>
                      <a:schemeClr val="accent2"/>
                    </a:solidFill>
                    <a:ea typeface="Noto Sans SC"/>
                    <a:cs typeface="Noto Sans SC"/>
                    <a:sym typeface="Noto Sans SC"/>
                  </a:rPr>
                  <a:t>的全局相位</a:t>
                </a:r>
                <a:endParaRPr lang="en-US" altLang="zh-CN" b="1" u="none" strike="noStrike" dirty="0">
                  <a:solidFill>
                    <a:schemeClr val="accent2"/>
                  </a:solidFill>
                  <a:ea typeface="Noto Sans SC"/>
                  <a:cs typeface="Noto Sans SC"/>
                  <a:sym typeface="Noto Sans SC"/>
                </a:endParaRPr>
              </a:p>
              <a:p>
                <a:pPr indent="0">
                  <a:lnSpc>
                    <a:spcPct val="116666"/>
                  </a:lnSpc>
                  <a:defRPr/>
                </a:pPr>
                <a:r>
                  <a:rPr lang="en-US" altLang="zh-CN" b="1" dirty="0">
                    <a:solidFill>
                      <a:schemeClr val="accent2"/>
                    </a:solidFill>
                    <a:ea typeface="Noto Sans SC"/>
                    <a:cs typeface="Noto Sans SC"/>
                    <a:sym typeface="Noto Sans SC"/>
                  </a:rPr>
                  <a:t>   </a:t>
                </a:r>
                <a:r>
                  <a:rPr lang="zh-CN" altLang="en-US" b="1" dirty="0">
                    <a:ea typeface="Noto Sans SC"/>
                    <a:cs typeface="Noto Sans SC"/>
                    <a:sym typeface="Noto Sans SC"/>
                  </a:rPr>
                  <a:t>每个泡利算符当然可以</a:t>
                </a:r>
                <a:r>
                  <a:rPr lang="zh-CN" altLang="en-US" b="1" dirty="0">
                    <a:solidFill>
                      <a:schemeClr val="accent2"/>
                    </a:solidFill>
                    <a:ea typeface="Noto Sans SC"/>
                    <a:cs typeface="Noto Sans SC"/>
                    <a:sym typeface="Noto Sans SC"/>
                  </a:rPr>
                  <a:t>带自己的相位</a:t>
                </a:r>
                <a:r>
                  <a:rPr lang="zh-CN" altLang="en-US" b="1" dirty="0">
                    <a:ea typeface="Noto Sans SC"/>
                    <a:cs typeface="Noto Sans SC"/>
                    <a:sym typeface="Noto Sans SC"/>
                  </a:rPr>
                  <a:t>但最终只会获得</a:t>
                </a:r>
                <a:r>
                  <a:rPr lang="zh-CN" altLang="en-US" b="1" dirty="0">
                    <a:solidFill>
                      <a:schemeClr val="accent2"/>
                    </a:solidFill>
                    <a:ea typeface="Noto Sans SC"/>
                    <a:cs typeface="Noto Sans SC"/>
                    <a:sym typeface="Noto Sans SC"/>
                  </a:rPr>
                  <a:t>一个全局相位</a:t>
                </a:r>
                <a:endParaRPr lang="en-US" altLang="zh-CN" b="1" u="none" strike="noStrike" dirty="0">
                  <a:solidFill>
                    <a:schemeClr val="accent2"/>
                  </a:solidFill>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r>
                  <a:rPr lang="zh-CN" altLang="en-US" b="1" dirty="0">
                    <a:ea typeface="Noto Sans SC"/>
                    <a:cs typeface="Noto Sans SC"/>
                    <a:sym typeface="Noto Sans SC"/>
                  </a:rPr>
                  <a:t>  所以</a:t>
                </a:r>
                <a14:m>
                  <m:oMath xmlns:m="http://schemas.openxmlformats.org/officeDocument/2006/math">
                    <m:sSub>
                      <m:sSubPr>
                        <m:ctrlPr>
                          <a:rPr lang="en-US" altLang="zh-CN" b="1" i="1" smtClean="0">
                            <a:latin typeface="Cambria Math" panose="02040503050406030204" pitchFamily="18" charset="0"/>
                            <a:ea typeface="Noto Sans SC"/>
                            <a:cs typeface="Noto Sans SC"/>
                            <a:sym typeface="Noto Sans SC"/>
                          </a:rPr>
                        </m:ctrlPr>
                      </m:sSubPr>
                      <m:e>
                        <m:r>
                          <a:rPr lang="en-US" altLang="zh-CN" b="1" i="0" smtClean="0">
                            <a:latin typeface="Cambria Math" panose="02040503050406030204" pitchFamily="18" charset="0"/>
                            <a:ea typeface="Noto Sans SC"/>
                            <a:cs typeface="Noto Sans SC"/>
                            <a:sym typeface="Noto Sans SC"/>
                          </a:rPr>
                          <m:t>𝐏</m:t>
                        </m:r>
                      </m:e>
                      <m:sub>
                        <m:r>
                          <a:rPr lang="en-US" altLang="zh-CN" b="1" i="1" smtClean="0">
                            <a:latin typeface="Cambria Math" panose="02040503050406030204" pitchFamily="18" charset="0"/>
                            <a:ea typeface="Noto Sans SC"/>
                            <a:cs typeface="Noto Sans SC"/>
                            <a:sym typeface="Noto Sans SC"/>
                          </a:rPr>
                          <m:t>𝒏</m:t>
                        </m:r>
                      </m:sub>
                    </m:sSub>
                  </m:oMath>
                </a14:m>
                <a:r>
                  <a:rPr lang="zh-CN" altLang="en-US" b="1" u="none" strike="noStrike" dirty="0">
                    <a:ea typeface="Noto Sans SC"/>
                    <a:cs typeface="Noto Sans SC"/>
                    <a:sym typeface="Noto Sans SC"/>
                  </a:rPr>
                  <a:t>有</a:t>
                </a:r>
                <a14:m>
                  <m:oMath xmlns:m="http://schemas.openxmlformats.org/officeDocument/2006/math">
                    <m:sSup>
                      <m:sSupPr>
                        <m:ctrlPr>
                          <a:rPr lang="en-US" altLang="zh-CN" b="1" i="1" u="none" strike="noStrike" dirty="0" smtClean="0">
                            <a:solidFill>
                              <a:schemeClr val="accent2"/>
                            </a:solidFill>
                            <a:latin typeface="Cambria Math" panose="02040503050406030204" pitchFamily="18" charset="0"/>
                            <a:ea typeface="Noto Sans SC"/>
                            <a:cs typeface="Noto Sans SC"/>
                            <a:sym typeface="Noto Sans SC"/>
                          </a:rPr>
                        </m:ctrlPr>
                      </m:sSupPr>
                      <m:e>
                        <m:r>
                          <a:rPr lang="en-US" altLang="zh-CN" b="1" i="1" u="none" strike="noStrike" dirty="0" smtClean="0">
                            <a:solidFill>
                              <a:schemeClr val="accent2"/>
                            </a:solidFill>
                            <a:latin typeface="Cambria Math" panose="02040503050406030204" pitchFamily="18" charset="0"/>
                            <a:ea typeface="Noto Sans SC"/>
                            <a:cs typeface="Noto Sans SC"/>
                            <a:sym typeface="Noto Sans SC"/>
                          </a:rPr>
                          <m:t>𝟒</m:t>
                        </m:r>
                      </m:e>
                      <m:sup>
                        <m:r>
                          <a:rPr lang="en-US" altLang="zh-CN" b="1" i="1" u="none" strike="noStrike" dirty="0" smtClean="0">
                            <a:solidFill>
                              <a:schemeClr val="accent2"/>
                            </a:solidFill>
                            <a:latin typeface="Cambria Math" panose="02040503050406030204" pitchFamily="18" charset="0"/>
                            <a:ea typeface="Noto Sans SC"/>
                            <a:cs typeface="Noto Sans SC"/>
                            <a:sym typeface="Noto Sans SC"/>
                          </a:rPr>
                          <m:t>𝒏</m:t>
                        </m:r>
                        <m:r>
                          <a:rPr lang="en-US" altLang="zh-CN" b="1" i="1" u="none" strike="noStrike" dirty="0" smtClean="0">
                            <a:solidFill>
                              <a:schemeClr val="accent2"/>
                            </a:solidFill>
                            <a:latin typeface="Cambria Math" panose="02040503050406030204" pitchFamily="18" charset="0"/>
                            <a:ea typeface="Noto Sans SC"/>
                            <a:cs typeface="Noto Sans SC"/>
                            <a:sym typeface="Noto Sans SC"/>
                          </a:rPr>
                          <m:t>+</m:t>
                        </m:r>
                        <m:r>
                          <a:rPr lang="en-US" altLang="zh-CN" b="1" i="1" u="none" strike="noStrike" dirty="0" smtClean="0">
                            <a:solidFill>
                              <a:schemeClr val="accent2"/>
                            </a:solidFill>
                            <a:latin typeface="Cambria Math" panose="02040503050406030204" pitchFamily="18" charset="0"/>
                            <a:ea typeface="Noto Sans SC"/>
                            <a:cs typeface="Noto Sans SC"/>
                            <a:sym typeface="Noto Sans SC"/>
                          </a:rPr>
                          <m:t>𝟏</m:t>
                        </m:r>
                      </m:sup>
                    </m:sSup>
                  </m:oMath>
                </a14:m>
                <a:r>
                  <a:rPr lang="zh-CN" altLang="en-US" b="1" u="none" strike="noStrike" dirty="0">
                    <a:ea typeface="Noto Sans SC"/>
                    <a:cs typeface="Noto Sans SC"/>
                    <a:sym typeface="Noto Sans SC"/>
                  </a:rPr>
                  <a:t>种组合</a:t>
                </a:r>
                <a:endParaRPr lang="en-US" altLang="zh-CN" b="1" u="none" strike="noStrike" dirty="0">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r>
                  <a:rPr lang="zh-CN" altLang="en-US" b="1" u="none" strike="noStrike" dirty="0">
                    <a:ea typeface="Noto Sans SC"/>
                    <a:cs typeface="Noto Sans SC"/>
                    <a:sym typeface="Noto Sans SC"/>
                  </a:rPr>
                  <a:t>我们使用</a:t>
                </a:r>
                <a14:m>
                  <m:oMath xmlns:m="http://schemas.openxmlformats.org/officeDocument/2006/math">
                    <m:acc>
                      <m:accPr>
                        <m:chr m:val="̂"/>
                        <m:ctrlPr>
                          <a:rPr lang="en-US" altLang="zh-CN" b="1" i="1" u="none" strike="noStrike" smtClean="0">
                            <a:solidFill>
                              <a:schemeClr val="accent2"/>
                            </a:solidFill>
                            <a:latin typeface="Cambria Math" panose="02040503050406030204" pitchFamily="18" charset="0"/>
                            <a:ea typeface="Noto Sans SC"/>
                            <a:sym typeface="Noto Sans SC"/>
                          </a:rPr>
                        </m:ctrlPr>
                      </m:accPr>
                      <m:e>
                        <m:sSub>
                          <m:sSubPr>
                            <m:ctrlPr>
                              <a:rPr lang="en-US" altLang="zh-CN" b="1" i="1" u="none" strike="noStrike" smtClean="0">
                                <a:solidFill>
                                  <a:schemeClr val="accent2"/>
                                </a:solidFill>
                                <a:latin typeface="Cambria Math" panose="02040503050406030204" pitchFamily="18" charset="0"/>
                                <a:ea typeface="Noto Sans SC"/>
                                <a:sym typeface="Noto Sans SC"/>
                              </a:rPr>
                            </m:ctrlPr>
                          </m:sSubPr>
                          <m:e>
                            <m:r>
                              <a:rPr lang="en-US" altLang="zh-CN" b="1" i="0" u="none" strike="noStrike" smtClean="0">
                                <a:solidFill>
                                  <a:schemeClr val="accent2"/>
                                </a:solidFill>
                                <a:latin typeface="Cambria Math" panose="02040503050406030204" pitchFamily="18" charset="0"/>
                                <a:ea typeface="Noto Sans SC"/>
                                <a:sym typeface="Noto Sans SC"/>
                              </a:rPr>
                              <m:t>𝐏</m:t>
                            </m:r>
                          </m:e>
                          <m:sub>
                            <m:r>
                              <a:rPr lang="en-US" altLang="zh-CN" b="1" i="1" u="none" strike="noStrike" smtClean="0">
                                <a:solidFill>
                                  <a:schemeClr val="accent2"/>
                                </a:solidFill>
                                <a:latin typeface="Cambria Math" panose="02040503050406030204" pitchFamily="18" charset="0"/>
                                <a:ea typeface="Noto Sans SC"/>
                                <a:sym typeface="Noto Sans SC"/>
                              </a:rPr>
                              <m:t>𝒏</m:t>
                            </m:r>
                          </m:sub>
                        </m:sSub>
                      </m:e>
                    </m:acc>
                  </m:oMath>
                </a14:m>
                <a:r>
                  <a:rPr lang="zh-CN" altLang="en-US" b="1" u="none" strike="noStrike" dirty="0">
                    <a:ea typeface="Noto Sans SC"/>
                    <a:cs typeface="Noto Sans SC"/>
                    <a:sym typeface="Noto Sans SC"/>
                  </a:rPr>
                  <a:t>表征</a:t>
                </a:r>
                <a:r>
                  <a:rPr lang="zh-CN" altLang="en-US" b="1" u="none" strike="noStrike" dirty="0">
                    <a:solidFill>
                      <a:schemeClr val="accent2"/>
                    </a:solidFill>
                    <a:ea typeface="Noto Sans SC"/>
                    <a:cs typeface="Noto Sans SC"/>
                    <a:sym typeface="Noto Sans SC"/>
                  </a:rPr>
                  <a:t>不考虑全局相位</a:t>
                </a:r>
                <a:r>
                  <a:rPr lang="zh-CN" altLang="en-US" b="1" u="none" strike="noStrike" dirty="0">
                    <a:ea typeface="Noto Sans SC"/>
                    <a:cs typeface="Noto Sans SC"/>
                    <a:sym typeface="Noto Sans SC"/>
                  </a:rPr>
                  <a:t>的情况</a:t>
                </a:r>
                <a:endParaRPr lang="en-US" altLang="zh-CN" b="1" u="none" strike="noStrike" dirty="0">
                  <a:ea typeface="Noto Sans SC"/>
                  <a:cs typeface="Noto Sans SC"/>
                  <a:sym typeface="Noto Sans SC"/>
                </a:endParaRPr>
              </a:p>
              <a:p>
                <a:pPr indent="0">
                  <a:lnSpc>
                    <a:spcPct val="116666"/>
                  </a:lnSpc>
                  <a:defRPr/>
                </a:pPr>
                <a:r>
                  <a:rPr lang="zh-CN" altLang="en-US" b="1" u="none" strike="noStrike" dirty="0">
                    <a:ea typeface="Noto Sans SC"/>
                    <a:cs typeface="Noto Sans SC"/>
                    <a:sym typeface="Noto Sans SC"/>
                  </a:rPr>
                  <a:t>  这时当然只有</a:t>
                </a:r>
                <a14:m>
                  <m:oMath xmlns:m="http://schemas.openxmlformats.org/officeDocument/2006/math">
                    <m:sSup>
                      <m:sSupPr>
                        <m:ctrlPr>
                          <a:rPr lang="en-US" altLang="zh-CN" b="1" i="1" u="none" strike="noStrike" smtClean="0">
                            <a:solidFill>
                              <a:schemeClr val="accent2"/>
                            </a:solidFill>
                            <a:latin typeface="Cambria Math" panose="02040503050406030204" pitchFamily="18" charset="0"/>
                            <a:ea typeface="Noto Sans SC"/>
                            <a:cs typeface="Noto Sans SC"/>
                            <a:sym typeface="Noto Sans SC"/>
                          </a:rPr>
                        </m:ctrlPr>
                      </m:sSupPr>
                      <m:e>
                        <m:r>
                          <a:rPr lang="en-US" altLang="zh-CN" b="1" i="1" u="none" strike="noStrike" smtClean="0">
                            <a:solidFill>
                              <a:schemeClr val="accent2"/>
                            </a:solidFill>
                            <a:latin typeface="Cambria Math" panose="02040503050406030204" pitchFamily="18" charset="0"/>
                            <a:ea typeface="Noto Sans SC"/>
                            <a:cs typeface="Noto Sans SC"/>
                            <a:sym typeface="Noto Sans SC"/>
                          </a:rPr>
                          <m:t>𝟒</m:t>
                        </m:r>
                      </m:e>
                      <m:sup>
                        <m:r>
                          <a:rPr lang="en-US" altLang="zh-CN" b="1" i="1" u="none" strike="noStrike" smtClean="0">
                            <a:solidFill>
                              <a:schemeClr val="accent2"/>
                            </a:solidFill>
                            <a:latin typeface="Cambria Math" panose="02040503050406030204" pitchFamily="18" charset="0"/>
                            <a:ea typeface="Noto Sans SC"/>
                            <a:cs typeface="Noto Sans SC"/>
                            <a:sym typeface="Noto Sans SC"/>
                          </a:rPr>
                          <m:t>𝒏</m:t>
                        </m:r>
                      </m:sup>
                    </m:sSup>
                  </m:oMath>
                </a14:m>
                <a:r>
                  <a:rPr lang="zh-CN" altLang="en-US" b="1" u="none" strike="noStrike" dirty="0">
                    <a:ea typeface="Noto Sans SC"/>
                    <a:cs typeface="Noto Sans SC"/>
                    <a:sym typeface="Noto Sans SC"/>
                  </a:rPr>
                  <a:t>种组合</a:t>
                </a:r>
                <a:endParaRPr lang="en-US" altLang="zh-CN" b="1" u="none" strike="noStrike" dirty="0">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r>
                  <a:rPr lang="en-US" altLang="zh-CN" b="1" i="0" u="none" strike="noStrike" dirty="0">
                    <a:ea typeface="Noto Sans SC"/>
                    <a:cs typeface="Noto Sans SC"/>
                    <a:sym typeface="Noto Sans SC"/>
                  </a:rPr>
                  <a:t> </a:t>
                </a:r>
                <a14:m>
                  <m:oMath xmlns:m="http://schemas.openxmlformats.org/officeDocument/2006/math">
                    <m:r>
                      <a:rPr lang="en-US" altLang="zh-CN" b="1" i="1" u="none" strike="noStrike" smtClean="0">
                        <a:latin typeface="Cambria Math" panose="02040503050406030204" pitchFamily="18" charset="0"/>
                        <a:ea typeface="Noto Sans SC"/>
                        <a:cs typeface="Noto Sans SC"/>
                        <a:sym typeface="Noto Sans SC"/>
                      </a:rPr>
                      <m:t>≅</m:t>
                    </m:r>
                  </m:oMath>
                </a14:m>
                <a:r>
                  <a:rPr lang="zh-CN" altLang="en-US" b="1" i="0" u="none" strike="noStrike" dirty="0">
                    <a:ea typeface="Noto Sans SC"/>
                    <a:cs typeface="Noto Sans SC"/>
                    <a:sym typeface="Noto Sans SC"/>
                  </a:rPr>
                  <a:t>叫做</a:t>
                </a:r>
                <a:r>
                  <a:rPr lang="zh-CN" altLang="en-US" b="1" i="0" u="none" strike="noStrike" dirty="0">
                    <a:solidFill>
                      <a:schemeClr val="accent2"/>
                    </a:solidFill>
                    <a:ea typeface="Noto Sans SC"/>
                    <a:cs typeface="Noto Sans SC"/>
                    <a:sym typeface="Noto Sans SC"/>
                  </a:rPr>
                  <a:t>同构</a:t>
                </a:r>
                <a:r>
                  <a:rPr lang="zh-CN" altLang="en-US" b="1" i="0" u="none" strike="noStrike" dirty="0">
                    <a:ea typeface="Noto Sans SC"/>
                    <a:cs typeface="Noto Sans SC"/>
                    <a:sym typeface="Noto Sans SC"/>
                  </a:rPr>
                  <a:t>，允许</a:t>
                </a:r>
                <a:r>
                  <a:rPr lang="zh-CN" altLang="en-US" b="1" i="0" u="none" strike="noStrike" dirty="0">
                    <a:solidFill>
                      <a:srgbClr val="7030A0"/>
                    </a:solidFill>
                    <a:ea typeface="Noto Sans SC"/>
                    <a:cs typeface="Noto Sans SC"/>
                    <a:sym typeface="Noto Sans SC"/>
                  </a:rPr>
                  <a:t>两个对象不同</a:t>
                </a:r>
                <a:r>
                  <a:rPr lang="zh-CN" altLang="en-US" b="1" i="0" u="none" strike="noStrike" dirty="0">
                    <a:ea typeface="Noto Sans SC"/>
                    <a:cs typeface="Noto Sans SC"/>
                    <a:sym typeface="Noto Sans SC"/>
                  </a:rPr>
                  <a:t>，但是</a:t>
                </a:r>
                <a:r>
                  <a:rPr lang="zh-CN" altLang="en-US" b="1" i="0" u="none" strike="noStrike" dirty="0">
                    <a:solidFill>
                      <a:srgbClr val="7030A0"/>
                    </a:solidFill>
                    <a:ea typeface="Noto Sans SC"/>
                    <a:cs typeface="Noto Sans SC"/>
                    <a:sym typeface="Noto Sans SC"/>
                  </a:rPr>
                  <a:t>从结构上无法区分</a:t>
                </a:r>
                <a:r>
                  <a:rPr lang="en-US" altLang="zh-CN" b="1" i="0" u="none" strike="noStrike" dirty="0">
                    <a:solidFill>
                      <a:srgbClr val="7030A0"/>
                    </a:solidFill>
                    <a:ea typeface="Noto Sans SC"/>
                    <a:cs typeface="Noto Sans SC"/>
                    <a:sym typeface="Noto Sans SC"/>
                  </a:rPr>
                  <a:t> </a:t>
                </a:r>
              </a:p>
              <a:p>
                <a:pPr indent="0">
                  <a:lnSpc>
                    <a:spcPct val="116666"/>
                  </a:lnSpc>
                  <a:defRPr/>
                </a:pPr>
                <a:r>
                  <a:rPr lang="en-US" altLang="zh-CN" b="1" i="0" u="none" strike="noStrike" dirty="0">
                    <a:solidFill>
                      <a:srgbClr val="7030A0"/>
                    </a:solidFill>
                    <a:ea typeface="Noto Sans SC"/>
                    <a:cs typeface="Noto Sans SC"/>
                    <a:sym typeface="Noto Sans SC"/>
                  </a:rPr>
                  <a:t> </a:t>
                </a:r>
                <a14:m>
                  <m:oMath xmlns:m="http://schemas.openxmlformats.org/officeDocument/2006/math">
                    <m:r>
                      <a:rPr lang="en-US" altLang="zh-CN" b="1" i="1" u="none" strike="noStrike" smtClean="0">
                        <a:solidFill>
                          <a:schemeClr val="tx1"/>
                        </a:solidFill>
                        <a:latin typeface="Cambria Math" panose="02040503050406030204" pitchFamily="18" charset="0"/>
                        <a:ea typeface="Noto Sans SC"/>
                        <a:cs typeface="Noto Sans SC"/>
                        <a:sym typeface="Noto Sans SC"/>
                      </a:rPr>
                      <m:t>/</m:t>
                    </m:r>
                  </m:oMath>
                </a14:m>
                <a:r>
                  <a:rPr lang="en-US" altLang="zh-CN" b="1" i="0" u="none" strike="noStrike" dirty="0">
                    <a:solidFill>
                      <a:schemeClr val="tx1"/>
                    </a:solidFill>
                    <a:ea typeface="Noto Sans SC"/>
                    <a:cs typeface="Noto Sans SC"/>
                    <a:sym typeface="Noto Sans SC"/>
                  </a:rPr>
                  <a:t> </a:t>
                </a:r>
                <a:r>
                  <a:rPr lang="zh-CN" altLang="en-US" b="1" i="0" u="none" strike="noStrike" dirty="0">
                    <a:solidFill>
                      <a:schemeClr val="tx1"/>
                    </a:solidFill>
                    <a:ea typeface="Noto Sans SC"/>
                    <a:cs typeface="Noto Sans SC"/>
                    <a:sym typeface="Noto Sans SC"/>
                  </a:rPr>
                  <a:t>叫做商群，这里表示</a:t>
                </a:r>
                <a14:m>
                  <m:oMath xmlns:m="http://schemas.openxmlformats.org/officeDocument/2006/math">
                    <m:sSub>
                      <m:sSubPr>
                        <m:ctrlPr>
                          <a:rPr lang="en-US" altLang="zh-CN" b="1" i="1" u="none" strike="noStrike" smtClean="0">
                            <a:solidFill>
                              <a:schemeClr val="tx1"/>
                            </a:solidFill>
                            <a:latin typeface="Cambria Math" panose="02040503050406030204" pitchFamily="18" charset="0"/>
                            <a:ea typeface="Noto Sans SC"/>
                            <a:cs typeface="Noto Sans SC"/>
                            <a:sym typeface="Noto Sans SC"/>
                          </a:rPr>
                        </m:ctrlPr>
                      </m:sSubPr>
                      <m:e>
                        <m:r>
                          <a:rPr lang="en-US" altLang="zh-CN" b="1" i="0" u="none" strike="noStrike" smtClean="0">
                            <a:solidFill>
                              <a:schemeClr val="tx1"/>
                            </a:solidFill>
                            <a:latin typeface="Cambria Math" panose="02040503050406030204" pitchFamily="18" charset="0"/>
                            <a:ea typeface="Noto Sans SC"/>
                            <a:cs typeface="Noto Sans SC"/>
                            <a:sym typeface="Noto Sans SC"/>
                          </a:rPr>
                          <m:t>𝐏</m:t>
                        </m:r>
                      </m:e>
                      <m:sub>
                        <m:r>
                          <a:rPr lang="en-US" altLang="zh-CN" b="1" i="1" u="none" strike="noStrike" smtClean="0">
                            <a:solidFill>
                              <a:schemeClr val="tx1"/>
                            </a:solidFill>
                            <a:latin typeface="Cambria Math" panose="02040503050406030204" pitchFamily="18" charset="0"/>
                            <a:ea typeface="Noto Sans SC"/>
                            <a:cs typeface="Noto Sans SC"/>
                            <a:sym typeface="Noto Sans SC"/>
                          </a:rPr>
                          <m:t>𝒏</m:t>
                        </m:r>
                      </m:sub>
                    </m:sSub>
                  </m:oMath>
                </a14:m>
                <a:r>
                  <a:rPr lang="zh-CN" altLang="en-US" b="1" i="0" u="none" strike="noStrike" dirty="0">
                    <a:solidFill>
                      <a:schemeClr val="accent2"/>
                    </a:solidFill>
                    <a:ea typeface="Noto Sans SC"/>
                    <a:cs typeface="Noto Sans SC"/>
                    <a:sym typeface="Noto Sans SC"/>
                  </a:rPr>
                  <a:t>除以</a:t>
                </a:r>
                <a:r>
                  <a:rPr lang="zh-CN" altLang="en-US" b="1" i="0" u="none" strike="noStrike" dirty="0">
                    <a:solidFill>
                      <a:schemeClr val="tx1"/>
                    </a:solidFill>
                    <a:ea typeface="Noto Sans SC"/>
                    <a:cs typeface="Noto Sans SC"/>
                    <a:sym typeface="Noto Sans SC"/>
                  </a:rPr>
                  <a:t>右侧相位因子集合生成的子群</a:t>
                </a:r>
                <a:endParaRPr lang="en-US" altLang="zh-CN" b="1" i="0" u="none" strike="noStrike" dirty="0">
                  <a:solidFill>
                    <a:schemeClr val="tx1"/>
                  </a:solidFill>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endParaRPr lang="en-US" altLang="zh-CN" b="1" i="0" u="none" strike="noStrike" dirty="0">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endParaRPr lang="en-US" altLang="zh-CN" b="1" i="0" u="none" strike="noStrike" dirty="0">
                  <a:ea typeface="Noto Sans SC"/>
                  <a:cs typeface="Noto Sans SC"/>
                  <a:sym typeface="Noto Sans SC"/>
                </a:endParaRPr>
              </a:p>
              <a:p>
                <a:pPr indent="0">
                  <a:lnSpc>
                    <a:spcPct val="116666"/>
                  </a:lnSpc>
                  <a:defRPr/>
                </a:pPr>
                <a:endParaRPr lang="en-US" altLang="zh-CN" b="1" i="0" u="none" strike="noStrike" dirty="0">
                  <a:ea typeface="Noto Sans SC"/>
                  <a:cs typeface="Noto Sans SC"/>
                  <a:sym typeface="Noto Sans SC"/>
                </a:endParaRPr>
              </a:p>
            </p:txBody>
          </p:sp>
        </mc:Choice>
        <mc:Fallback xmlns="">
          <p:sp>
            <p:nvSpPr>
              <p:cNvPr id="5" name="AutoShape 11">
                <a:extLst>
                  <a:ext uri="{FF2B5EF4-FFF2-40B4-BE49-F238E27FC236}">
                    <a16:creationId xmlns:a16="http://schemas.microsoft.com/office/drawing/2014/main" id="{FBD89B2D-C61C-6008-81C8-8A09F8AEE66C}"/>
                  </a:ext>
                </a:extLst>
              </p:cNvPr>
              <p:cNvSpPr>
                <a:spLocks noRot="1" noChangeAspect="1" noMove="1" noResize="1" noEditPoints="1" noAdjustHandles="1" noChangeArrowheads="1" noChangeShapeType="1" noTextEdit="1"/>
              </p:cNvSpPr>
              <p:nvPr/>
            </p:nvSpPr>
            <p:spPr>
              <a:xfrm>
                <a:off x="622444" y="1776548"/>
                <a:ext cx="6836445" cy="6518366"/>
              </a:xfrm>
              <a:prstGeom prst="rect">
                <a:avLst/>
              </a:prstGeom>
              <a:blipFill>
                <a:blip r:embed="rId3"/>
                <a:stretch>
                  <a:fillRect l="-2050" r="-2941"/>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EBA2AB3-7A62-C84E-FA07-C16C690B38E8}"/>
                  </a:ext>
                </a:extLst>
              </p:cNvPr>
              <p:cNvSpPr txBox="1"/>
              <p:nvPr/>
            </p:nvSpPr>
            <p:spPr>
              <a:xfrm>
                <a:off x="8598625" y="2197826"/>
                <a:ext cx="2890471"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P</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m:t>
                      </m:r>
                      <m:sSub>
                        <m:sSubPr>
                          <m:ctrlPr>
                            <a:rPr lang="en-US" altLang="zh-CN" b="0" i="1" smtClean="0">
                              <a:latin typeface="Cambria Math" panose="02040503050406030204" pitchFamily="18" charset="0"/>
                            </a:rPr>
                          </m:ctrlPr>
                        </m:sSub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𝑍</m:t>
                              </m:r>
                              <m:r>
                                <a:rPr lang="en-US" altLang="zh-CN" b="0" i="1" smtClean="0">
                                  <a:latin typeface="Cambria Math" panose="02040503050406030204" pitchFamily="18" charset="0"/>
                                </a:rPr>
                                <m:t>…</m:t>
                              </m:r>
                            </m:e>
                          </m:d>
                        </m:e>
                        <m:sub>
                          <m:r>
                            <a:rPr lang="en-US" altLang="zh-CN" b="0" i="1" smtClean="0">
                              <a:latin typeface="Cambria Math" panose="02040503050406030204" pitchFamily="18" charset="0"/>
                            </a:rPr>
                            <m:t>𝑛</m:t>
                          </m:r>
                        </m:sub>
                      </m:sSub>
                    </m:oMath>
                  </m:oMathPara>
                </a14:m>
                <a:endParaRPr lang="en-US" altLang="zh-CN" dirty="0"/>
              </a:p>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𝑐</m:t>
                      </m:r>
                      <m:r>
                        <a:rPr lang="en-US" altLang="zh-CN" b="0" i="0" dirty="0" smtClean="0">
                          <a:latin typeface="Cambria Math" panose="02040503050406030204" pitchFamily="18" charset="0"/>
                        </a:rPr>
                        <m:t>={</m:t>
                      </m:r>
                      <m:r>
                        <a:rPr lang="en-US" altLang="zh-CN" b="0" i="0" dirty="0" smtClean="0">
                          <a:latin typeface="Cambria Math" panose="02040503050406030204" pitchFamily="18" charset="0"/>
                        </a:rPr>
                        <m:t>1</m:t>
                      </m:r>
                      <m:r>
                        <a:rPr lang="en-US" altLang="zh-CN" b="0" i="0" dirty="0" smtClean="0">
                          <a:latin typeface="Cambria Math" panose="02040503050406030204" pitchFamily="18" charset="0"/>
                        </a:rPr>
                        <m:t>, −</m:t>
                      </m:r>
                      <m:r>
                        <a:rPr lang="en-US" altLang="zh-CN" b="0" i="0" dirty="0" smtClean="0">
                          <a:latin typeface="Cambria Math" panose="02040503050406030204" pitchFamily="18" charset="0"/>
                        </a:rPr>
                        <m:t>1</m:t>
                      </m:r>
                      <m:r>
                        <a:rPr lang="en-US" altLang="zh-CN" b="0" i="0" dirty="0" smtClean="0">
                          <a:latin typeface="Cambria Math" panose="02040503050406030204" pitchFamily="18" charset="0"/>
                        </a:rPr>
                        <m:t>,</m:t>
                      </m:r>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r>
                        <a:rPr lang="en-US" altLang="zh-CN" b="0" i="0" dirty="0" smtClean="0">
                          <a:latin typeface="Cambria Math" panose="02040503050406030204" pitchFamily="18" charset="0"/>
                        </a:rPr>
                        <m:t>}</m:t>
                      </m:r>
                    </m:oMath>
                  </m:oMathPara>
                </a14:m>
                <a:endParaRPr lang="zh-CN" altLang="en-US" dirty="0"/>
              </a:p>
            </p:txBody>
          </p:sp>
        </mc:Choice>
        <mc:Fallback xmlns="">
          <p:sp>
            <p:nvSpPr>
              <p:cNvPr id="6" name="文本框 5">
                <a:extLst>
                  <a:ext uri="{FF2B5EF4-FFF2-40B4-BE49-F238E27FC236}">
                    <a16:creationId xmlns:a16="http://schemas.microsoft.com/office/drawing/2014/main" id="{8EBA2AB3-7A62-C84E-FA07-C16C690B38E8}"/>
                  </a:ext>
                </a:extLst>
              </p:cNvPr>
              <p:cNvSpPr txBox="1">
                <a:spLocks noRot="1" noChangeAspect="1" noMove="1" noResize="1" noEditPoints="1" noAdjustHandles="1" noChangeArrowheads="1" noChangeShapeType="1" noTextEdit="1"/>
              </p:cNvSpPr>
              <p:nvPr/>
            </p:nvSpPr>
            <p:spPr>
              <a:xfrm>
                <a:off x="8598625" y="2197826"/>
                <a:ext cx="2890471" cy="553998"/>
              </a:xfrm>
              <a:prstGeom prst="rect">
                <a:avLst/>
              </a:prstGeom>
              <a:blipFill>
                <a:blip r:embed="rId4"/>
                <a:stretch>
                  <a:fillRect t="-1111" b="-1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792D2AC-B393-639A-34DE-2EAA3500CB28}"/>
                  </a:ext>
                </a:extLst>
              </p:cNvPr>
              <p:cNvSpPr txBox="1"/>
              <p:nvPr/>
            </p:nvSpPr>
            <p:spPr>
              <a:xfrm>
                <a:off x="8970916" y="4718957"/>
                <a:ext cx="2233368" cy="284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P</m:t>
                              </m:r>
                            </m:e>
                            <m:sub>
                              <m:r>
                                <a:rPr lang="en-US" altLang="zh-CN" b="0" i="1" smtClean="0">
                                  <a:latin typeface="Cambria Math" panose="02040503050406030204" pitchFamily="18" charset="0"/>
                                </a:rPr>
                                <m:t>𝑛</m:t>
                              </m:r>
                            </m:sub>
                          </m:sSub>
                        </m:e>
                      </m:ac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 </m:t>
                      </m:r>
                      <m:r>
                        <a:rPr lang="en-US" altLang="zh-CN" b="0" i="1" smtClean="0">
                          <a:latin typeface="Cambria Math" panose="02040503050406030204" pitchFamily="18" charset="0"/>
                        </a:rPr>
                        <m:t>𝑖𝐼</m:t>
                      </m:r>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𝑖𝐼</m:t>
                      </m:r>
                      <m:r>
                        <a:rPr lang="en-US" altLang="zh-CN" b="0" i="1" smtClean="0">
                          <a:latin typeface="Cambria Math" panose="02040503050406030204" pitchFamily="18" charset="0"/>
                        </a:rPr>
                        <m:t>}</m:t>
                      </m:r>
                    </m:oMath>
                  </m:oMathPara>
                </a14:m>
                <a:endParaRPr lang="zh-CN" altLang="en-US" dirty="0"/>
              </a:p>
            </p:txBody>
          </p:sp>
        </mc:Choice>
        <mc:Fallback xmlns="">
          <p:sp>
            <p:nvSpPr>
              <p:cNvPr id="13" name="文本框 12">
                <a:extLst>
                  <a:ext uri="{FF2B5EF4-FFF2-40B4-BE49-F238E27FC236}">
                    <a16:creationId xmlns:a16="http://schemas.microsoft.com/office/drawing/2014/main" id="{A792D2AC-B393-639A-34DE-2EAA3500CB28}"/>
                  </a:ext>
                </a:extLst>
              </p:cNvPr>
              <p:cNvSpPr txBox="1">
                <a:spLocks noRot="1" noChangeAspect="1" noMove="1" noResize="1" noEditPoints="1" noAdjustHandles="1" noChangeArrowheads="1" noChangeShapeType="1" noTextEdit="1"/>
              </p:cNvSpPr>
              <p:nvPr/>
            </p:nvSpPr>
            <p:spPr>
              <a:xfrm>
                <a:off x="8970916" y="4718957"/>
                <a:ext cx="2233368" cy="284501"/>
              </a:xfrm>
              <a:prstGeom prst="rect">
                <a:avLst/>
              </a:prstGeom>
              <a:blipFill>
                <a:blip r:embed="rId5"/>
                <a:stretch>
                  <a:fillRect l="-1913" t="-17021" r="-3279" b="-382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704607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875A-F27F-01B1-8B00-4B566541FC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16B4D6-4958-9425-5A60-B27D9EDEC956}"/>
              </a:ext>
            </a:extLst>
          </p:cNvPr>
          <p:cNvSpPr txBox="1"/>
          <p:nvPr/>
        </p:nvSpPr>
        <p:spPr>
          <a:xfrm>
            <a:off x="762000" y="635000"/>
            <a:ext cx="10668000" cy="571500"/>
          </a:xfrm>
          <a:prstGeom prst="rect">
            <a:avLst/>
          </a:prstGeom>
          <a:noFill/>
        </p:spPr>
        <p:txBody>
          <a:bodyPr wrap="square">
            <a:spAutoFit/>
          </a:bodyPr>
          <a:lstStyle/>
          <a:p>
            <a:pPr algn="l"/>
            <a:r>
              <a:rPr sz="3200" b="1">
                <a:solidFill>
                  <a:srgbClr val="333333"/>
                </a:solidFill>
                <a:latin typeface="Noto Sans SC"/>
              </a:rPr>
              <a:t>04  稳定子</a:t>
            </a:r>
          </a:p>
        </p:txBody>
      </p:sp>
      <p:sp>
        <p:nvSpPr>
          <p:cNvPr id="3" name="TextBox 2">
            <a:extLst>
              <a:ext uri="{FF2B5EF4-FFF2-40B4-BE49-F238E27FC236}">
                <a16:creationId xmlns:a16="http://schemas.microsoft.com/office/drawing/2014/main" id="{42E13249-4604-1136-5FCA-11E7D960CB37}"/>
              </a:ext>
            </a:extLst>
          </p:cNvPr>
          <p:cNvSpPr txBox="1"/>
          <p:nvPr/>
        </p:nvSpPr>
        <p:spPr>
          <a:xfrm>
            <a:off x="762000" y="1397000"/>
            <a:ext cx="10668000" cy="444500"/>
          </a:xfrm>
          <a:prstGeom prst="rect">
            <a:avLst/>
          </a:prstGeom>
          <a:noFill/>
        </p:spPr>
        <p:txBody>
          <a:bodyPr wrap="square">
            <a:spAutoFit/>
          </a:bodyPr>
          <a:lstStyle/>
          <a:p>
            <a:pPr algn="l"/>
            <a:r>
              <a:rPr sz="2200" b="1" dirty="0">
                <a:solidFill>
                  <a:srgbClr val="666666"/>
                </a:solidFill>
                <a:latin typeface="Noto Sans SC"/>
              </a:rPr>
              <a:t>4.</a:t>
            </a:r>
            <a:r>
              <a:rPr lang="en-US" sz="2200" b="1" dirty="0">
                <a:solidFill>
                  <a:srgbClr val="666666"/>
                </a:solidFill>
                <a:latin typeface="Noto Sans SC"/>
              </a:rPr>
              <a:t>6</a:t>
            </a:r>
            <a:r>
              <a:rPr sz="2200" b="1" dirty="0">
                <a:solidFill>
                  <a:srgbClr val="666666"/>
                </a:solidFill>
                <a:latin typeface="Noto Sans SC"/>
              </a:rPr>
              <a:t> </a:t>
            </a:r>
            <a:r>
              <a:rPr lang="zh-CN" altLang="en-US" sz="2200" b="1" dirty="0">
                <a:solidFill>
                  <a:srgbClr val="666666"/>
                </a:solidFill>
                <a:latin typeface="Noto Sans SC"/>
              </a:rPr>
              <a:t>稳定子定义及其相关性质</a:t>
            </a:r>
            <a:endParaRPr sz="2200" b="1" dirty="0">
              <a:solidFill>
                <a:srgbClr val="666666"/>
              </a:solidFill>
              <a:latin typeface="Noto Sans SC"/>
            </a:endParaRPr>
          </a:p>
        </p:txBody>
      </p:sp>
      <p:cxnSp>
        <p:nvCxnSpPr>
          <p:cNvPr id="8" name="直接连接符 7">
            <a:extLst>
              <a:ext uri="{FF2B5EF4-FFF2-40B4-BE49-F238E27FC236}">
                <a16:creationId xmlns:a16="http://schemas.microsoft.com/office/drawing/2014/main" id="{F7B3FE55-0189-9BF6-4CA7-6BD120C7DCF5}"/>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AutoShape 11">
                <a:extLst>
                  <a:ext uri="{FF2B5EF4-FFF2-40B4-BE49-F238E27FC236}">
                    <a16:creationId xmlns:a16="http://schemas.microsoft.com/office/drawing/2014/main" id="{F1222A41-E1E2-CBE0-EFCF-409E9DC6126E}"/>
                  </a:ext>
                </a:extLst>
              </p:cNvPr>
              <p:cNvSpPr/>
              <p:nvPr/>
            </p:nvSpPr>
            <p:spPr>
              <a:xfrm>
                <a:off x="805324" y="1848393"/>
                <a:ext cx="6836445" cy="4578531"/>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r>
                  <a:rPr lang="zh-CN" altLang="en-US" sz="1400" b="1" dirty="0">
                    <a:ea typeface="Noto Sans SC"/>
                    <a:cs typeface="Noto Sans SC"/>
                    <a:sym typeface="Noto Sans SC"/>
                  </a:rPr>
                  <a:t>介绍完泡利群，现在我们回到刚刚在</a:t>
                </a:r>
                <a:r>
                  <a:rPr lang="en-US" altLang="zh-CN" sz="1400" b="1" dirty="0" err="1">
                    <a:ea typeface="Noto Sans SC"/>
                    <a:cs typeface="Noto Sans SC"/>
                    <a:sym typeface="Noto Sans SC"/>
                  </a:rPr>
                  <a:t>shor</a:t>
                </a:r>
                <a:r>
                  <a:rPr lang="zh-CN" altLang="en-US" sz="1400" b="1" dirty="0">
                    <a:ea typeface="Noto Sans SC"/>
                    <a:cs typeface="Noto Sans SC"/>
                    <a:sym typeface="Noto Sans SC"/>
                  </a:rPr>
                  <a:t>码处提及的稳定子，</a:t>
                </a:r>
                <a:endParaRPr lang="en-US" altLang="zh-CN" sz="1400" b="1" dirty="0">
                  <a:ea typeface="Noto Sans SC"/>
                  <a:cs typeface="Noto Sans SC"/>
                  <a:sym typeface="Noto Sans SC"/>
                </a:endParaRPr>
              </a:p>
              <a:p>
                <a:pPr indent="0">
                  <a:lnSpc>
                    <a:spcPct val="116666"/>
                  </a:lnSpc>
                  <a:defRPr/>
                </a:pPr>
                <a:r>
                  <a:rPr lang="zh-CN" altLang="en-US" sz="1400" b="1" dirty="0">
                    <a:ea typeface="Noto Sans SC"/>
                    <a:cs typeface="Noto Sans SC"/>
                    <a:sym typeface="Noto Sans SC"/>
                  </a:rPr>
                  <a:t>我们给出其定义及其相关性质</a:t>
                </a:r>
                <a:endParaRPr lang="en-US" altLang="zh-CN" sz="1400" b="1" dirty="0">
                  <a:ea typeface="Noto Sans SC"/>
                  <a:cs typeface="Noto Sans SC"/>
                  <a:sym typeface="Noto Sans SC"/>
                </a:endParaRPr>
              </a:p>
              <a:p>
                <a:pPr indent="0">
                  <a:lnSpc>
                    <a:spcPct val="116666"/>
                  </a:lnSpc>
                  <a:defRPr/>
                </a:pPr>
                <a:endParaRPr lang="en-US" altLang="zh-CN" sz="1400" b="1" dirty="0">
                  <a:ea typeface="Noto Sans SC"/>
                  <a:cs typeface="Noto Sans SC"/>
                  <a:sym typeface="Noto Sans SC"/>
                </a:endParaRPr>
              </a:p>
              <a:p>
                <a:pPr indent="0">
                  <a:lnSpc>
                    <a:spcPct val="116666"/>
                  </a:lnSpc>
                  <a:defRPr/>
                </a:pPr>
                <a:r>
                  <a:rPr lang="zh-CN" altLang="en-US" sz="1400" b="1" i="0" u="none" strike="noStrike" dirty="0">
                    <a:ea typeface="Noto Sans SC"/>
                    <a:cs typeface="Noto Sans SC"/>
                    <a:sym typeface="Noto Sans SC"/>
                  </a:rPr>
                  <a:t>作用于</a:t>
                </a:r>
                <a:r>
                  <a:rPr lang="zh-CN" altLang="en-US" sz="1400" b="1" i="0" u="none" strike="noStrike" dirty="0">
                    <a:solidFill>
                      <a:schemeClr val="accent2"/>
                    </a:solidFill>
                    <a:ea typeface="Noto Sans SC"/>
                    <a:cs typeface="Noto Sans SC"/>
                    <a:sym typeface="Noto Sans SC"/>
                  </a:rPr>
                  <a:t>逻辑比特</a:t>
                </a:r>
                <a:r>
                  <a:rPr lang="en-US" altLang="zh-CN" sz="1400" b="1" i="0" u="none" strike="noStrike" dirty="0">
                    <a:solidFill>
                      <a:schemeClr val="accent2"/>
                    </a:solidFill>
                    <a:ea typeface="Noto Sans SC"/>
                    <a:cs typeface="Noto Sans SC"/>
                    <a:sym typeface="Noto Sans SC"/>
                  </a:rPr>
                  <a:t>(</a:t>
                </a:r>
                <a:r>
                  <a:rPr lang="zh-CN" altLang="en-US" sz="1400" b="1" i="0" u="none" strike="noStrike" dirty="0">
                    <a:solidFill>
                      <a:schemeClr val="accent2"/>
                    </a:solidFill>
                    <a:ea typeface="Noto Sans SC"/>
                    <a:cs typeface="Noto Sans SC"/>
                    <a:sym typeface="Noto Sans SC"/>
                  </a:rPr>
                  <a:t>码字</a:t>
                </a:r>
                <a:r>
                  <a:rPr lang="en-US" altLang="zh-CN" sz="1400" b="1" i="0" u="none" strike="noStrike" dirty="0">
                    <a:solidFill>
                      <a:schemeClr val="accent2"/>
                    </a:solidFill>
                    <a:ea typeface="Noto Sans SC"/>
                    <a:cs typeface="Noto Sans SC"/>
                    <a:sym typeface="Noto Sans SC"/>
                  </a:rPr>
                  <a:t>/codewords)</a:t>
                </a:r>
                <a:r>
                  <a:rPr lang="zh-CN" altLang="en-US" sz="1400" b="1" i="0" u="none" strike="noStrike" dirty="0">
                    <a:ea typeface="Noto Sans SC"/>
                    <a:cs typeface="Noto Sans SC"/>
                    <a:sym typeface="Noto Sans SC"/>
                  </a:rPr>
                  <a:t>上时</a:t>
                </a:r>
                <a:r>
                  <a:rPr lang="zh-CN" altLang="en-US" sz="1400" b="1" i="0" u="none" strike="noStrike" dirty="0">
                    <a:solidFill>
                      <a:schemeClr val="accent2"/>
                    </a:solidFill>
                    <a:ea typeface="Noto Sans SC"/>
                    <a:cs typeface="Noto Sans SC"/>
                    <a:sym typeface="Noto Sans SC"/>
                  </a:rPr>
                  <a:t>本征值为</a:t>
                </a:r>
                <a:r>
                  <a:rPr lang="en-US" altLang="zh-CN" sz="1400" b="1" i="0" u="none" strike="noStrike" dirty="0">
                    <a:solidFill>
                      <a:schemeClr val="accent2"/>
                    </a:solidFill>
                    <a:ea typeface="Noto Sans SC"/>
                    <a:cs typeface="Noto Sans SC"/>
                    <a:sym typeface="Noto Sans SC"/>
                  </a:rPr>
                  <a:t>1</a:t>
                </a:r>
              </a:p>
              <a:p>
                <a:pPr indent="0">
                  <a:lnSpc>
                    <a:spcPct val="116666"/>
                  </a:lnSpc>
                  <a:defRPr/>
                </a:pPr>
                <a:r>
                  <a:rPr lang="zh-CN" altLang="en-US" sz="1400" b="1" i="0" u="none" strike="noStrike" dirty="0">
                    <a:ea typeface="Noto Sans SC"/>
                    <a:cs typeface="Noto Sans SC"/>
                    <a:sym typeface="Noto Sans SC"/>
                  </a:rPr>
                  <a:t>且同时属于</a:t>
                </a:r>
                <a:r>
                  <a:rPr lang="zh-CN" altLang="en-US" sz="1400" b="1" i="0" u="none" strike="noStrike" dirty="0">
                    <a:solidFill>
                      <a:schemeClr val="accent2"/>
                    </a:solidFill>
                    <a:ea typeface="Noto Sans SC"/>
                    <a:cs typeface="Noto Sans SC"/>
                    <a:sym typeface="Noto Sans SC"/>
                  </a:rPr>
                  <a:t>泡利群</a:t>
                </a:r>
                <a:r>
                  <a:rPr lang="zh-CN" altLang="en-US" sz="1400" b="1" i="0" u="none" strike="noStrike" dirty="0">
                    <a:ea typeface="Noto Sans SC"/>
                    <a:cs typeface="Noto Sans SC"/>
                    <a:sym typeface="Noto Sans SC"/>
                  </a:rPr>
                  <a:t>的</a:t>
                </a:r>
                <a:r>
                  <a:rPr lang="zh-CN" altLang="en-US" sz="1400" b="1" i="0" u="none" strike="noStrike" dirty="0">
                    <a:solidFill>
                      <a:schemeClr val="accent2"/>
                    </a:solidFill>
                    <a:ea typeface="Noto Sans SC"/>
                    <a:cs typeface="Noto Sans SC"/>
                    <a:sym typeface="Noto Sans SC"/>
                  </a:rPr>
                  <a:t>算符集合</a:t>
                </a:r>
                <a:endParaRPr lang="en-US" altLang="zh-CN" sz="1400" b="1" i="0" u="none" strike="noStrike" dirty="0">
                  <a:solidFill>
                    <a:schemeClr val="accent2"/>
                  </a:solidFill>
                  <a:ea typeface="Noto Sans SC"/>
                  <a:cs typeface="Noto Sans SC"/>
                  <a:sym typeface="Noto Sans SC"/>
                </a:endParaRPr>
              </a:p>
              <a:p>
                <a:pPr indent="0">
                  <a:lnSpc>
                    <a:spcPct val="116666"/>
                  </a:lnSpc>
                  <a:defRPr/>
                </a:pPr>
                <a:r>
                  <a:rPr lang="zh-CN" altLang="en-US" sz="1400" b="1" i="0" u="none" strike="noStrike" dirty="0">
                    <a:ea typeface="Noto Sans SC"/>
                    <a:cs typeface="Noto Sans SC"/>
                    <a:sym typeface="Noto Sans SC"/>
                  </a:rPr>
                  <a:t>构成了</a:t>
                </a:r>
                <a:r>
                  <a:rPr lang="zh-CN" altLang="en-US" sz="1400" b="1" i="0" u="none" strike="noStrike" dirty="0">
                    <a:solidFill>
                      <a:schemeClr val="accent2"/>
                    </a:solidFill>
                    <a:ea typeface="Noto Sans SC"/>
                    <a:cs typeface="Noto Sans SC"/>
                    <a:sym typeface="Noto Sans SC"/>
                  </a:rPr>
                  <a:t>稳定子</a:t>
                </a:r>
                <a:endParaRPr lang="en-US" altLang="zh-CN" sz="1400" b="1" i="0" u="none" strike="noStrike" dirty="0">
                  <a:solidFill>
                    <a:schemeClr val="accent2"/>
                  </a:solidFill>
                  <a:ea typeface="Noto Sans SC"/>
                  <a:cs typeface="Noto Sans SC"/>
                  <a:sym typeface="Noto Sans SC"/>
                </a:endParaRPr>
              </a:p>
              <a:p>
                <a:pPr indent="0">
                  <a:lnSpc>
                    <a:spcPct val="116666"/>
                  </a:lnSpc>
                  <a:defRPr/>
                </a:pPr>
                <a:endParaRPr lang="en-US" altLang="zh-CN" sz="1400" b="1" dirty="0">
                  <a:ea typeface="Noto Sans SC"/>
                  <a:cs typeface="Noto Sans SC"/>
                  <a:sym typeface="Noto Sans SC"/>
                </a:endParaRPr>
              </a:p>
              <a:p>
                <a:pPr indent="0">
                  <a:lnSpc>
                    <a:spcPct val="116666"/>
                  </a:lnSpc>
                  <a:defRPr/>
                </a:pPr>
                <a:r>
                  <a:rPr lang="zh-CN" altLang="en-US" sz="1400" b="1" i="0" u="none" strike="noStrike" dirty="0">
                    <a:ea typeface="Noto Sans SC"/>
                    <a:cs typeface="Noto Sans SC"/>
                    <a:sym typeface="Noto Sans SC"/>
                  </a:rPr>
                  <a:t>根据定义</a:t>
                </a:r>
                <a:endParaRPr lang="en-US" altLang="zh-CN" sz="1400" b="1" i="0" u="none" strike="noStrike" dirty="0">
                  <a:ea typeface="Noto Sans SC"/>
                  <a:cs typeface="Noto Sans SC"/>
                  <a:sym typeface="Noto Sans SC"/>
                </a:endParaRPr>
              </a:p>
              <a:p>
                <a:pPr indent="0">
                  <a:lnSpc>
                    <a:spcPct val="116666"/>
                  </a:lnSpc>
                  <a:defRPr/>
                </a:pPr>
                <a:r>
                  <a:rPr lang="en-US" altLang="zh-CN" sz="1400" b="1" i="0" u="none" strike="noStrike" dirty="0">
                    <a:ea typeface="Noto Sans SC"/>
                    <a:cs typeface="Noto Sans SC"/>
                    <a:sym typeface="Noto Sans SC"/>
                  </a:rPr>
                  <a:t> </a:t>
                </a:r>
                <a14:m>
                  <m:oMath xmlns:m="http://schemas.openxmlformats.org/officeDocument/2006/math">
                    <m:r>
                      <a:rPr lang="en-US" altLang="zh-CN" sz="1400" b="1" i="1" u="none" strike="noStrike" smtClean="0">
                        <a:latin typeface="Cambria Math" panose="02040503050406030204" pitchFamily="18" charset="0"/>
                        <a:ea typeface="Noto Sans SC"/>
                        <a:cs typeface="Noto Sans SC"/>
                        <a:sym typeface="Noto Sans SC"/>
                      </a:rPr>
                      <m:t>−</m:t>
                    </m:r>
                    <m:r>
                      <a:rPr lang="en-US" altLang="zh-CN" sz="1400" b="1" i="1" u="none" strike="noStrike" smtClean="0">
                        <a:latin typeface="Cambria Math" panose="02040503050406030204" pitchFamily="18" charset="0"/>
                        <a:ea typeface="Noto Sans SC"/>
                        <a:cs typeface="Noto Sans SC"/>
                        <a:sym typeface="Noto Sans SC"/>
                      </a:rPr>
                      <m:t>𝑰</m:t>
                    </m:r>
                    <m:r>
                      <a:rPr lang="en-US" altLang="zh-CN" sz="1400" b="1" i="1" u="none" strike="noStrike" smtClean="0">
                        <a:latin typeface="Cambria Math" panose="02040503050406030204" pitchFamily="18" charset="0"/>
                        <a:ea typeface="Noto Sans SC"/>
                        <a:cs typeface="Noto Sans SC"/>
                        <a:sym typeface="Noto Sans SC"/>
                      </a:rPr>
                      <m:t>∉</m:t>
                    </m:r>
                    <m:r>
                      <a:rPr lang="en-US" altLang="zh-CN" sz="1400" b="1" i="1" u="none" strike="noStrike" smtClean="0">
                        <a:latin typeface="Cambria Math" panose="02040503050406030204" pitchFamily="18" charset="0"/>
                        <a:ea typeface="Noto Sans SC"/>
                        <a:cs typeface="Noto Sans SC"/>
                        <a:sym typeface="Noto Sans SC"/>
                      </a:rPr>
                      <m:t>𝑺</m:t>
                    </m:r>
                  </m:oMath>
                </a14:m>
                <a:endParaRPr lang="en-US" altLang="zh-CN" sz="1400" b="1" i="0" u="none" strike="noStrike" dirty="0">
                  <a:ea typeface="Noto Sans SC"/>
                  <a:cs typeface="Noto Sans SC"/>
                  <a:sym typeface="Noto Sans SC"/>
                </a:endParaRPr>
              </a:p>
              <a:p>
                <a:pPr indent="0">
                  <a:lnSpc>
                    <a:spcPct val="116666"/>
                  </a:lnSpc>
                  <a:defRPr/>
                </a:pPr>
                <a:r>
                  <a:rPr lang="zh-CN" altLang="en-US" sz="1400" b="1" i="0" u="none" strike="noStrike" dirty="0">
                    <a:ea typeface="Noto Sans SC"/>
                    <a:cs typeface="Noto Sans SC"/>
                    <a:sym typeface="Noto Sans SC"/>
                  </a:rPr>
                  <a:t>任意两个属于同一个稳定子的算符是</a:t>
                </a:r>
                <a:r>
                  <a:rPr lang="zh-CN" altLang="en-US" sz="1400" b="1" i="0" u="none" strike="noStrike" dirty="0">
                    <a:solidFill>
                      <a:schemeClr val="accent2"/>
                    </a:solidFill>
                    <a:ea typeface="Noto Sans SC"/>
                    <a:cs typeface="Noto Sans SC"/>
                    <a:sym typeface="Noto Sans SC"/>
                  </a:rPr>
                  <a:t>相互对易</a:t>
                </a:r>
                <a:r>
                  <a:rPr lang="zh-CN" altLang="en-US" sz="1400" b="1" i="0" u="none" strike="noStrike" dirty="0">
                    <a:ea typeface="Noto Sans SC"/>
                    <a:cs typeface="Noto Sans SC"/>
                    <a:sym typeface="Noto Sans SC"/>
                  </a:rPr>
                  <a:t>的</a:t>
                </a:r>
                <a:endParaRPr lang="en-US" altLang="zh-CN" sz="1400" b="1" i="0" u="none" strike="noStrike" dirty="0">
                  <a:ea typeface="Noto Sans SC"/>
                  <a:cs typeface="Noto Sans SC"/>
                  <a:sym typeface="Noto Sans SC"/>
                </a:endParaRPr>
              </a:p>
              <a:p>
                <a:pPr indent="0">
                  <a:lnSpc>
                    <a:spcPct val="116666"/>
                  </a:lnSpc>
                  <a:defRPr/>
                </a:pPr>
                <a:endParaRPr lang="en-US" altLang="zh-CN" sz="1400" b="1" dirty="0">
                  <a:ea typeface="Noto Sans SC"/>
                  <a:cs typeface="Noto Sans SC"/>
                  <a:sym typeface="Noto Sans SC"/>
                </a:endParaRPr>
              </a:p>
              <a:p>
                <a:pPr indent="0">
                  <a:lnSpc>
                    <a:spcPct val="116666"/>
                  </a:lnSpc>
                  <a:defRPr/>
                </a:pPr>
                <a:r>
                  <a:rPr lang="zh-CN" altLang="en-US" sz="1400" b="1" dirty="0">
                    <a:ea typeface="Noto Sans SC"/>
                    <a:cs typeface="Noto Sans SC"/>
                    <a:sym typeface="Noto Sans SC"/>
                  </a:rPr>
                  <a:t>在实际处理中直接从稳定子本身的性质出发获得一个稳定子群再推导出更加有效</a:t>
                </a:r>
                <a:endParaRPr lang="en-US" altLang="zh-CN" sz="1400" b="1" dirty="0">
                  <a:ea typeface="Noto Sans SC"/>
                  <a:cs typeface="Noto Sans SC"/>
                  <a:sym typeface="Noto Sans SC"/>
                </a:endParaRPr>
              </a:p>
              <a:p>
                <a:pPr indent="0">
                  <a:lnSpc>
                    <a:spcPct val="116666"/>
                  </a:lnSpc>
                  <a:defRPr/>
                </a:pPr>
                <a:endParaRPr lang="en-US" altLang="zh-CN" sz="1400" b="1" i="0" u="none" strike="noStrike" dirty="0">
                  <a:ea typeface="Noto Sans SC"/>
                  <a:cs typeface="Noto Sans SC"/>
                  <a:sym typeface="Noto Sans SC"/>
                </a:endParaRPr>
              </a:p>
              <a:p>
                <a:pPr indent="0">
                  <a:lnSpc>
                    <a:spcPct val="116666"/>
                  </a:lnSpc>
                  <a:defRPr/>
                </a:pPr>
                <a:r>
                  <a:rPr lang="zh-CN" altLang="en-US" sz="1400" b="1" dirty="0">
                    <a:ea typeface="Noto Sans SC"/>
                    <a:cs typeface="Noto Sans SC"/>
                    <a:sym typeface="Noto Sans SC"/>
                  </a:rPr>
                  <a:t>因此我们有了右侧</a:t>
                </a:r>
                <a:r>
                  <a:rPr lang="zh-CN" altLang="en-US" sz="1400" b="1" dirty="0">
                    <a:solidFill>
                      <a:schemeClr val="accent2"/>
                    </a:solidFill>
                    <a:ea typeface="Noto Sans SC"/>
                    <a:cs typeface="Noto Sans SC"/>
                    <a:sym typeface="Noto Sans SC"/>
                  </a:rPr>
                  <a:t>通过稳定子定义</a:t>
                </a:r>
                <a:r>
                  <a:rPr lang="zh-CN" altLang="en-US" sz="1400" b="1" dirty="0">
                    <a:ea typeface="Noto Sans SC"/>
                    <a:cs typeface="Noto Sans SC"/>
                    <a:sym typeface="Noto Sans SC"/>
                  </a:rPr>
                  <a:t>的码空间</a:t>
                </a:r>
                <a:r>
                  <a:rPr lang="en-US" altLang="zh-CN" sz="1400" b="1" dirty="0">
                    <a:ea typeface="Noto Sans SC"/>
                    <a:cs typeface="Noto Sans SC"/>
                    <a:sym typeface="Noto Sans SC"/>
                  </a:rPr>
                  <a:t>(code space)</a:t>
                </a:r>
              </a:p>
              <a:p>
                <a:pPr indent="0">
                  <a:lnSpc>
                    <a:spcPct val="116666"/>
                  </a:lnSpc>
                  <a:defRPr/>
                </a:pPr>
                <a:endParaRPr lang="en-US" altLang="zh-CN" sz="1400" b="1" i="0" u="none" strike="noStrike" dirty="0">
                  <a:ea typeface="Noto Sans SC"/>
                  <a:cs typeface="Noto Sans SC"/>
                  <a:sym typeface="Noto Sans SC"/>
                </a:endParaRPr>
              </a:p>
              <a:p>
                <a:pPr indent="0">
                  <a:lnSpc>
                    <a:spcPct val="116666"/>
                  </a:lnSpc>
                  <a:defRPr/>
                </a:pPr>
                <a:r>
                  <a:rPr lang="en-US" altLang="zh-CN" sz="1400" b="1" i="0" u="none" strike="noStrike" dirty="0" err="1">
                    <a:ea typeface="Noto Sans SC"/>
                    <a:cs typeface="Noto Sans SC"/>
                    <a:sym typeface="Noto Sans SC"/>
                  </a:rPr>
                  <a:t>s.t.</a:t>
                </a:r>
                <a:r>
                  <a:rPr lang="en-US" altLang="zh-CN" sz="1400" b="1" i="0" u="none" strike="noStrike" dirty="0">
                    <a:ea typeface="Noto Sans SC"/>
                    <a:cs typeface="Noto Sans SC"/>
                    <a:sym typeface="Noto Sans SC"/>
                  </a:rPr>
                  <a:t> such that </a:t>
                </a:r>
                <a:r>
                  <a:rPr lang="zh-CN" altLang="en-US" sz="1400" b="1" i="0" u="none" strike="noStrike" dirty="0">
                    <a:ea typeface="Noto Sans SC"/>
                    <a:cs typeface="Noto Sans SC"/>
                    <a:sym typeface="Noto Sans SC"/>
                  </a:rPr>
                  <a:t>（</a:t>
                </a:r>
                <a:r>
                  <a:rPr lang="zh-CN" altLang="en-US" sz="1400" b="1" dirty="0">
                    <a:ea typeface="Noto Sans SC"/>
                    <a:cs typeface="Noto Sans SC"/>
                    <a:sym typeface="Noto Sans SC"/>
                  </a:rPr>
                  <a:t>使得</a:t>
                </a:r>
                <a:r>
                  <a:rPr lang="en-US" altLang="zh-CN" sz="1400" b="1" dirty="0">
                    <a:ea typeface="Noto Sans SC"/>
                    <a:cs typeface="Noto Sans SC"/>
                    <a:sym typeface="Noto Sans SC"/>
                  </a:rPr>
                  <a:t>/</a:t>
                </a:r>
                <a:r>
                  <a:rPr lang="zh-CN" altLang="en-US" sz="1400" b="1" dirty="0">
                    <a:ea typeface="Noto Sans SC"/>
                    <a:cs typeface="Noto Sans SC"/>
                    <a:sym typeface="Noto Sans SC"/>
                  </a:rPr>
                  <a:t>满足</a:t>
                </a:r>
                <a:r>
                  <a:rPr lang="zh-CN" altLang="en-US" sz="1400" b="1" i="0" u="none" strike="noStrike" dirty="0">
                    <a:ea typeface="Noto Sans SC"/>
                    <a:cs typeface="Noto Sans SC"/>
                    <a:sym typeface="Noto Sans SC"/>
                  </a:rPr>
                  <a:t>）</a:t>
                </a:r>
                <a:endParaRPr lang="en-US" altLang="zh-CN" sz="1400" b="1" i="0" u="none" strike="noStrike" dirty="0">
                  <a:ea typeface="Noto Sans SC"/>
                  <a:cs typeface="Noto Sans SC"/>
                  <a:sym typeface="Noto Sans SC"/>
                </a:endParaRPr>
              </a:p>
            </p:txBody>
          </p:sp>
        </mc:Choice>
        <mc:Fallback xmlns="">
          <p:sp>
            <p:nvSpPr>
              <p:cNvPr id="5" name="AutoShape 11">
                <a:extLst>
                  <a:ext uri="{FF2B5EF4-FFF2-40B4-BE49-F238E27FC236}">
                    <a16:creationId xmlns:a16="http://schemas.microsoft.com/office/drawing/2014/main" id="{F1222A41-E1E2-CBE0-EFCF-409E9DC6126E}"/>
                  </a:ext>
                </a:extLst>
              </p:cNvPr>
              <p:cNvSpPr>
                <a:spLocks noRot="1" noChangeAspect="1" noMove="1" noResize="1" noEditPoints="1" noAdjustHandles="1" noChangeArrowheads="1" noChangeShapeType="1" noTextEdit="1"/>
              </p:cNvSpPr>
              <p:nvPr/>
            </p:nvSpPr>
            <p:spPr>
              <a:xfrm>
                <a:off x="805324" y="1848393"/>
                <a:ext cx="6836445" cy="4578531"/>
              </a:xfrm>
              <a:prstGeom prst="rect">
                <a:avLst/>
              </a:prstGeom>
              <a:blipFill>
                <a:blip r:embed="rId3"/>
                <a:stretch>
                  <a:fillRect l="-1604"/>
                </a:stretch>
              </a:blipFill>
              <a:ln w="12700" cap="flat" cmpd="sng">
                <a:noFill/>
                <a:prstDash val="solid"/>
                <a:round/>
              </a:ln>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5401637B-5BCB-466A-0A26-762601564063}"/>
              </a:ext>
            </a:extLst>
          </p:cNvPr>
          <p:cNvPicPr>
            <a:picLocks noChangeAspect="1"/>
          </p:cNvPicPr>
          <p:nvPr/>
        </p:nvPicPr>
        <p:blipFill>
          <a:blip r:embed="rId4"/>
          <a:stretch>
            <a:fillRect/>
          </a:stretch>
        </p:blipFill>
        <p:spPr>
          <a:xfrm>
            <a:off x="7603620" y="2008092"/>
            <a:ext cx="4570963" cy="454029"/>
          </a:xfrm>
          <a:prstGeom prst="rect">
            <a:avLst/>
          </a:prstGeom>
        </p:spPr>
      </p:pic>
      <p:pic>
        <p:nvPicPr>
          <p:cNvPr id="12" name="图片 11">
            <a:extLst>
              <a:ext uri="{FF2B5EF4-FFF2-40B4-BE49-F238E27FC236}">
                <a16:creationId xmlns:a16="http://schemas.microsoft.com/office/drawing/2014/main" id="{FA726D80-954F-395B-92B3-57DF05B3948B}"/>
              </a:ext>
            </a:extLst>
          </p:cNvPr>
          <p:cNvPicPr>
            <a:picLocks noChangeAspect="1"/>
          </p:cNvPicPr>
          <p:nvPr/>
        </p:nvPicPr>
        <p:blipFill>
          <a:blip r:embed="rId5"/>
          <a:stretch>
            <a:fillRect/>
          </a:stretch>
        </p:blipFill>
        <p:spPr>
          <a:xfrm>
            <a:off x="8903638" y="1551657"/>
            <a:ext cx="1853625" cy="389576"/>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EF72D17-D46F-48CE-CDCD-BD3E53CF605A}"/>
                  </a:ext>
                </a:extLst>
              </p:cNvPr>
              <p:cNvSpPr txBox="1"/>
              <p:nvPr/>
            </p:nvSpPr>
            <p:spPr>
              <a:xfrm>
                <a:off x="8755379" y="2726868"/>
                <a:ext cx="2244461"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rPr>
                        <m:t>, </m:t>
                      </m:r>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S</m:t>
                      </m:r>
                    </m:oMath>
                  </m:oMathPara>
                </a14:m>
                <a:endParaRPr lang="en-US" altLang="zh-CN"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𝑀𝑁</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𝑀</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oMath>
                  </m:oMathPara>
                </a14:m>
                <a:endParaRPr lang="en-US" altLang="zh-CN" dirty="0"/>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𝑁𝑀</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𝑁</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𝜓</m:t>
                      </m:r>
                      <m:r>
                        <a:rPr lang="en-US" altLang="zh-CN" b="0" i="1" smtClean="0">
                          <a:latin typeface="Cambria Math" panose="02040503050406030204" pitchFamily="18" charset="0"/>
                        </a:rPr>
                        <m:t>⟩</m:t>
                      </m:r>
                    </m:oMath>
                  </m:oMathPara>
                </a14:m>
                <a:endParaRPr lang="zh-CN" altLang="en-US" dirty="0"/>
              </a:p>
            </p:txBody>
          </p:sp>
        </mc:Choice>
        <mc:Fallback xmlns="">
          <p:sp>
            <p:nvSpPr>
              <p:cNvPr id="14" name="文本框 13">
                <a:extLst>
                  <a:ext uri="{FF2B5EF4-FFF2-40B4-BE49-F238E27FC236}">
                    <a16:creationId xmlns:a16="http://schemas.microsoft.com/office/drawing/2014/main" id="{DEF72D17-D46F-48CE-CDCD-BD3E53CF605A}"/>
                  </a:ext>
                </a:extLst>
              </p:cNvPr>
              <p:cNvSpPr txBox="1">
                <a:spLocks noRot="1" noChangeAspect="1" noMove="1" noResize="1" noEditPoints="1" noAdjustHandles="1" noChangeArrowheads="1" noChangeShapeType="1" noTextEdit="1"/>
              </p:cNvSpPr>
              <p:nvPr/>
            </p:nvSpPr>
            <p:spPr>
              <a:xfrm>
                <a:off x="8755379" y="2726868"/>
                <a:ext cx="2244461" cy="830997"/>
              </a:xfrm>
              <a:prstGeom prst="rect">
                <a:avLst/>
              </a:prstGeom>
              <a:blipFill>
                <a:blip r:embed="rId6"/>
                <a:stretch>
                  <a:fillRect l="-815" r="-1630" b="-10219"/>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5AAA9DB6-B37F-5723-E728-F6D0DE4CE282}"/>
              </a:ext>
            </a:extLst>
          </p:cNvPr>
          <p:cNvPicPr>
            <a:picLocks noChangeAspect="1"/>
          </p:cNvPicPr>
          <p:nvPr/>
        </p:nvPicPr>
        <p:blipFill>
          <a:blip r:embed="rId7"/>
          <a:stretch>
            <a:fillRect/>
          </a:stretch>
        </p:blipFill>
        <p:spPr>
          <a:xfrm>
            <a:off x="7597134" y="4778630"/>
            <a:ext cx="4627528" cy="644869"/>
          </a:xfrm>
          <a:prstGeom prst="rect">
            <a:avLst/>
          </a:prstGeom>
        </p:spPr>
      </p:pic>
      <p:pic>
        <p:nvPicPr>
          <p:cNvPr id="18" name="图片 17">
            <a:extLst>
              <a:ext uri="{FF2B5EF4-FFF2-40B4-BE49-F238E27FC236}">
                <a16:creationId xmlns:a16="http://schemas.microsoft.com/office/drawing/2014/main" id="{676774A0-E968-40D2-8C0B-119408C18DDE}"/>
              </a:ext>
            </a:extLst>
          </p:cNvPr>
          <p:cNvPicPr>
            <a:picLocks noChangeAspect="1"/>
          </p:cNvPicPr>
          <p:nvPr/>
        </p:nvPicPr>
        <p:blipFill>
          <a:blip r:embed="rId8"/>
          <a:stretch>
            <a:fillRect/>
          </a:stretch>
        </p:blipFill>
        <p:spPr>
          <a:xfrm>
            <a:off x="9162287" y="4335903"/>
            <a:ext cx="941838" cy="467324"/>
          </a:xfrm>
          <a:prstGeom prst="rect">
            <a:avLst/>
          </a:prstGeom>
        </p:spPr>
      </p:pic>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8FE9E2C-EF74-2A2E-D075-B33D9CB4B3B9}"/>
                  </a:ext>
                </a:extLst>
              </p:cNvPr>
              <p:cNvSpPr txBox="1"/>
              <p:nvPr/>
            </p:nvSpPr>
            <p:spPr>
              <a:xfrm>
                <a:off x="10032281" y="4308283"/>
                <a:ext cx="1574074" cy="524439"/>
              </a:xfrm>
              <a:prstGeom prst="rect">
                <a:avLst/>
              </a:prstGeom>
              <a:noFill/>
            </p:spPr>
            <p:txBody>
              <a:bodyPr wrap="square">
                <a:spAutoFit/>
              </a:bodyPr>
              <a:lstStyle/>
              <a:p>
                <a:pPr indent="0">
                  <a:lnSpc>
                    <a:spcPct val="116666"/>
                  </a:lnSpc>
                  <a:defRPr/>
                </a:pPr>
                <a14:m>
                  <m:oMathPara xmlns:m="http://schemas.openxmlformats.org/officeDocument/2006/math">
                    <m:oMathParaPr>
                      <m:jc m:val="centerGroup"/>
                    </m:oMathParaPr>
                    <m:oMath xmlns:m="http://schemas.openxmlformats.org/officeDocument/2006/math">
                      <m:r>
                        <a:rPr lang="en-US" altLang="zh-CN" sz="2400" b="1" i="1" u="none" strike="noStrike" smtClean="0">
                          <a:latin typeface="Cambria Math" panose="02040503050406030204" pitchFamily="18" charset="0"/>
                          <a:ea typeface="Noto Sans SC"/>
                          <a:cs typeface="Noto Sans SC"/>
                          <a:sym typeface="Noto Sans SC"/>
                        </a:rPr>
                        <m:t>−</m:t>
                      </m:r>
                      <m:r>
                        <a:rPr lang="en-US" altLang="zh-CN" sz="2400" b="1" i="1" u="none" strike="noStrike" smtClean="0">
                          <a:latin typeface="Cambria Math" panose="02040503050406030204" pitchFamily="18" charset="0"/>
                          <a:ea typeface="Noto Sans SC"/>
                          <a:cs typeface="Noto Sans SC"/>
                          <a:sym typeface="Noto Sans SC"/>
                        </a:rPr>
                        <m:t>𝑰</m:t>
                      </m:r>
                      <m:r>
                        <a:rPr lang="en-US" altLang="zh-CN" sz="2400" b="1" i="1" u="none" strike="noStrike" smtClean="0">
                          <a:latin typeface="Cambria Math" panose="02040503050406030204" pitchFamily="18" charset="0"/>
                          <a:ea typeface="Noto Sans SC"/>
                          <a:cs typeface="Noto Sans SC"/>
                          <a:sym typeface="Noto Sans SC"/>
                        </a:rPr>
                        <m:t>∉</m:t>
                      </m:r>
                      <m:r>
                        <a:rPr lang="en-US" altLang="zh-CN" sz="2400" b="1" i="1" u="none" strike="noStrike" smtClean="0">
                          <a:latin typeface="Cambria Math" panose="02040503050406030204" pitchFamily="18" charset="0"/>
                          <a:ea typeface="Noto Sans SC"/>
                          <a:cs typeface="Noto Sans SC"/>
                          <a:sym typeface="Noto Sans SC"/>
                        </a:rPr>
                        <m:t>𝑺</m:t>
                      </m:r>
                    </m:oMath>
                  </m:oMathPara>
                </a14:m>
                <a:endParaRPr lang="en-US" altLang="zh-CN" sz="2400" b="1" i="0" u="none" strike="noStrike" dirty="0">
                  <a:ea typeface="Noto Sans SC"/>
                  <a:cs typeface="Noto Sans SC"/>
                  <a:sym typeface="Noto Sans SC"/>
                </a:endParaRPr>
              </a:p>
            </p:txBody>
          </p:sp>
        </mc:Choice>
        <mc:Fallback xmlns="">
          <p:sp>
            <p:nvSpPr>
              <p:cNvPr id="20" name="文本框 19">
                <a:extLst>
                  <a:ext uri="{FF2B5EF4-FFF2-40B4-BE49-F238E27FC236}">
                    <a16:creationId xmlns:a16="http://schemas.microsoft.com/office/drawing/2014/main" id="{C8FE9E2C-EF74-2A2E-D075-B33D9CB4B3B9}"/>
                  </a:ext>
                </a:extLst>
              </p:cNvPr>
              <p:cNvSpPr txBox="1">
                <a:spLocks noRot="1" noChangeAspect="1" noMove="1" noResize="1" noEditPoints="1" noAdjustHandles="1" noChangeArrowheads="1" noChangeShapeType="1" noTextEdit="1"/>
              </p:cNvSpPr>
              <p:nvPr/>
            </p:nvSpPr>
            <p:spPr>
              <a:xfrm>
                <a:off x="10032281" y="4308283"/>
                <a:ext cx="1574074" cy="524439"/>
              </a:xfrm>
              <a:prstGeom prst="rect">
                <a:avLst/>
              </a:prstGeom>
              <a:blipFill>
                <a:blip r:embed="rId9"/>
                <a:stretch>
                  <a:fillRect t="-2326" b="-209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38120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9546A-2CBE-59A6-C261-467446DA9E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654040-D654-6E63-3152-AD3758B22670}"/>
              </a:ext>
            </a:extLst>
          </p:cNvPr>
          <p:cNvSpPr txBox="1"/>
          <p:nvPr/>
        </p:nvSpPr>
        <p:spPr>
          <a:xfrm>
            <a:off x="762000" y="635000"/>
            <a:ext cx="10668000" cy="571500"/>
          </a:xfrm>
          <a:prstGeom prst="rect">
            <a:avLst/>
          </a:prstGeom>
          <a:noFill/>
        </p:spPr>
        <p:txBody>
          <a:bodyPr wrap="square">
            <a:spAutoFit/>
          </a:bodyPr>
          <a:lstStyle/>
          <a:p>
            <a:pPr algn="l"/>
            <a:r>
              <a:rPr sz="3200" b="1">
                <a:solidFill>
                  <a:srgbClr val="333333"/>
                </a:solidFill>
                <a:latin typeface="Noto Sans SC"/>
              </a:rPr>
              <a:t>04  稳定子</a:t>
            </a:r>
          </a:p>
        </p:txBody>
      </p:sp>
      <p:sp>
        <p:nvSpPr>
          <p:cNvPr id="3" name="TextBox 2">
            <a:extLst>
              <a:ext uri="{FF2B5EF4-FFF2-40B4-BE49-F238E27FC236}">
                <a16:creationId xmlns:a16="http://schemas.microsoft.com/office/drawing/2014/main" id="{81D388A5-9141-369C-54A2-C059C6459760}"/>
              </a:ext>
            </a:extLst>
          </p:cNvPr>
          <p:cNvSpPr txBox="1"/>
          <p:nvPr/>
        </p:nvSpPr>
        <p:spPr>
          <a:xfrm>
            <a:off x="762000" y="1397000"/>
            <a:ext cx="10668000" cy="444500"/>
          </a:xfrm>
          <a:prstGeom prst="rect">
            <a:avLst/>
          </a:prstGeom>
          <a:noFill/>
        </p:spPr>
        <p:txBody>
          <a:bodyPr wrap="square">
            <a:spAutoFit/>
          </a:bodyPr>
          <a:lstStyle/>
          <a:p>
            <a:r>
              <a:rPr sz="2200" b="1" dirty="0">
                <a:solidFill>
                  <a:srgbClr val="666666"/>
                </a:solidFill>
                <a:latin typeface="Noto Sans SC"/>
              </a:rPr>
              <a:t>4.</a:t>
            </a:r>
            <a:r>
              <a:rPr lang="en-US" sz="2200" b="1" dirty="0">
                <a:solidFill>
                  <a:srgbClr val="666666"/>
                </a:solidFill>
                <a:latin typeface="Noto Sans SC"/>
              </a:rPr>
              <a:t>6</a:t>
            </a:r>
            <a:r>
              <a:rPr sz="2200" b="1" dirty="0">
                <a:solidFill>
                  <a:srgbClr val="666666"/>
                </a:solidFill>
                <a:latin typeface="Noto Sans SC"/>
              </a:rPr>
              <a:t> </a:t>
            </a:r>
            <a:r>
              <a:rPr lang="zh-CN" altLang="en-US" sz="2200" b="1" dirty="0">
                <a:solidFill>
                  <a:srgbClr val="666666"/>
                </a:solidFill>
                <a:latin typeface="Noto Sans SC"/>
              </a:rPr>
              <a:t>稳定子定义及其相关性质</a:t>
            </a:r>
            <a:endParaRPr sz="2200" b="1" dirty="0">
              <a:solidFill>
                <a:srgbClr val="666666"/>
              </a:solidFill>
              <a:latin typeface="Noto Sans SC"/>
            </a:endParaRPr>
          </a:p>
        </p:txBody>
      </p:sp>
      <p:cxnSp>
        <p:nvCxnSpPr>
          <p:cNvPr id="8" name="直接连接符 7">
            <a:extLst>
              <a:ext uri="{FF2B5EF4-FFF2-40B4-BE49-F238E27FC236}">
                <a16:creationId xmlns:a16="http://schemas.microsoft.com/office/drawing/2014/main" id="{70D1A6F2-55A8-F1B0-B2EB-4A9568BAAB5C}"/>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AutoShape 11">
                <a:extLst>
                  <a:ext uri="{FF2B5EF4-FFF2-40B4-BE49-F238E27FC236}">
                    <a16:creationId xmlns:a16="http://schemas.microsoft.com/office/drawing/2014/main" id="{E991B5D3-854E-4F62-D67A-FFF7FB91EC0F}"/>
                  </a:ext>
                </a:extLst>
              </p:cNvPr>
              <p:cNvSpPr/>
              <p:nvPr/>
            </p:nvSpPr>
            <p:spPr>
              <a:xfrm>
                <a:off x="713883" y="2201090"/>
                <a:ext cx="6836445" cy="4578531"/>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r>
                  <a:rPr lang="zh-CN" altLang="en-US" b="1" i="0" u="none" strike="noStrike" dirty="0">
                    <a:ea typeface="Noto Sans SC"/>
                    <a:cs typeface="Noto Sans SC"/>
                    <a:sym typeface="Noto Sans SC"/>
                  </a:rPr>
                  <a:t>正常来讲 </a:t>
                </a:r>
                <a14:m>
                  <m:oMath xmlns:m="http://schemas.openxmlformats.org/officeDocument/2006/math">
                    <m:r>
                      <a:rPr lang="en-US" altLang="zh-CN" b="1" i="1" u="none" strike="noStrike" smtClean="0">
                        <a:latin typeface="Cambria Math" panose="02040503050406030204" pitchFamily="18" charset="0"/>
                        <a:ea typeface="Noto Sans SC"/>
                        <a:cs typeface="Noto Sans SC"/>
                        <a:sym typeface="Noto Sans SC"/>
                      </a:rPr>
                      <m:t>𝑻</m:t>
                    </m:r>
                    <m:r>
                      <a:rPr lang="en-US" altLang="zh-CN" b="1" i="1" u="none" strike="noStrike" smtClean="0">
                        <a:latin typeface="Cambria Math" panose="02040503050406030204" pitchFamily="18" charset="0"/>
                        <a:ea typeface="Noto Sans SC"/>
                        <a:cs typeface="Noto Sans SC"/>
                        <a:sym typeface="Noto Sans SC"/>
                      </a:rPr>
                      <m:t>⊆</m:t>
                    </m:r>
                    <m:r>
                      <a:rPr lang="en-US" altLang="zh-CN" b="1" i="1" u="none" strike="noStrike" smtClean="0">
                        <a:latin typeface="Cambria Math" panose="02040503050406030204" pitchFamily="18" charset="0"/>
                        <a:ea typeface="Noto Sans SC"/>
                        <a:cs typeface="Noto Sans SC"/>
                        <a:sym typeface="Noto Sans SC"/>
                      </a:rPr>
                      <m:t>𝓣</m:t>
                    </m:r>
                    <m:r>
                      <a:rPr lang="en-US" altLang="zh-CN" b="1" i="1" u="none" strike="noStrike" smtClean="0">
                        <a:latin typeface="Cambria Math" panose="02040503050406030204" pitchFamily="18" charset="0"/>
                        <a:ea typeface="Noto Sans SC"/>
                        <a:cs typeface="Noto Sans SC"/>
                        <a:sym typeface="Noto Sans SC"/>
                      </a:rPr>
                      <m:t>(</m:t>
                    </m:r>
                    <m:r>
                      <a:rPr lang="en-US" altLang="zh-CN" b="1" i="0" u="none" strike="noStrike" smtClean="0">
                        <a:latin typeface="Cambria Math" panose="02040503050406030204" pitchFamily="18" charset="0"/>
                        <a:ea typeface="Noto Sans SC"/>
                        <a:cs typeface="Noto Sans SC"/>
                        <a:sym typeface="Noto Sans SC"/>
                      </a:rPr>
                      <m:t>𝐒</m:t>
                    </m:r>
                    <m:r>
                      <a:rPr lang="en-US" altLang="zh-CN" b="1" i="1" u="none" strike="noStrike" smtClean="0">
                        <a:latin typeface="Cambria Math" panose="02040503050406030204" pitchFamily="18" charset="0"/>
                        <a:ea typeface="Noto Sans SC"/>
                        <a:cs typeface="Noto Sans SC"/>
                        <a:sym typeface="Noto Sans SC"/>
                      </a:rPr>
                      <m:t>(</m:t>
                    </m:r>
                    <m:r>
                      <a:rPr lang="en-US" altLang="zh-CN" b="1" i="1" u="none" strike="noStrike" smtClean="0">
                        <a:latin typeface="Cambria Math" panose="02040503050406030204" pitchFamily="18" charset="0"/>
                        <a:ea typeface="Noto Sans SC"/>
                        <a:cs typeface="Noto Sans SC"/>
                        <a:sym typeface="Noto Sans SC"/>
                      </a:rPr>
                      <m:t>𝑻</m:t>
                    </m:r>
                    <m:r>
                      <a:rPr lang="en-US" altLang="zh-CN" b="1" i="1" u="none" strike="noStrike" smtClean="0">
                        <a:latin typeface="Cambria Math" panose="02040503050406030204" pitchFamily="18" charset="0"/>
                        <a:ea typeface="Noto Sans SC"/>
                        <a:cs typeface="Noto Sans SC"/>
                        <a:sym typeface="Noto Sans SC"/>
                      </a:rPr>
                      <m:t>))</m:t>
                    </m:r>
                  </m:oMath>
                </a14:m>
                <a:r>
                  <a:rPr lang="zh-CN" altLang="en-US" b="1" i="0" u="none" strike="noStrike" dirty="0">
                    <a:ea typeface="Noto Sans SC"/>
                    <a:cs typeface="Noto Sans SC"/>
                    <a:sym typeface="Noto Sans SC"/>
                  </a:rPr>
                  <a:t>，但是当</a:t>
                </a:r>
                <a14:m>
                  <m:oMath xmlns:m="http://schemas.openxmlformats.org/officeDocument/2006/math">
                    <m:r>
                      <a:rPr lang="en-US" altLang="zh-CN" b="1" i="0" u="none" strike="noStrike" smtClean="0">
                        <a:latin typeface="Cambria Math" panose="02040503050406030204" pitchFamily="18" charset="0"/>
                        <a:ea typeface="Noto Sans SC"/>
                        <a:cs typeface="Noto Sans SC"/>
                        <a:sym typeface="Noto Sans SC"/>
                      </a:rPr>
                      <m:t> </m:t>
                    </m:r>
                    <m:r>
                      <a:rPr lang="en-US" altLang="zh-CN" b="1" i="1" u="none" strike="noStrike" smtClean="0">
                        <a:latin typeface="Cambria Math" panose="02040503050406030204" pitchFamily="18" charset="0"/>
                        <a:ea typeface="Noto Sans SC"/>
                        <a:cs typeface="Noto Sans SC"/>
                        <a:sym typeface="Noto Sans SC"/>
                      </a:rPr>
                      <m:t>𝑻</m:t>
                    </m:r>
                    <m:r>
                      <a:rPr lang="en-US" altLang="zh-CN" b="1" i="1" u="none" strike="noStrike" smtClean="0">
                        <a:latin typeface="Cambria Math" panose="02040503050406030204" pitchFamily="18" charset="0"/>
                        <a:ea typeface="Noto Sans SC"/>
                        <a:cs typeface="Noto Sans SC"/>
                        <a:sym typeface="Noto Sans SC"/>
                      </a:rPr>
                      <m:t>=</m:t>
                    </m:r>
                    <m:r>
                      <a:rPr lang="en-US" altLang="zh-CN" b="1" i="0" smtClean="0">
                        <a:latin typeface="Cambria Math" panose="02040503050406030204" pitchFamily="18" charset="0"/>
                        <a:ea typeface="Noto Sans SC"/>
                        <a:cs typeface="Noto Sans SC"/>
                        <a:sym typeface="Noto Sans SC"/>
                      </a:rPr>
                      <m:t>𝓣</m:t>
                    </m:r>
                    <m:r>
                      <a:rPr lang="en-US" altLang="zh-CN" b="1" i="0" smtClean="0">
                        <a:latin typeface="Cambria Math" panose="02040503050406030204" pitchFamily="18" charset="0"/>
                        <a:ea typeface="Noto Sans SC"/>
                        <a:cs typeface="Noto Sans SC"/>
                        <a:sym typeface="Noto Sans SC"/>
                      </a:rPr>
                      <m:t>(</m:t>
                    </m:r>
                    <m:r>
                      <a:rPr lang="en-US" altLang="zh-CN" b="1" i="0" smtClean="0">
                        <a:latin typeface="Cambria Math" panose="02040503050406030204" pitchFamily="18" charset="0"/>
                        <a:ea typeface="Noto Sans SC"/>
                        <a:cs typeface="Noto Sans SC"/>
                        <a:sym typeface="Noto Sans SC"/>
                      </a:rPr>
                      <m:t>𝐒</m:t>
                    </m:r>
                    <m:r>
                      <a:rPr lang="en-US" altLang="zh-CN" b="1" i="0" smtClean="0">
                        <a:latin typeface="Cambria Math" panose="02040503050406030204" pitchFamily="18" charset="0"/>
                        <a:ea typeface="Noto Sans SC"/>
                        <a:cs typeface="Noto Sans SC"/>
                        <a:sym typeface="Noto Sans SC"/>
                      </a:rPr>
                      <m:t>(</m:t>
                    </m:r>
                    <m:r>
                      <a:rPr lang="en-US" altLang="zh-CN" b="1" i="1" smtClean="0">
                        <a:latin typeface="Cambria Math" panose="02040503050406030204" pitchFamily="18" charset="0"/>
                        <a:ea typeface="Noto Sans SC"/>
                        <a:cs typeface="Noto Sans SC"/>
                        <a:sym typeface="Noto Sans SC"/>
                      </a:rPr>
                      <m:t>𝑻</m:t>
                    </m:r>
                    <m:r>
                      <a:rPr lang="en-US" altLang="zh-CN" b="1" i="0" smtClean="0">
                        <a:latin typeface="Cambria Math" panose="02040503050406030204" pitchFamily="18" charset="0"/>
                        <a:ea typeface="Noto Sans SC"/>
                        <a:cs typeface="Noto Sans SC"/>
                        <a:sym typeface="Noto Sans SC"/>
                      </a:rPr>
                      <m:t>)) </m:t>
                    </m:r>
                  </m:oMath>
                </a14:m>
                <a:r>
                  <a:rPr lang="zh-CN" altLang="en-US" b="1" i="0" dirty="0">
                    <a:latin typeface="Cambria Math" panose="02040503050406030204" pitchFamily="18" charset="0"/>
                    <a:ea typeface="Noto Sans SC"/>
                    <a:cs typeface="Noto Sans SC"/>
                    <a:sym typeface="Noto Sans SC"/>
                  </a:rPr>
                  <a:t>时</a:t>
                </a:r>
                <a:endParaRPr lang="en-US" altLang="zh-CN" b="1" dirty="0">
                  <a:latin typeface="Cambria Math" panose="02040503050406030204" pitchFamily="18" charset="0"/>
                  <a:ea typeface="Noto Sans SC"/>
                  <a:cs typeface="Noto Sans SC"/>
                  <a:sym typeface="Noto Sans SC"/>
                </a:endParaRPr>
              </a:p>
              <a:p>
                <a:pPr indent="0">
                  <a:lnSpc>
                    <a:spcPct val="116666"/>
                  </a:lnSpc>
                  <a:defRPr/>
                </a:pPr>
                <a:r>
                  <a:rPr lang="zh-CN" altLang="en-US" b="1" dirty="0">
                    <a:latin typeface="Cambria Math" panose="02040503050406030204" pitchFamily="18" charset="0"/>
                    <a:ea typeface="Noto Sans SC"/>
                    <a:cs typeface="Noto Sans SC"/>
                    <a:sym typeface="Noto Sans SC"/>
                  </a:rPr>
                  <a:t>此时的</a:t>
                </a:r>
                <a14:m>
                  <m:oMath xmlns:m="http://schemas.openxmlformats.org/officeDocument/2006/math">
                    <m:r>
                      <a:rPr lang="en-US" altLang="zh-CN" b="1" i="0" smtClean="0">
                        <a:latin typeface="Cambria Math" panose="02040503050406030204" pitchFamily="18" charset="0"/>
                        <a:ea typeface="Noto Sans SC"/>
                        <a:cs typeface="Noto Sans SC"/>
                        <a:sym typeface="Noto Sans SC"/>
                      </a:rPr>
                      <m:t> </m:t>
                    </m:r>
                    <m:r>
                      <a:rPr lang="en-US" altLang="zh-CN" b="1" i="1" smtClean="0">
                        <a:latin typeface="Cambria Math" panose="02040503050406030204" pitchFamily="18" charset="0"/>
                        <a:ea typeface="Noto Sans SC"/>
                        <a:cs typeface="Noto Sans SC"/>
                        <a:sym typeface="Noto Sans SC"/>
                      </a:rPr>
                      <m:t>𝑻</m:t>
                    </m:r>
                    <m:r>
                      <a:rPr lang="en-US" altLang="zh-CN" b="1" i="0" smtClean="0">
                        <a:latin typeface="Cambria Math" panose="02040503050406030204" pitchFamily="18" charset="0"/>
                        <a:ea typeface="Noto Sans SC"/>
                        <a:cs typeface="Noto Sans SC"/>
                        <a:sym typeface="Noto Sans SC"/>
                      </a:rPr>
                      <m:t> </m:t>
                    </m:r>
                  </m:oMath>
                </a14:m>
                <a:r>
                  <a:rPr lang="zh-CN" altLang="en-US" b="1" i="0" u="none" strike="noStrike" dirty="0">
                    <a:ea typeface="Noto Sans SC"/>
                    <a:cs typeface="Noto Sans SC"/>
                    <a:sym typeface="Noto Sans SC"/>
                  </a:rPr>
                  <a:t>被称作</a:t>
                </a:r>
                <a:r>
                  <a:rPr lang="zh-CN" altLang="en-US" b="1" i="0" u="none" strike="noStrike" dirty="0">
                    <a:solidFill>
                      <a:schemeClr val="accent2"/>
                    </a:solidFill>
                    <a:ea typeface="Noto Sans SC"/>
                    <a:cs typeface="Noto Sans SC"/>
                    <a:sym typeface="Noto Sans SC"/>
                  </a:rPr>
                  <a:t>稳定子码</a:t>
                </a:r>
                <a:r>
                  <a:rPr lang="en-US" altLang="zh-CN" b="1" i="0" u="none" strike="noStrike" dirty="0">
                    <a:solidFill>
                      <a:schemeClr val="accent2"/>
                    </a:solidFill>
                    <a:ea typeface="Noto Sans SC"/>
                    <a:cs typeface="Noto Sans SC"/>
                    <a:sym typeface="Noto Sans SC"/>
                  </a:rPr>
                  <a:t>(stabilizer code)</a:t>
                </a:r>
              </a:p>
              <a:p>
                <a:pPr indent="0">
                  <a:lnSpc>
                    <a:spcPct val="116666"/>
                  </a:lnSpc>
                  <a:defRPr/>
                </a:pPr>
                <a:endParaRPr lang="en-US" altLang="zh-CN" b="1" i="0" u="none" strike="noStrike" dirty="0">
                  <a:solidFill>
                    <a:schemeClr val="accent2"/>
                  </a:solidFill>
                  <a:ea typeface="Noto Sans SC"/>
                  <a:cs typeface="Noto Sans SC"/>
                  <a:sym typeface="Noto Sans SC"/>
                </a:endParaRPr>
              </a:p>
              <a:p>
                <a:pPr indent="0">
                  <a:lnSpc>
                    <a:spcPct val="116666"/>
                  </a:lnSpc>
                  <a:defRPr/>
                </a:pPr>
                <a:r>
                  <a:rPr lang="zh-CN" altLang="en-US" b="1" i="0" u="none" strike="noStrike" dirty="0">
                    <a:ea typeface="Noto Sans SC"/>
                    <a:cs typeface="Noto Sans SC"/>
                    <a:sym typeface="Noto Sans SC"/>
                  </a:rPr>
                  <a:t>并且当一个纠错码</a:t>
                </a:r>
                <a:r>
                  <a:rPr lang="zh-CN" altLang="en-US" b="1" i="0" u="none" strike="noStrike" dirty="0">
                    <a:solidFill>
                      <a:schemeClr val="accent2"/>
                    </a:solidFill>
                    <a:ea typeface="Noto Sans SC"/>
                    <a:cs typeface="Noto Sans SC"/>
                    <a:sym typeface="Noto Sans SC"/>
                  </a:rPr>
                  <a:t>从稳定子直接获得时</a:t>
                </a:r>
                <a:r>
                  <a:rPr lang="zh-CN" altLang="en-US" b="1" i="0" u="none" strike="noStrike" dirty="0">
                    <a:ea typeface="Noto Sans SC"/>
                    <a:cs typeface="Noto Sans SC"/>
                    <a:sym typeface="Noto Sans SC"/>
                  </a:rPr>
                  <a:t>其</a:t>
                </a:r>
                <a:r>
                  <a:rPr lang="zh-CN" altLang="en-US" b="1" i="0" u="none" strike="noStrike" dirty="0">
                    <a:solidFill>
                      <a:schemeClr val="accent2"/>
                    </a:solidFill>
                    <a:ea typeface="Noto Sans SC"/>
                    <a:cs typeface="Noto Sans SC"/>
                    <a:sym typeface="Noto Sans SC"/>
                  </a:rPr>
                  <a:t>总能是稳定子码</a:t>
                </a:r>
                <a:endParaRPr lang="en-US" altLang="zh-CN" b="1" i="0" u="none" strike="noStrike" dirty="0">
                  <a:solidFill>
                    <a:schemeClr val="accent2"/>
                  </a:solidFill>
                  <a:ea typeface="Noto Sans SC"/>
                  <a:cs typeface="Noto Sans SC"/>
                  <a:sym typeface="Noto Sans SC"/>
                </a:endParaRPr>
              </a:p>
              <a:p>
                <a:pPr indent="0">
                  <a:lnSpc>
                    <a:spcPct val="116666"/>
                  </a:lnSpc>
                  <a:defRPr/>
                </a:pPr>
                <a:r>
                  <a:rPr lang="zh-CN" altLang="en-US" b="1" dirty="0">
                    <a:ea typeface="Noto Sans SC"/>
                    <a:cs typeface="Noto Sans SC"/>
                    <a:sym typeface="Noto Sans SC"/>
                  </a:rPr>
                  <a:t>换句话说，我们确实可以从稳定子出发直接获得稳定子码</a:t>
                </a:r>
                <a:endParaRPr lang="en-US" altLang="zh-CN" b="1" dirty="0">
                  <a:ea typeface="Noto Sans SC"/>
                  <a:cs typeface="Noto Sans SC"/>
                  <a:sym typeface="Noto Sans SC"/>
                </a:endParaRPr>
              </a:p>
              <a:p>
                <a:pPr indent="0">
                  <a:lnSpc>
                    <a:spcPct val="116666"/>
                  </a:lnSpc>
                  <a:defRPr/>
                </a:pPr>
                <a:endParaRPr lang="en-US" altLang="zh-CN" b="1" i="0" u="none" strike="noStrike" dirty="0">
                  <a:ea typeface="Noto Sans SC"/>
                  <a:cs typeface="Noto Sans SC"/>
                  <a:sym typeface="Noto Sans SC"/>
                </a:endParaRPr>
              </a:p>
              <a:p>
                <a:pPr indent="0">
                  <a:lnSpc>
                    <a:spcPct val="116666"/>
                  </a:lnSpc>
                  <a:defRPr/>
                </a:pPr>
                <a:r>
                  <a:rPr lang="zh-CN" altLang="en-US" b="1" dirty="0">
                    <a:ea typeface="Noto Sans SC"/>
                    <a:cs typeface="Noto Sans SC"/>
                    <a:sym typeface="Noto Sans SC"/>
                  </a:rPr>
                  <a:t>接下来再给出生成元的特点</a:t>
                </a:r>
                <a:endParaRPr lang="en-US" altLang="zh-CN" b="1" dirty="0">
                  <a:ea typeface="Noto Sans SC"/>
                  <a:cs typeface="Noto Sans SC"/>
                  <a:sym typeface="Noto Sans SC"/>
                </a:endParaRPr>
              </a:p>
              <a:p>
                <a:pPr indent="0">
                  <a:lnSpc>
                    <a:spcPct val="116666"/>
                  </a:lnSpc>
                  <a:defRPr/>
                </a:pPr>
                <a:r>
                  <a:rPr lang="zh-CN" altLang="en-US" b="1" dirty="0">
                    <a:ea typeface="Noto Sans SC"/>
                    <a:cs typeface="Noto Sans SC"/>
                    <a:sym typeface="Noto Sans SC"/>
                  </a:rPr>
                  <a:t>生成元中的算符之间相互完全独立，任意一个都无法写成剩余算符的乘积</a:t>
                </a:r>
                <a:endParaRPr lang="en-US" altLang="zh-CN" b="1" dirty="0">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r>
                  <a:rPr lang="zh-CN" altLang="en-US" b="1" dirty="0">
                    <a:ea typeface="Noto Sans SC"/>
                    <a:cs typeface="Noto Sans SC"/>
                    <a:sym typeface="Noto Sans SC"/>
                  </a:rPr>
                  <a:t>基于这一特点以及之前稳定子群的性质</a:t>
                </a:r>
                <a:endParaRPr lang="en-US" altLang="zh-CN" b="1" dirty="0">
                  <a:ea typeface="Noto Sans SC"/>
                  <a:cs typeface="Noto Sans SC"/>
                  <a:sym typeface="Noto Sans SC"/>
                </a:endParaRPr>
              </a:p>
              <a:p>
                <a:pPr indent="0">
                  <a:lnSpc>
                    <a:spcPct val="116666"/>
                  </a:lnSpc>
                  <a:defRPr/>
                </a:pPr>
                <a:r>
                  <a:rPr lang="en-US" altLang="zh-CN" b="1" dirty="0">
                    <a:ea typeface="Noto Sans SC"/>
                    <a:cs typeface="Noto Sans SC"/>
                    <a:sym typeface="Noto Sans SC"/>
                  </a:rPr>
                  <a:t>1.</a:t>
                </a:r>
                <a:r>
                  <a:rPr lang="zh-CN" altLang="en-US" b="1" dirty="0">
                    <a:ea typeface="Noto Sans SC"/>
                    <a:cs typeface="Noto Sans SC"/>
                    <a:sym typeface="Noto Sans SC"/>
                  </a:rPr>
                  <a:t>算符间相互对易 </a:t>
                </a:r>
                <a:r>
                  <a:rPr lang="en-US" altLang="zh-CN" b="1" dirty="0">
                    <a:ea typeface="Noto Sans SC"/>
                    <a:cs typeface="Noto Sans SC"/>
                    <a:sym typeface="Noto Sans SC"/>
                  </a:rPr>
                  <a:t>(</a:t>
                </a:r>
                <a:r>
                  <a:rPr lang="zh-CN" altLang="en-US" b="1" dirty="0">
                    <a:solidFill>
                      <a:schemeClr val="accent2"/>
                    </a:solidFill>
                    <a:ea typeface="Noto Sans SC"/>
                    <a:cs typeface="Noto Sans SC"/>
                    <a:sym typeface="Noto Sans SC"/>
                  </a:rPr>
                  <a:t>乘积顺序无关紧要</a:t>
                </a:r>
                <a:r>
                  <a:rPr lang="en-US" altLang="zh-CN" b="1" dirty="0">
                    <a:ea typeface="Noto Sans SC"/>
                    <a:cs typeface="Noto Sans SC"/>
                    <a:sym typeface="Noto Sans SC"/>
                  </a:rPr>
                  <a:t>)</a:t>
                </a:r>
              </a:p>
              <a:p>
                <a:pPr indent="0">
                  <a:lnSpc>
                    <a:spcPct val="116666"/>
                  </a:lnSpc>
                  <a:defRPr/>
                </a:pPr>
                <a:r>
                  <a:rPr lang="en-US" altLang="zh-CN" b="1" dirty="0">
                    <a:ea typeface="Noto Sans SC"/>
                    <a:cs typeface="Noto Sans SC"/>
                    <a:sym typeface="Noto Sans SC"/>
                  </a:rPr>
                  <a:t>2.</a:t>
                </a:r>
                <a:r>
                  <a:rPr lang="zh-CN" altLang="en-US" b="1" dirty="0">
                    <a:ea typeface="Noto Sans SC"/>
                    <a:cs typeface="Noto Sans SC"/>
                    <a:sym typeface="Noto Sans SC"/>
                  </a:rPr>
                  <a:t>算符自身的平方为</a:t>
                </a:r>
                <a14:m>
                  <m:oMath xmlns:m="http://schemas.openxmlformats.org/officeDocument/2006/math">
                    <m:r>
                      <a:rPr lang="en-US" altLang="zh-CN" b="1" i="1" smtClean="0">
                        <a:latin typeface="Cambria Math" panose="02040503050406030204" pitchFamily="18" charset="0"/>
                        <a:ea typeface="Noto Sans SC"/>
                        <a:cs typeface="Noto Sans SC"/>
                        <a:sym typeface="Noto Sans SC"/>
                      </a:rPr>
                      <m:t>𝑰</m:t>
                    </m:r>
                  </m:oMath>
                </a14:m>
                <a:r>
                  <a:rPr lang="en-US" altLang="zh-CN" b="1" i="1" dirty="0">
                    <a:ea typeface="Noto Sans SC"/>
                    <a:cs typeface="Noto Sans SC"/>
                    <a:sym typeface="Noto Sans SC"/>
                  </a:rPr>
                  <a:t> </a:t>
                </a:r>
                <a:r>
                  <a:rPr lang="en-US" altLang="zh-CN" b="1" dirty="0">
                    <a:ea typeface="Noto Sans SC"/>
                    <a:cs typeface="Noto Sans SC"/>
                    <a:sym typeface="Noto Sans SC"/>
                  </a:rPr>
                  <a:t>(</a:t>
                </a:r>
                <a:r>
                  <a:rPr lang="zh-CN" altLang="en-US" b="1" dirty="0">
                    <a:solidFill>
                      <a:schemeClr val="accent2"/>
                    </a:solidFill>
                    <a:ea typeface="Noto Sans SC"/>
                    <a:cs typeface="Noto Sans SC"/>
                    <a:sym typeface="Noto Sans SC"/>
                  </a:rPr>
                  <a:t>任意算符的幂次都可以收敛到</a:t>
                </a:r>
                <a:r>
                  <a:rPr lang="en-US" altLang="zh-CN" b="1" dirty="0">
                    <a:solidFill>
                      <a:schemeClr val="accent2"/>
                    </a:solidFill>
                    <a:ea typeface="Noto Sans SC"/>
                    <a:cs typeface="Noto Sans SC"/>
                    <a:sym typeface="Noto Sans SC"/>
                  </a:rPr>
                  <a:t>1</a:t>
                </a:r>
                <a:r>
                  <a:rPr lang="en-US" altLang="zh-CN" b="1" dirty="0">
                    <a:ea typeface="Noto Sans SC"/>
                    <a:cs typeface="Noto Sans SC"/>
                    <a:sym typeface="Noto Sans SC"/>
                  </a:rPr>
                  <a:t>)</a:t>
                </a:r>
              </a:p>
              <a:p>
                <a:pPr indent="0">
                  <a:lnSpc>
                    <a:spcPct val="116666"/>
                  </a:lnSpc>
                  <a:defRPr/>
                </a:pPr>
                <a:r>
                  <a:rPr lang="zh-CN" altLang="en-US" b="1" dirty="0">
                    <a:ea typeface="Noto Sans SC"/>
                    <a:cs typeface="Noto Sans SC"/>
                    <a:sym typeface="Noto Sans SC"/>
                  </a:rPr>
                  <a:t>得到了右边通过一组生成元获得稳定子群的式子</a:t>
                </a:r>
                <a:endParaRPr lang="en-US" altLang="zh-CN" b="1" dirty="0">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endParaRPr lang="en-US" altLang="zh-CN" b="1" i="0" u="none" strike="noStrike" dirty="0">
                  <a:ea typeface="Noto Sans SC"/>
                  <a:cs typeface="Noto Sans SC"/>
                  <a:sym typeface="Noto Sans SC"/>
                </a:endParaRPr>
              </a:p>
            </p:txBody>
          </p:sp>
        </mc:Choice>
        <mc:Fallback xmlns="">
          <p:sp>
            <p:nvSpPr>
              <p:cNvPr id="5" name="AutoShape 11">
                <a:extLst>
                  <a:ext uri="{FF2B5EF4-FFF2-40B4-BE49-F238E27FC236}">
                    <a16:creationId xmlns:a16="http://schemas.microsoft.com/office/drawing/2014/main" id="{E991B5D3-854E-4F62-D67A-FFF7FB91EC0F}"/>
                  </a:ext>
                </a:extLst>
              </p:cNvPr>
              <p:cNvSpPr>
                <a:spLocks noRot="1" noChangeAspect="1" noMove="1" noResize="1" noEditPoints="1" noAdjustHandles="1" noChangeArrowheads="1" noChangeShapeType="1" noTextEdit="1"/>
              </p:cNvSpPr>
              <p:nvPr/>
            </p:nvSpPr>
            <p:spPr>
              <a:xfrm>
                <a:off x="713883" y="2201090"/>
                <a:ext cx="6836445" cy="4578531"/>
              </a:xfrm>
              <a:prstGeom prst="rect">
                <a:avLst/>
              </a:prstGeom>
              <a:blipFill>
                <a:blip r:embed="rId3"/>
                <a:stretch>
                  <a:fillRect l="-2050" t="-7324" b="-9055"/>
                </a:stretch>
              </a:blipFill>
              <a:ln w="12700" cap="flat" cmpd="sng">
                <a:noFill/>
                <a:prstDash val="solid"/>
                <a:round/>
              </a:ln>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E8F128F6-B40E-DB39-C976-3F10835A29D6}"/>
              </a:ext>
            </a:extLst>
          </p:cNvPr>
          <p:cNvPicPr>
            <a:picLocks noChangeAspect="1"/>
          </p:cNvPicPr>
          <p:nvPr/>
        </p:nvPicPr>
        <p:blipFill>
          <a:blip r:embed="rId4"/>
          <a:stretch>
            <a:fillRect/>
          </a:stretch>
        </p:blipFill>
        <p:spPr>
          <a:xfrm>
            <a:off x="7603620" y="2008092"/>
            <a:ext cx="4570963" cy="454029"/>
          </a:xfrm>
          <a:prstGeom prst="rect">
            <a:avLst/>
          </a:prstGeom>
        </p:spPr>
      </p:pic>
      <p:pic>
        <p:nvPicPr>
          <p:cNvPr id="12" name="图片 11">
            <a:extLst>
              <a:ext uri="{FF2B5EF4-FFF2-40B4-BE49-F238E27FC236}">
                <a16:creationId xmlns:a16="http://schemas.microsoft.com/office/drawing/2014/main" id="{F608A40C-E036-A5CB-167D-E636D6BE717D}"/>
              </a:ext>
            </a:extLst>
          </p:cNvPr>
          <p:cNvPicPr>
            <a:picLocks noChangeAspect="1"/>
          </p:cNvPicPr>
          <p:nvPr/>
        </p:nvPicPr>
        <p:blipFill>
          <a:blip r:embed="rId5"/>
          <a:stretch>
            <a:fillRect/>
          </a:stretch>
        </p:blipFill>
        <p:spPr>
          <a:xfrm>
            <a:off x="8903638" y="1551657"/>
            <a:ext cx="1853625" cy="389576"/>
          </a:xfrm>
          <a:prstGeom prst="rect">
            <a:avLst/>
          </a:prstGeom>
        </p:spPr>
      </p:pic>
      <p:pic>
        <p:nvPicPr>
          <p:cNvPr id="16" name="图片 15">
            <a:extLst>
              <a:ext uri="{FF2B5EF4-FFF2-40B4-BE49-F238E27FC236}">
                <a16:creationId xmlns:a16="http://schemas.microsoft.com/office/drawing/2014/main" id="{B2EC5ACC-B5AC-BF5C-99C2-E3BF8E71EE4C}"/>
              </a:ext>
            </a:extLst>
          </p:cNvPr>
          <p:cNvPicPr>
            <a:picLocks noChangeAspect="1"/>
          </p:cNvPicPr>
          <p:nvPr/>
        </p:nvPicPr>
        <p:blipFill>
          <a:blip r:embed="rId6"/>
          <a:stretch>
            <a:fillRect/>
          </a:stretch>
        </p:blipFill>
        <p:spPr>
          <a:xfrm>
            <a:off x="7597134" y="2923712"/>
            <a:ext cx="4627528" cy="644869"/>
          </a:xfrm>
          <a:prstGeom prst="rect">
            <a:avLst/>
          </a:prstGeom>
        </p:spPr>
      </p:pic>
      <p:pic>
        <p:nvPicPr>
          <p:cNvPr id="18" name="图片 17">
            <a:extLst>
              <a:ext uri="{FF2B5EF4-FFF2-40B4-BE49-F238E27FC236}">
                <a16:creationId xmlns:a16="http://schemas.microsoft.com/office/drawing/2014/main" id="{9462F8DE-D22A-6C16-4290-43F42FAB599D}"/>
              </a:ext>
            </a:extLst>
          </p:cNvPr>
          <p:cNvPicPr>
            <a:picLocks noChangeAspect="1"/>
          </p:cNvPicPr>
          <p:nvPr/>
        </p:nvPicPr>
        <p:blipFill>
          <a:blip r:embed="rId7"/>
          <a:stretch>
            <a:fillRect/>
          </a:stretch>
        </p:blipFill>
        <p:spPr>
          <a:xfrm>
            <a:off x="9162287" y="2480985"/>
            <a:ext cx="941838" cy="467324"/>
          </a:xfrm>
          <a:prstGeom prst="rect">
            <a:avLst/>
          </a:prstGeom>
        </p:spPr>
      </p:pic>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2EEF9C8-5DF4-6F23-5DE6-19CC5BDC6E7C}"/>
                  </a:ext>
                </a:extLst>
              </p:cNvPr>
              <p:cNvSpPr txBox="1"/>
              <p:nvPr/>
            </p:nvSpPr>
            <p:spPr>
              <a:xfrm>
                <a:off x="10032281" y="2453365"/>
                <a:ext cx="1574074" cy="524439"/>
              </a:xfrm>
              <a:prstGeom prst="rect">
                <a:avLst/>
              </a:prstGeom>
              <a:noFill/>
            </p:spPr>
            <p:txBody>
              <a:bodyPr wrap="square">
                <a:spAutoFit/>
              </a:bodyPr>
              <a:lstStyle/>
              <a:p>
                <a:pPr indent="0">
                  <a:lnSpc>
                    <a:spcPct val="116666"/>
                  </a:lnSpc>
                  <a:defRPr/>
                </a:pPr>
                <a14:m>
                  <m:oMathPara xmlns:m="http://schemas.openxmlformats.org/officeDocument/2006/math">
                    <m:oMathParaPr>
                      <m:jc m:val="centerGroup"/>
                    </m:oMathParaPr>
                    <m:oMath xmlns:m="http://schemas.openxmlformats.org/officeDocument/2006/math">
                      <m:r>
                        <a:rPr lang="en-US" altLang="zh-CN" sz="2400" b="1" i="1" u="none" strike="noStrike" smtClean="0">
                          <a:latin typeface="Cambria Math" panose="02040503050406030204" pitchFamily="18" charset="0"/>
                          <a:ea typeface="Noto Sans SC"/>
                          <a:cs typeface="Noto Sans SC"/>
                          <a:sym typeface="Noto Sans SC"/>
                        </a:rPr>
                        <m:t>−</m:t>
                      </m:r>
                      <m:r>
                        <a:rPr lang="en-US" altLang="zh-CN" sz="2400" b="1" i="1" u="none" strike="noStrike" smtClean="0">
                          <a:latin typeface="Cambria Math" panose="02040503050406030204" pitchFamily="18" charset="0"/>
                          <a:ea typeface="Noto Sans SC"/>
                          <a:cs typeface="Noto Sans SC"/>
                          <a:sym typeface="Noto Sans SC"/>
                        </a:rPr>
                        <m:t>𝑰</m:t>
                      </m:r>
                      <m:r>
                        <a:rPr lang="en-US" altLang="zh-CN" sz="2400" b="1" i="1" u="none" strike="noStrike" smtClean="0">
                          <a:latin typeface="Cambria Math" panose="02040503050406030204" pitchFamily="18" charset="0"/>
                          <a:ea typeface="Noto Sans SC"/>
                          <a:cs typeface="Noto Sans SC"/>
                          <a:sym typeface="Noto Sans SC"/>
                        </a:rPr>
                        <m:t>∉</m:t>
                      </m:r>
                      <m:r>
                        <a:rPr lang="en-US" altLang="zh-CN" sz="2400" b="1" i="0" u="none" strike="noStrike" smtClean="0">
                          <a:latin typeface="Cambria Math" panose="02040503050406030204" pitchFamily="18" charset="0"/>
                          <a:ea typeface="Noto Sans SC"/>
                          <a:cs typeface="Noto Sans SC"/>
                          <a:sym typeface="Noto Sans SC"/>
                        </a:rPr>
                        <m:t>𝐒</m:t>
                      </m:r>
                    </m:oMath>
                  </m:oMathPara>
                </a14:m>
                <a:endParaRPr lang="en-US" altLang="zh-CN" sz="2400" b="1" u="none" strike="noStrike" dirty="0">
                  <a:ea typeface="Noto Sans SC"/>
                  <a:cs typeface="Noto Sans SC"/>
                  <a:sym typeface="Noto Sans SC"/>
                </a:endParaRPr>
              </a:p>
            </p:txBody>
          </p:sp>
        </mc:Choice>
        <mc:Fallback xmlns="">
          <p:sp>
            <p:nvSpPr>
              <p:cNvPr id="20" name="文本框 19">
                <a:extLst>
                  <a:ext uri="{FF2B5EF4-FFF2-40B4-BE49-F238E27FC236}">
                    <a16:creationId xmlns:a16="http://schemas.microsoft.com/office/drawing/2014/main" id="{C2EEF9C8-5DF4-6F23-5DE6-19CC5BDC6E7C}"/>
                  </a:ext>
                </a:extLst>
              </p:cNvPr>
              <p:cNvSpPr txBox="1">
                <a:spLocks noRot="1" noChangeAspect="1" noMove="1" noResize="1" noEditPoints="1" noAdjustHandles="1" noChangeArrowheads="1" noChangeShapeType="1" noTextEdit="1"/>
              </p:cNvSpPr>
              <p:nvPr/>
            </p:nvSpPr>
            <p:spPr>
              <a:xfrm>
                <a:off x="10032281" y="2453365"/>
                <a:ext cx="1574074" cy="524439"/>
              </a:xfrm>
              <a:prstGeom prst="rect">
                <a:avLst/>
              </a:prstGeom>
              <a:blipFill>
                <a:blip r:embed="rId8"/>
                <a:stretch>
                  <a:fillRect t="-2326" b="-20930"/>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1F2502E7-64B6-1C17-DF05-FADD7FA4C344}"/>
              </a:ext>
            </a:extLst>
          </p:cNvPr>
          <p:cNvPicPr>
            <a:picLocks noChangeAspect="1"/>
          </p:cNvPicPr>
          <p:nvPr/>
        </p:nvPicPr>
        <p:blipFill>
          <a:blip r:embed="rId9"/>
          <a:stretch>
            <a:fillRect/>
          </a:stretch>
        </p:blipFill>
        <p:spPr>
          <a:xfrm>
            <a:off x="8178472" y="4446327"/>
            <a:ext cx="3372321" cy="1152686"/>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C3975C3-5E29-7135-89A3-F95D0060F9C4}"/>
                  </a:ext>
                </a:extLst>
              </p:cNvPr>
              <p:cNvSpPr txBox="1"/>
              <p:nvPr/>
            </p:nvSpPr>
            <p:spPr>
              <a:xfrm>
                <a:off x="8223068" y="4059282"/>
                <a:ext cx="1878784" cy="1107996"/>
              </a:xfrm>
              <a:prstGeom prst="rect">
                <a:avLst/>
              </a:prstGeom>
              <a:noFill/>
            </p:spPr>
            <p:txBody>
              <a:bodyPr wrap="none" lIns="0" tIns="0" rIns="0" bIns="0" rtlCol="0">
                <a:spAutoFit/>
              </a:bodyPr>
              <a:lstStyle/>
              <a:p>
                <a:r>
                  <a:rPr lang="zh-CN" altLang="en-US" b="1" dirty="0"/>
                  <a:t>生成元</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i="1">
                            <a:latin typeface="Cambria Math" panose="02040503050406030204" pitchFamily="18" charset="0"/>
                          </a:rPr>
                          <m:t>𝑟</m:t>
                        </m:r>
                      </m:sub>
                    </m:sSub>
                    <m:r>
                      <a:rPr lang="en-US" altLang="zh-CN" b="0" i="1" smtClean="0">
                        <a:latin typeface="Cambria Math" panose="02040503050406030204" pitchFamily="18" charset="0"/>
                      </a:rPr>
                      <m:t>}</m:t>
                    </m:r>
                  </m:oMath>
                </a14:m>
                <a:endParaRPr lang="en-US" altLang="zh-CN" dirty="0"/>
              </a:p>
              <a:p>
                <a:endParaRPr lang="en-US" altLang="zh-CN" b="0" dirty="0"/>
              </a:p>
              <a:p>
                <a:endParaRPr lang="en-US" altLang="zh-CN" b="0" dirty="0"/>
              </a:p>
              <a:p>
                <a:endParaRPr lang="zh-CN" altLang="en-US" dirty="0"/>
              </a:p>
            </p:txBody>
          </p:sp>
        </mc:Choice>
        <mc:Fallback xmlns="">
          <p:sp>
            <p:nvSpPr>
              <p:cNvPr id="11" name="文本框 10">
                <a:extLst>
                  <a:ext uri="{FF2B5EF4-FFF2-40B4-BE49-F238E27FC236}">
                    <a16:creationId xmlns:a16="http://schemas.microsoft.com/office/drawing/2014/main" id="{9C3975C3-5E29-7135-89A3-F95D0060F9C4}"/>
                  </a:ext>
                </a:extLst>
              </p:cNvPr>
              <p:cNvSpPr txBox="1">
                <a:spLocks noRot="1" noChangeAspect="1" noMove="1" noResize="1" noEditPoints="1" noAdjustHandles="1" noChangeArrowheads="1" noChangeShapeType="1" noTextEdit="1"/>
              </p:cNvSpPr>
              <p:nvPr/>
            </p:nvSpPr>
            <p:spPr>
              <a:xfrm>
                <a:off x="8223068" y="4059282"/>
                <a:ext cx="1878784" cy="1107996"/>
              </a:xfrm>
              <a:prstGeom prst="rect">
                <a:avLst/>
              </a:prstGeom>
              <a:blipFill>
                <a:blip r:embed="rId10"/>
                <a:stretch>
                  <a:fillRect l="-7792" t="-7143" r="-55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7136B6F-A11B-BBDB-10AF-18EB19AEACDA}"/>
                  </a:ext>
                </a:extLst>
              </p:cNvPr>
              <p:cNvSpPr txBox="1"/>
              <p:nvPr/>
            </p:nvSpPr>
            <p:spPr>
              <a:xfrm>
                <a:off x="10365378" y="4020095"/>
                <a:ext cx="1004699" cy="853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∈{0, 1}</m:t>
                      </m:r>
                    </m:oMath>
                  </m:oMathPara>
                </a14:m>
                <a:endParaRPr lang="en-US" altLang="zh-CN" b="0" i="1" dirty="0"/>
              </a:p>
              <a:p>
                <a:endParaRPr lang="en-US" altLang="zh-CN" b="0" i="1" dirty="0"/>
              </a:p>
              <a:p>
                <a:r>
                  <a:rPr lang="en-US" altLang="zh-CN" i="1" dirty="0"/>
                  <a:t> </a:t>
                </a:r>
                <a:endParaRPr lang="zh-CN" altLang="en-US" i="1" dirty="0"/>
              </a:p>
            </p:txBody>
          </p:sp>
        </mc:Choice>
        <mc:Fallback xmlns="">
          <p:sp>
            <p:nvSpPr>
              <p:cNvPr id="13" name="文本框 12">
                <a:extLst>
                  <a:ext uri="{FF2B5EF4-FFF2-40B4-BE49-F238E27FC236}">
                    <a16:creationId xmlns:a16="http://schemas.microsoft.com/office/drawing/2014/main" id="{B7136B6F-A11B-BBDB-10AF-18EB19AEACDA}"/>
                  </a:ext>
                </a:extLst>
              </p:cNvPr>
              <p:cNvSpPr txBox="1">
                <a:spLocks noRot="1" noChangeAspect="1" noMove="1" noResize="1" noEditPoints="1" noAdjustHandles="1" noChangeArrowheads="1" noChangeShapeType="1" noTextEdit="1"/>
              </p:cNvSpPr>
              <p:nvPr/>
            </p:nvSpPr>
            <p:spPr>
              <a:xfrm>
                <a:off x="10365378" y="4020095"/>
                <a:ext cx="1004699" cy="853311"/>
              </a:xfrm>
              <a:prstGeom prst="rect">
                <a:avLst/>
              </a:prstGeom>
              <a:blipFill>
                <a:blip r:embed="rId11"/>
                <a:stretch>
                  <a:fillRect l="-4848" r="-7879"/>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EE38F61D-AD70-9C4D-DF68-5C68A0F1A906}"/>
              </a:ext>
            </a:extLst>
          </p:cNvPr>
          <p:cNvPicPr>
            <a:picLocks noChangeAspect="1"/>
          </p:cNvPicPr>
          <p:nvPr/>
        </p:nvPicPr>
        <p:blipFill>
          <a:blip r:embed="rId12"/>
          <a:stretch>
            <a:fillRect/>
          </a:stretch>
        </p:blipFill>
        <p:spPr>
          <a:xfrm>
            <a:off x="9160913" y="5740266"/>
            <a:ext cx="1381318" cy="628738"/>
          </a:xfrm>
          <a:prstGeom prst="rect">
            <a:avLst/>
          </a:prstGeom>
        </p:spPr>
      </p:pic>
    </p:spTree>
    <p:extLst>
      <p:ext uri="{BB962C8B-B14F-4D97-AF65-F5344CB8AC3E}">
        <p14:creationId xmlns:p14="http://schemas.microsoft.com/office/powerpoint/2010/main" val="38443602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AE0F5-A3E5-6AAC-C80A-DC081F921B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387446-44BF-FF6C-6A22-CEDD88C9B3B9}"/>
              </a:ext>
            </a:extLst>
          </p:cNvPr>
          <p:cNvSpPr txBox="1"/>
          <p:nvPr/>
        </p:nvSpPr>
        <p:spPr>
          <a:xfrm>
            <a:off x="762000" y="635000"/>
            <a:ext cx="10668000" cy="571500"/>
          </a:xfrm>
          <a:prstGeom prst="rect">
            <a:avLst/>
          </a:prstGeom>
          <a:noFill/>
        </p:spPr>
        <p:txBody>
          <a:bodyPr wrap="square">
            <a:spAutoFit/>
          </a:bodyPr>
          <a:lstStyle/>
          <a:p>
            <a:pPr algn="l"/>
            <a:r>
              <a:rPr sz="3200" b="1">
                <a:solidFill>
                  <a:srgbClr val="333333"/>
                </a:solidFill>
                <a:latin typeface="Noto Sans SC"/>
              </a:rPr>
              <a:t>04  稳定子</a:t>
            </a:r>
          </a:p>
        </p:txBody>
      </p:sp>
      <p:sp>
        <p:nvSpPr>
          <p:cNvPr id="3" name="TextBox 2">
            <a:extLst>
              <a:ext uri="{FF2B5EF4-FFF2-40B4-BE49-F238E27FC236}">
                <a16:creationId xmlns:a16="http://schemas.microsoft.com/office/drawing/2014/main" id="{549E1757-D271-1A58-0851-D60D64585B51}"/>
              </a:ext>
            </a:extLst>
          </p:cNvPr>
          <p:cNvSpPr txBox="1"/>
          <p:nvPr/>
        </p:nvSpPr>
        <p:spPr>
          <a:xfrm>
            <a:off x="762000" y="1397000"/>
            <a:ext cx="10668000" cy="444500"/>
          </a:xfrm>
          <a:prstGeom prst="rect">
            <a:avLst/>
          </a:prstGeom>
          <a:noFill/>
        </p:spPr>
        <p:txBody>
          <a:bodyPr wrap="square">
            <a:spAutoFit/>
          </a:bodyPr>
          <a:lstStyle/>
          <a:p>
            <a:pPr algn="l"/>
            <a:r>
              <a:rPr sz="2200" b="1" dirty="0">
                <a:solidFill>
                  <a:srgbClr val="666666"/>
                </a:solidFill>
                <a:latin typeface="Noto Sans SC"/>
              </a:rPr>
              <a:t>4.</a:t>
            </a:r>
            <a:r>
              <a:rPr lang="en-US" sz="2200" b="1" dirty="0">
                <a:solidFill>
                  <a:srgbClr val="666666"/>
                </a:solidFill>
                <a:latin typeface="Noto Sans SC"/>
              </a:rPr>
              <a:t>7</a:t>
            </a:r>
            <a:r>
              <a:rPr sz="2200" b="1" dirty="0">
                <a:solidFill>
                  <a:srgbClr val="666666"/>
                </a:solidFill>
                <a:latin typeface="Noto Sans SC"/>
              </a:rPr>
              <a:t> </a:t>
            </a:r>
            <a:r>
              <a:rPr lang="zh-CN" altLang="en-US" sz="2200" b="1" dirty="0">
                <a:solidFill>
                  <a:srgbClr val="666666"/>
                </a:solidFill>
                <a:latin typeface="Noto Sans SC"/>
              </a:rPr>
              <a:t>投影算符</a:t>
            </a:r>
            <a:r>
              <a:rPr lang="en-US" altLang="zh-CN" sz="2200" b="1" dirty="0">
                <a:solidFill>
                  <a:srgbClr val="666666"/>
                </a:solidFill>
                <a:latin typeface="Noto Sans SC"/>
              </a:rPr>
              <a:t>——</a:t>
            </a:r>
            <a:r>
              <a:rPr lang="zh-CN" altLang="en-US" sz="2200" b="1" dirty="0">
                <a:solidFill>
                  <a:srgbClr val="666666"/>
                </a:solidFill>
                <a:latin typeface="Noto Sans SC"/>
              </a:rPr>
              <a:t>稳定子群到稳定子码的显式物理图像</a:t>
            </a:r>
            <a:endParaRPr sz="2200" b="1" dirty="0">
              <a:solidFill>
                <a:srgbClr val="666666"/>
              </a:solidFill>
              <a:latin typeface="Noto Sans SC"/>
            </a:endParaRPr>
          </a:p>
        </p:txBody>
      </p:sp>
      <p:cxnSp>
        <p:nvCxnSpPr>
          <p:cNvPr id="8" name="直接连接符 7">
            <a:extLst>
              <a:ext uri="{FF2B5EF4-FFF2-40B4-BE49-F238E27FC236}">
                <a16:creationId xmlns:a16="http://schemas.microsoft.com/office/drawing/2014/main" id="{51DD623B-19B5-CA1D-C093-405AD617ADC8}"/>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 name="AutoShape 11">
            <a:extLst>
              <a:ext uri="{FF2B5EF4-FFF2-40B4-BE49-F238E27FC236}">
                <a16:creationId xmlns:a16="http://schemas.microsoft.com/office/drawing/2014/main" id="{A2914FC1-0B56-009C-4D69-99EE3CB32BBC}"/>
              </a:ext>
            </a:extLst>
          </p:cNvPr>
          <p:cNvSpPr/>
          <p:nvPr/>
        </p:nvSpPr>
        <p:spPr>
          <a:xfrm>
            <a:off x="713883" y="2201090"/>
            <a:ext cx="6836445" cy="4578531"/>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endParaRPr lang="en-US" altLang="zh-CN" b="1" i="0" u="none" strike="noStrike" dirty="0">
              <a:ea typeface="Noto Sans SC"/>
              <a:cs typeface="Noto Sans SC"/>
              <a:sym typeface="Noto Sans SC"/>
            </a:endParaRPr>
          </a:p>
        </p:txBody>
      </p:sp>
      <p:pic>
        <p:nvPicPr>
          <p:cNvPr id="6" name="图片 5">
            <a:extLst>
              <a:ext uri="{FF2B5EF4-FFF2-40B4-BE49-F238E27FC236}">
                <a16:creationId xmlns:a16="http://schemas.microsoft.com/office/drawing/2014/main" id="{6D0A5DB0-AB69-C49F-C2AA-3F9E5CA65BD1}"/>
              </a:ext>
            </a:extLst>
          </p:cNvPr>
          <p:cNvPicPr>
            <a:picLocks noChangeAspect="1"/>
          </p:cNvPicPr>
          <p:nvPr/>
        </p:nvPicPr>
        <p:blipFill>
          <a:blip r:embed="rId3"/>
          <a:stretch>
            <a:fillRect/>
          </a:stretch>
        </p:blipFill>
        <p:spPr>
          <a:xfrm>
            <a:off x="7655917" y="311133"/>
            <a:ext cx="4627528" cy="644869"/>
          </a:xfrm>
          <a:prstGeom prst="rect">
            <a:avLst/>
          </a:prstGeom>
        </p:spPr>
      </p:pic>
      <mc:AlternateContent xmlns:mc="http://schemas.openxmlformats.org/markup-compatibility/2006" xmlns:a14="http://schemas.microsoft.com/office/drawing/2010/main">
        <mc:Choice Requires="a14">
          <p:sp>
            <p:nvSpPr>
              <p:cNvPr id="14" name="AutoShape 11">
                <a:extLst>
                  <a:ext uri="{FF2B5EF4-FFF2-40B4-BE49-F238E27FC236}">
                    <a16:creationId xmlns:a16="http://schemas.microsoft.com/office/drawing/2014/main" id="{FBDDA1F2-2619-15B9-3BCB-309EEA4155A6}"/>
                  </a:ext>
                </a:extLst>
              </p:cNvPr>
              <p:cNvSpPr/>
              <p:nvPr/>
            </p:nvSpPr>
            <p:spPr>
              <a:xfrm>
                <a:off x="735655" y="1830976"/>
                <a:ext cx="6836445" cy="4504509"/>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r>
                  <a:rPr lang="zh-CN" altLang="en-US" b="1" i="0" u="none" strike="noStrike" dirty="0">
                    <a:ea typeface="Noto Sans SC"/>
                    <a:cs typeface="Noto Sans SC"/>
                    <a:sym typeface="Noto Sans SC"/>
                  </a:rPr>
                  <a:t>在之前一小节中，我们只是非常笼统模糊的给出了从稳定子群出发获得的稳定子码的定义，</a:t>
                </a:r>
                <a:endParaRPr lang="en-US" altLang="zh-CN" b="1" i="0" u="none" strike="noStrike" dirty="0">
                  <a:ea typeface="Noto Sans SC"/>
                  <a:cs typeface="Noto Sans SC"/>
                  <a:sym typeface="Noto Sans SC"/>
                </a:endParaRPr>
              </a:p>
              <a:p>
                <a:pPr indent="0">
                  <a:lnSpc>
                    <a:spcPct val="116666"/>
                  </a:lnSpc>
                  <a:defRPr/>
                </a:pPr>
                <a:r>
                  <a:rPr lang="zh-CN" altLang="en-US" b="1" i="0" u="none" strike="noStrike" dirty="0">
                    <a:ea typeface="Noto Sans SC"/>
                    <a:cs typeface="Noto Sans SC"/>
                    <a:sym typeface="Noto Sans SC"/>
                  </a:rPr>
                  <a:t>这一节我们要借助</a:t>
                </a:r>
                <a:r>
                  <a:rPr lang="zh-CN" altLang="en-US" b="1" i="0" u="none" strike="noStrike" dirty="0">
                    <a:solidFill>
                      <a:schemeClr val="accent2"/>
                    </a:solidFill>
                    <a:ea typeface="Noto Sans SC"/>
                    <a:cs typeface="Noto Sans SC"/>
                    <a:sym typeface="Noto Sans SC"/>
                  </a:rPr>
                  <a:t>投影算符</a:t>
                </a:r>
                <a:r>
                  <a:rPr lang="zh-CN" altLang="en-US" b="1" i="0" u="none" strike="noStrike" dirty="0">
                    <a:ea typeface="Noto Sans SC"/>
                    <a:cs typeface="Noto Sans SC"/>
                    <a:sym typeface="Noto Sans SC"/>
                  </a:rPr>
                  <a:t>这一物理工具构建更加</a:t>
                </a:r>
                <a:r>
                  <a:rPr lang="zh-CN" altLang="en-US" b="1" i="0" u="none" strike="noStrike" dirty="0">
                    <a:solidFill>
                      <a:schemeClr val="accent2"/>
                    </a:solidFill>
                    <a:ea typeface="Noto Sans SC"/>
                    <a:cs typeface="Noto Sans SC"/>
                    <a:sym typeface="Noto Sans SC"/>
                  </a:rPr>
                  <a:t>直观的物理图像</a:t>
                </a:r>
                <a:r>
                  <a:rPr lang="zh-CN" altLang="en-US" b="1" i="0" u="none" strike="noStrike" dirty="0">
                    <a:ea typeface="Noto Sans SC"/>
                    <a:cs typeface="Noto Sans SC"/>
                    <a:sym typeface="Noto Sans SC"/>
                  </a:rPr>
                  <a:t>，</a:t>
                </a:r>
                <a:endParaRPr lang="en-US" altLang="zh-CN" b="1" i="0" u="none" strike="noStrike" dirty="0">
                  <a:ea typeface="Noto Sans SC"/>
                  <a:cs typeface="Noto Sans SC"/>
                  <a:sym typeface="Noto Sans SC"/>
                </a:endParaRPr>
              </a:p>
              <a:p>
                <a:pPr indent="0">
                  <a:lnSpc>
                    <a:spcPct val="116666"/>
                  </a:lnSpc>
                  <a:defRPr/>
                </a:pPr>
                <a:endParaRPr lang="en-US" altLang="zh-CN" b="1" i="0" u="none" strike="noStrike" dirty="0">
                  <a:ea typeface="Noto Sans SC"/>
                  <a:cs typeface="Noto Sans SC"/>
                  <a:sym typeface="Noto Sans SC"/>
                </a:endParaRPr>
              </a:p>
              <a:p>
                <a:pPr indent="0">
                  <a:lnSpc>
                    <a:spcPct val="116666"/>
                  </a:lnSpc>
                  <a:defRPr/>
                </a:pPr>
                <a:endParaRPr lang="en-US" altLang="zh-CN" b="1" dirty="0">
                  <a:ea typeface="Noto Sans SC"/>
                  <a:cs typeface="Noto Sans SC"/>
                  <a:sym typeface="Noto Sans SC"/>
                </a:endParaRPr>
              </a:p>
              <a:p>
                <a:pPr indent="0">
                  <a:lnSpc>
                    <a:spcPct val="116666"/>
                  </a:lnSpc>
                  <a:defRPr/>
                </a:pPr>
                <a:r>
                  <a:rPr lang="zh-CN" altLang="en-US" b="1" i="0" u="none" strike="noStrike" dirty="0">
                    <a:ea typeface="Noto Sans SC"/>
                    <a:cs typeface="Noto Sans SC"/>
                    <a:sym typeface="Noto Sans SC"/>
                  </a:rPr>
                  <a:t>投影算符实际就是一个</a:t>
                </a:r>
                <a:r>
                  <a:rPr lang="zh-CN" altLang="en-US" b="1" i="0" u="none" strike="noStrike" dirty="0">
                    <a:solidFill>
                      <a:schemeClr val="accent2"/>
                    </a:solidFill>
                    <a:ea typeface="Noto Sans SC"/>
                    <a:cs typeface="Noto Sans SC"/>
                    <a:sym typeface="Noto Sans SC"/>
                  </a:rPr>
                  <a:t>筛子</a:t>
                </a:r>
                <a:r>
                  <a:rPr lang="zh-CN" altLang="en-US" b="1" i="0" u="none" strike="noStrike" dirty="0">
                    <a:ea typeface="Noto Sans SC"/>
                    <a:cs typeface="Noto Sans SC"/>
                    <a:sym typeface="Noto Sans SC"/>
                  </a:rPr>
                  <a:t>，从完整的希尔伯特空间中筛选出稳定子码字，因此这里的孔由</a:t>
                </a:r>
                <a:r>
                  <a:rPr lang="zh-CN" altLang="en-US" b="1" i="0" u="none" strike="noStrike" dirty="0">
                    <a:solidFill>
                      <a:schemeClr val="accent2"/>
                    </a:solidFill>
                    <a:ea typeface="Noto Sans SC"/>
                    <a:cs typeface="Noto Sans SC"/>
                    <a:sym typeface="Noto Sans SC"/>
                  </a:rPr>
                  <a:t>稳定子群</a:t>
                </a:r>
                <a:r>
                  <a:rPr lang="zh-CN" altLang="en-US" b="1" i="0" u="none" strike="noStrike" dirty="0">
                    <a:ea typeface="Noto Sans SC"/>
                    <a:cs typeface="Noto Sans SC"/>
                    <a:sym typeface="Noto Sans SC"/>
                  </a:rPr>
                  <a:t>决定，为了让这个筛子简洁，我们选择</a:t>
                </a:r>
                <a:r>
                  <a:rPr lang="zh-CN" altLang="en-US" b="1" i="0" u="none" strike="noStrike" dirty="0">
                    <a:solidFill>
                      <a:schemeClr val="accent2"/>
                    </a:solidFill>
                    <a:ea typeface="Noto Sans SC"/>
                    <a:cs typeface="Noto Sans SC"/>
                    <a:sym typeface="Noto Sans SC"/>
                  </a:rPr>
                  <a:t>生成元</a:t>
                </a:r>
                <a:r>
                  <a:rPr lang="zh-CN" altLang="en-US" b="1" i="0" u="none" strike="noStrike" dirty="0">
                    <a:ea typeface="Noto Sans SC"/>
                    <a:cs typeface="Noto Sans SC"/>
                    <a:sym typeface="Noto Sans SC"/>
                  </a:rPr>
                  <a:t>来作为</a:t>
                </a:r>
                <a:r>
                  <a:rPr lang="zh-CN" altLang="en-US" b="1" i="0" u="none" strike="noStrike" dirty="0">
                    <a:solidFill>
                      <a:schemeClr val="accent2"/>
                    </a:solidFill>
                    <a:ea typeface="Noto Sans SC"/>
                    <a:cs typeface="Noto Sans SC"/>
                    <a:sym typeface="Noto Sans SC"/>
                  </a:rPr>
                  <a:t>孔</a:t>
                </a:r>
                <a:endParaRPr lang="en-US" altLang="zh-CN" b="1" i="0" u="none" strike="noStrike" dirty="0">
                  <a:solidFill>
                    <a:schemeClr val="accent2"/>
                  </a:solidFill>
                  <a:ea typeface="Noto Sans SC"/>
                  <a:cs typeface="Noto Sans SC"/>
                  <a:sym typeface="Noto Sans SC"/>
                </a:endParaRPr>
              </a:p>
              <a:p>
                <a:pPr indent="0">
                  <a:lnSpc>
                    <a:spcPct val="116666"/>
                  </a:lnSpc>
                  <a:defRPr/>
                </a:pPr>
                <a:endParaRPr lang="en-US" altLang="zh-CN" b="1" dirty="0">
                  <a:solidFill>
                    <a:schemeClr val="accent2"/>
                  </a:solidFill>
                  <a:ea typeface="Noto Sans SC"/>
                  <a:cs typeface="Noto Sans SC"/>
                  <a:sym typeface="Noto Sans SC"/>
                </a:endParaRPr>
              </a:p>
              <a:p>
                <a:pPr indent="0">
                  <a:lnSpc>
                    <a:spcPct val="116666"/>
                  </a:lnSpc>
                  <a:defRPr/>
                </a:pPr>
                <a:r>
                  <a:rPr lang="zh-CN" altLang="en-US" b="1" i="0" u="none" strike="noStrike" dirty="0">
                    <a:ea typeface="Noto Sans SC"/>
                    <a:cs typeface="Noto Sans SC"/>
                    <a:sym typeface="Noto Sans SC"/>
                  </a:rPr>
                  <a:t>先考虑只需满足</a:t>
                </a:r>
                <a:r>
                  <a:rPr lang="zh-CN" altLang="en-US" b="1" i="0" u="none" strike="noStrike" dirty="0">
                    <a:solidFill>
                      <a:schemeClr val="accent2"/>
                    </a:solidFill>
                    <a:ea typeface="Noto Sans SC"/>
                    <a:cs typeface="Noto Sans SC"/>
                    <a:sym typeface="Noto Sans SC"/>
                  </a:rPr>
                  <a:t>一个</a:t>
                </a:r>
                <a:r>
                  <a:rPr lang="zh-CN" altLang="en-US" b="1" i="0" u="none" strike="noStrike" dirty="0">
                    <a:ea typeface="Noto Sans SC"/>
                    <a:cs typeface="Noto Sans SC"/>
                    <a:sym typeface="Noto Sans SC"/>
                  </a:rPr>
                  <a:t>生成元要求的投影算符</a:t>
                </a:r>
                <a:r>
                  <a:rPr lang="en-US" altLang="zh-CN" b="1" i="0" u="none" strike="noStrike" dirty="0">
                    <a:ea typeface="Noto Sans SC"/>
                    <a:cs typeface="Noto Sans SC"/>
                    <a:sym typeface="Noto Sans SC"/>
                  </a:rPr>
                  <a:t>(</a:t>
                </a:r>
                <a14:m>
                  <m:oMath xmlns:m="http://schemas.openxmlformats.org/officeDocument/2006/math">
                    <m:sSub>
                      <m:sSubPr>
                        <m:ctrlPr>
                          <a:rPr lang="en-US" altLang="zh-CN" b="1" i="1" u="none" strike="noStrike" smtClean="0">
                            <a:latin typeface="Cambria Math" panose="02040503050406030204" pitchFamily="18" charset="0"/>
                            <a:ea typeface="Noto Sans SC"/>
                            <a:cs typeface="Noto Sans SC"/>
                            <a:sym typeface="Noto Sans SC"/>
                          </a:rPr>
                        </m:ctrlPr>
                      </m:sSubPr>
                      <m:e>
                        <m:r>
                          <a:rPr lang="en-US" altLang="zh-CN" b="1" i="1" u="none" strike="noStrike" smtClean="0">
                            <a:latin typeface="Cambria Math" panose="02040503050406030204" pitchFamily="18" charset="0"/>
                            <a:ea typeface="Noto Sans SC"/>
                            <a:cs typeface="Noto Sans SC"/>
                            <a:sym typeface="Noto Sans SC"/>
                          </a:rPr>
                          <m:t>𝑷</m:t>
                        </m:r>
                      </m:e>
                      <m:sub>
                        <m:r>
                          <a:rPr lang="en-US" altLang="zh-CN" b="1" i="1" u="none" strike="noStrike" smtClean="0">
                            <a:latin typeface="Cambria Math" panose="02040503050406030204" pitchFamily="18" charset="0"/>
                            <a:ea typeface="Noto Sans SC"/>
                            <a:cs typeface="Noto Sans SC"/>
                            <a:sym typeface="Noto Sans SC"/>
                          </a:rPr>
                          <m:t>𝒊</m:t>
                        </m:r>
                      </m:sub>
                    </m:sSub>
                  </m:oMath>
                </a14:m>
                <a:r>
                  <a:rPr lang="zh-CN" altLang="en-US" b="1" i="0" u="none" strike="noStrike" dirty="0">
                    <a:ea typeface="Noto Sans SC"/>
                    <a:cs typeface="Noto Sans SC"/>
                    <a:sym typeface="Noto Sans SC"/>
                  </a:rPr>
                  <a:t>只暂时做演示用不与泡利算符搞混</a:t>
                </a:r>
                <a:r>
                  <a:rPr lang="en-US" altLang="zh-CN" b="1" i="0" u="none" strike="noStrike" dirty="0">
                    <a:ea typeface="Noto Sans SC"/>
                    <a:cs typeface="Noto Sans SC"/>
                    <a:sym typeface="Noto Sans SC"/>
                  </a:rPr>
                  <a:t>)</a:t>
                </a:r>
                <a:r>
                  <a:rPr lang="zh-CN" altLang="en-US" b="1" i="0" u="none" strike="noStrike" dirty="0">
                    <a:ea typeface="Noto Sans SC"/>
                    <a:cs typeface="Noto Sans SC"/>
                    <a:sym typeface="Noto Sans SC"/>
                  </a:rPr>
                  <a:t>，</a:t>
                </a:r>
                <a:endParaRPr lang="en-US" altLang="zh-CN" b="1" i="0" u="none" strike="noStrike" dirty="0">
                  <a:ea typeface="Noto Sans SC"/>
                  <a:cs typeface="Noto Sans SC"/>
                  <a:sym typeface="Noto Sans SC"/>
                </a:endParaRPr>
              </a:p>
              <a:p>
                <a:pPr indent="0">
                  <a:lnSpc>
                    <a:spcPct val="116666"/>
                  </a:lnSpc>
                  <a:defRPr/>
                </a:pPr>
                <a:r>
                  <a:rPr lang="zh-CN" altLang="en-US" b="1" i="0" u="none" strike="noStrike" dirty="0">
                    <a:ea typeface="Noto Sans SC"/>
                    <a:cs typeface="Noto Sans SC"/>
                    <a:sym typeface="Noto Sans SC"/>
                  </a:rPr>
                  <a:t>再考虑同时满足</a:t>
                </a:r>
                <a:r>
                  <a:rPr lang="zh-CN" altLang="en-US" b="1" i="0" u="none" strike="noStrike" dirty="0">
                    <a:solidFill>
                      <a:schemeClr val="accent2"/>
                    </a:solidFill>
                    <a:ea typeface="Noto Sans SC"/>
                    <a:cs typeface="Noto Sans SC"/>
                    <a:sym typeface="Noto Sans SC"/>
                  </a:rPr>
                  <a:t>所有生成元</a:t>
                </a:r>
                <a:r>
                  <a:rPr lang="zh-CN" altLang="en-US" b="1" i="0" u="none" strike="noStrike" dirty="0">
                    <a:ea typeface="Noto Sans SC"/>
                    <a:cs typeface="Noto Sans SC"/>
                    <a:sym typeface="Noto Sans SC"/>
                  </a:rPr>
                  <a:t>的要求的投影算符</a:t>
                </a:r>
                <a:r>
                  <a:rPr lang="en-US" altLang="zh-CN" b="1" i="0" u="none" strike="noStrike" dirty="0">
                    <a:ea typeface="Noto Sans SC"/>
                    <a:cs typeface="Noto Sans SC"/>
                    <a:sym typeface="Noto Sans SC"/>
                  </a:rPr>
                  <a:t>(</a:t>
                </a:r>
                <a:r>
                  <a:rPr lang="zh-CN" altLang="en-US" b="1" i="0" u="none" strike="noStrike" dirty="0">
                    <a:ea typeface="Noto Sans SC"/>
                    <a:cs typeface="Noto Sans SC"/>
                    <a:sym typeface="Noto Sans SC"/>
                  </a:rPr>
                  <a:t>同样由于生成元内部的相互对易和自我平方为</a:t>
                </a:r>
                <a14:m>
                  <m:oMath xmlns:m="http://schemas.openxmlformats.org/officeDocument/2006/math">
                    <m:r>
                      <a:rPr lang="en-US" altLang="zh-CN" b="1" i="1" u="none" strike="noStrike" smtClean="0">
                        <a:latin typeface="Cambria Math" panose="02040503050406030204" pitchFamily="18" charset="0"/>
                        <a:ea typeface="Noto Sans SC"/>
                        <a:cs typeface="Noto Sans SC"/>
                        <a:sym typeface="Noto Sans SC"/>
                      </a:rPr>
                      <m:t>𝑰</m:t>
                    </m:r>
                  </m:oMath>
                </a14:m>
                <a:r>
                  <a:rPr lang="zh-CN" altLang="en-US" b="1" i="0" u="none" strike="noStrike" dirty="0">
                    <a:ea typeface="Noto Sans SC"/>
                    <a:cs typeface="Noto Sans SC"/>
                    <a:sym typeface="Noto Sans SC"/>
                  </a:rPr>
                  <a:t>使得投影算符也有右方的乘积形式</a:t>
                </a:r>
                <a:r>
                  <a:rPr lang="en-US" altLang="zh-CN" b="1" i="0" u="none" strike="noStrike" dirty="0">
                    <a:ea typeface="Noto Sans SC"/>
                    <a:cs typeface="Noto Sans SC"/>
                    <a:sym typeface="Noto Sans SC"/>
                  </a:rPr>
                  <a:t>)</a:t>
                </a:r>
              </a:p>
            </p:txBody>
          </p:sp>
        </mc:Choice>
        <mc:Fallback xmlns="">
          <p:sp>
            <p:nvSpPr>
              <p:cNvPr id="14" name="AutoShape 11">
                <a:extLst>
                  <a:ext uri="{FF2B5EF4-FFF2-40B4-BE49-F238E27FC236}">
                    <a16:creationId xmlns:a16="http://schemas.microsoft.com/office/drawing/2014/main" id="{FBDDA1F2-2619-15B9-3BCB-309EEA4155A6}"/>
                  </a:ext>
                </a:extLst>
              </p:cNvPr>
              <p:cNvSpPr>
                <a:spLocks noRot="1" noChangeAspect="1" noMove="1" noResize="1" noEditPoints="1" noAdjustHandles="1" noChangeArrowheads="1" noChangeShapeType="1" noTextEdit="1"/>
              </p:cNvSpPr>
              <p:nvPr/>
            </p:nvSpPr>
            <p:spPr>
              <a:xfrm>
                <a:off x="735655" y="1830976"/>
                <a:ext cx="6836445" cy="4504509"/>
              </a:xfrm>
              <a:prstGeom prst="rect">
                <a:avLst/>
              </a:prstGeom>
              <a:blipFill>
                <a:blip r:embed="rId4"/>
                <a:stretch>
                  <a:fillRect l="-2141" t="-947" r="-446" b="-2842"/>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EF27002-2C80-55F1-D678-A7D763316B55}"/>
                  </a:ext>
                </a:extLst>
              </p:cNvPr>
              <p:cNvSpPr txBox="1"/>
              <p:nvPr/>
            </p:nvSpPr>
            <p:spPr>
              <a:xfrm>
                <a:off x="7987937" y="1218111"/>
                <a:ext cx="1878784" cy="1107996"/>
              </a:xfrm>
              <a:prstGeom prst="rect">
                <a:avLst/>
              </a:prstGeom>
              <a:noFill/>
            </p:spPr>
            <p:txBody>
              <a:bodyPr wrap="none" lIns="0" tIns="0" rIns="0" bIns="0" rtlCol="0">
                <a:spAutoFit/>
              </a:bodyPr>
              <a:lstStyle/>
              <a:p>
                <a:r>
                  <a:rPr lang="zh-CN" altLang="en-US" b="1" dirty="0"/>
                  <a:t>生成元</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i="1">
                            <a:latin typeface="Cambria Math" panose="02040503050406030204" pitchFamily="18" charset="0"/>
                          </a:rPr>
                          <m:t>𝑟</m:t>
                        </m:r>
                      </m:sub>
                    </m:sSub>
                    <m:r>
                      <a:rPr lang="en-US" altLang="zh-CN" b="0" i="1" smtClean="0">
                        <a:latin typeface="Cambria Math" panose="02040503050406030204" pitchFamily="18" charset="0"/>
                      </a:rPr>
                      <m:t>}</m:t>
                    </m:r>
                  </m:oMath>
                </a14:m>
                <a:endParaRPr lang="en-US" altLang="zh-CN" dirty="0"/>
              </a:p>
              <a:p>
                <a:endParaRPr lang="en-US" altLang="zh-CN" b="0" dirty="0"/>
              </a:p>
              <a:p>
                <a:endParaRPr lang="en-US" altLang="zh-CN" b="0" dirty="0"/>
              </a:p>
              <a:p>
                <a:endParaRPr lang="zh-CN" altLang="en-US" dirty="0"/>
              </a:p>
            </p:txBody>
          </p:sp>
        </mc:Choice>
        <mc:Fallback xmlns="">
          <p:sp>
            <p:nvSpPr>
              <p:cNvPr id="17" name="文本框 16">
                <a:extLst>
                  <a:ext uri="{FF2B5EF4-FFF2-40B4-BE49-F238E27FC236}">
                    <a16:creationId xmlns:a16="http://schemas.microsoft.com/office/drawing/2014/main" id="{8EF27002-2C80-55F1-D678-A7D763316B55}"/>
                  </a:ext>
                </a:extLst>
              </p:cNvPr>
              <p:cNvSpPr txBox="1">
                <a:spLocks noRot="1" noChangeAspect="1" noMove="1" noResize="1" noEditPoints="1" noAdjustHandles="1" noChangeArrowheads="1" noChangeShapeType="1" noTextEdit="1"/>
              </p:cNvSpPr>
              <p:nvPr/>
            </p:nvSpPr>
            <p:spPr>
              <a:xfrm>
                <a:off x="7987937" y="1218111"/>
                <a:ext cx="1878784" cy="1107996"/>
              </a:xfrm>
              <a:prstGeom prst="rect">
                <a:avLst/>
              </a:prstGeom>
              <a:blipFill>
                <a:blip r:embed="rId5"/>
                <a:stretch>
                  <a:fillRect l="-7443" t="-7143" r="-55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082C958-D4D8-CF0F-4ADC-3F0B9332C2A3}"/>
                  </a:ext>
                </a:extLst>
              </p:cNvPr>
              <p:cNvSpPr txBox="1"/>
              <p:nvPr/>
            </p:nvSpPr>
            <p:spPr>
              <a:xfrm>
                <a:off x="8866414" y="1505494"/>
                <a:ext cx="1946174" cy="3600986"/>
              </a:xfrm>
              <a:prstGeom prst="rect">
                <a:avLst/>
              </a:prstGeom>
              <a:noFill/>
            </p:spPr>
            <p:txBody>
              <a:bodyPr wrap="none" lIns="0" tIns="0" rIns="0" bIns="0" rtlCol="0">
                <a:spAutoFit/>
              </a:bodyPr>
              <a:lstStyle/>
              <a:p>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𝐼</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i="1">
                                  <a:latin typeface="Cambria Math" panose="02040503050406030204" pitchFamily="18" charset="0"/>
                                </a:rPr>
                                <m:t>𝑖</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2</m:t>
                      </m:r>
                    </m:oMath>
                  </m:oMathPara>
                </a14:m>
                <a:endParaRPr lang="en-US" altLang="zh-CN" b="0" i="1" dirty="0">
                  <a:latin typeface="Cambria Math" panose="02040503050406030204" pitchFamily="18" charset="0"/>
                </a:endParaRPr>
              </a:p>
              <a:p>
                <a:endParaRPr lang="en-US" altLang="zh-CN"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𝑖𝑓</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𝑖</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oMath>
                  </m:oMathPara>
                </a14:m>
                <a:endParaRPr lang="en-US" altLang="zh-CN"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oMath>
                  </m:oMathPara>
                </a14:m>
                <a:endParaRPr lang="en-US" altLang="zh-CN" b="0" i="1" dirty="0">
                  <a:latin typeface="Cambria Math" panose="02040503050406030204" pitchFamily="18" charset="0"/>
                </a:endParaRPr>
              </a:p>
              <a:p>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𝑒𝑙𝑖𝑓</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𝑖</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oMath>
                  </m:oMathPara>
                </a14:m>
                <a:endParaRPr lang="en-US" altLang="zh-CN"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𝜓</m:t>
                          </m:r>
                        </m:e>
                      </m:d>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m:oMathPara>
                </a14:m>
                <a:endParaRPr lang="en-US" altLang="zh-CN" b="0" i="1" dirty="0">
                  <a:latin typeface="Cambria Math" panose="02040503050406030204" pitchFamily="18" charset="0"/>
                </a:endParaRPr>
              </a:p>
              <a:p>
                <a:endParaRPr lang="en-US" altLang="zh-CN" b="0" i="1" dirty="0">
                  <a:latin typeface="Cambria Math" panose="02040503050406030204" pitchFamily="18" charset="0"/>
                </a:endParaRPr>
              </a:p>
              <a:p>
                <a:endParaRPr lang="en-US" altLang="zh-CN" b="0" i="1" dirty="0">
                  <a:latin typeface="Cambria Math" panose="02040503050406030204" pitchFamily="18" charset="0"/>
                </a:endParaRPr>
              </a:p>
              <a:p>
                <a:endParaRPr lang="en-US" altLang="zh-CN" b="0" i="1" dirty="0">
                  <a:latin typeface="Cambria Math" panose="02040503050406030204" pitchFamily="18" charset="0"/>
                </a:endParaRPr>
              </a:p>
              <a:p>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oMath>
                  </m:oMathPara>
                </a14:m>
                <a:endParaRPr lang="zh-CN" altLang="en-US" dirty="0"/>
              </a:p>
            </p:txBody>
          </p:sp>
        </mc:Choice>
        <mc:Fallback xmlns="">
          <p:sp>
            <p:nvSpPr>
              <p:cNvPr id="19" name="文本框 18">
                <a:extLst>
                  <a:ext uri="{FF2B5EF4-FFF2-40B4-BE49-F238E27FC236}">
                    <a16:creationId xmlns:a16="http://schemas.microsoft.com/office/drawing/2014/main" id="{E082C958-D4D8-CF0F-4ADC-3F0B9332C2A3}"/>
                  </a:ext>
                </a:extLst>
              </p:cNvPr>
              <p:cNvSpPr txBox="1">
                <a:spLocks noRot="1" noChangeAspect="1" noMove="1" noResize="1" noEditPoints="1" noAdjustHandles="1" noChangeArrowheads="1" noChangeShapeType="1" noTextEdit="1"/>
              </p:cNvSpPr>
              <p:nvPr/>
            </p:nvSpPr>
            <p:spPr>
              <a:xfrm>
                <a:off x="8866414" y="1505494"/>
                <a:ext cx="1946174" cy="3600986"/>
              </a:xfrm>
              <a:prstGeom prst="rect">
                <a:avLst/>
              </a:prstGeom>
              <a:blipFill>
                <a:blip r:embed="rId6"/>
                <a:stretch>
                  <a:fillRect/>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CB61A138-DF81-02CA-337D-2A3420403AD7}"/>
              </a:ext>
            </a:extLst>
          </p:cNvPr>
          <p:cNvPicPr>
            <a:picLocks noChangeAspect="1"/>
          </p:cNvPicPr>
          <p:nvPr/>
        </p:nvPicPr>
        <p:blipFill>
          <a:blip r:embed="rId7"/>
          <a:stretch>
            <a:fillRect/>
          </a:stretch>
        </p:blipFill>
        <p:spPr>
          <a:xfrm>
            <a:off x="8445546" y="3951514"/>
            <a:ext cx="2822396" cy="1138619"/>
          </a:xfrm>
          <a:prstGeom prst="rect">
            <a:avLst/>
          </a:prstGeom>
        </p:spPr>
      </p:pic>
    </p:spTree>
    <p:extLst>
      <p:ext uri="{BB962C8B-B14F-4D97-AF65-F5344CB8AC3E}">
        <p14:creationId xmlns:p14="http://schemas.microsoft.com/office/powerpoint/2010/main" val="2657538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4467-7395-3DB9-7B6E-B7E5B7EA4F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FE203D-EE37-039C-0736-B5D5799FCFA0}"/>
              </a:ext>
            </a:extLst>
          </p:cNvPr>
          <p:cNvSpPr txBox="1"/>
          <p:nvPr/>
        </p:nvSpPr>
        <p:spPr>
          <a:xfrm>
            <a:off x="762000" y="635000"/>
            <a:ext cx="10668000" cy="571500"/>
          </a:xfrm>
          <a:prstGeom prst="rect">
            <a:avLst/>
          </a:prstGeom>
          <a:noFill/>
        </p:spPr>
        <p:txBody>
          <a:bodyPr wrap="square">
            <a:spAutoFit/>
          </a:bodyPr>
          <a:lstStyle/>
          <a:p>
            <a:pPr algn="l"/>
            <a:r>
              <a:rPr sz="3200" b="1">
                <a:solidFill>
                  <a:srgbClr val="333333"/>
                </a:solidFill>
                <a:latin typeface="Noto Sans SC"/>
              </a:rPr>
              <a:t>04  稳定子</a:t>
            </a:r>
          </a:p>
        </p:txBody>
      </p:sp>
      <p:sp>
        <p:nvSpPr>
          <p:cNvPr id="3" name="TextBox 2">
            <a:extLst>
              <a:ext uri="{FF2B5EF4-FFF2-40B4-BE49-F238E27FC236}">
                <a16:creationId xmlns:a16="http://schemas.microsoft.com/office/drawing/2014/main" id="{FA2D7338-AF23-FC6B-E654-6464679AA62E}"/>
              </a:ext>
            </a:extLst>
          </p:cNvPr>
          <p:cNvSpPr txBox="1"/>
          <p:nvPr/>
        </p:nvSpPr>
        <p:spPr>
          <a:xfrm>
            <a:off x="762000" y="1397000"/>
            <a:ext cx="10668000" cy="444500"/>
          </a:xfrm>
          <a:prstGeom prst="rect">
            <a:avLst/>
          </a:prstGeom>
          <a:noFill/>
        </p:spPr>
        <p:txBody>
          <a:bodyPr wrap="square">
            <a:spAutoFit/>
          </a:bodyPr>
          <a:lstStyle/>
          <a:p>
            <a:pPr algn="l"/>
            <a:r>
              <a:rPr sz="2200" b="1" dirty="0">
                <a:solidFill>
                  <a:srgbClr val="666666"/>
                </a:solidFill>
                <a:latin typeface="Noto Sans SC"/>
              </a:rPr>
              <a:t>4.</a:t>
            </a:r>
            <a:r>
              <a:rPr lang="en-US" sz="2200" b="1" dirty="0">
                <a:solidFill>
                  <a:srgbClr val="666666"/>
                </a:solidFill>
                <a:latin typeface="Noto Sans SC"/>
              </a:rPr>
              <a:t>7</a:t>
            </a:r>
            <a:r>
              <a:rPr sz="2200" b="1" dirty="0">
                <a:solidFill>
                  <a:srgbClr val="666666"/>
                </a:solidFill>
                <a:latin typeface="Noto Sans SC"/>
              </a:rPr>
              <a:t> </a:t>
            </a:r>
            <a:r>
              <a:rPr lang="zh-CN" altLang="en-US" sz="2200" b="1" dirty="0">
                <a:solidFill>
                  <a:srgbClr val="666666"/>
                </a:solidFill>
                <a:latin typeface="Noto Sans SC"/>
              </a:rPr>
              <a:t>投影算符</a:t>
            </a:r>
            <a:r>
              <a:rPr lang="en-US" altLang="zh-CN" sz="2200" b="1" dirty="0">
                <a:solidFill>
                  <a:srgbClr val="666666"/>
                </a:solidFill>
                <a:latin typeface="Noto Sans SC"/>
              </a:rPr>
              <a:t>——</a:t>
            </a:r>
            <a:r>
              <a:rPr lang="zh-CN" altLang="en-US" sz="2200" b="1" dirty="0">
                <a:solidFill>
                  <a:srgbClr val="666666"/>
                </a:solidFill>
                <a:latin typeface="Noto Sans SC"/>
              </a:rPr>
              <a:t>稳定子群到稳定子码的显式物理图像</a:t>
            </a:r>
            <a:endParaRPr sz="2200" b="1" dirty="0">
              <a:solidFill>
                <a:srgbClr val="666666"/>
              </a:solidFill>
              <a:latin typeface="Noto Sans SC"/>
            </a:endParaRPr>
          </a:p>
        </p:txBody>
      </p:sp>
      <p:cxnSp>
        <p:nvCxnSpPr>
          <p:cNvPr id="8" name="直接连接符 7">
            <a:extLst>
              <a:ext uri="{FF2B5EF4-FFF2-40B4-BE49-F238E27FC236}">
                <a16:creationId xmlns:a16="http://schemas.microsoft.com/office/drawing/2014/main" id="{6B8F8E46-A6C9-DC30-30A2-5579E9816754}"/>
              </a:ext>
            </a:extLst>
          </p:cNvPr>
          <p:cNvCxnSpPr/>
          <p:nvPr/>
        </p:nvCxnSpPr>
        <p:spPr>
          <a:xfrm>
            <a:off x="7534894" y="0"/>
            <a:ext cx="0" cy="6941127"/>
          </a:xfrm>
          <a:prstGeom prst="line">
            <a:avLst/>
          </a:prstGeom>
          <a:ln w="7620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 name="AutoShape 11">
            <a:extLst>
              <a:ext uri="{FF2B5EF4-FFF2-40B4-BE49-F238E27FC236}">
                <a16:creationId xmlns:a16="http://schemas.microsoft.com/office/drawing/2014/main" id="{DD1A824D-1573-AECA-D965-A45BDD126FD8}"/>
              </a:ext>
            </a:extLst>
          </p:cNvPr>
          <p:cNvSpPr/>
          <p:nvPr/>
        </p:nvSpPr>
        <p:spPr>
          <a:xfrm>
            <a:off x="713883" y="2201090"/>
            <a:ext cx="6836445" cy="4578531"/>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endParaRPr lang="en-US" altLang="zh-CN" b="1" i="0" u="none" strike="noStrike" dirty="0">
              <a:ea typeface="Noto Sans SC"/>
              <a:cs typeface="Noto Sans SC"/>
              <a:sym typeface="Noto Sans SC"/>
            </a:endParaRPr>
          </a:p>
        </p:txBody>
      </p:sp>
      <p:sp>
        <p:nvSpPr>
          <p:cNvPr id="14" name="AutoShape 11">
            <a:extLst>
              <a:ext uri="{FF2B5EF4-FFF2-40B4-BE49-F238E27FC236}">
                <a16:creationId xmlns:a16="http://schemas.microsoft.com/office/drawing/2014/main" id="{4BA99EEB-E8AF-1BE8-0662-ACCE19C5AE61}"/>
              </a:ext>
            </a:extLst>
          </p:cNvPr>
          <p:cNvSpPr/>
          <p:nvPr/>
        </p:nvSpPr>
        <p:spPr>
          <a:xfrm>
            <a:off x="735655" y="1830976"/>
            <a:ext cx="6836445" cy="4504509"/>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endParaRPr lang="en-US" altLang="zh-CN" b="1" i="0" u="none" strike="noStrike" dirty="0">
              <a:ea typeface="Noto Sans SC"/>
              <a:cs typeface="Noto Sans SC"/>
              <a:sym typeface="Noto Sans SC"/>
            </a:endParaRPr>
          </a:p>
        </p:txBody>
      </p:sp>
      <p:pic>
        <p:nvPicPr>
          <p:cNvPr id="7" name="图片 6">
            <a:extLst>
              <a:ext uri="{FF2B5EF4-FFF2-40B4-BE49-F238E27FC236}">
                <a16:creationId xmlns:a16="http://schemas.microsoft.com/office/drawing/2014/main" id="{655E9B37-0B56-DCFA-41E0-C3BC94E8A729}"/>
              </a:ext>
            </a:extLst>
          </p:cNvPr>
          <p:cNvPicPr>
            <a:picLocks noChangeAspect="1"/>
          </p:cNvPicPr>
          <p:nvPr/>
        </p:nvPicPr>
        <p:blipFill>
          <a:blip r:embed="rId3"/>
          <a:stretch>
            <a:fillRect/>
          </a:stretch>
        </p:blipFill>
        <p:spPr>
          <a:xfrm>
            <a:off x="8251820" y="1129938"/>
            <a:ext cx="3081437" cy="1243122"/>
          </a:xfrm>
          <a:prstGeom prst="rect">
            <a:avLst/>
          </a:prstGeom>
        </p:spPr>
      </p:pic>
      <mc:AlternateContent xmlns:mc="http://schemas.openxmlformats.org/markup-compatibility/2006" xmlns:a14="http://schemas.microsoft.com/office/drawing/2010/main">
        <mc:Choice Requires="a14">
          <p:sp>
            <p:nvSpPr>
              <p:cNvPr id="9" name="AutoShape 11">
                <a:extLst>
                  <a:ext uri="{FF2B5EF4-FFF2-40B4-BE49-F238E27FC236}">
                    <a16:creationId xmlns:a16="http://schemas.microsoft.com/office/drawing/2014/main" id="{3803FDC5-E8DF-4C03-3458-5B7010107FA7}"/>
                  </a:ext>
                </a:extLst>
              </p:cNvPr>
              <p:cNvSpPr/>
              <p:nvPr/>
            </p:nvSpPr>
            <p:spPr>
              <a:xfrm>
                <a:off x="888056" y="1983376"/>
                <a:ext cx="6479396" cy="4504509"/>
              </a:xfrm>
              <a:prstGeom prst="rect">
                <a:avLst/>
              </a:prstGeom>
              <a:noFill/>
              <a:ln w="12700" cap="flat" cmpd="sng">
                <a:noFill/>
                <a:prstDash val="solid"/>
                <a:round/>
              </a:ln>
            </p:spPr>
            <p:txBody>
              <a:bodyPr vert="horz" wrap="square" lIns="0" tIns="0" rIns="0" bIns="0" rtlCol="0" anchor="ctr" anchorCtr="0"/>
              <a:lstStyle/>
              <a:p>
                <a:pPr indent="0">
                  <a:lnSpc>
                    <a:spcPct val="116666"/>
                  </a:lnSpc>
                  <a:defRPr/>
                </a:pPr>
                <a:r>
                  <a:rPr lang="zh-CN" altLang="en-US" b="1" i="0" u="none" strike="noStrike" dirty="0">
                    <a:ea typeface="Noto Sans SC"/>
                    <a:cs typeface="Noto Sans SC"/>
                    <a:sym typeface="Noto Sans SC"/>
                  </a:rPr>
                  <a:t>借助</a:t>
                </a:r>
                <a:r>
                  <a:rPr lang="zh-CN" altLang="en-US" b="1" i="0" u="none" strike="noStrike" dirty="0">
                    <a:solidFill>
                      <a:schemeClr val="accent2"/>
                    </a:solidFill>
                    <a:ea typeface="Noto Sans SC"/>
                    <a:cs typeface="Noto Sans SC"/>
                    <a:sym typeface="Noto Sans SC"/>
                  </a:rPr>
                  <a:t>生成元到稳定子群的式子</a:t>
                </a:r>
                <a:r>
                  <a:rPr lang="zh-CN" altLang="en-US" b="1" i="0" u="none" strike="noStrike" dirty="0">
                    <a:ea typeface="Noto Sans SC"/>
                    <a:cs typeface="Noto Sans SC"/>
                    <a:sym typeface="Noto Sans SC"/>
                  </a:rPr>
                  <a:t>我们可以</a:t>
                </a:r>
                <a:r>
                  <a:rPr lang="zh-CN" altLang="en-US" b="1" i="0" u="none" strike="noStrike" dirty="0">
                    <a:solidFill>
                      <a:schemeClr val="accent2"/>
                    </a:solidFill>
                    <a:ea typeface="Noto Sans SC"/>
                    <a:cs typeface="Noto Sans SC"/>
                    <a:sym typeface="Noto Sans SC"/>
                  </a:rPr>
                  <a:t>化简</a:t>
                </a:r>
                <a:r>
                  <a:rPr lang="zh-CN" altLang="en-US" b="1" i="0" u="none" strike="noStrike" dirty="0">
                    <a:ea typeface="Noto Sans SC"/>
                    <a:cs typeface="Noto Sans SC"/>
                    <a:sym typeface="Noto Sans SC"/>
                  </a:rPr>
                  <a:t>投影算符的式子</a:t>
                </a:r>
                <a:endParaRPr lang="en-US" altLang="zh-CN" b="1" i="0" u="none" strike="noStrike" dirty="0">
                  <a:ea typeface="Noto Sans SC"/>
                  <a:cs typeface="Noto Sans SC"/>
                  <a:sym typeface="Noto Sans SC"/>
                </a:endParaRPr>
              </a:p>
              <a:p>
                <a:pPr indent="0">
                  <a:lnSpc>
                    <a:spcPct val="116666"/>
                  </a:lnSpc>
                  <a:defRPr/>
                </a:pPr>
                <a:r>
                  <a:rPr lang="zh-CN" altLang="en-US" b="1" i="0" u="none" strike="noStrike" dirty="0">
                    <a:ea typeface="Noto Sans SC"/>
                    <a:cs typeface="Noto Sans SC"/>
                    <a:sym typeface="Noto Sans SC"/>
                  </a:rPr>
                  <a:t>类似二项式定理展开</a:t>
                </a:r>
                <a:r>
                  <a:rPr lang="en-US" altLang="zh-CN" b="1" i="0" u="none" strike="noStrike" dirty="0">
                    <a:ea typeface="Noto Sans SC"/>
                    <a:cs typeface="Noto Sans SC"/>
                    <a:sym typeface="Noto Sans SC"/>
                  </a:rPr>
                  <a:t>(</a:t>
                </a:r>
                <a14:m>
                  <m:oMath xmlns:m="http://schemas.openxmlformats.org/officeDocument/2006/math">
                    <m:sSup>
                      <m:sSupPr>
                        <m:ctrlPr>
                          <a:rPr lang="en-US" altLang="zh-CN" b="1" i="1" u="none" strike="noStrike" smtClean="0">
                            <a:latin typeface="Cambria Math" panose="02040503050406030204" pitchFamily="18" charset="0"/>
                            <a:ea typeface="Noto Sans SC"/>
                            <a:cs typeface="Noto Sans SC"/>
                            <a:sym typeface="Noto Sans SC"/>
                          </a:rPr>
                        </m:ctrlPr>
                      </m:sSupPr>
                      <m:e>
                        <m:r>
                          <a:rPr lang="en-US" altLang="zh-CN" b="1" i="1" u="none" strike="noStrike" smtClean="0">
                            <a:latin typeface="Cambria Math" panose="02040503050406030204" pitchFamily="18" charset="0"/>
                            <a:ea typeface="Noto Sans SC"/>
                            <a:cs typeface="Noto Sans SC"/>
                            <a:sym typeface="Noto Sans SC"/>
                          </a:rPr>
                          <m:t>𝑰</m:t>
                        </m:r>
                      </m:e>
                      <m:sup>
                        <m:r>
                          <a:rPr lang="en-US" altLang="zh-CN" b="1" i="1" u="none" strike="noStrike" smtClean="0">
                            <a:latin typeface="Cambria Math" panose="02040503050406030204" pitchFamily="18" charset="0"/>
                            <a:ea typeface="Noto Sans SC"/>
                            <a:cs typeface="Noto Sans SC"/>
                            <a:sym typeface="Noto Sans SC"/>
                          </a:rPr>
                          <m:t>𝒏</m:t>
                        </m:r>
                      </m:sup>
                    </m:sSup>
                    <m:sSub>
                      <m:sSubPr>
                        <m:ctrlPr>
                          <a:rPr lang="en-US" altLang="zh-CN" b="1" i="1" u="none" strike="noStrike" smtClean="0">
                            <a:latin typeface="Cambria Math" panose="02040503050406030204" pitchFamily="18" charset="0"/>
                            <a:ea typeface="Noto Sans SC"/>
                            <a:cs typeface="Noto Sans SC"/>
                            <a:sym typeface="Noto Sans SC"/>
                          </a:rPr>
                        </m:ctrlPr>
                      </m:sSubPr>
                      <m:e>
                        <m:r>
                          <a:rPr lang="en-US" altLang="zh-CN" b="1" i="1" u="none" strike="noStrike" smtClean="0">
                            <a:latin typeface="Cambria Math" panose="02040503050406030204" pitchFamily="18" charset="0"/>
                            <a:ea typeface="Noto Sans SC"/>
                            <a:cs typeface="Noto Sans SC"/>
                            <a:sym typeface="Noto Sans SC"/>
                          </a:rPr>
                          <m:t>𝑴</m:t>
                        </m:r>
                      </m:e>
                      <m:sub>
                        <m:d>
                          <m:dPr>
                            <m:ctrlPr>
                              <a:rPr lang="en-US" altLang="zh-CN" b="1" i="1" u="none" strike="noStrike" smtClean="0">
                                <a:latin typeface="Cambria Math" panose="02040503050406030204" pitchFamily="18" charset="0"/>
                                <a:ea typeface="Noto Sans SC"/>
                                <a:cs typeface="Noto Sans SC"/>
                                <a:sym typeface="Noto Sans SC"/>
                              </a:rPr>
                            </m:ctrlPr>
                          </m:dPr>
                          <m:e>
                            <m:r>
                              <a:rPr lang="en-US" altLang="zh-CN" b="1" i="1" u="none" strike="noStrike" smtClean="0">
                                <a:latin typeface="Cambria Math" panose="02040503050406030204" pitchFamily="18" charset="0"/>
                                <a:ea typeface="Noto Sans SC"/>
                                <a:cs typeface="Noto Sans SC"/>
                                <a:sym typeface="Noto Sans SC"/>
                              </a:rPr>
                              <m:t>𝒓</m:t>
                            </m:r>
                            <m:r>
                              <a:rPr lang="en-US" altLang="zh-CN" b="1" i="1" u="none" strike="noStrike" smtClean="0">
                                <a:latin typeface="Cambria Math" panose="02040503050406030204" pitchFamily="18" charset="0"/>
                                <a:ea typeface="Noto Sans SC"/>
                                <a:cs typeface="Noto Sans SC"/>
                                <a:sym typeface="Noto Sans SC"/>
                              </a:rPr>
                              <m:t>−</m:t>
                            </m:r>
                            <m:r>
                              <a:rPr lang="en-US" altLang="zh-CN" b="1" i="1" u="none" strike="noStrike" smtClean="0">
                                <a:latin typeface="Cambria Math" panose="02040503050406030204" pitchFamily="18" charset="0"/>
                                <a:ea typeface="Noto Sans SC"/>
                                <a:cs typeface="Noto Sans SC"/>
                                <a:sym typeface="Noto Sans SC"/>
                              </a:rPr>
                              <m:t>𝒏</m:t>
                            </m:r>
                            <m:r>
                              <a:rPr lang="en-US" altLang="zh-CN" b="1" i="1" u="none" strike="noStrike" smtClean="0">
                                <a:latin typeface="Cambria Math" panose="02040503050406030204" pitchFamily="18" charset="0"/>
                                <a:ea typeface="Noto Sans SC"/>
                                <a:cs typeface="Noto Sans SC"/>
                                <a:sym typeface="Noto Sans SC"/>
                              </a:rPr>
                              <m:t>, …</m:t>
                            </m:r>
                          </m:e>
                        </m:d>
                      </m:sub>
                    </m:sSub>
                    <m:r>
                      <a:rPr lang="en-US" altLang="zh-CN" b="1" i="1" u="none" strike="noStrike" smtClean="0">
                        <a:latin typeface="Cambria Math" panose="02040503050406030204" pitchFamily="18" charset="0"/>
                        <a:ea typeface="Noto Sans SC"/>
                        <a:cs typeface="Noto Sans SC"/>
                        <a:sym typeface="Noto Sans SC"/>
                      </a:rPr>
                      <m:t>+...</m:t>
                    </m:r>
                  </m:oMath>
                </a14:m>
                <a:r>
                  <a:rPr lang="en-US" altLang="zh-CN" b="1" i="0" u="none" strike="noStrike" dirty="0">
                    <a:ea typeface="Noto Sans SC"/>
                    <a:cs typeface="Noto Sans SC"/>
                    <a:sym typeface="Noto Sans SC"/>
                  </a:rPr>
                  <a:t>)</a:t>
                </a:r>
                <a:endParaRPr lang="en-US" altLang="zh-CN" b="1" dirty="0">
                  <a:ea typeface="Noto Sans SC"/>
                  <a:cs typeface="Noto Sans SC"/>
                  <a:sym typeface="Noto Sans SC"/>
                </a:endParaRPr>
              </a:p>
              <a:p>
                <a:pPr indent="0">
                  <a:lnSpc>
                    <a:spcPct val="116666"/>
                  </a:lnSpc>
                  <a:defRPr/>
                </a:pPr>
                <a:r>
                  <a:rPr lang="zh-CN" altLang="en-US" b="1" dirty="0">
                    <a:ea typeface="Noto Sans SC"/>
                    <a:cs typeface="Noto Sans SC"/>
                    <a:sym typeface="Noto Sans SC"/>
                  </a:rPr>
                  <a:t>可以发现其中的任意一项提出就是之前稳定子群</a:t>
                </a:r>
                <a:r>
                  <a:rPr lang="zh-CN" altLang="en-US" b="1" dirty="0">
                    <a:solidFill>
                      <a:schemeClr val="accent2"/>
                    </a:solidFill>
                    <a:ea typeface="Noto Sans SC"/>
                    <a:cs typeface="Noto Sans SC"/>
                    <a:sym typeface="Noto Sans SC"/>
                  </a:rPr>
                  <a:t>任一算符</a:t>
                </a:r>
                <a:r>
                  <a:rPr lang="zh-CN" altLang="en-US" b="1" dirty="0">
                    <a:ea typeface="Noto Sans SC"/>
                    <a:cs typeface="Noto Sans SC"/>
                    <a:sym typeface="Noto Sans SC"/>
                  </a:rPr>
                  <a:t>由生成元表示的形式，因此相当于对所有稳定子算符</a:t>
                </a:r>
                <a:r>
                  <a:rPr lang="zh-CN" altLang="en-US" b="1" dirty="0">
                    <a:solidFill>
                      <a:schemeClr val="accent2"/>
                    </a:solidFill>
                    <a:ea typeface="Noto Sans SC"/>
                    <a:cs typeface="Noto Sans SC"/>
                    <a:sym typeface="Noto Sans SC"/>
                  </a:rPr>
                  <a:t>求和</a:t>
                </a:r>
                <a:endParaRPr lang="en-US" altLang="zh-CN" b="1" dirty="0">
                  <a:solidFill>
                    <a:schemeClr val="accent2"/>
                  </a:solidFill>
                  <a:ea typeface="Noto Sans SC"/>
                  <a:cs typeface="Noto Sans SC"/>
                  <a:sym typeface="Noto Sans SC"/>
                </a:endParaRPr>
              </a:p>
              <a:p>
                <a:pPr indent="0">
                  <a:lnSpc>
                    <a:spcPct val="116666"/>
                  </a:lnSpc>
                  <a:defRPr/>
                </a:pPr>
                <a:endParaRPr lang="en-US" altLang="zh-CN" b="1" i="0" u="none" strike="noStrike" dirty="0">
                  <a:solidFill>
                    <a:schemeClr val="accent2"/>
                  </a:solidFill>
                  <a:ea typeface="Noto Sans SC"/>
                  <a:cs typeface="Noto Sans SC"/>
                  <a:sym typeface="Noto Sans SC"/>
                </a:endParaRPr>
              </a:p>
              <a:p>
                <a:pPr indent="0">
                  <a:lnSpc>
                    <a:spcPct val="116666"/>
                  </a:lnSpc>
                  <a:defRPr/>
                </a:pPr>
                <a:r>
                  <a:rPr lang="zh-CN" altLang="en-US" b="1" i="0" u="none" strike="noStrike" dirty="0">
                    <a:ea typeface="Noto Sans SC"/>
                    <a:cs typeface="Noto Sans SC"/>
                    <a:sym typeface="Noto Sans SC"/>
                  </a:rPr>
                  <a:t>实际中的投影算符</a:t>
                </a:r>
                <a:r>
                  <a:rPr lang="zh-CN" altLang="en-US" b="1" i="0" u="none" strike="noStrike" dirty="0">
                    <a:solidFill>
                      <a:schemeClr val="accent2"/>
                    </a:solidFill>
                    <a:ea typeface="Noto Sans SC"/>
                    <a:cs typeface="Noto Sans SC"/>
                    <a:sym typeface="Noto Sans SC"/>
                  </a:rPr>
                  <a:t>等效的编码硬件</a:t>
                </a:r>
                <a:r>
                  <a:rPr lang="zh-CN" altLang="en-US" b="1" i="0" u="none" strike="noStrike" dirty="0">
                    <a:ea typeface="Noto Sans SC"/>
                    <a:cs typeface="Noto Sans SC"/>
                    <a:sym typeface="Noto Sans SC"/>
                  </a:rPr>
                  <a:t>是</a:t>
                </a:r>
                <a:r>
                  <a:rPr lang="en-US" altLang="zh-CN" b="1" i="0" u="none" strike="noStrike" dirty="0" err="1">
                    <a:solidFill>
                      <a:schemeClr val="accent2"/>
                    </a:solidFill>
                    <a:ea typeface="Noto Sans SC"/>
                    <a:cs typeface="Noto Sans SC"/>
                    <a:sym typeface="Noto Sans SC"/>
                  </a:rPr>
                  <a:t>clifford</a:t>
                </a:r>
                <a:r>
                  <a:rPr lang="zh-CN" altLang="en-US" b="1" i="0" u="none" strike="noStrike" dirty="0">
                    <a:solidFill>
                      <a:schemeClr val="accent2"/>
                    </a:solidFill>
                    <a:ea typeface="Noto Sans SC"/>
                    <a:cs typeface="Noto Sans SC"/>
                    <a:sym typeface="Noto Sans SC"/>
                  </a:rPr>
                  <a:t>门</a:t>
                </a:r>
                <a:r>
                  <a:rPr lang="zh-CN" altLang="en-US" b="1" i="0" u="none" strike="noStrike" dirty="0">
                    <a:ea typeface="Noto Sans SC"/>
                    <a:cs typeface="Noto Sans SC"/>
                    <a:sym typeface="Noto Sans SC"/>
                  </a:rPr>
                  <a:t>，他们也直接根据</a:t>
                </a:r>
                <a:r>
                  <a:rPr lang="zh-CN" altLang="en-US" b="1" i="0" u="none" strike="noStrike" dirty="0">
                    <a:solidFill>
                      <a:schemeClr val="accent2"/>
                    </a:solidFill>
                    <a:ea typeface="Noto Sans SC"/>
                    <a:cs typeface="Noto Sans SC"/>
                    <a:sym typeface="Noto Sans SC"/>
                  </a:rPr>
                  <a:t>生成元</a:t>
                </a:r>
                <a:r>
                  <a:rPr lang="zh-CN" altLang="en-US" b="1" i="0" u="none" strike="noStrike" dirty="0">
                    <a:ea typeface="Noto Sans SC"/>
                    <a:cs typeface="Noto Sans SC"/>
                    <a:sym typeface="Noto Sans SC"/>
                  </a:rPr>
                  <a:t>设计，而实际中的</a:t>
                </a:r>
                <a:r>
                  <a:rPr lang="zh-CN" altLang="en-US" b="1" i="0" u="none" strike="noStrike" dirty="0">
                    <a:solidFill>
                      <a:schemeClr val="accent2"/>
                    </a:solidFill>
                    <a:ea typeface="Noto Sans SC"/>
                    <a:cs typeface="Noto Sans SC"/>
                    <a:sym typeface="Noto Sans SC"/>
                  </a:rPr>
                  <a:t>校验矩阵</a:t>
                </a:r>
                <a:r>
                  <a:rPr lang="zh-CN" altLang="en-US" b="1" i="0" u="none" strike="noStrike" dirty="0">
                    <a:ea typeface="Noto Sans SC"/>
                    <a:cs typeface="Noto Sans SC"/>
                    <a:sym typeface="Noto Sans SC"/>
                  </a:rPr>
                  <a:t>也直接通过</a:t>
                </a:r>
                <a:r>
                  <a:rPr lang="zh-CN" altLang="en-US" b="1" i="0" u="none" strike="noStrike" dirty="0">
                    <a:solidFill>
                      <a:schemeClr val="accent2"/>
                    </a:solidFill>
                    <a:ea typeface="Noto Sans SC"/>
                    <a:cs typeface="Noto Sans SC"/>
                    <a:sym typeface="Noto Sans SC"/>
                  </a:rPr>
                  <a:t>生成元</a:t>
                </a:r>
                <a:r>
                  <a:rPr lang="zh-CN" altLang="en-US" b="1" i="0" u="none" strike="noStrike" dirty="0">
                    <a:ea typeface="Noto Sans SC"/>
                    <a:cs typeface="Noto Sans SC"/>
                    <a:sym typeface="Noto Sans SC"/>
                  </a:rPr>
                  <a:t>获得，总的来说我们确实把</a:t>
                </a:r>
                <a:r>
                  <a:rPr lang="zh-CN" altLang="en-US" b="1" i="0" u="none" strike="noStrike" dirty="0">
                    <a:solidFill>
                      <a:schemeClr val="accent2"/>
                    </a:solidFill>
                    <a:ea typeface="Noto Sans SC"/>
                    <a:cs typeface="Noto Sans SC"/>
                    <a:sym typeface="Noto Sans SC"/>
                  </a:rPr>
                  <a:t>设计纠错码本身</a:t>
                </a:r>
                <a:r>
                  <a:rPr lang="zh-CN" altLang="en-US" b="1" i="0" u="none" strike="noStrike" dirty="0">
                    <a:ea typeface="Noto Sans SC"/>
                    <a:cs typeface="Noto Sans SC"/>
                    <a:sym typeface="Noto Sans SC"/>
                  </a:rPr>
                  <a:t>这一工作转变成了</a:t>
                </a:r>
                <a:r>
                  <a:rPr lang="zh-CN" altLang="en-US" b="1" i="0" u="none" strike="noStrike" dirty="0">
                    <a:solidFill>
                      <a:schemeClr val="accent2"/>
                    </a:solidFill>
                    <a:ea typeface="Noto Sans SC"/>
                    <a:cs typeface="Noto Sans SC"/>
                    <a:sym typeface="Noto Sans SC"/>
                  </a:rPr>
                  <a:t>设计稳定子群以至于设计生成元</a:t>
                </a:r>
                <a:endParaRPr lang="en-US" altLang="zh-CN" b="1" i="0" u="none" strike="noStrike" dirty="0">
                  <a:solidFill>
                    <a:schemeClr val="accent2"/>
                  </a:solidFill>
                  <a:ea typeface="Noto Sans SC"/>
                  <a:cs typeface="Noto Sans SC"/>
                  <a:sym typeface="Noto Sans SC"/>
                </a:endParaRPr>
              </a:p>
            </p:txBody>
          </p:sp>
        </mc:Choice>
        <mc:Fallback xmlns="">
          <p:sp>
            <p:nvSpPr>
              <p:cNvPr id="9" name="AutoShape 11">
                <a:extLst>
                  <a:ext uri="{FF2B5EF4-FFF2-40B4-BE49-F238E27FC236}">
                    <a16:creationId xmlns:a16="http://schemas.microsoft.com/office/drawing/2014/main" id="{3803FDC5-E8DF-4C03-3458-5B7010107FA7}"/>
                  </a:ext>
                </a:extLst>
              </p:cNvPr>
              <p:cNvSpPr>
                <a:spLocks noRot="1" noChangeAspect="1" noMove="1" noResize="1" noEditPoints="1" noAdjustHandles="1" noChangeArrowheads="1" noChangeShapeType="1" noTextEdit="1"/>
              </p:cNvSpPr>
              <p:nvPr/>
            </p:nvSpPr>
            <p:spPr>
              <a:xfrm>
                <a:off x="888056" y="1983376"/>
                <a:ext cx="6479396" cy="4504509"/>
              </a:xfrm>
              <a:prstGeom prst="rect">
                <a:avLst/>
              </a:prstGeom>
              <a:blipFill>
                <a:blip r:embed="rId4"/>
                <a:stretch>
                  <a:fillRect l="-2258" r="-2164"/>
                </a:stretch>
              </a:blipFill>
              <a:ln w="12700" cap="flat" cmpd="sng">
                <a:noFill/>
                <a:prstDash val="solid"/>
                <a:round/>
              </a:ln>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B9803F47-3C8E-8C52-A74E-43DEF6D19F46}"/>
              </a:ext>
            </a:extLst>
          </p:cNvPr>
          <p:cNvPicPr>
            <a:picLocks noChangeAspect="1"/>
          </p:cNvPicPr>
          <p:nvPr/>
        </p:nvPicPr>
        <p:blipFill>
          <a:blip r:embed="rId5"/>
          <a:stretch>
            <a:fillRect/>
          </a:stretch>
        </p:blipFill>
        <p:spPr>
          <a:xfrm>
            <a:off x="8294845" y="3535859"/>
            <a:ext cx="2943636" cy="1314633"/>
          </a:xfrm>
          <a:prstGeom prst="rect">
            <a:avLst/>
          </a:prstGeom>
        </p:spPr>
      </p:pic>
    </p:spTree>
    <p:extLst>
      <p:ext uri="{BB962C8B-B14F-4D97-AF65-F5344CB8AC3E}">
        <p14:creationId xmlns:p14="http://schemas.microsoft.com/office/powerpoint/2010/main" val="9897434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1190</TotalTime>
  <Words>2663</Words>
  <Application>Microsoft Office PowerPoint</Application>
  <PresentationFormat>宽屏</PresentationFormat>
  <Paragraphs>443</Paragraphs>
  <Slides>35</Slides>
  <Notes>35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35</vt:i4>
      </vt:variant>
    </vt:vector>
  </HeadingPairs>
  <TitlesOfParts>
    <vt:vector size="46" baseType="lpstr">
      <vt:lpstr>BIZ UDPMincho Medium</vt:lpstr>
      <vt:lpstr>Noto Sans SC</vt:lpstr>
      <vt:lpstr>quote-cjk-patch</vt:lpstr>
      <vt:lpstr>等线</vt:lpstr>
      <vt:lpstr>等线 Light</vt:lpstr>
      <vt:lpstr>Arial</vt:lpstr>
      <vt:lpstr>Artifakt Element Black</vt:lpstr>
      <vt:lpstr>Brush Script MT</vt:lpstr>
      <vt:lpstr>Cambria Math</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恩泽 施</dc:creator>
  <cp:lastModifiedBy>恩泽 施</cp:lastModifiedBy>
  <cp:revision>49</cp:revision>
  <dcterms:created xsi:type="dcterms:W3CDTF">2026-04-29T05:54:02Z</dcterms:created>
  <dcterms:modified xsi:type="dcterms:W3CDTF">2026-06-11T14:08:01Z</dcterms:modified>
</cp:coreProperties>
</file>