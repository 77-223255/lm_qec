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67" r:id="rId2"/>
    <p:sldId id="257" r:id="rId3"/>
    <p:sldId id="268" r:id="rId4"/>
    <p:sldId id="271" r:id="rId5"/>
    <p:sldId id="275" r:id="rId6"/>
    <p:sldId id="276" r:id="rId7"/>
    <p:sldId id="274" r:id="rId8"/>
    <p:sldId id="277" r:id="rId9"/>
    <p:sldId id="270" r:id="rId10"/>
    <p:sldId id="278" r:id="rId1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95975" autoAdjust="0"/>
  </p:normalViewPr>
  <p:slideViewPr>
    <p:cSldViewPr snapToGrid="0">
      <p:cViewPr varScale="1">
        <p:scale>
          <a:sx n="102" d="100"/>
          <a:sy n="102" d="100"/>
        </p:scale>
        <p:origin x="17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DEB5FD-1944-4DD0-B28D-FC229D99AD1D}" type="datetimeFigureOut">
              <a:rPr lang="zh-CN" altLang="en-US" smtClean="0"/>
              <a:t>2026/5/22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D7ACCC-7278-432B-9932-7C96A9517130}" type="slidenum">
              <a:rPr lang="zh-CN" altLang="en-US" smtClean="0"/>
              <a:t>‹#›</a:t>
            </a:fld>
            <a:endParaRPr lang="zh-CN" altLang="en-US"/>
          </a:p>
        </p:txBody>
      </p:sp>
    </p:spTree>
    <p:extLst>
      <p:ext uri="{BB962C8B-B14F-4D97-AF65-F5344CB8AC3E}">
        <p14:creationId xmlns:p14="http://schemas.microsoft.com/office/powerpoint/2010/main" val="14559497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4437A2-6FEE-3117-3480-A6D822B6DFF0}"/>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50AE8FA6-09A6-456D-A54A-C6890EAA3D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82EFC054-990F-CBDA-A151-025368E67573}"/>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5" name="页脚占位符 4">
            <a:extLst>
              <a:ext uri="{FF2B5EF4-FFF2-40B4-BE49-F238E27FC236}">
                <a16:creationId xmlns:a16="http://schemas.microsoft.com/office/drawing/2014/main" id="{1A2BF76C-BA31-1027-B7EC-EEBDB4B0FAB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20832EB-E0B0-D9F0-EAD2-BD199BE4F04D}"/>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17419747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914B69-055A-F0C7-D88C-499FC604DF4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2E6AC866-98ED-FCE6-0F04-641080A8E9B1}"/>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9D0354C-6835-C266-E232-51A3199AC232}"/>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5" name="页脚占位符 4">
            <a:extLst>
              <a:ext uri="{FF2B5EF4-FFF2-40B4-BE49-F238E27FC236}">
                <a16:creationId xmlns:a16="http://schemas.microsoft.com/office/drawing/2014/main" id="{AE975227-DDCB-A610-8F31-F88AA862E1F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5A79A07-4963-2405-B277-8773C96BDCA2}"/>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209685424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080892-DA54-9789-4B2B-D024A9B0F626}"/>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590FACAA-1511-6D97-0558-1B06A466D15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60F94E47-5198-C31A-9543-97DED0447DC9}"/>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5" name="页脚占位符 4">
            <a:extLst>
              <a:ext uri="{FF2B5EF4-FFF2-40B4-BE49-F238E27FC236}">
                <a16:creationId xmlns:a16="http://schemas.microsoft.com/office/drawing/2014/main" id="{32FC23F0-A914-5554-8C84-1DEF3D7FBD8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D819A46-C791-FE52-881C-46BEA4D8244F}"/>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180314350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A27F8B-220F-FB86-7B96-77709668D58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FC35C72-FDDB-FF34-4E54-F68EA415B9D0}"/>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29A49FA4-DA38-F315-9D3A-299357410FDB}"/>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BEF78E52-BD18-4C64-7815-8D5DD339FC34}"/>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6" name="页脚占位符 5">
            <a:extLst>
              <a:ext uri="{FF2B5EF4-FFF2-40B4-BE49-F238E27FC236}">
                <a16:creationId xmlns:a16="http://schemas.microsoft.com/office/drawing/2014/main" id="{20F92C2D-1AB4-0D4B-816D-18E38102C0C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90D7501-676B-3149-44A4-298F2ECFEDD5}"/>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26085029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40C9E2-603E-D576-9881-8021C1A78CA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D66F8276-E43A-8A46-A3CF-5E60E0581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7B5F3349-2A49-38DF-01B1-D4CF6C283DE2}"/>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8DE1E919-5805-571A-B9E8-5902351135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59EE729A-5507-0DA0-CCEC-051CC6A3B609}"/>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D6BDA102-67A5-4B5D-1DF4-85EEEE246983}"/>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8" name="页脚占位符 7">
            <a:extLst>
              <a:ext uri="{FF2B5EF4-FFF2-40B4-BE49-F238E27FC236}">
                <a16:creationId xmlns:a16="http://schemas.microsoft.com/office/drawing/2014/main" id="{C5A348D5-4524-E38E-0F40-916281D77C5C}"/>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71FF218B-74F6-7C0E-28F5-DB5F5907D0D7}"/>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6208750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735C8C-CCA5-669C-D5E2-5D0626417D8D}"/>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4B603B49-AD10-6C4F-9111-3E1723420536}"/>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4" name="页脚占位符 3">
            <a:extLst>
              <a:ext uri="{FF2B5EF4-FFF2-40B4-BE49-F238E27FC236}">
                <a16:creationId xmlns:a16="http://schemas.microsoft.com/office/drawing/2014/main" id="{B4E856BC-21FD-851E-BA7E-D68BE301747C}"/>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447B25A-2049-CD12-1E2C-1ADCD9EA1285}"/>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39916752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DF9A3D6-8823-5D66-C6E8-0712F58213E8}"/>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3" name="页脚占位符 2">
            <a:extLst>
              <a:ext uri="{FF2B5EF4-FFF2-40B4-BE49-F238E27FC236}">
                <a16:creationId xmlns:a16="http://schemas.microsoft.com/office/drawing/2014/main" id="{8971BB6B-F219-26D2-0D8E-A2092941C300}"/>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6689D4C2-C8D0-7E77-F609-CD91D4CB7128}"/>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20913751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2D0B6EF-2081-6C0A-27D1-447603F50C2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E914C61-2389-0328-3854-C78055BF789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B847FA2-744B-1FAE-3A99-D8513F9182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D16EB9C-7561-8FBB-3794-6BE66F62623A}"/>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6" name="页脚占位符 5">
            <a:extLst>
              <a:ext uri="{FF2B5EF4-FFF2-40B4-BE49-F238E27FC236}">
                <a16:creationId xmlns:a16="http://schemas.microsoft.com/office/drawing/2014/main" id="{DE91185D-96C0-D727-D620-14E220B91FE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6F1D1B7-39A7-0B4A-B7D3-F630349B0DE8}"/>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32067135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64CB76-471D-2F6F-9F9F-4665E7B29F8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81FCE72A-DC15-D247-E146-C8B6EA4F393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9ED5825B-3B16-A32C-29A2-9533D6A665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FD2E2BB4-37A5-2964-F6F3-F0A0C9966E68}"/>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6" name="页脚占位符 5">
            <a:extLst>
              <a:ext uri="{FF2B5EF4-FFF2-40B4-BE49-F238E27FC236}">
                <a16:creationId xmlns:a16="http://schemas.microsoft.com/office/drawing/2014/main" id="{BDF0FC27-2F14-43A0-A872-E9C25431783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16F2C01-5E74-4A8E-3958-0758925FF135}"/>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166497870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D8032-6A47-3DE0-565A-A38E29E2BCA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2E6FFEFE-549B-2488-533F-BF114E80028C}"/>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630C470-C5E3-0F89-0ED9-F9059B78A552}"/>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5" name="页脚占位符 4">
            <a:extLst>
              <a:ext uri="{FF2B5EF4-FFF2-40B4-BE49-F238E27FC236}">
                <a16:creationId xmlns:a16="http://schemas.microsoft.com/office/drawing/2014/main" id="{0494DA54-3208-C0CB-3A78-EB78BB71046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199F9D0-D634-D6E9-51FA-9564983CE3FE}"/>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22272484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7F06DCB8-3C2A-2A04-76B4-D346BA7CAC4D}"/>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7F4C40BB-FB8E-38CA-F6FB-00266E747D9D}"/>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4386168-1A44-6A88-760F-DF9FFA88D95A}"/>
              </a:ext>
            </a:extLst>
          </p:cNvPr>
          <p:cNvSpPr>
            <a:spLocks noGrp="1"/>
          </p:cNvSpPr>
          <p:nvPr>
            <p:ph type="dt" sz="half" idx="10"/>
          </p:nvPr>
        </p:nvSpPr>
        <p:spPr/>
        <p:txBody>
          <a:bodyPr/>
          <a:lstStyle/>
          <a:p>
            <a:fld id="{1B54D598-E3E9-4B92-90C0-FB0B286365AB}" type="datetimeFigureOut">
              <a:rPr lang="zh-CN" altLang="en-US" smtClean="0"/>
              <a:t>2026/5/22</a:t>
            </a:fld>
            <a:endParaRPr lang="zh-CN" altLang="en-US"/>
          </a:p>
        </p:txBody>
      </p:sp>
      <p:sp>
        <p:nvSpPr>
          <p:cNvPr id="5" name="页脚占位符 4">
            <a:extLst>
              <a:ext uri="{FF2B5EF4-FFF2-40B4-BE49-F238E27FC236}">
                <a16:creationId xmlns:a16="http://schemas.microsoft.com/office/drawing/2014/main" id="{22B008DF-7ECB-C85D-DF01-2F77C7ED4AE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54D895F-3D6E-3FA5-CD73-1EBE08B84BFF}"/>
              </a:ext>
            </a:extLst>
          </p:cNvPr>
          <p:cNvSpPr>
            <a:spLocks noGrp="1"/>
          </p:cNvSpPr>
          <p:nvPr>
            <p:ph type="sldNum" sz="quarter" idx="12"/>
          </p:nvPr>
        </p:nvSpPr>
        <p:spPr/>
        <p:txBody>
          <a:body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40789762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1747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58DA38E-372E-EA5D-C53E-0DB0CC9222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2C3D686A-BC0B-1051-7C70-4F0214C7201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3499903-3D09-D2CC-E56C-A86A1BE78C9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B54D598-E3E9-4B92-90C0-FB0B286365AB}" type="datetimeFigureOut">
              <a:rPr lang="zh-CN" altLang="en-US" smtClean="0"/>
              <a:t>2026/5/22</a:t>
            </a:fld>
            <a:endParaRPr lang="zh-CN" altLang="en-US"/>
          </a:p>
        </p:txBody>
      </p:sp>
      <p:sp>
        <p:nvSpPr>
          <p:cNvPr id="5" name="页脚占位符 4">
            <a:extLst>
              <a:ext uri="{FF2B5EF4-FFF2-40B4-BE49-F238E27FC236}">
                <a16:creationId xmlns:a16="http://schemas.microsoft.com/office/drawing/2014/main" id="{EE945C3C-B2FE-FEDD-F931-8D77286705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7B481100-EC59-7A69-9C01-23485FBD844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5673A1A-F270-496B-A417-26683CEEB369}" type="slidenum">
              <a:rPr lang="zh-CN" altLang="en-US" smtClean="0"/>
              <a:t>‹#›</a:t>
            </a:fld>
            <a:endParaRPr lang="zh-CN" altLang="en-US"/>
          </a:p>
        </p:txBody>
      </p:sp>
    </p:spTree>
    <p:extLst>
      <p:ext uri="{BB962C8B-B14F-4D97-AF65-F5344CB8AC3E}">
        <p14:creationId xmlns:p14="http://schemas.microsoft.com/office/powerpoint/2010/main" val="20654767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hyperlink" Target="https://doi.org/10.1038/s41586-024-08449-y" TargetMode="External"/><Relationship Id="rId2" Type="http://schemas.openxmlformats.org/officeDocument/2006/relationships/hyperlink" Target="https://doi.org/10.1038/s41586-022-05434-1" TargetMode="External"/><Relationship Id="rId1" Type="http://schemas.openxmlformats.org/officeDocument/2006/relationships/slideLayout" Target="../slideLayouts/slideLayout1.xml"/><Relationship Id="rId5" Type="http://schemas.openxmlformats.org/officeDocument/2006/relationships/hyperlink" Target="https://doi.org/10.1103/rqkg-dw31" TargetMode="External"/><Relationship Id="rId4" Type="http://schemas.openxmlformats.org/officeDocument/2006/relationships/hyperlink" Target="https://doi.org/10.1038/s41586-025-09044-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B0F588-289D-2035-82FD-12F5B64B4A01}"/>
              </a:ext>
            </a:extLst>
          </p:cNvPr>
          <p:cNvSpPr txBox="1"/>
          <p:nvPr/>
        </p:nvSpPr>
        <p:spPr>
          <a:xfrm>
            <a:off x="-5424636" y="-2872225"/>
            <a:ext cx="26549625" cy="11326178"/>
          </a:xfrm>
          <a:prstGeom prst="rect">
            <a:avLst/>
          </a:prstGeom>
          <a:noFill/>
        </p:spPr>
        <p:txBody>
          <a:bodyPr wrap="square">
            <a:spAutoFit/>
          </a:bodyPr>
          <a:lstStyle/>
          <a:p>
            <a:r>
              <a:rPr lang="en-US" altLang="zh-CN" sz="73000" b="0" i="0" u="none" strike="noStrike" dirty="0">
                <a:solidFill>
                  <a:schemeClr val="bg1">
                    <a:lumMod val="85000"/>
                  </a:schemeClr>
                </a:solidFill>
                <a:latin typeface="BIZ UDPMincho Medium" panose="02020500000000000000" pitchFamily="18" charset="-128"/>
                <a:ea typeface="BIZ UDPMincho Medium" panose="02020500000000000000" pitchFamily="18" charset="-128"/>
                <a:cs typeface="Noto Sans SC"/>
                <a:sym typeface="Noto Sans SC"/>
              </a:rPr>
              <a:t>QEC</a:t>
            </a:r>
            <a:endParaRPr lang="zh-CN" altLang="en-US" sz="73000" dirty="0">
              <a:solidFill>
                <a:schemeClr val="bg1">
                  <a:lumMod val="85000"/>
                </a:schemeClr>
              </a:solidFill>
              <a:latin typeface="BIZ UDPMincho Medium" panose="02020500000000000000" pitchFamily="18" charset="-128"/>
              <a:ea typeface="BIZ UDPMincho Medium" panose="02020500000000000000" pitchFamily="18" charset="-128"/>
            </a:endParaRPr>
          </a:p>
        </p:txBody>
      </p:sp>
      <p:sp>
        <p:nvSpPr>
          <p:cNvPr id="2" name="AutoShape 2"/>
          <p:cNvSpPr/>
          <p:nvPr/>
        </p:nvSpPr>
        <p:spPr>
          <a:xfrm>
            <a:off x="762000" y="946973"/>
            <a:ext cx="10668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4800" b="1" i="0" u="none" strike="noStrike" dirty="0" err="1">
                <a:solidFill>
                  <a:srgbClr val="333333"/>
                </a:solidFill>
                <a:latin typeface="Noto Sans SC"/>
                <a:ea typeface="Noto Sans SC"/>
                <a:cs typeface="Noto Sans SC"/>
                <a:sym typeface="Noto Sans SC"/>
              </a:rPr>
              <a:t>量子纠错</a:t>
            </a:r>
            <a:r>
              <a:rPr lang="en-US" sz="4800" b="1" i="0" u="none" strike="noStrike" dirty="0">
                <a:solidFill>
                  <a:srgbClr val="333333"/>
                </a:solidFill>
                <a:latin typeface="Noto Sans SC"/>
                <a:ea typeface="Noto Sans SC"/>
                <a:cs typeface="Noto Sans SC"/>
                <a:sym typeface="Noto Sans SC"/>
              </a:rPr>
              <a:t>(</a:t>
            </a:r>
            <a:r>
              <a:rPr lang="zh-CN" altLang="en-US" sz="4800" b="1" i="0" u="none" strike="noStrike" dirty="0">
                <a:solidFill>
                  <a:srgbClr val="333333"/>
                </a:solidFill>
                <a:latin typeface="Noto Sans SC"/>
                <a:ea typeface="Noto Sans SC"/>
                <a:cs typeface="Noto Sans SC"/>
                <a:sym typeface="Noto Sans SC"/>
              </a:rPr>
              <a:t>算法</a:t>
            </a:r>
            <a:r>
              <a:rPr lang="en-US" sz="4800" b="1" i="0" u="none" strike="noStrike" dirty="0">
                <a:solidFill>
                  <a:srgbClr val="333333"/>
                </a:solidFill>
                <a:latin typeface="Noto Sans SC"/>
                <a:ea typeface="Noto Sans SC"/>
                <a:cs typeface="Noto Sans SC"/>
                <a:sym typeface="Noto Sans SC"/>
              </a:rPr>
              <a:t>) </a:t>
            </a:r>
            <a:endParaRPr lang="en-US" sz="1100" dirty="0"/>
          </a:p>
        </p:txBody>
      </p:sp>
      <p:sp>
        <p:nvSpPr>
          <p:cNvPr id="3" name="AutoShape 3"/>
          <p:cNvSpPr/>
          <p:nvPr/>
        </p:nvSpPr>
        <p:spPr>
          <a:xfrm>
            <a:off x="0" y="3159459"/>
            <a:ext cx="12192000"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5600" b="0" i="0" u="none" strike="noStrike" dirty="0">
                <a:solidFill>
                  <a:srgbClr val="555555"/>
                </a:solidFill>
                <a:latin typeface="Noto Sans SC"/>
                <a:ea typeface="Noto Sans SC"/>
                <a:cs typeface="Noto Sans SC"/>
                <a:sym typeface="Noto Sans SC"/>
              </a:rPr>
              <a:t>Quantum Error Correction</a:t>
            </a:r>
          </a:p>
        </p:txBody>
      </p:sp>
      <p:sp>
        <p:nvSpPr>
          <p:cNvPr id="4" name="AutoShape 3">
            <a:extLst>
              <a:ext uri="{FF2B5EF4-FFF2-40B4-BE49-F238E27FC236}">
                <a16:creationId xmlns:a16="http://schemas.microsoft.com/office/drawing/2014/main" id="{70F3E0A2-E4CC-B0C3-396E-110ED7B5BD62}"/>
              </a:ext>
            </a:extLst>
          </p:cNvPr>
          <p:cNvSpPr/>
          <p:nvPr/>
        </p:nvSpPr>
        <p:spPr>
          <a:xfrm>
            <a:off x="0" y="4302459"/>
            <a:ext cx="12192000"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dirty="0">
                <a:solidFill>
                  <a:srgbClr val="555555"/>
                </a:solidFill>
                <a:latin typeface="Noto Sans SC"/>
                <a:ea typeface="Noto Sans SC"/>
                <a:cs typeface="Noto Sans SC"/>
                <a:sym typeface="Noto Sans SC"/>
              </a:rPr>
              <a:t>汇报人：施恩泽</a:t>
            </a:r>
            <a:endParaRPr lang="en-US" sz="3200" b="1" i="0" u="none" strike="noStrike" dirty="0">
              <a:solidFill>
                <a:srgbClr val="555555"/>
              </a:solidFill>
              <a:latin typeface="Noto Sans SC"/>
              <a:ea typeface="Noto Sans SC"/>
              <a:cs typeface="Noto Sans SC"/>
              <a:sym typeface="Noto Sans SC"/>
            </a:endParaRP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5B737-AFCC-9C21-E559-2FE51AA0A22B}"/>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1659ADA6-72C3-CA32-FF7D-BF5507F6B18C}"/>
              </a:ext>
            </a:extLst>
          </p:cNvPr>
          <p:cNvSpPr/>
          <p:nvPr/>
        </p:nvSpPr>
        <p:spPr>
          <a:xfrm>
            <a:off x="202130" y="0"/>
            <a:ext cx="184805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dirty="0">
                <a:solidFill>
                  <a:srgbClr val="555555"/>
                </a:solidFill>
                <a:latin typeface="Noto Sans SC"/>
                <a:ea typeface="Noto Sans SC"/>
                <a:cs typeface="Noto Sans SC"/>
                <a:sym typeface="Noto Sans SC"/>
              </a:rPr>
              <a:t>研究背景</a:t>
            </a:r>
            <a:endParaRPr lang="en-US" sz="3200" b="1" i="0" u="none" strike="noStrike" dirty="0">
              <a:solidFill>
                <a:srgbClr val="555555"/>
              </a:solidFill>
              <a:latin typeface="Noto Sans SC"/>
              <a:ea typeface="Noto Sans SC"/>
              <a:cs typeface="Noto Sans SC"/>
              <a:sym typeface="Noto Sans SC"/>
            </a:endParaRPr>
          </a:p>
        </p:txBody>
      </p:sp>
      <p:pic>
        <p:nvPicPr>
          <p:cNvPr id="12" name="图片 11">
            <a:extLst>
              <a:ext uri="{FF2B5EF4-FFF2-40B4-BE49-F238E27FC236}">
                <a16:creationId xmlns:a16="http://schemas.microsoft.com/office/drawing/2014/main" id="{F03E6041-3B55-CFEA-0673-094C5BAAB3E0}"/>
              </a:ext>
            </a:extLst>
          </p:cNvPr>
          <p:cNvPicPr>
            <a:picLocks noChangeAspect="1"/>
          </p:cNvPicPr>
          <p:nvPr/>
        </p:nvPicPr>
        <p:blipFill>
          <a:blip r:embed="rId2"/>
          <a:stretch>
            <a:fillRect/>
          </a:stretch>
        </p:blipFill>
        <p:spPr>
          <a:xfrm>
            <a:off x="748839" y="1417664"/>
            <a:ext cx="4883315" cy="4286620"/>
          </a:xfrm>
          <a:prstGeom prst="rect">
            <a:avLst/>
          </a:prstGeom>
        </p:spPr>
      </p:pic>
      <p:sp>
        <p:nvSpPr>
          <p:cNvPr id="29" name="AutoShape 11">
            <a:extLst>
              <a:ext uri="{FF2B5EF4-FFF2-40B4-BE49-F238E27FC236}">
                <a16:creationId xmlns:a16="http://schemas.microsoft.com/office/drawing/2014/main" id="{A0BE3E04-4BAE-C351-71A3-A348700DA521}"/>
              </a:ext>
            </a:extLst>
          </p:cNvPr>
          <p:cNvSpPr/>
          <p:nvPr/>
        </p:nvSpPr>
        <p:spPr>
          <a:xfrm>
            <a:off x="6379500" y="1491291"/>
            <a:ext cx="5267070" cy="3699164"/>
          </a:xfrm>
          <a:prstGeom prst="rect">
            <a:avLst/>
          </a:prstGeom>
          <a:noFill/>
          <a:ln w="12700" cap="flat" cmpd="sng">
            <a:noFill/>
            <a:prstDash val="solid"/>
            <a:round/>
          </a:ln>
        </p:spPr>
        <p:txBody>
          <a:bodyPr vert="horz" wrap="square" lIns="0" tIns="0" rIns="0" bIns="0" rtlCol="0" anchor="ctr" anchorCtr="0"/>
          <a:lstStyle/>
          <a:p>
            <a:pPr indent="0" algn="l">
              <a:lnSpc>
                <a:spcPct val="133333"/>
              </a:lnSpc>
              <a:spcBef>
                <a:spcPts val="800"/>
              </a:spcBef>
              <a:defRPr/>
            </a:pPr>
            <a:r>
              <a:rPr lang="en-US" sz="2400" b="1" i="0" u="none" strike="noStrike" dirty="0">
                <a:solidFill>
                  <a:srgbClr val="333333"/>
                </a:solidFill>
                <a:latin typeface="Noto Sans SC"/>
                <a:ea typeface="Noto Sans SC"/>
                <a:cs typeface="Noto Sans SC"/>
                <a:sym typeface="Noto Sans SC"/>
              </a:rPr>
              <a:t>01. </a:t>
            </a:r>
            <a:r>
              <a:rPr lang="en-US" sz="2400" b="1" i="0" u="none" strike="noStrike" dirty="0" err="1">
                <a:solidFill>
                  <a:srgbClr val="333333"/>
                </a:solidFill>
                <a:latin typeface="Noto Sans SC"/>
                <a:ea typeface="Noto Sans SC"/>
                <a:cs typeface="Noto Sans SC"/>
                <a:sym typeface="Noto Sans SC"/>
              </a:rPr>
              <a:t>环境</a:t>
            </a:r>
            <a:r>
              <a:rPr lang="zh-CN" altLang="en-US" sz="2400" b="1" dirty="0">
                <a:solidFill>
                  <a:srgbClr val="333333"/>
                </a:solidFill>
                <a:latin typeface="Noto Sans SC"/>
                <a:ea typeface="Noto Sans SC"/>
                <a:cs typeface="Noto Sans SC"/>
                <a:sym typeface="Noto Sans SC"/>
              </a:rPr>
              <a:t>影响</a:t>
            </a:r>
            <a:endParaRPr lang="en-US" sz="2400" dirty="0"/>
          </a:p>
          <a:p>
            <a:pPr indent="0" algn="l">
              <a:lnSpc>
                <a:spcPct val="116666"/>
              </a:lnSpc>
            </a:pPr>
            <a:r>
              <a:rPr lang="en-US" sz="2400" b="0" i="0" u="none" strike="noStrike" dirty="0">
                <a:solidFill>
                  <a:srgbClr val="606060"/>
                </a:solidFill>
                <a:latin typeface="Noto Sans SC"/>
                <a:ea typeface="Noto Sans SC"/>
                <a:cs typeface="Noto Sans SC"/>
                <a:sym typeface="Noto Sans SC"/>
              </a:rPr>
              <a:t> </a:t>
            </a:r>
            <a:r>
              <a:rPr lang="en-US" sz="2400" b="0" i="0" u="none" strike="noStrike" dirty="0" err="1">
                <a:solidFill>
                  <a:srgbClr val="606060"/>
                </a:solidFill>
                <a:latin typeface="Noto Sans SC"/>
                <a:ea typeface="Noto Sans SC"/>
                <a:cs typeface="Noto Sans SC"/>
                <a:sym typeface="Noto Sans SC"/>
              </a:rPr>
              <a:t>环境的</a:t>
            </a:r>
            <a:r>
              <a:rPr lang="en-US" sz="2400" b="0" i="0" u="none" strike="noStrike" dirty="0" err="1">
                <a:solidFill>
                  <a:schemeClr val="accent2"/>
                </a:solidFill>
                <a:latin typeface="Noto Sans SC"/>
                <a:ea typeface="Noto Sans SC"/>
                <a:cs typeface="Noto Sans SC"/>
                <a:sym typeface="Noto Sans SC"/>
              </a:rPr>
              <a:t>微小相互作用</a:t>
            </a:r>
            <a:r>
              <a:rPr lang="en-US" sz="2400" b="0" i="0" u="none" strike="noStrike" dirty="0" err="1">
                <a:solidFill>
                  <a:srgbClr val="606060"/>
                </a:solidFill>
                <a:latin typeface="Noto Sans SC"/>
                <a:ea typeface="Noto Sans SC"/>
                <a:cs typeface="Noto Sans SC"/>
                <a:sym typeface="Noto Sans SC"/>
              </a:rPr>
              <a:t>会导致叠加态坍缩或相位相干性丧失</a:t>
            </a:r>
            <a:r>
              <a:rPr lang="zh-CN" altLang="en-US" sz="2400" b="0" i="0" u="none" strike="noStrike" dirty="0">
                <a:solidFill>
                  <a:srgbClr val="606060"/>
                </a:solidFill>
                <a:latin typeface="Noto Sans SC"/>
                <a:ea typeface="Noto Sans SC"/>
                <a:cs typeface="Noto Sans SC"/>
                <a:sym typeface="Noto Sans SC"/>
              </a:rPr>
              <a:t>。</a:t>
            </a:r>
            <a:endParaRPr lang="en-US" sz="2400" b="0" i="0" u="none" strike="noStrike" dirty="0">
              <a:solidFill>
                <a:srgbClr val="606060"/>
              </a:solidFill>
              <a:latin typeface="Noto Sans SC"/>
              <a:ea typeface="Noto Sans SC"/>
              <a:cs typeface="Noto Sans SC"/>
              <a:sym typeface="Noto Sans SC"/>
            </a:endParaRPr>
          </a:p>
          <a:p>
            <a:pPr indent="0" algn="l">
              <a:lnSpc>
                <a:spcPct val="133333"/>
              </a:lnSpc>
              <a:spcBef>
                <a:spcPts val="2000"/>
              </a:spcBef>
            </a:pPr>
            <a:r>
              <a:rPr lang="en-US" sz="2400" b="1" i="0" u="none" strike="noStrike" dirty="0">
                <a:solidFill>
                  <a:srgbClr val="333333"/>
                </a:solidFill>
                <a:latin typeface="Noto Sans SC"/>
                <a:ea typeface="Noto Sans SC"/>
                <a:cs typeface="Noto Sans SC"/>
                <a:sym typeface="Noto Sans SC"/>
              </a:rPr>
              <a:t>02. </a:t>
            </a:r>
            <a:r>
              <a:rPr lang="en-US" sz="2400" b="1" i="0" u="none" strike="noStrike" dirty="0" err="1">
                <a:solidFill>
                  <a:srgbClr val="333333"/>
                </a:solidFill>
                <a:latin typeface="Noto Sans SC"/>
                <a:ea typeface="Noto Sans SC"/>
                <a:cs typeface="Noto Sans SC"/>
                <a:sym typeface="Noto Sans SC"/>
              </a:rPr>
              <a:t>量子操作的物理局限性</a:t>
            </a:r>
            <a:endParaRPr lang="en-US" sz="2400" b="1" i="0" u="none" strike="noStrike" dirty="0">
              <a:solidFill>
                <a:srgbClr val="333333"/>
              </a:solidFill>
              <a:latin typeface="Noto Sans SC"/>
              <a:ea typeface="Noto Sans SC"/>
              <a:cs typeface="Noto Sans SC"/>
              <a:sym typeface="Noto Sans SC"/>
            </a:endParaRPr>
          </a:p>
          <a:p>
            <a:pPr indent="0" algn="l">
              <a:lnSpc>
                <a:spcPct val="116666"/>
              </a:lnSpc>
            </a:pPr>
            <a:r>
              <a:rPr lang="en-US" sz="2400" b="0" i="0" u="none" strike="noStrike" dirty="0" err="1">
                <a:solidFill>
                  <a:srgbClr val="606060"/>
                </a:solidFill>
                <a:latin typeface="Noto Sans SC"/>
                <a:ea typeface="Noto Sans SC"/>
                <a:cs typeface="Noto Sans SC"/>
                <a:sym typeface="Noto Sans SC"/>
              </a:rPr>
              <a:t>门操作</a:t>
            </a:r>
            <a:r>
              <a:rPr lang="zh-CN" altLang="en-US" sz="2400" b="0" i="0" u="none" strike="noStrike" dirty="0">
                <a:solidFill>
                  <a:srgbClr val="606060"/>
                </a:solidFill>
                <a:latin typeface="Noto Sans SC"/>
                <a:ea typeface="Noto Sans SC"/>
                <a:cs typeface="Noto Sans SC"/>
                <a:sym typeface="Noto Sans SC"/>
              </a:rPr>
              <a:t>，测量操作等</a:t>
            </a:r>
            <a:r>
              <a:rPr lang="zh-CN" altLang="en-US" sz="2400" b="0" i="0" u="none" strike="noStrike" dirty="0">
                <a:solidFill>
                  <a:schemeClr val="accent2"/>
                </a:solidFill>
                <a:latin typeface="Noto Sans SC"/>
                <a:ea typeface="Noto Sans SC"/>
                <a:cs typeface="Noto Sans SC"/>
                <a:sym typeface="Noto Sans SC"/>
              </a:rPr>
              <a:t>无法</a:t>
            </a:r>
            <a:r>
              <a:rPr lang="en-US" sz="2400" b="0" i="0" u="none" strike="noStrike" dirty="0">
                <a:solidFill>
                  <a:schemeClr val="accent2"/>
                </a:solidFill>
                <a:latin typeface="Noto Sans SC"/>
                <a:ea typeface="Noto Sans SC"/>
                <a:cs typeface="Noto Sans SC"/>
                <a:sym typeface="Noto Sans SC"/>
              </a:rPr>
              <a:t>达到100%</a:t>
            </a:r>
            <a:r>
              <a:rPr lang="en-US" sz="2400" b="0" i="0" u="none" strike="noStrike" dirty="0">
                <a:solidFill>
                  <a:srgbClr val="606060"/>
                </a:solidFill>
                <a:latin typeface="Noto Sans SC"/>
                <a:ea typeface="Noto Sans SC"/>
                <a:cs typeface="Noto Sans SC"/>
                <a:sym typeface="Noto Sans SC"/>
              </a:rPr>
              <a:t>的精准度，每一步操作都可能引入比特翻转或相位翻转错误</a:t>
            </a:r>
            <a:r>
              <a:rPr lang="zh-CN" altLang="en-US" sz="2400" b="0" i="0" u="none" strike="noStrike" dirty="0">
                <a:solidFill>
                  <a:srgbClr val="606060"/>
                </a:solidFill>
                <a:latin typeface="Noto Sans SC"/>
                <a:ea typeface="Noto Sans SC"/>
                <a:cs typeface="Noto Sans SC"/>
                <a:sym typeface="Noto Sans SC"/>
              </a:rPr>
              <a:t>。</a:t>
            </a:r>
            <a:endParaRPr lang="en-US" sz="2400" b="0" i="0" u="none" strike="noStrike" dirty="0">
              <a:solidFill>
                <a:srgbClr val="606060"/>
              </a:solidFill>
              <a:latin typeface="Noto Sans SC"/>
              <a:ea typeface="Noto Sans SC"/>
              <a:cs typeface="Noto Sans SC"/>
              <a:sym typeface="Noto Sans SC"/>
            </a:endParaRPr>
          </a:p>
        </p:txBody>
      </p:sp>
    </p:spTree>
    <p:extLst>
      <p:ext uri="{BB962C8B-B14F-4D97-AF65-F5344CB8AC3E}">
        <p14:creationId xmlns:p14="http://schemas.microsoft.com/office/powerpoint/2010/main" val="83583116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6963-9915-7386-6CB9-EBF3610E3063}"/>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31FF7180-217E-300E-508C-226444340DFD}"/>
              </a:ext>
            </a:extLst>
          </p:cNvPr>
          <p:cNvSpPr/>
          <p:nvPr/>
        </p:nvSpPr>
        <p:spPr>
          <a:xfrm>
            <a:off x="202130" y="0"/>
            <a:ext cx="366860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dirty="0">
                <a:solidFill>
                  <a:srgbClr val="555555"/>
                </a:solidFill>
                <a:latin typeface="Noto Sans SC"/>
                <a:ea typeface="Noto Sans SC"/>
                <a:cs typeface="Noto Sans SC"/>
                <a:sym typeface="Noto Sans SC"/>
              </a:rPr>
              <a:t>研究内容与方法</a:t>
            </a:r>
            <a:endParaRPr lang="en-US" sz="3200" b="1" i="0" u="none" strike="noStrike" dirty="0">
              <a:solidFill>
                <a:srgbClr val="555555"/>
              </a:solidFill>
              <a:latin typeface="Noto Sans SC"/>
              <a:ea typeface="Noto Sans SC"/>
              <a:cs typeface="Noto Sans SC"/>
              <a:sym typeface="Noto Sans SC"/>
            </a:endParaRPr>
          </a:p>
        </p:txBody>
      </p:sp>
      <p:sp>
        <p:nvSpPr>
          <p:cNvPr id="3" name="文本框 2">
            <a:extLst>
              <a:ext uri="{FF2B5EF4-FFF2-40B4-BE49-F238E27FC236}">
                <a16:creationId xmlns:a16="http://schemas.microsoft.com/office/drawing/2014/main" id="{0B405C74-3D56-923D-089B-11C0D95DF269}"/>
              </a:ext>
            </a:extLst>
          </p:cNvPr>
          <p:cNvSpPr txBox="1"/>
          <p:nvPr/>
        </p:nvSpPr>
        <p:spPr>
          <a:xfrm>
            <a:off x="9252074" y="322626"/>
            <a:ext cx="1537300" cy="4524315"/>
          </a:xfrm>
          <a:prstGeom prst="rect">
            <a:avLst/>
          </a:prstGeom>
          <a:noFill/>
        </p:spPr>
        <p:txBody>
          <a:bodyPr wrap="square" rtlCol="0">
            <a:spAutoFit/>
          </a:bodyPr>
          <a:lstStyle/>
          <a:p>
            <a:r>
              <a:rPr lang="en-US" altLang="zh-CN" sz="3200" b="1" dirty="0"/>
              <a:t>3bit</a:t>
            </a:r>
            <a:r>
              <a:rPr lang="zh-CN" altLang="en-US" sz="3200" b="1" dirty="0"/>
              <a:t>码</a:t>
            </a:r>
            <a:r>
              <a:rPr lang="en-US" altLang="zh-CN" sz="3200" b="1" dirty="0"/>
              <a:t>(1985)</a:t>
            </a:r>
          </a:p>
          <a:p>
            <a:endParaRPr lang="en-US" altLang="zh-CN" sz="3200" b="1" dirty="0"/>
          </a:p>
          <a:p>
            <a:endParaRPr lang="en-US" altLang="zh-CN" sz="3200" b="1" dirty="0"/>
          </a:p>
          <a:p>
            <a:endParaRPr lang="en-US" altLang="zh-CN" sz="3200" b="1" dirty="0"/>
          </a:p>
          <a:p>
            <a:endParaRPr lang="en-US" altLang="zh-CN" sz="3200" b="1" dirty="0"/>
          </a:p>
          <a:p>
            <a:endParaRPr lang="en-US" altLang="zh-CN" sz="3200" b="1" dirty="0"/>
          </a:p>
          <a:p>
            <a:r>
              <a:rPr lang="en-US" altLang="zh-CN" sz="3200" b="1" dirty="0"/>
              <a:t>Shor</a:t>
            </a:r>
            <a:r>
              <a:rPr lang="zh-CN" altLang="en-US" sz="3200" b="1" dirty="0"/>
              <a:t>码</a:t>
            </a:r>
            <a:endParaRPr lang="en-US" altLang="zh-CN" sz="3200" b="1" dirty="0"/>
          </a:p>
          <a:p>
            <a:r>
              <a:rPr lang="en-US" altLang="zh-CN" sz="3200" b="1" dirty="0"/>
              <a:t>(1995)</a:t>
            </a:r>
            <a:endParaRPr lang="zh-CN" altLang="en-US" sz="3200" b="1" dirty="0"/>
          </a:p>
        </p:txBody>
      </p:sp>
      <p:sp>
        <p:nvSpPr>
          <p:cNvPr id="15" name="文本框 14">
            <a:extLst>
              <a:ext uri="{FF2B5EF4-FFF2-40B4-BE49-F238E27FC236}">
                <a16:creationId xmlns:a16="http://schemas.microsoft.com/office/drawing/2014/main" id="{72F28E1F-0515-7C4B-C713-D6C859858B95}"/>
              </a:ext>
            </a:extLst>
          </p:cNvPr>
          <p:cNvSpPr txBox="1"/>
          <p:nvPr/>
        </p:nvSpPr>
        <p:spPr>
          <a:xfrm>
            <a:off x="636404" y="1097051"/>
            <a:ext cx="1914291" cy="1200329"/>
          </a:xfrm>
          <a:prstGeom prst="rect">
            <a:avLst/>
          </a:prstGeom>
          <a:noFill/>
        </p:spPr>
        <p:txBody>
          <a:bodyPr wrap="square" rtlCol="0">
            <a:spAutoFit/>
          </a:bodyPr>
          <a:lstStyle/>
          <a:p>
            <a:r>
              <a:rPr lang="zh-CN" altLang="en-US" sz="2400" b="1" dirty="0">
                <a:solidFill>
                  <a:schemeClr val="accent2"/>
                </a:solidFill>
              </a:rPr>
              <a:t>目的</a:t>
            </a:r>
            <a:endParaRPr lang="en-US" altLang="zh-CN" sz="2400" b="1" dirty="0">
              <a:solidFill>
                <a:schemeClr val="accent2"/>
              </a:solidFill>
            </a:endParaRPr>
          </a:p>
          <a:p>
            <a:r>
              <a:rPr lang="en-US" altLang="zh-CN" sz="2400" b="1" dirty="0"/>
              <a:t>  1.</a:t>
            </a:r>
            <a:r>
              <a:rPr lang="zh-CN" altLang="en-US" sz="2400" b="1" dirty="0"/>
              <a:t>实现纠错</a:t>
            </a:r>
            <a:endParaRPr lang="en-US" altLang="zh-CN" sz="2400" b="1" dirty="0"/>
          </a:p>
          <a:p>
            <a:r>
              <a:rPr lang="en-US" altLang="zh-CN" sz="2400" b="1" dirty="0"/>
              <a:t>  2.</a:t>
            </a:r>
            <a:r>
              <a:rPr lang="zh-CN" altLang="en-US" sz="2400" b="1" dirty="0"/>
              <a:t>高效纠错</a:t>
            </a:r>
          </a:p>
        </p:txBody>
      </p:sp>
      <p:pic>
        <p:nvPicPr>
          <p:cNvPr id="16" name="图片 15">
            <a:extLst>
              <a:ext uri="{FF2B5EF4-FFF2-40B4-BE49-F238E27FC236}">
                <a16:creationId xmlns:a16="http://schemas.microsoft.com/office/drawing/2014/main" id="{996F143E-672F-516B-D6BE-EDF4CB44DD65}"/>
              </a:ext>
            </a:extLst>
          </p:cNvPr>
          <p:cNvPicPr>
            <a:picLocks noChangeAspect="1"/>
          </p:cNvPicPr>
          <p:nvPr/>
        </p:nvPicPr>
        <p:blipFill>
          <a:blip r:embed="rId2"/>
          <a:stretch>
            <a:fillRect/>
          </a:stretch>
        </p:blipFill>
        <p:spPr>
          <a:xfrm>
            <a:off x="880952" y="2754542"/>
            <a:ext cx="1486107" cy="2924583"/>
          </a:xfrm>
          <a:prstGeom prst="rect">
            <a:avLst/>
          </a:prstGeom>
        </p:spPr>
      </p:pic>
      <p:pic>
        <p:nvPicPr>
          <p:cNvPr id="17" name="图片 16">
            <a:extLst>
              <a:ext uri="{FF2B5EF4-FFF2-40B4-BE49-F238E27FC236}">
                <a16:creationId xmlns:a16="http://schemas.microsoft.com/office/drawing/2014/main" id="{9580E273-7127-A38B-A8A0-CAC345065205}"/>
              </a:ext>
            </a:extLst>
          </p:cNvPr>
          <p:cNvPicPr>
            <a:picLocks noChangeAspect="1"/>
          </p:cNvPicPr>
          <p:nvPr/>
        </p:nvPicPr>
        <p:blipFill>
          <a:blip r:embed="rId3"/>
          <a:stretch>
            <a:fillRect/>
          </a:stretch>
        </p:blipFill>
        <p:spPr>
          <a:xfrm>
            <a:off x="3580417" y="619900"/>
            <a:ext cx="4401164" cy="2943636"/>
          </a:xfrm>
          <a:prstGeom prst="rect">
            <a:avLst/>
          </a:prstGeom>
        </p:spPr>
      </p:pic>
      <p:pic>
        <p:nvPicPr>
          <p:cNvPr id="18" name="图片 17">
            <a:extLst>
              <a:ext uri="{FF2B5EF4-FFF2-40B4-BE49-F238E27FC236}">
                <a16:creationId xmlns:a16="http://schemas.microsoft.com/office/drawing/2014/main" id="{E7BD9FB1-5EDD-3A37-BADC-C3F9371B6972}"/>
              </a:ext>
            </a:extLst>
          </p:cNvPr>
          <p:cNvPicPr>
            <a:picLocks noChangeAspect="1"/>
          </p:cNvPicPr>
          <p:nvPr/>
        </p:nvPicPr>
        <p:blipFill>
          <a:blip r:embed="rId4"/>
          <a:stretch>
            <a:fillRect/>
          </a:stretch>
        </p:blipFill>
        <p:spPr>
          <a:xfrm>
            <a:off x="3572673" y="0"/>
            <a:ext cx="4333464" cy="722244"/>
          </a:xfrm>
          <a:prstGeom prst="rect">
            <a:avLst/>
          </a:prstGeom>
        </p:spPr>
      </p:pic>
      <p:pic>
        <p:nvPicPr>
          <p:cNvPr id="19" name="图片 18">
            <a:extLst>
              <a:ext uri="{FF2B5EF4-FFF2-40B4-BE49-F238E27FC236}">
                <a16:creationId xmlns:a16="http://schemas.microsoft.com/office/drawing/2014/main" id="{49E48E0D-2FF2-C469-EBBC-F54271DAA1BD}"/>
              </a:ext>
            </a:extLst>
          </p:cNvPr>
          <p:cNvPicPr>
            <a:picLocks noChangeAspect="1"/>
          </p:cNvPicPr>
          <p:nvPr/>
        </p:nvPicPr>
        <p:blipFill>
          <a:blip r:embed="rId5"/>
          <a:stretch>
            <a:fillRect/>
          </a:stretch>
        </p:blipFill>
        <p:spPr>
          <a:xfrm>
            <a:off x="3571193" y="3741193"/>
            <a:ext cx="4541568" cy="1479450"/>
          </a:xfrm>
          <a:prstGeom prst="rect">
            <a:avLst/>
          </a:prstGeom>
        </p:spPr>
      </p:pic>
      <p:pic>
        <p:nvPicPr>
          <p:cNvPr id="20" name="图片 19">
            <a:extLst>
              <a:ext uri="{FF2B5EF4-FFF2-40B4-BE49-F238E27FC236}">
                <a16:creationId xmlns:a16="http://schemas.microsoft.com/office/drawing/2014/main" id="{3168FDE7-BFCA-C64D-0486-1E93103BC048}"/>
              </a:ext>
            </a:extLst>
          </p:cNvPr>
          <p:cNvPicPr>
            <a:picLocks noChangeAspect="1"/>
          </p:cNvPicPr>
          <p:nvPr/>
        </p:nvPicPr>
        <p:blipFill>
          <a:blip r:embed="rId6"/>
          <a:stretch>
            <a:fillRect/>
          </a:stretch>
        </p:blipFill>
        <p:spPr>
          <a:xfrm>
            <a:off x="3577408" y="5707359"/>
            <a:ext cx="4431859" cy="1084882"/>
          </a:xfrm>
          <a:prstGeom prst="rect">
            <a:avLst/>
          </a:prstGeom>
        </p:spPr>
      </p:pic>
      <p:sp>
        <p:nvSpPr>
          <p:cNvPr id="2" name="文本框 1">
            <a:extLst>
              <a:ext uri="{FF2B5EF4-FFF2-40B4-BE49-F238E27FC236}">
                <a16:creationId xmlns:a16="http://schemas.microsoft.com/office/drawing/2014/main" id="{E5219C2E-831C-3C3F-9F44-2DA00E1F6702}"/>
              </a:ext>
            </a:extLst>
          </p:cNvPr>
          <p:cNvSpPr txBox="1"/>
          <p:nvPr/>
        </p:nvSpPr>
        <p:spPr>
          <a:xfrm>
            <a:off x="1083292" y="5634671"/>
            <a:ext cx="1034266" cy="584775"/>
          </a:xfrm>
          <a:prstGeom prst="rect">
            <a:avLst/>
          </a:prstGeom>
          <a:noFill/>
        </p:spPr>
        <p:txBody>
          <a:bodyPr wrap="square" rtlCol="0">
            <a:spAutoFit/>
          </a:bodyPr>
          <a:lstStyle/>
          <a:p>
            <a:r>
              <a:rPr lang="zh-CN" altLang="en-US" sz="3200" b="1" dirty="0"/>
              <a:t>经典</a:t>
            </a:r>
          </a:p>
        </p:txBody>
      </p:sp>
      <p:pic>
        <p:nvPicPr>
          <p:cNvPr id="5" name="图片 4">
            <a:extLst>
              <a:ext uri="{FF2B5EF4-FFF2-40B4-BE49-F238E27FC236}">
                <a16:creationId xmlns:a16="http://schemas.microsoft.com/office/drawing/2014/main" id="{7F2600A8-172B-1FB9-FF5F-23597167500F}"/>
              </a:ext>
            </a:extLst>
          </p:cNvPr>
          <p:cNvPicPr>
            <a:picLocks noChangeAspect="1"/>
          </p:cNvPicPr>
          <p:nvPr/>
        </p:nvPicPr>
        <p:blipFill>
          <a:blip r:embed="rId7"/>
          <a:stretch>
            <a:fillRect/>
          </a:stretch>
        </p:blipFill>
        <p:spPr>
          <a:xfrm>
            <a:off x="7810214" y="1624382"/>
            <a:ext cx="4166364" cy="869360"/>
          </a:xfrm>
          <a:prstGeom prst="rect">
            <a:avLst/>
          </a:prstGeom>
        </p:spPr>
      </p:pic>
      <p:pic>
        <p:nvPicPr>
          <p:cNvPr id="7" name="图片 6">
            <a:extLst>
              <a:ext uri="{FF2B5EF4-FFF2-40B4-BE49-F238E27FC236}">
                <a16:creationId xmlns:a16="http://schemas.microsoft.com/office/drawing/2014/main" id="{4DA162D1-A7B8-1410-3EAC-1F6B3A413154}"/>
              </a:ext>
            </a:extLst>
          </p:cNvPr>
          <p:cNvPicPr>
            <a:picLocks noChangeAspect="1"/>
          </p:cNvPicPr>
          <p:nvPr/>
        </p:nvPicPr>
        <p:blipFill>
          <a:blip r:embed="rId8"/>
          <a:stretch>
            <a:fillRect/>
          </a:stretch>
        </p:blipFill>
        <p:spPr>
          <a:xfrm>
            <a:off x="8312102" y="4959703"/>
            <a:ext cx="3131581" cy="698826"/>
          </a:xfrm>
          <a:prstGeom prst="rect">
            <a:avLst/>
          </a:prstGeom>
        </p:spPr>
      </p:pic>
    </p:spTree>
    <p:extLst>
      <p:ext uri="{BB962C8B-B14F-4D97-AF65-F5344CB8AC3E}">
        <p14:creationId xmlns:p14="http://schemas.microsoft.com/office/powerpoint/2010/main" val="8684240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BB5F8-7DC2-B746-DDC2-860316BE77EC}"/>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D3809318-0C83-008B-D2C4-943F5C44D8C1}"/>
              </a:ext>
            </a:extLst>
          </p:cNvPr>
          <p:cNvSpPr/>
          <p:nvPr/>
        </p:nvSpPr>
        <p:spPr>
          <a:xfrm>
            <a:off x="202130" y="0"/>
            <a:ext cx="366860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dirty="0">
                <a:solidFill>
                  <a:srgbClr val="555555"/>
                </a:solidFill>
                <a:latin typeface="Noto Sans SC"/>
                <a:ea typeface="Noto Sans SC"/>
                <a:cs typeface="Noto Sans SC"/>
                <a:sym typeface="Noto Sans SC"/>
              </a:rPr>
              <a:t>研究内容与方法</a:t>
            </a:r>
            <a:endParaRPr lang="en-US" sz="3200" b="1" i="0" u="none" strike="noStrike" dirty="0">
              <a:solidFill>
                <a:srgbClr val="555555"/>
              </a:solidFill>
              <a:latin typeface="Noto Sans SC"/>
              <a:ea typeface="Noto Sans SC"/>
              <a:cs typeface="Noto Sans SC"/>
              <a:sym typeface="Noto Sans SC"/>
            </a:endParaRPr>
          </a:p>
        </p:txBody>
      </p:sp>
      <p:sp>
        <p:nvSpPr>
          <p:cNvPr id="15" name="文本框 14">
            <a:extLst>
              <a:ext uri="{FF2B5EF4-FFF2-40B4-BE49-F238E27FC236}">
                <a16:creationId xmlns:a16="http://schemas.microsoft.com/office/drawing/2014/main" id="{AA3ADAC5-50DE-225A-770B-DB854C4AAE9C}"/>
              </a:ext>
            </a:extLst>
          </p:cNvPr>
          <p:cNvSpPr txBox="1"/>
          <p:nvPr/>
        </p:nvSpPr>
        <p:spPr>
          <a:xfrm>
            <a:off x="636404" y="1097051"/>
            <a:ext cx="1914291" cy="1200329"/>
          </a:xfrm>
          <a:prstGeom prst="rect">
            <a:avLst/>
          </a:prstGeom>
          <a:noFill/>
        </p:spPr>
        <p:txBody>
          <a:bodyPr wrap="square" rtlCol="0">
            <a:spAutoFit/>
          </a:bodyPr>
          <a:lstStyle/>
          <a:p>
            <a:r>
              <a:rPr lang="zh-CN" altLang="en-US" sz="2400" b="1" dirty="0">
                <a:solidFill>
                  <a:schemeClr val="accent2"/>
                </a:solidFill>
              </a:rPr>
              <a:t>目的</a:t>
            </a:r>
            <a:endParaRPr lang="en-US" altLang="zh-CN" sz="2400" b="1" dirty="0">
              <a:solidFill>
                <a:schemeClr val="accent2"/>
              </a:solidFill>
            </a:endParaRPr>
          </a:p>
          <a:p>
            <a:r>
              <a:rPr lang="en-US" altLang="zh-CN" sz="2400" b="1" dirty="0"/>
              <a:t>  </a:t>
            </a:r>
            <a:r>
              <a:rPr lang="en-US" altLang="zh-CN" sz="2400" b="1" strike="sngStrike" dirty="0"/>
              <a:t>1.</a:t>
            </a:r>
            <a:r>
              <a:rPr lang="zh-CN" altLang="en-US" sz="2400" b="1" strike="sngStrike" dirty="0"/>
              <a:t>实现纠错</a:t>
            </a:r>
            <a:endParaRPr lang="en-US" altLang="zh-CN" sz="2400" b="1" strike="sngStrike" dirty="0"/>
          </a:p>
          <a:p>
            <a:r>
              <a:rPr lang="en-US" altLang="zh-CN" sz="2400" b="1" dirty="0"/>
              <a:t>  2.</a:t>
            </a:r>
            <a:r>
              <a:rPr lang="zh-CN" altLang="en-US" sz="2400" b="1" dirty="0"/>
              <a:t>高效纠错</a:t>
            </a:r>
          </a:p>
        </p:txBody>
      </p:sp>
      <p:sp>
        <p:nvSpPr>
          <p:cNvPr id="2" name="文本框 1">
            <a:extLst>
              <a:ext uri="{FF2B5EF4-FFF2-40B4-BE49-F238E27FC236}">
                <a16:creationId xmlns:a16="http://schemas.microsoft.com/office/drawing/2014/main" id="{0410F30B-05C2-E0E6-3026-914F0789F5C5}"/>
              </a:ext>
            </a:extLst>
          </p:cNvPr>
          <p:cNvSpPr txBox="1"/>
          <p:nvPr/>
        </p:nvSpPr>
        <p:spPr>
          <a:xfrm>
            <a:off x="3709614" y="519537"/>
            <a:ext cx="3326216" cy="584775"/>
          </a:xfrm>
          <a:prstGeom prst="rect">
            <a:avLst/>
          </a:prstGeom>
          <a:noFill/>
        </p:spPr>
        <p:txBody>
          <a:bodyPr wrap="square" rtlCol="0">
            <a:spAutoFit/>
          </a:bodyPr>
          <a:lstStyle/>
          <a:p>
            <a:r>
              <a:rPr lang="zh-CN" altLang="en-US" sz="3200" b="1" dirty="0"/>
              <a:t>稳定子框架</a:t>
            </a:r>
          </a:p>
        </p:txBody>
      </p:sp>
      <p:sp>
        <p:nvSpPr>
          <p:cNvPr id="16" name="文本框 15">
            <a:extLst>
              <a:ext uri="{FF2B5EF4-FFF2-40B4-BE49-F238E27FC236}">
                <a16:creationId xmlns:a16="http://schemas.microsoft.com/office/drawing/2014/main" id="{6E01BBC5-3C8E-57FF-2FDB-477D93543F00}"/>
              </a:ext>
            </a:extLst>
          </p:cNvPr>
          <p:cNvSpPr txBox="1"/>
          <p:nvPr/>
        </p:nvSpPr>
        <p:spPr>
          <a:xfrm>
            <a:off x="3743989" y="1440813"/>
            <a:ext cx="7091307" cy="830997"/>
          </a:xfrm>
          <a:prstGeom prst="rect">
            <a:avLst/>
          </a:prstGeom>
          <a:noFill/>
        </p:spPr>
        <p:txBody>
          <a:bodyPr wrap="square" rtlCol="0">
            <a:spAutoFit/>
          </a:bodyPr>
          <a:lstStyle/>
          <a:p>
            <a:r>
              <a:rPr lang="zh-CN" altLang="en-US" sz="2400" b="1" dirty="0"/>
              <a:t>不直接设计纠错码本身而是通过指定</a:t>
            </a:r>
            <a:r>
              <a:rPr lang="zh-CN" altLang="en-US" sz="2400" b="1" dirty="0">
                <a:solidFill>
                  <a:schemeClr val="accent2"/>
                </a:solidFill>
              </a:rPr>
              <a:t>稳定操作</a:t>
            </a:r>
            <a:r>
              <a:rPr lang="zh-CN" altLang="en-US" sz="2400" b="1" dirty="0"/>
              <a:t>来获得对应的纠错码</a:t>
            </a:r>
          </a:p>
        </p:txBody>
      </p:sp>
      <p:pic>
        <p:nvPicPr>
          <p:cNvPr id="18" name="图片 17">
            <a:extLst>
              <a:ext uri="{FF2B5EF4-FFF2-40B4-BE49-F238E27FC236}">
                <a16:creationId xmlns:a16="http://schemas.microsoft.com/office/drawing/2014/main" id="{B74F5068-51DC-F120-A623-7B8B5898917A}"/>
              </a:ext>
            </a:extLst>
          </p:cNvPr>
          <p:cNvPicPr>
            <a:picLocks noChangeAspect="1"/>
          </p:cNvPicPr>
          <p:nvPr/>
        </p:nvPicPr>
        <p:blipFill>
          <a:blip r:embed="rId2"/>
          <a:stretch>
            <a:fillRect/>
          </a:stretch>
        </p:blipFill>
        <p:spPr>
          <a:xfrm>
            <a:off x="3762152" y="2420068"/>
            <a:ext cx="7129228" cy="706581"/>
          </a:xfrm>
          <a:prstGeom prst="rect">
            <a:avLst/>
          </a:prstGeom>
        </p:spPr>
      </p:pic>
      <p:sp>
        <p:nvSpPr>
          <p:cNvPr id="19" name="AutoShape 2">
            <a:extLst>
              <a:ext uri="{FF2B5EF4-FFF2-40B4-BE49-F238E27FC236}">
                <a16:creationId xmlns:a16="http://schemas.microsoft.com/office/drawing/2014/main" id="{AFE41E73-CF2C-C5CD-94CC-5E5E79D0393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pic>
        <p:nvPicPr>
          <p:cNvPr id="1028" name="Picture 4">
            <a:extLst>
              <a:ext uri="{FF2B5EF4-FFF2-40B4-BE49-F238E27FC236}">
                <a16:creationId xmlns:a16="http://schemas.microsoft.com/office/drawing/2014/main" id="{784D7776-AC79-CC11-9DC7-DBEB2C54EC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1935" y="2248184"/>
            <a:ext cx="3062896" cy="3062896"/>
          </a:xfrm>
          <a:prstGeom prst="rect">
            <a:avLst/>
          </a:prstGeom>
          <a:noFill/>
          <a:extLst>
            <a:ext uri="{909E8E84-426E-40DD-AFC4-6F175D3DCCD1}">
              <a14:hiddenFill xmlns:a14="http://schemas.microsoft.com/office/drawing/2010/main">
                <a:solidFill>
                  <a:srgbClr val="FFFFFF"/>
                </a:solidFill>
              </a14:hiddenFill>
            </a:ext>
          </a:extLst>
        </p:spPr>
      </p:pic>
      <p:sp>
        <p:nvSpPr>
          <p:cNvPr id="21" name="文本框 20">
            <a:extLst>
              <a:ext uri="{FF2B5EF4-FFF2-40B4-BE49-F238E27FC236}">
                <a16:creationId xmlns:a16="http://schemas.microsoft.com/office/drawing/2014/main" id="{D0EFC9D2-C125-4ED6-758B-8DA4575F4D81}"/>
              </a:ext>
            </a:extLst>
          </p:cNvPr>
          <p:cNvSpPr txBox="1"/>
          <p:nvPr/>
        </p:nvSpPr>
        <p:spPr>
          <a:xfrm>
            <a:off x="531108" y="4394207"/>
            <a:ext cx="2713981" cy="369332"/>
          </a:xfrm>
          <a:prstGeom prst="rect">
            <a:avLst/>
          </a:prstGeom>
          <a:noFill/>
        </p:spPr>
        <p:txBody>
          <a:bodyPr wrap="square">
            <a:spAutoFit/>
          </a:bodyPr>
          <a:lstStyle/>
          <a:p>
            <a:r>
              <a:rPr lang="en-US" altLang="zh-CN" b="0" i="1" dirty="0">
                <a:effectLst/>
                <a:latin typeface="Lucida Handwriting" panose="03010101010101010101" pitchFamily="66" charset="0"/>
              </a:rPr>
              <a:t>Daniel Gottesman</a:t>
            </a:r>
            <a:endParaRPr lang="zh-CN" altLang="en-US" dirty="0">
              <a:latin typeface="Lucida Handwriting" panose="03010101010101010101" pitchFamily="66" charset="0"/>
            </a:endParaRPr>
          </a:p>
        </p:txBody>
      </p:sp>
      <p:pic>
        <p:nvPicPr>
          <p:cNvPr id="5" name="图片 4">
            <a:extLst>
              <a:ext uri="{FF2B5EF4-FFF2-40B4-BE49-F238E27FC236}">
                <a16:creationId xmlns:a16="http://schemas.microsoft.com/office/drawing/2014/main" id="{57D6FD68-5605-22BC-0785-327A2F407E07}"/>
              </a:ext>
            </a:extLst>
          </p:cNvPr>
          <p:cNvPicPr>
            <a:picLocks noChangeAspect="1"/>
          </p:cNvPicPr>
          <p:nvPr/>
        </p:nvPicPr>
        <p:blipFill>
          <a:blip r:embed="rId4"/>
          <a:stretch>
            <a:fillRect/>
          </a:stretch>
        </p:blipFill>
        <p:spPr>
          <a:xfrm>
            <a:off x="220004" y="5348050"/>
            <a:ext cx="3219597" cy="1420572"/>
          </a:xfrm>
          <a:prstGeom prst="rect">
            <a:avLst/>
          </a:prstGeom>
        </p:spPr>
      </p:pic>
      <p:pic>
        <p:nvPicPr>
          <p:cNvPr id="7" name="图片 6">
            <a:extLst>
              <a:ext uri="{FF2B5EF4-FFF2-40B4-BE49-F238E27FC236}">
                <a16:creationId xmlns:a16="http://schemas.microsoft.com/office/drawing/2014/main" id="{517A666C-D2A2-6D63-876F-591EAF3E6A99}"/>
              </a:ext>
            </a:extLst>
          </p:cNvPr>
          <p:cNvPicPr>
            <a:picLocks noChangeAspect="1"/>
          </p:cNvPicPr>
          <p:nvPr/>
        </p:nvPicPr>
        <p:blipFill>
          <a:blip r:embed="rId5"/>
          <a:stretch>
            <a:fillRect/>
          </a:stretch>
        </p:blipFill>
        <p:spPr>
          <a:xfrm>
            <a:off x="3561347" y="3356556"/>
            <a:ext cx="2861043" cy="2678612"/>
          </a:xfrm>
          <a:prstGeom prst="rect">
            <a:avLst/>
          </a:prstGeom>
        </p:spPr>
      </p:pic>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535DC316-6D8B-B9B4-D151-CF925684CBF5}"/>
                  </a:ext>
                </a:extLst>
              </p:cNvPr>
              <p:cNvSpPr txBox="1"/>
              <p:nvPr/>
            </p:nvSpPr>
            <p:spPr>
              <a:xfrm>
                <a:off x="6519398" y="3618287"/>
                <a:ext cx="5491556" cy="2223686"/>
              </a:xfrm>
              <a:prstGeom prst="rect">
                <a:avLst/>
              </a:prstGeom>
              <a:noFill/>
            </p:spPr>
            <p:txBody>
              <a:bodyPr wrap="square">
                <a:spAutoFit/>
              </a:bodyPr>
              <a:lstStyle/>
              <a:p>
                <a:pPr algn="l">
                  <a:spcBef>
                    <a:spcPts val="300"/>
                  </a:spcBef>
                  <a:buFont typeface="Arial" panose="020B0604020202020204" pitchFamily="34" charset="0"/>
                  <a:buChar char="•"/>
                </a:pPr>
                <a:r>
                  <a:rPr lang="zh-CN" altLang="en-US" b="1" i="0" dirty="0">
                    <a:solidFill>
                      <a:schemeClr val="tx1"/>
                    </a:solidFill>
                    <a:effectLst/>
                    <a:latin typeface="quote-cjk-patch"/>
                  </a:rPr>
                  <a:t>在一群</a:t>
                </a:r>
                <a14:m>
                  <m:oMath xmlns:m="http://schemas.openxmlformats.org/officeDocument/2006/math">
                    <m:r>
                      <a:rPr lang="zh-CN" altLang="en-US" b="1" i="1">
                        <a:solidFill>
                          <a:schemeClr val="tx1"/>
                        </a:solidFill>
                        <a:latin typeface="Cambria Math" panose="02040503050406030204" pitchFamily="18" charset="0"/>
                      </a:rPr>
                      <m:t>𝒏</m:t>
                    </m:r>
                  </m:oMath>
                </a14:m>
                <a:r>
                  <a:rPr lang="zh-CN" altLang="en-US" b="1" i="0" dirty="0">
                    <a:solidFill>
                      <a:schemeClr val="tx1"/>
                    </a:solidFill>
                    <a:effectLst/>
                    <a:latin typeface="quote-cjk-patch"/>
                  </a:rPr>
                  <a:t>个量子比特上，选择一组可对易的泡利算符作为稳定子生成元。</a:t>
                </a:r>
              </a:p>
              <a:p>
                <a:pPr algn="l">
                  <a:spcBef>
                    <a:spcPts val="450"/>
                  </a:spcBef>
                  <a:buFont typeface="Arial" panose="020B0604020202020204" pitchFamily="34" charset="0"/>
                  <a:buChar char="•"/>
                </a:pPr>
                <a:r>
                  <a:rPr lang="zh-CN" altLang="en-US" b="1" i="0" dirty="0">
                    <a:solidFill>
                      <a:schemeClr val="tx1"/>
                    </a:solidFill>
                    <a:effectLst/>
                    <a:latin typeface="quote-cjk-patch"/>
                  </a:rPr>
                  <a:t>这组生成元唯一地定义了一个编码空间（所有</a:t>
                </a:r>
                <a14:m>
                  <m:oMath xmlns:m="http://schemas.openxmlformats.org/officeDocument/2006/math">
                    <m:r>
                      <a:rPr lang="en-US" altLang="zh-CN" b="1">
                        <a:solidFill>
                          <a:schemeClr val="tx1"/>
                        </a:solidFill>
                        <a:latin typeface="Cambria Math" panose="02040503050406030204" pitchFamily="18" charset="0"/>
                      </a:rPr>
                      <m:t>+</m:t>
                    </m:r>
                    <m:r>
                      <a:rPr lang="en-US" altLang="zh-CN" b="1" i="0">
                        <a:solidFill>
                          <a:schemeClr val="tx1"/>
                        </a:solidFill>
                        <a:latin typeface="Cambria Math" panose="02040503050406030204" pitchFamily="18" charset="0"/>
                      </a:rPr>
                      <m:t>𝟏</m:t>
                    </m:r>
                  </m:oMath>
                </a14:m>
                <a:r>
                  <a:rPr lang="zh-CN" altLang="en-US" b="1" i="0" dirty="0">
                    <a:solidFill>
                      <a:schemeClr val="tx1"/>
                    </a:solidFill>
                    <a:effectLst/>
                    <a:latin typeface="quote-cjk-patch"/>
                  </a:rPr>
                  <a:t>本征态的公共空间）。</a:t>
                </a:r>
              </a:p>
              <a:p>
                <a:pPr algn="l">
                  <a:spcBef>
                    <a:spcPts val="450"/>
                  </a:spcBef>
                  <a:buFont typeface="Arial" panose="020B0604020202020204" pitchFamily="34" charset="0"/>
                  <a:buChar char="•"/>
                </a:pPr>
                <a:r>
                  <a:rPr lang="zh-CN" altLang="en-US" b="1" i="0" dirty="0">
                    <a:solidFill>
                      <a:schemeClr val="tx1"/>
                    </a:solidFill>
                    <a:effectLst/>
                    <a:latin typeface="quote-cjk-patch"/>
                  </a:rPr>
                  <a:t>通过测量这些生成元，得到错误综合征。</a:t>
                </a:r>
              </a:p>
              <a:p>
                <a:pPr algn="l">
                  <a:spcBef>
                    <a:spcPts val="450"/>
                  </a:spcBef>
                  <a:buFont typeface="Arial" panose="020B0604020202020204" pitchFamily="34" charset="0"/>
                  <a:buChar char="•"/>
                </a:pPr>
                <a:r>
                  <a:rPr lang="zh-CN" altLang="en-US" b="1" i="0" dirty="0">
                    <a:solidFill>
                      <a:schemeClr val="tx1"/>
                    </a:solidFill>
                    <a:effectLst/>
                    <a:latin typeface="quote-cjk-patch"/>
                  </a:rPr>
                  <a:t>再根据综合征寻找对应的恢复操作。整个过程非常系统化、算法化。</a:t>
                </a:r>
              </a:p>
            </p:txBody>
          </p:sp>
        </mc:Choice>
        <mc:Fallback xmlns="">
          <p:sp>
            <p:nvSpPr>
              <p:cNvPr id="9" name="文本框 8">
                <a:extLst>
                  <a:ext uri="{FF2B5EF4-FFF2-40B4-BE49-F238E27FC236}">
                    <a16:creationId xmlns:a16="http://schemas.microsoft.com/office/drawing/2014/main" id="{535DC316-6D8B-B9B4-D151-CF925684CBF5}"/>
                  </a:ext>
                </a:extLst>
              </p:cNvPr>
              <p:cNvSpPr txBox="1">
                <a:spLocks noRot="1" noChangeAspect="1" noMove="1" noResize="1" noEditPoints="1" noAdjustHandles="1" noChangeArrowheads="1" noChangeShapeType="1" noTextEdit="1"/>
              </p:cNvSpPr>
              <p:nvPr/>
            </p:nvSpPr>
            <p:spPr>
              <a:xfrm>
                <a:off x="6519398" y="3618287"/>
                <a:ext cx="5491556" cy="2223686"/>
              </a:xfrm>
              <a:prstGeom prst="rect">
                <a:avLst/>
              </a:prstGeom>
              <a:blipFill>
                <a:blip r:embed="rId6"/>
                <a:stretch>
                  <a:fillRect l="-888" t="-1648" r="-333" b="-357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2286733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99D1B-ED58-C9CA-FAFF-5D4528FAB1B3}"/>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EA9E7FB1-71ED-7CC1-4229-59090000504F}"/>
              </a:ext>
            </a:extLst>
          </p:cNvPr>
          <p:cNvSpPr/>
          <p:nvPr/>
        </p:nvSpPr>
        <p:spPr>
          <a:xfrm>
            <a:off x="202130" y="0"/>
            <a:ext cx="366860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dirty="0">
                <a:solidFill>
                  <a:srgbClr val="555555"/>
                </a:solidFill>
                <a:latin typeface="Noto Sans SC"/>
                <a:ea typeface="Noto Sans SC"/>
                <a:cs typeface="Noto Sans SC"/>
                <a:sym typeface="Noto Sans SC"/>
              </a:rPr>
              <a:t>研究内容与方法</a:t>
            </a:r>
            <a:endParaRPr lang="en-US" sz="3200" b="1" i="0" u="none" strike="noStrike" dirty="0">
              <a:solidFill>
                <a:srgbClr val="555555"/>
              </a:solidFill>
              <a:latin typeface="Noto Sans SC"/>
              <a:ea typeface="Noto Sans SC"/>
              <a:cs typeface="Noto Sans SC"/>
              <a:sym typeface="Noto Sans SC"/>
            </a:endParaRPr>
          </a:p>
        </p:txBody>
      </p:sp>
      <p:sp>
        <p:nvSpPr>
          <p:cNvPr id="15" name="文本框 14">
            <a:extLst>
              <a:ext uri="{FF2B5EF4-FFF2-40B4-BE49-F238E27FC236}">
                <a16:creationId xmlns:a16="http://schemas.microsoft.com/office/drawing/2014/main" id="{A401C706-637F-2097-C4B6-E2D0E026A20C}"/>
              </a:ext>
            </a:extLst>
          </p:cNvPr>
          <p:cNvSpPr txBox="1"/>
          <p:nvPr/>
        </p:nvSpPr>
        <p:spPr>
          <a:xfrm>
            <a:off x="636404" y="1097051"/>
            <a:ext cx="1914291" cy="1200329"/>
          </a:xfrm>
          <a:prstGeom prst="rect">
            <a:avLst/>
          </a:prstGeom>
          <a:noFill/>
        </p:spPr>
        <p:txBody>
          <a:bodyPr wrap="square" rtlCol="0">
            <a:spAutoFit/>
          </a:bodyPr>
          <a:lstStyle/>
          <a:p>
            <a:r>
              <a:rPr lang="zh-CN" altLang="en-US" sz="2400" b="1" dirty="0">
                <a:solidFill>
                  <a:schemeClr val="accent2"/>
                </a:solidFill>
              </a:rPr>
              <a:t>目的</a:t>
            </a:r>
            <a:endParaRPr lang="en-US" altLang="zh-CN" sz="2400" b="1" dirty="0">
              <a:solidFill>
                <a:schemeClr val="accent2"/>
              </a:solidFill>
            </a:endParaRPr>
          </a:p>
          <a:p>
            <a:r>
              <a:rPr lang="en-US" altLang="zh-CN" sz="2400" b="1" dirty="0"/>
              <a:t>  </a:t>
            </a:r>
            <a:r>
              <a:rPr lang="en-US" altLang="zh-CN" sz="2400" b="1" strike="sngStrike" dirty="0"/>
              <a:t>1.</a:t>
            </a:r>
            <a:r>
              <a:rPr lang="zh-CN" altLang="en-US" sz="2400" b="1" strike="sngStrike" dirty="0"/>
              <a:t>实现纠错</a:t>
            </a:r>
            <a:endParaRPr lang="en-US" altLang="zh-CN" sz="2400" b="1" strike="sngStrike" dirty="0"/>
          </a:p>
          <a:p>
            <a:r>
              <a:rPr lang="en-US" altLang="zh-CN" sz="2400" b="1" dirty="0"/>
              <a:t>  2.</a:t>
            </a:r>
            <a:r>
              <a:rPr lang="zh-CN" altLang="en-US" sz="2400" b="1" dirty="0"/>
              <a:t>高效纠错</a:t>
            </a:r>
          </a:p>
        </p:txBody>
      </p:sp>
      <p:sp>
        <p:nvSpPr>
          <p:cNvPr id="19" name="AutoShape 2">
            <a:extLst>
              <a:ext uri="{FF2B5EF4-FFF2-40B4-BE49-F238E27FC236}">
                <a16:creationId xmlns:a16="http://schemas.microsoft.com/office/drawing/2014/main" id="{E6B9ACC8-E33D-360C-8AD3-9D13B3EBC44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文本框 21">
            <a:extLst>
              <a:ext uri="{FF2B5EF4-FFF2-40B4-BE49-F238E27FC236}">
                <a16:creationId xmlns:a16="http://schemas.microsoft.com/office/drawing/2014/main" id="{4719FE4F-AE65-169C-6AF5-26ED0F8DBCC8}"/>
              </a:ext>
            </a:extLst>
          </p:cNvPr>
          <p:cNvSpPr txBox="1"/>
          <p:nvPr/>
        </p:nvSpPr>
        <p:spPr>
          <a:xfrm>
            <a:off x="3635132" y="142548"/>
            <a:ext cx="5295737" cy="1015663"/>
          </a:xfrm>
          <a:prstGeom prst="rect">
            <a:avLst/>
          </a:prstGeom>
          <a:noFill/>
        </p:spPr>
        <p:txBody>
          <a:bodyPr wrap="square" rtlCol="0">
            <a:spAutoFit/>
          </a:bodyPr>
          <a:lstStyle/>
          <a:p>
            <a:r>
              <a:rPr lang="zh-CN" altLang="en-US" sz="2000" b="1" dirty="0"/>
              <a:t>离散码</a:t>
            </a:r>
            <a:endParaRPr lang="en-US" altLang="zh-CN" sz="2000" b="1" dirty="0"/>
          </a:p>
          <a:p>
            <a:r>
              <a:rPr lang="zh-CN" altLang="en-US" sz="2000" b="1" dirty="0"/>
              <a:t>  表面码</a:t>
            </a:r>
            <a:endParaRPr lang="en-US" altLang="zh-CN" sz="2000" b="1" dirty="0"/>
          </a:p>
          <a:p>
            <a:r>
              <a:rPr lang="en-US" altLang="zh-CN" sz="2000" b="1" dirty="0"/>
              <a:t>  (</a:t>
            </a:r>
            <a:r>
              <a:rPr lang="zh-CN" altLang="en-US" sz="2000" b="1" dirty="0"/>
              <a:t>引入拓扑结构来设计稳定子群</a:t>
            </a:r>
            <a:r>
              <a:rPr lang="en-US" altLang="zh-CN" sz="2000" b="1" dirty="0"/>
              <a:t>)</a:t>
            </a:r>
          </a:p>
        </p:txBody>
      </p:sp>
      <p:sp>
        <p:nvSpPr>
          <p:cNvPr id="8" name="文本框 7">
            <a:extLst>
              <a:ext uri="{FF2B5EF4-FFF2-40B4-BE49-F238E27FC236}">
                <a16:creationId xmlns:a16="http://schemas.microsoft.com/office/drawing/2014/main" id="{C78F4915-D691-54DA-0314-E54A352DF8A5}"/>
              </a:ext>
            </a:extLst>
          </p:cNvPr>
          <p:cNvSpPr txBox="1"/>
          <p:nvPr/>
        </p:nvSpPr>
        <p:spPr>
          <a:xfrm>
            <a:off x="8053708" y="4202855"/>
            <a:ext cx="2734606" cy="369332"/>
          </a:xfrm>
          <a:prstGeom prst="rect">
            <a:avLst/>
          </a:prstGeom>
          <a:noFill/>
        </p:spPr>
        <p:txBody>
          <a:bodyPr wrap="square">
            <a:spAutoFit/>
          </a:bodyPr>
          <a:lstStyle/>
          <a:p>
            <a:r>
              <a:rPr lang="en-US" altLang="zh-CN" b="1" dirty="0"/>
              <a:t>2012</a:t>
            </a:r>
            <a:r>
              <a:rPr lang="zh-CN" altLang="en-US" b="1" dirty="0"/>
              <a:t>可扩展性理论提出</a:t>
            </a:r>
            <a:endParaRPr lang="en-US" altLang="zh-CN" b="1" dirty="0"/>
          </a:p>
        </p:txBody>
      </p:sp>
      <p:pic>
        <p:nvPicPr>
          <p:cNvPr id="11" name="图片 10">
            <a:extLst>
              <a:ext uri="{FF2B5EF4-FFF2-40B4-BE49-F238E27FC236}">
                <a16:creationId xmlns:a16="http://schemas.microsoft.com/office/drawing/2014/main" id="{9751E4CD-BAC5-AD5A-DC13-507600ED44A0}"/>
              </a:ext>
            </a:extLst>
          </p:cNvPr>
          <p:cNvPicPr>
            <a:picLocks noChangeAspect="1"/>
          </p:cNvPicPr>
          <p:nvPr/>
        </p:nvPicPr>
        <p:blipFill>
          <a:blip r:embed="rId2"/>
          <a:stretch>
            <a:fillRect/>
          </a:stretch>
        </p:blipFill>
        <p:spPr>
          <a:xfrm>
            <a:off x="3840356" y="1711922"/>
            <a:ext cx="4008945" cy="1311786"/>
          </a:xfrm>
          <a:prstGeom prst="rect">
            <a:avLst/>
          </a:prstGeom>
        </p:spPr>
      </p:pic>
      <p:pic>
        <p:nvPicPr>
          <p:cNvPr id="13" name="图片 12">
            <a:extLst>
              <a:ext uri="{FF2B5EF4-FFF2-40B4-BE49-F238E27FC236}">
                <a16:creationId xmlns:a16="http://schemas.microsoft.com/office/drawing/2014/main" id="{7F446E11-91C0-9C9C-569D-646C4E118BE6}"/>
              </a:ext>
            </a:extLst>
          </p:cNvPr>
          <p:cNvPicPr>
            <a:picLocks noChangeAspect="1"/>
          </p:cNvPicPr>
          <p:nvPr/>
        </p:nvPicPr>
        <p:blipFill>
          <a:blip r:embed="rId3"/>
          <a:stretch>
            <a:fillRect/>
          </a:stretch>
        </p:blipFill>
        <p:spPr>
          <a:xfrm>
            <a:off x="9026205" y="0"/>
            <a:ext cx="3165795" cy="2032683"/>
          </a:xfrm>
          <a:prstGeom prst="rect">
            <a:avLst/>
          </a:prstGeom>
        </p:spPr>
      </p:pic>
      <p:sp>
        <p:nvSpPr>
          <p:cNvPr id="20" name="文本框 19">
            <a:extLst>
              <a:ext uri="{FF2B5EF4-FFF2-40B4-BE49-F238E27FC236}">
                <a16:creationId xmlns:a16="http://schemas.microsoft.com/office/drawing/2014/main" id="{DCA9813D-7DBF-2176-DD1E-8914DC9A5596}"/>
              </a:ext>
            </a:extLst>
          </p:cNvPr>
          <p:cNvSpPr txBox="1"/>
          <p:nvPr/>
        </p:nvSpPr>
        <p:spPr>
          <a:xfrm>
            <a:off x="7998708" y="2257172"/>
            <a:ext cx="2734606" cy="369332"/>
          </a:xfrm>
          <a:prstGeom prst="rect">
            <a:avLst/>
          </a:prstGeom>
          <a:noFill/>
        </p:spPr>
        <p:txBody>
          <a:bodyPr wrap="square">
            <a:spAutoFit/>
          </a:bodyPr>
          <a:lstStyle/>
          <a:p>
            <a:r>
              <a:rPr lang="en-US" altLang="zh-CN" b="1" i="0" dirty="0">
                <a:effectLst/>
                <a:latin typeface="quote-cjk-patch"/>
              </a:rPr>
              <a:t>1997 surface code</a:t>
            </a:r>
            <a:r>
              <a:rPr lang="zh-CN" altLang="en-US" b="1" dirty="0">
                <a:latin typeface="quote-cjk-patch"/>
              </a:rPr>
              <a:t>问世</a:t>
            </a:r>
            <a:endParaRPr lang="zh-CN" altLang="en-US" b="1" dirty="0"/>
          </a:p>
        </p:txBody>
      </p:sp>
      <p:sp>
        <p:nvSpPr>
          <p:cNvPr id="23" name="文本框 22">
            <a:extLst>
              <a:ext uri="{FF2B5EF4-FFF2-40B4-BE49-F238E27FC236}">
                <a16:creationId xmlns:a16="http://schemas.microsoft.com/office/drawing/2014/main" id="{C6DB144F-74D2-084D-18E7-0E321D077EAF}"/>
              </a:ext>
            </a:extLst>
          </p:cNvPr>
          <p:cNvSpPr txBox="1"/>
          <p:nvPr/>
        </p:nvSpPr>
        <p:spPr>
          <a:xfrm>
            <a:off x="7978081" y="3254078"/>
            <a:ext cx="3915993" cy="923330"/>
          </a:xfrm>
          <a:prstGeom prst="rect">
            <a:avLst/>
          </a:prstGeom>
          <a:noFill/>
        </p:spPr>
        <p:txBody>
          <a:bodyPr wrap="square">
            <a:spAutoFit/>
          </a:bodyPr>
          <a:lstStyle/>
          <a:p>
            <a:r>
              <a:rPr lang="en-US" altLang="zh-CN" b="1" i="0" dirty="0">
                <a:effectLst/>
                <a:latin typeface="quote-cjk-patch"/>
              </a:rPr>
              <a:t>2002 surface code</a:t>
            </a:r>
            <a:r>
              <a:rPr lang="zh-CN" altLang="en-US" b="1" i="0" dirty="0">
                <a:effectLst/>
                <a:latin typeface="quote-cjk-patch"/>
              </a:rPr>
              <a:t>理论框架正式成形</a:t>
            </a:r>
            <a:endParaRPr lang="en-US" altLang="zh-CN" b="1" i="0" dirty="0">
              <a:effectLst/>
              <a:latin typeface="quote-cjk-patch"/>
            </a:endParaRPr>
          </a:p>
          <a:p>
            <a:r>
              <a:rPr lang="zh-CN" altLang="en-US" b="1" dirty="0">
                <a:latin typeface="quote-cjk-patch"/>
              </a:rPr>
              <a:t>          纠错阈值为</a:t>
            </a:r>
            <a:r>
              <a:rPr lang="en-US" altLang="zh-CN" b="1" dirty="0">
                <a:latin typeface="quote-cjk-patch"/>
              </a:rPr>
              <a:t>0.75% ~ 1.1%</a:t>
            </a:r>
            <a:endParaRPr lang="zh-CN" altLang="en-US" b="1" dirty="0"/>
          </a:p>
          <a:p>
            <a:endParaRPr lang="zh-CN" altLang="en-US" b="1" dirty="0"/>
          </a:p>
        </p:txBody>
      </p:sp>
      <p:pic>
        <p:nvPicPr>
          <p:cNvPr id="32" name="图片 31">
            <a:extLst>
              <a:ext uri="{FF2B5EF4-FFF2-40B4-BE49-F238E27FC236}">
                <a16:creationId xmlns:a16="http://schemas.microsoft.com/office/drawing/2014/main" id="{5F4FA5CC-73FE-ADFB-071A-E7B8F3C0E7C6}"/>
              </a:ext>
            </a:extLst>
          </p:cNvPr>
          <p:cNvPicPr>
            <a:picLocks noChangeAspect="1"/>
          </p:cNvPicPr>
          <p:nvPr/>
        </p:nvPicPr>
        <p:blipFill>
          <a:blip r:embed="rId4"/>
          <a:stretch>
            <a:fillRect/>
          </a:stretch>
        </p:blipFill>
        <p:spPr>
          <a:xfrm>
            <a:off x="3705727" y="3012621"/>
            <a:ext cx="4372620" cy="757710"/>
          </a:xfrm>
          <a:prstGeom prst="rect">
            <a:avLst/>
          </a:prstGeom>
        </p:spPr>
      </p:pic>
      <p:pic>
        <p:nvPicPr>
          <p:cNvPr id="34" name="图片 33">
            <a:extLst>
              <a:ext uri="{FF2B5EF4-FFF2-40B4-BE49-F238E27FC236}">
                <a16:creationId xmlns:a16="http://schemas.microsoft.com/office/drawing/2014/main" id="{44918AA6-38C5-4893-EF36-2199804F19CE}"/>
              </a:ext>
            </a:extLst>
          </p:cNvPr>
          <p:cNvPicPr>
            <a:picLocks noChangeAspect="1"/>
          </p:cNvPicPr>
          <p:nvPr/>
        </p:nvPicPr>
        <p:blipFill>
          <a:blip r:embed="rId5"/>
          <a:stretch>
            <a:fillRect/>
          </a:stretch>
        </p:blipFill>
        <p:spPr>
          <a:xfrm>
            <a:off x="4398046" y="3968455"/>
            <a:ext cx="3150910" cy="794685"/>
          </a:xfrm>
          <a:prstGeom prst="rect">
            <a:avLst/>
          </a:prstGeom>
        </p:spPr>
      </p:pic>
      <p:sp>
        <p:nvSpPr>
          <p:cNvPr id="35" name="文本框 34">
            <a:extLst>
              <a:ext uri="{FF2B5EF4-FFF2-40B4-BE49-F238E27FC236}">
                <a16:creationId xmlns:a16="http://schemas.microsoft.com/office/drawing/2014/main" id="{00BE91D8-C9F9-1520-E488-20FDB7F2FE34}"/>
              </a:ext>
            </a:extLst>
          </p:cNvPr>
          <p:cNvSpPr txBox="1"/>
          <p:nvPr/>
        </p:nvSpPr>
        <p:spPr>
          <a:xfrm>
            <a:off x="1654055" y="5345277"/>
            <a:ext cx="8129337" cy="646331"/>
          </a:xfrm>
          <a:prstGeom prst="rect">
            <a:avLst/>
          </a:prstGeom>
          <a:noFill/>
        </p:spPr>
        <p:txBody>
          <a:bodyPr wrap="square">
            <a:spAutoFit/>
          </a:bodyPr>
          <a:lstStyle/>
          <a:p>
            <a:r>
              <a:rPr lang="zh-CN" altLang="en-US" b="1" i="0" dirty="0">
                <a:effectLst/>
                <a:latin typeface="quote-cjk-patch"/>
              </a:rPr>
              <a:t>表面码原理简单，物理实现简易同时又具备不错的纠错能力再加上其扩展性成为稳定子框架后最广泛使用的纠错码之一</a:t>
            </a:r>
            <a:endParaRPr lang="zh-CN" altLang="en-US" b="1" dirty="0"/>
          </a:p>
        </p:txBody>
      </p:sp>
    </p:spTree>
    <p:extLst>
      <p:ext uri="{BB962C8B-B14F-4D97-AF65-F5344CB8AC3E}">
        <p14:creationId xmlns:p14="http://schemas.microsoft.com/office/powerpoint/2010/main" val="11744813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9DC56-6A7A-9CDF-6B98-7C7CB593B148}"/>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9694AB2B-EF69-A017-0607-1265C41F2C11}"/>
              </a:ext>
            </a:extLst>
          </p:cNvPr>
          <p:cNvSpPr/>
          <p:nvPr/>
        </p:nvSpPr>
        <p:spPr>
          <a:xfrm>
            <a:off x="202130" y="0"/>
            <a:ext cx="366860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dirty="0">
                <a:solidFill>
                  <a:srgbClr val="555555"/>
                </a:solidFill>
                <a:latin typeface="Noto Sans SC"/>
                <a:ea typeface="Noto Sans SC"/>
                <a:cs typeface="Noto Sans SC"/>
                <a:sym typeface="Noto Sans SC"/>
              </a:rPr>
              <a:t>研究内容与方法</a:t>
            </a:r>
            <a:endParaRPr lang="en-US" sz="3200" b="1" i="0" u="none" strike="noStrike" dirty="0">
              <a:solidFill>
                <a:srgbClr val="555555"/>
              </a:solidFill>
              <a:latin typeface="Noto Sans SC"/>
              <a:ea typeface="Noto Sans SC"/>
              <a:cs typeface="Noto Sans SC"/>
              <a:sym typeface="Noto Sans SC"/>
            </a:endParaRPr>
          </a:p>
        </p:txBody>
      </p:sp>
      <p:sp>
        <p:nvSpPr>
          <p:cNvPr id="15" name="文本框 14">
            <a:extLst>
              <a:ext uri="{FF2B5EF4-FFF2-40B4-BE49-F238E27FC236}">
                <a16:creationId xmlns:a16="http://schemas.microsoft.com/office/drawing/2014/main" id="{2A102DEC-B725-50DC-B553-AE4BDF46E1BC}"/>
              </a:ext>
            </a:extLst>
          </p:cNvPr>
          <p:cNvSpPr txBox="1"/>
          <p:nvPr/>
        </p:nvSpPr>
        <p:spPr>
          <a:xfrm>
            <a:off x="636404" y="1097051"/>
            <a:ext cx="1914291" cy="1200329"/>
          </a:xfrm>
          <a:prstGeom prst="rect">
            <a:avLst/>
          </a:prstGeom>
          <a:noFill/>
        </p:spPr>
        <p:txBody>
          <a:bodyPr wrap="square" rtlCol="0">
            <a:spAutoFit/>
          </a:bodyPr>
          <a:lstStyle/>
          <a:p>
            <a:r>
              <a:rPr lang="zh-CN" altLang="en-US" sz="2400" b="1" dirty="0">
                <a:solidFill>
                  <a:schemeClr val="accent2"/>
                </a:solidFill>
              </a:rPr>
              <a:t>目的</a:t>
            </a:r>
            <a:endParaRPr lang="en-US" altLang="zh-CN" sz="2400" b="1" dirty="0">
              <a:solidFill>
                <a:schemeClr val="accent2"/>
              </a:solidFill>
            </a:endParaRPr>
          </a:p>
          <a:p>
            <a:r>
              <a:rPr lang="en-US" altLang="zh-CN" sz="2400" b="1" dirty="0"/>
              <a:t>  </a:t>
            </a:r>
            <a:r>
              <a:rPr lang="en-US" altLang="zh-CN" sz="2400" b="1" strike="sngStrike" dirty="0"/>
              <a:t>1.</a:t>
            </a:r>
            <a:r>
              <a:rPr lang="zh-CN" altLang="en-US" sz="2400" b="1" strike="sngStrike" dirty="0"/>
              <a:t>实现纠错</a:t>
            </a:r>
            <a:endParaRPr lang="en-US" altLang="zh-CN" sz="2400" b="1" strike="sngStrike" dirty="0"/>
          </a:p>
          <a:p>
            <a:r>
              <a:rPr lang="en-US" altLang="zh-CN" sz="2400" b="1" dirty="0"/>
              <a:t>  2.</a:t>
            </a:r>
            <a:r>
              <a:rPr lang="zh-CN" altLang="en-US" sz="2400" b="1" dirty="0"/>
              <a:t>高效纠错</a:t>
            </a:r>
          </a:p>
        </p:txBody>
      </p:sp>
      <p:sp>
        <p:nvSpPr>
          <p:cNvPr id="19" name="AutoShape 2">
            <a:extLst>
              <a:ext uri="{FF2B5EF4-FFF2-40B4-BE49-F238E27FC236}">
                <a16:creationId xmlns:a16="http://schemas.microsoft.com/office/drawing/2014/main" id="{355D1131-3CA7-146D-7370-78501460DB7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文本框 21">
            <a:extLst>
              <a:ext uri="{FF2B5EF4-FFF2-40B4-BE49-F238E27FC236}">
                <a16:creationId xmlns:a16="http://schemas.microsoft.com/office/drawing/2014/main" id="{E6FC070C-F7B2-6BB0-19CB-40801FC9EDA3}"/>
              </a:ext>
            </a:extLst>
          </p:cNvPr>
          <p:cNvSpPr txBox="1"/>
          <p:nvPr/>
        </p:nvSpPr>
        <p:spPr>
          <a:xfrm>
            <a:off x="3635132" y="142548"/>
            <a:ext cx="5295737" cy="1015663"/>
          </a:xfrm>
          <a:prstGeom prst="rect">
            <a:avLst/>
          </a:prstGeom>
          <a:noFill/>
        </p:spPr>
        <p:txBody>
          <a:bodyPr wrap="square" rtlCol="0">
            <a:spAutoFit/>
          </a:bodyPr>
          <a:lstStyle/>
          <a:p>
            <a:r>
              <a:rPr lang="zh-CN" altLang="en-US" sz="2000" b="1" dirty="0"/>
              <a:t>连续码</a:t>
            </a:r>
            <a:endParaRPr lang="en-US" altLang="zh-CN" sz="2000" b="1" dirty="0"/>
          </a:p>
          <a:p>
            <a:r>
              <a:rPr lang="zh-CN" altLang="en-US" sz="2000" b="1" dirty="0"/>
              <a:t>  </a:t>
            </a:r>
            <a:r>
              <a:rPr lang="en-US" altLang="zh-CN" sz="2000" b="1" dirty="0"/>
              <a:t>GKP</a:t>
            </a:r>
            <a:r>
              <a:rPr lang="zh-CN" altLang="en-US" sz="2000" b="1" dirty="0"/>
              <a:t>码</a:t>
            </a:r>
            <a:endParaRPr lang="en-US" altLang="zh-CN" sz="2000" b="1" dirty="0"/>
          </a:p>
          <a:p>
            <a:r>
              <a:rPr lang="en-US" altLang="zh-CN" sz="2000" b="1" dirty="0"/>
              <a:t>  (</a:t>
            </a:r>
            <a:r>
              <a:rPr lang="zh-CN" altLang="en-US" sz="2000" b="1" dirty="0"/>
              <a:t>引入谐振子模式来设计稳定子群</a:t>
            </a:r>
            <a:r>
              <a:rPr lang="en-US" altLang="zh-CN" sz="2000" b="1" dirty="0"/>
              <a:t>)</a:t>
            </a:r>
          </a:p>
        </p:txBody>
      </p:sp>
      <p:pic>
        <p:nvPicPr>
          <p:cNvPr id="3" name="图片 2">
            <a:extLst>
              <a:ext uri="{FF2B5EF4-FFF2-40B4-BE49-F238E27FC236}">
                <a16:creationId xmlns:a16="http://schemas.microsoft.com/office/drawing/2014/main" id="{83612AA9-22E0-DDBB-CD60-FF1F73881112}"/>
              </a:ext>
            </a:extLst>
          </p:cNvPr>
          <p:cNvPicPr>
            <a:picLocks noChangeAspect="1"/>
          </p:cNvPicPr>
          <p:nvPr/>
        </p:nvPicPr>
        <p:blipFill>
          <a:blip r:embed="rId2"/>
          <a:stretch>
            <a:fillRect/>
          </a:stretch>
        </p:blipFill>
        <p:spPr>
          <a:xfrm>
            <a:off x="3073210" y="1292535"/>
            <a:ext cx="5746996" cy="1273634"/>
          </a:xfrm>
          <a:prstGeom prst="rect">
            <a:avLst/>
          </a:prstGeom>
        </p:spPr>
      </p:pic>
      <p:sp>
        <p:nvSpPr>
          <p:cNvPr id="4" name="文本框 3">
            <a:extLst>
              <a:ext uri="{FF2B5EF4-FFF2-40B4-BE49-F238E27FC236}">
                <a16:creationId xmlns:a16="http://schemas.microsoft.com/office/drawing/2014/main" id="{19F0025C-DD8F-99B2-D8ED-EE0DC348E03E}"/>
              </a:ext>
            </a:extLst>
          </p:cNvPr>
          <p:cNvSpPr txBox="1"/>
          <p:nvPr/>
        </p:nvSpPr>
        <p:spPr>
          <a:xfrm>
            <a:off x="8830606" y="1865286"/>
            <a:ext cx="2734606" cy="369332"/>
          </a:xfrm>
          <a:prstGeom prst="rect">
            <a:avLst/>
          </a:prstGeom>
          <a:noFill/>
        </p:spPr>
        <p:txBody>
          <a:bodyPr wrap="square">
            <a:spAutoFit/>
          </a:bodyPr>
          <a:lstStyle/>
          <a:p>
            <a:r>
              <a:rPr lang="en-US" altLang="zh-CN" b="1" dirty="0">
                <a:latin typeface="quote-cjk-patch"/>
              </a:rPr>
              <a:t>2001</a:t>
            </a:r>
            <a:r>
              <a:rPr lang="en-US" altLang="zh-CN" b="1" i="0" dirty="0">
                <a:effectLst/>
                <a:latin typeface="quote-cjk-patch"/>
              </a:rPr>
              <a:t> GKP code</a:t>
            </a:r>
            <a:r>
              <a:rPr lang="zh-CN" altLang="en-US" b="1" dirty="0">
                <a:latin typeface="quote-cjk-patch"/>
              </a:rPr>
              <a:t>问世</a:t>
            </a:r>
            <a:endParaRPr lang="zh-CN" altLang="en-US" b="1" dirty="0"/>
          </a:p>
        </p:txBody>
      </p:sp>
      <p:pic>
        <p:nvPicPr>
          <p:cNvPr id="6" name="图片 5">
            <a:extLst>
              <a:ext uri="{FF2B5EF4-FFF2-40B4-BE49-F238E27FC236}">
                <a16:creationId xmlns:a16="http://schemas.microsoft.com/office/drawing/2014/main" id="{865B1292-D19F-51D8-9A35-78F37215D61F}"/>
              </a:ext>
            </a:extLst>
          </p:cNvPr>
          <p:cNvPicPr>
            <a:picLocks noChangeAspect="1"/>
          </p:cNvPicPr>
          <p:nvPr/>
        </p:nvPicPr>
        <p:blipFill>
          <a:blip r:embed="rId3"/>
          <a:stretch>
            <a:fillRect/>
          </a:stretch>
        </p:blipFill>
        <p:spPr>
          <a:xfrm>
            <a:off x="3987609" y="2487964"/>
            <a:ext cx="4290117" cy="818700"/>
          </a:xfrm>
          <a:prstGeom prst="rect">
            <a:avLst/>
          </a:prstGeom>
        </p:spPr>
      </p:pic>
      <p:sp>
        <p:nvSpPr>
          <p:cNvPr id="7" name="文本框 6">
            <a:extLst>
              <a:ext uri="{FF2B5EF4-FFF2-40B4-BE49-F238E27FC236}">
                <a16:creationId xmlns:a16="http://schemas.microsoft.com/office/drawing/2014/main" id="{8C6082D3-DA6A-3C71-11A8-241A3C2EED83}"/>
              </a:ext>
            </a:extLst>
          </p:cNvPr>
          <p:cNvSpPr txBox="1"/>
          <p:nvPr/>
        </p:nvSpPr>
        <p:spPr>
          <a:xfrm>
            <a:off x="8879878" y="2787707"/>
            <a:ext cx="2734606" cy="646331"/>
          </a:xfrm>
          <a:prstGeom prst="rect">
            <a:avLst/>
          </a:prstGeom>
          <a:noFill/>
        </p:spPr>
        <p:txBody>
          <a:bodyPr wrap="square">
            <a:spAutoFit/>
          </a:bodyPr>
          <a:lstStyle/>
          <a:p>
            <a:r>
              <a:rPr lang="en-US" altLang="zh-CN" b="1" dirty="0">
                <a:latin typeface="quote-cjk-patch"/>
              </a:rPr>
              <a:t>2005</a:t>
            </a:r>
            <a:r>
              <a:rPr lang="en-US" altLang="zh-CN" b="1" i="0" dirty="0">
                <a:effectLst/>
                <a:latin typeface="quote-cjk-patch"/>
              </a:rPr>
              <a:t> GKP code</a:t>
            </a:r>
            <a:r>
              <a:rPr lang="zh-CN" altLang="en-US" b="1" i="0" dirty="0">
                <a:effectLst/>
                <a:latin typeface="quote-cjk-patch"/>
              </a:rPr>
              <a:t>完整理论框架成形</a:t>
            </a:r>
            <a:endParaRPr lang="zh-CN" altLang="en-US" b="1" dirty="0"/>
          </a:p>
        </p:txBody>
      </p:sp>
      <p:sp>
        <p:nvSpPr>
          <p:cNvPr id="9" name="文本框 8">
            <a:extLst>
              <a:ext uri="{FF2B5EF4-FFF2-40B4-BE49-F238E27FC236}">
                <a16:creationId xmlns:a16="http://schemas.microsoft.com/office/drawing/2014/main" id="{CE492CD7-1CB3-A75A-80F5-2FDDD504A638}"/>
              </a:ext>
            </a:extLst>
          </p:cNvPr>
          <p:cNvSpPr txBox="1"/>
          <p:nvPr/>
        </p:nvSpPr>
        <p:spPr>
          <a:xfrm>
            <a:off x="1915312" y="4313999"/>
            <a:ext cx="8218715" cy="646331"/>
          </a:xfrm>
          <a:prstGeom prst="rect">
            <a:avLst/>
          </a:prstGeom>
          <a:noFill/>
        </p:spPr>
        <p:txBody>
          <a:bodyPr wrap="square">
            <a:spAutoFit/>
          </a:bodyPr>
          <a:lstStyle/>
          <a:p>
            <a:r>
              <a:rPr lang="en-US" altLang="zh-CN" b="1" dirty="0">
                <a:latin typeface="quote-cjk-patch"/>
              </a:rPr>
              <a:t>GKP</a:t>
            </a:r>
            <a:r>
              <a:rPr lang="zh-CN" altLang="en-US" b="1" dirty="0">
                <a:latin typeface="quote-cjk-patch"/>
              </a:rPr>
              <a:t>码对于解决微小位移或者相位偏移等噪声天生具有优势，相比于离散码可以通过更少的硬件资源实现类似的纠错效果</a:t>
            </a:r>
            <a:endParaRPr lang="zh-CN" altLang="en-US" b="1" dirty="0"/>
          </a:p>
        </p:txBody>
      </p:sp>
    </p:spTree>
    <p:extLst>
      <p:ext uri="{BB962C8B-B14F-4D97-AF65-F5344CB8AC3E}">
        <p14:creationId xmlns:p14="http://schemas.microsoft.com/office/powerpoint/2010/main" val="94502708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7A3DD-BDB0-8FDF-299D-3C75E0BB3FC5}"/>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0FA86F9B-136E-816F-E2A8-D724A334BCBC}"/>
              </a:ext>
            </a:extLst>
          </p:cNvPr>
          <p:cNvSpPr/>
          <p:nvPr/>
        </p:nvSpPr>
        <p:spPr>
          <a:xfrm>
            <a:off x="202130" y="0"/>
            <a:ext cx="366860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dirty="0">
                <a:solidFill>
                  <a:srgbClr val="555555"/>
                </a:solidFill>
                <a:latin typeface="Noto Sans SC"/>
                <a:ea typeface="Noto Sans SC"/>
                <a:cs typeface="Noto Sans SC"/>
                <a:sym typeface="Noto Sans SC"/>
              </a:rPr>
              <a:t>研究内容与方法</a:t>
            </a:r>
            <a:endParaRPr lang="en-US" sz="3200" b="1" i="0" u="none" strike="noStrike" dirty="0">
              <a:solidFill>
                <a:srgbClr val="555555"/>
              </a:solidFill>
              <a:latin typeface="Noto Sans SC"/>
              <a:ea typeface="Noto Sans SC"/>
              <a:cs typeface="Noto Sans SC"/>
              <a:sym typeface="Noto Sans SC"/>
            </a:endParaRPr>
          </a:p>
        </p:txBody>
      </p:sp>
      <p:sp>
        <p:nvSpPr>
          <p:cNvPr id="19" name="AutoShape 2">
            <a:extLst>
              <a:ext uri="{FF2B5EF4-FFF2-40B4-BE49-F238E27FC236}">
                <a16:creationId xmlns:a16="http://schemas.microsoft.com/office/drawing/2014/main" id="{7E0AFA13-B24D-95F5-E8CC-2357A094481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 name="文本框 1">
            <a:extLst>
              <a:ext uri="{FF2B5EF4-FFF2-40B4-BE49-F238E27FC236}">
                <a16:creationId xmlns:a16="http://schemas.microsoft.com/office/drawing/2014/main" id="{DB9F4537-8047-1839-86F2-B7AB1F0FA7E6}"/>
              </a:ext>
            </a:extLst>
          </p:cNvPr>
          <p:cNvSpPr txBox="1"/>
          <p:nvPr/>
        </p:nvSpPr>
        <p:spPr>
          <a:xfrm>
            <a:off x="506923" y="1118824"/>
            <a:ext cx="10967766" cy="2308324"/>
          </a:xfrm>
          <a:prstGeom prst="rect">
            <a:avLst/>
          </a:prstGeom>
          <a:noFill/>
        </p:spPr>
        <p:txBody>
          <a:bodyPr wrap="square" rtlCol="0">
            <a:spAutoFit/>
          </a:bodyPr>
          <a:lstStyle/>
          <a:p>
            <a:r>
              <a:rPr lang="zh-CN" altLang="en-US" sz="2400" b="1" dirty="0"/>
              <a:t>连续码作为底层，离散码作为上层形成混合码</a:t>
            </a:r>
            <a:endParaRPr lang="en-US" altLang="zh-CN" sz="2400" b="1" dirty="0"/>
          </a:p>
          <a:p>
            <a:endParaRPr lang="en-US" altLang="zh-CN" sz="2400" b="1" dirty="0"/>
          </a:p>
          <a:p>
            <a:r>
              <a:rPr lang="zh-CN" altLang="en-US" sz="2400" b="1" dirty="0"/>
              <a:t>前者修复噪声带来的</a:t>
            </a:r>
            <a:r>
              <a:rPr lang="zh-CN" altLang="en-US" sz="2400" b="1" dirty="0">
                <a:solidFill>
                  <a:schemeClr val="accent2"/>
                </a:solidFill>
              </a:rPr>
              <a:t>微小</a:t>
            </a:r>
            <a:r>
              <a:rPr lang="en-US" altLang="zh-CN" sz="2400" b="1" dirty="0">
                <a:solidFill>
                  <a:schemeClr val="accent2"/>
                </a:solidFill>
              </a:rPr>
              <a:t>	</a:t>
            </a:r>
            <a:r>
              <a:rPr lang="zh-CN" altLang="en-US" sz="2400" b="1" dirty="0">
                <a:solidFill>
                  <a:schemeClr val="accent2"/>
                </a:solidFill>
              </a:rPr>
              <a:t>位移以及相位偏移</a:t>
            </a:r>
            <a:endParaRPr lang="en-US" altLang="zh-CN" sz="2400" b="1" dirty="0">
              <a:solidFill>
                <a:schemeClr val="accent2"/>
              </a:solidFill>
            </a:endParaRPr>
          </a:p>
          <a:p>
            <a:r>
              <a:rPr lang="zh-CN" altLang="en-US" sz="2400" b="1" dirty="0"/>
              <a:t>后者修复噪声带来的</a:t>
            </a:r>
            <a:r>
              <a:rPr lang="zh-CN" altLang="en-US" sz="2400" b="1" dirty="0">
                <a:solidFill>
                  <a:schemeClr val="accent2"/>
                </a:solidFill>
              </a:rPr>
              <a:t>明显</a:t>
            </a:r>
            <a:r>
              <a:rPr lang="zh-CN" altLang="en-US" sz="2400" b="1" dirty="0"/>
              <a:t>的</a:t>
            </a:r>
            <a:r>
              <a:rPr lang="zh-CN" altLang="en-US" sz="2400" b="1" dirty="0">
                <a:solidFill>
                  <a:schemeClr val="accent2"/>
                </a:solidFill>
              </a:rPr>
              <a:t>比特或者相位反转</a:t>
            </a:r>
            <a:endParaRPr lang="en-US" altLang="zh-CN" sz="2400" b="1" dirty="0">
              <a:solidFill>
                <a:schemeClr val="accent2"/>
              </a:solidFill>
            </a:endParaRPr>
          </a:p>
          <a:p>
            <a:endParaRPr lang="en-US" altLang="zh-CN" sz="2400" b="1" dirty="0"/>
          </a:p>
          <a:p>
            <a:endParaRPr lang="en-US" altLang="zh-CN" sz="2400" b="1" dirty="0"/>
          </a:p>
        </p:txBody>
      </p:sp>
      <p:pic>
        <p:nvPicPr>
          <p:cNvPr id="4" name="图片 3">
            <a:extLst>
              <a:ext uri="{FF2B5EF4-FFF2-40B4-BE49-F238E27FC236}">
                <a16:creationId xmlns:a16="http://schemas.microsoft.com/office/drawing/2014/main" id="{260E5693-E870-1404-7CEB-3A77550F45B5}"/>
              </a:ext>
            </a:extLst>
          </p:cNvPr>
          <p:cNvPicPr>
            <a:picLocks noChangeAspect="1"/>
          </p:cNvPicPr>
          <p:nvPr/>
        </p:nvPicPr>
        <p:blipFill>
          <a:blip r:embed="rId2"/>
          <a:stretch>
            <a:fillRect/>
          </a:stretch>
        </p:blipFill>
        <p:spPr>
          <a:xfrm>
            <a:off x="2495694" y="3151743"/>
            <a:ext cx="7542081" cy="1159182"/>
          </a:xfrm>
          <a:prstGeom prst="rect">
            <a:avLst/>
          </a:prstGeom>
        </p:spPr>
      </p:pic>
      <p:sp>
        <p:nvSpPr>
          <p:cNvPr id="6" name="文本框 5">
            <a:extLst>
              <a:ext uri="{FF2B5EF4-FFF2-40B4-BE49-F238E27FC236}">
                <a16:creationId xmlns:a16="http://schemas.microsoft.com/office/drawing/2014/main" id="{23A9C2B0-571F-1F59-75DD-E5EDA043932B}"/>
              </a:ext>
            </a:extLst>
          </p:cNvPr>
          <p:cNvSpPr txBox="1"/>
          <p:nvPr/>
        </p:nvSpPr>
        <p:spPr>
          <a:xfrm>
            <a:off x="2414909" y="5073857"/>
            <a:ext cx="9307286" cy="646331"/>
          </a:xfrm>
          <a:prstGeom prst="rect">
            <a:avLst/>
          </a:prstGeom>
          <a:noFill/>
        </p:spPr>
        <p:txBody>
          <a:bodyPr wrap="square">
            <a:spAutoFit/>
          </a:bodyPr>
          <a:lstStyle/>
          <a:p>
            <a:r>
              <a:rPr lang="en-US" altLang="zh-CN" sz="1800" b="1" dirty="0"/>
              <a:t>2019 GKP</a:t>
            </a:r>
            <a:r>
              <a:rPr lang="zh-CN" altLang="en-US" sz="1800" b="1" dirty="0"/>
              <a:t>码表面码相互级联</a:t>
            </a:r>
            <a:r>
              <a:rPr lang="en-US" altLang="zh-CN" sz="1800" b="1" dirty="0"/>
              <a:t>(GKP</a:t>
            </a:r>
            <a:r>
              <a:rPr lang="zh-CN" altLang="en-US" sz="1800" b="1" dirty="0"/>
              <a:t>码的逻辑比特作为表面码的物理比特</a:t>
            </a:r>
            <a:r>
              <a:rPr lang="en-US" altLang="zh-CN" sz="1800" b="1" dirty="0"/>
              <a:t>)</a:t>
            </a:r>
          </a:p>
          <a:p>
            <a:r>
              <a:rPr lang="en-US" altLang="zh-CN" sz="1800" b="1" dirty="0"/>
              <a:t>          </a:t>
            </a:r>
            <a:r>
              <a:rPr lang="zh-CN" altLang="en-US" sz="1800" b="1" dirty="0"/>
              <a:t>证明混合路径的更小开销对于实现大规模容错至关重要</a:t>
            </a:r>
            <a:endParaRPr lang="en-US" altLang="zh-CN" sz="1800" b="1" dirty="0"/>
          </a:p>
        </p:txBody>
      </p:sp>
    </p:spTree>
    <p:extLst>
      <p:ext uri="{BB962C8B-B14F-4D97-AF65-F5344CB8AC3E}">
        <p14:creationId xmlns:p14="http://schemas.microsoft.com/office/powerpoint/2010/main" val="33746270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581A3-5F0D-556E-A41B-A21AC990AC57}"/>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3F8D7458-57DF-CE3A-C989-84FE0A6B7DED}"/>
              </a:ext>
            </a:extLst>
          </p:cNvPr>
          <p:cNvSpPr/>
          <p:nvPr/>
        </p:nvSpPr>
        <p:spPr>
          <a:xfrm>
            <a:off x="202130" y="0"/>
            <a:ext cx="184805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i="0" u="none" strike="noStrike" dirty="0">
                <a:solidFill>
                  <a:srgbClr val="555555"/>
                </a:solidFill>
                <a:latin typeface="Noto Sans SC"/>
                <a:ea typeface="Noto Sans SC"/>
                <a:cs typeface="Noto Sans SC"/>
                <a:sym typeface="Noto Sans SC"/>
              </a:rPr>
              <a:t>现状</a:t>
            </a:r>
            <a:endParaRPr lang="en-US" sz="3200" b="1" i="0" u="none" strike="noStrike" dirty="0">
              <a:solidFill>
                <a:srgbClr val="555555"/>
              </a:solidFill>
              <a:latin typeface="Noto Sans SC"/>
              <a:ea typeface="Noto Sans SC"/>
              <a:cs typeface="Noto Sans SC"/>
              <a:sym typeface="Noto Sans SC"/>
            </a:endParaRPr>
          </a:p>
        </p:txBody>
      </p:sp>
      <p:sp>
        <p:nvSpPr>
          <p:cNvPr id="9" name="文本框 8">
            <a:extLst>
              <a:ext uri="{FF2B5EF4-FFF2-40B4-BE49-F238E27FC236}">
                <a16:creationId xmlns:a16="http://schemas.microsoft.com/office/drawing/2014/main" id="{905F08C2-6837-942A-926E-F8EFF88930BD}"/>
              </a:ext>
            </a:extLst>
          </p:cNvPr>
          <p:cNvSpPr txBox="1"/>
          <p:nvPr/>
        </p:nvSpPr>
        <p:spPr>
          <a:xfrm>
            <a:off x="1576137" y="405605"/>
            <a:ext cx="9307286" cy="369332"/>
          </a:xfrm>
          <a:prstGeom prst="rect">
            <a:avLst/>
          </a:prstGeom>
          <a:noFill/>
        </p:spPr>
        <p:txBody>
          <a:bodyPr wrap="square">
            <a:spAutoFit/>
          </a:bodyPr>
          <a:lstStyle/>
          <a:p>
            <a:r>
              <a:rPr lang="zh-CN" altLang="en-US" sz="1800" b="1" dirty="0"/>
              <a:t>理论框架相对完善，缺乏物理实现条件</a:t>
            </a:r>
            <a:endParaRPr lang="en-US" altLang="zh-CN" sz="1800" b="1" dirty="0"/>
          </a:p>
        </p:txBody>
      </p:sp>
      <p:pic>
        <p:nvPicPr>
          <p:cNvPr id="3" name="图片 2">
            <a:extLst>
              <a:ext uri="{FF2B5EF4-FFF2-40B4-BE49-F238E27FC236}">
                <a16:creationId xmlns:a16="http://schemas.microsoft.com/office/drawing/2014/main" id="{7A7BDCD4-4E20-36DE-6069-560A7F2E6B5D}"/>
              </a:ext>
            </a:extLst>
          </p:cNvPr>
          <p:cNvPicPr>
            <a:picLocks noChangeAspect="1"/>
          </p:cNvPicPr>
          <p:nvPr/>
        </p:nvPicPr>
        <p:blipFill>
          <a:blip r:embed="rId2"/>
          <a:stretch>
            <a:fillRect/>
          </a:stretch>
        </p:blipFill>
        <p:spPr>
          <a:xfrm>
            <a:off x="1285660" y="1086278"/>
            <a:ext cx="6507826" cy="1493860"/>
          </a:xfrm>
          <a:prstGeom prst="rect">
            <a:avLst/>
          </a:prstGeom>
        </p:spPr>
      </p:pic>
      <p:pic>
        <p:nvPicPr>
          <p:cNvPr id="4" name="图片 3">
            <a:extLst>
              <a:ext uri="{FF2B5EF4-FFF2-40B4-BE49-F238E27FC236}">
                <a16:creationId xmlns:a16="http://schemas.microsoft.com/office/drawing/2014/main" id="{C74A3BC0-B856-9C4B-F9EE-78BD97B8C9DC}"/>
              </a:ext>
            </a:extLst>
          </p:cNvPr>
          <p:cNvPicPr>
            <a:picLocks noChangeAspect="1"/>
          </p:cNvPicPr>
          <p:nvPr/>
        </p:nvPicPr>
        <p:blipFill>
          <a:blip r:embed="rId3"/>
          <a:stretch>
            <a:fillRect/>
          </a:stretch>
        </p:blipFill>
        <p:spPr>
          <a:xfrm>
            <a:off x="6701323" y="2660698"/>
            <a:ext cx="4449393" cy="3743540"/>
          </a:xfrm>
          <a:prstGeom prst="rect">
            <a:avLst/>
          </a:prstGeom>
        </p:spPr>
      </p:pic>
      <p:pic>
        <p:nvPicPr>
          <p:cNvPr id="8" name="图片 7">
            <a:extLst>
              <a:ext uri="{FF2B5EF4-FFF2-40B4-BE49-F238E27FC236}">
                <a16:creationId xmlns:a16="http://schemas.microsoft.com/office/drawing/2014/main" id="{C8ACAD61-0174-514A-232B-B81E1B8DAA79}"/>
              </a:ext>
            </a:extLst>
          </p:cNvPr>
          <p:cNvPicPr>
            <a:picLocks noChangeAspect="1"/>
          </p:cNvPicPr>
          <p:nvPr/>
        </p:nvPicPr>
        <p:blipFill>
          <a:blip r:embed="rId4"/>
          <a:stretch>
            <a:fillRect/>
          </a:stretch>
        </p:blipFill>
        <p:spPr>
          <a:xfrm>
            <a:off x="1526292" y="2744318"/>
            <a:ext cx="4446636" cy="3653044"/>
          </a:xfrm>
          <a:prstGeom prst="rect">
            <a:avLst/>
          </a:prstGeom>
        </p:spPr>
      </p:pic>
    </p:spTree>
    <p:extLst>
      <p:ext uri="{BB962C8B-B14F-4D97-AF65-F5344CB8AC3E}">
        <p14:creationId xmlns:p14="http://schemas.microsoft.com/office/powerpoint/2010/main" val="92653042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83971-B743-3900-D4F8-28A5F51C8362}"/>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E95DE28C-4D1C-9473-86B0-F3C6127E25EF}"/>
              </a:ext>
            </a:extLst>
          </p:cNvPr>
          <p:cNvSpPr/>
          <p:nvPr/>
        </p:nvSpPr>
        <p:spPr>
          <a:xfrm>
            <a:off x="202130" y="0"/>
            <a:ext cx="1848051"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i="0" u="none" strike="noStrike" dirty="0">
                <a:solidFill>
                  <a:srgbClr val="555555"/>
                </a:solidFill>
                <a:latin typeface="Noto Sans SC"/>
                <a:ea typeface="Noto Sans SC"/>
                <a:cs typeface="Noto Sans SC"/>
                <a:sym typeface="Noto Sans SC"/>
              </a:rPr>
              <a:t>现状</a:t>
            </a:r>
            <a:endParaRPr lang="en-US" sz="3200" b="1" i="0" u="none" strike="noStrike" dirty="0">
              <a:solidFill>
                <a:srgbClr val="555555"/>
              </a:solidFill>
              <a:latin typeface="Noto Sans SC"/>
              <a:ea typeface="Noto Sans SC"/>
              <a:cs typeface="Noto Sans SC"/>
              <a:sym typeface="Noto Sans SC"/>
            </a:endParaRPr>
          </a:p>
        </p:txBody>
      </p:sp>
      <p:sp>
        <p:nvSpPr>
          <p:cNvPr id="9" name="文本框 8">
            <a:extLst>
              <a:ext uri="{FF2B5EF4-FFF2-40B4-BE49-F238E27FC236}">
                <a16:creationId xmlns:a16="http://schemas.microsoft.com/office/drawing/2014/main" id="{1EE86881-A88B-430C-B673-71E1771188FF}"/>
              </a:ext>
            </a:extLst>
          </p:cNvPr>
          <p:cNvSpPr txBox="1"/>
          <p:nvPr/>
        </p:nvSpPr>
        <p:spPr>
          <a:xfrm>
            <a:off x="1576137" y="405605"/>
            <a:ext cx="9307286" cy="369332"/>
          </a:xfrm>
          <a:prstGeom prst="rect">
            <a:avLst/>
          </a:prstGeom>
          <a:noFill/>
        </p:spPr>
        <p:txBody>
          <a:bodyPr wrap="square">
            <a:spAutoFit/>
          </a:bodyPr>
          <a:lstStyle/>
          <a:p>
            <a:r>
              <a:rPr lang="zh-CN" altLang="en-US" sz="1800" b="1" dirty="0"/>
              <a:t>理论框架相对完善，缺乏物理实现条件</a:t>
            </a:r>
            <a:endParaRPr lang="en-US" altLang="zh-CN" sz="1800" b="1" dirty="0"/>
          </a:p>
        </p:txBody>
      </p:sp>
      <p:pic>
        <p:nvPicPr>
          <p:cNvPr id="14" name="图片 13">
            <a:extLst>
              <a:ext uri="{FF2B5EF4-FFF2-40B4-BE49-F238E27FC236}">
                <a16:creationId xmlns:a16="http://schemas.microsoft.com/office/drawing/2014/main" id="{D77290CA-37FB-FD8D-EF7C-DE5683A006CE}"/>
              </a:ext>
            </a:extLst>
          </p:cNvPr>
          <p:cNvPicPr>
            <a:picLocks noChangeAspect="1"/>
          </p:cNvPicPr>
          <p:nvPr/>
        </p:nvPicPr>
        <p:blipFill>
          <a:blip r:embed="rId2"/>
          <a:stretch>
            <a:fillRect/>
          </a:stretch>
        </p:blipFill>
        <p:spPr>
          <a:xfrm>
            <a:off x="275008" y="1801300"/>
            <a:ext cx="5809464" cy="1707574"/>
          </a:xfrm>
          <a:prstGeom prst="rect">
            <a:avLst/>
          </a:prstGeom>
        </p:spPr>
      </p:pic>
      <p:pic>
        <p:nvPicPr>
          <p:cNvPr id="16" name="图片 15">
            <a:extLst>
              <a:ext uri="{FF2B5EF4-FFF2-40B4-BE49-F238E27FC236}">
                <a16:creationId xmlns:a16="http://schemas.microsoft.com/office/drawing/2014/main" id="{05B8A401-F764-A06A-B1CE-652D538A9D9F}"/>
              </a:ext>
            </a:extLst>
          </p:cNvPr>
          <p:cNvPicPr>
            <a:picLocks noChangeAspect="1"/>
          </p:cNvPicPr>
          <p:nvPr/>
        </p:nvPicPr>
        <p:blipFill>
          <a:blip r:embed="rId3"/>
          <a:stretch>
            <a:fillRect/>
          </a:stretch>
        </p:blipFill>
        <p:spPr>
          <a:xfrm>
            <a:off x="275007" y="3613187"/>
            <a:ext cx="5850785" cy="1048690"/>
          </a:xfrm>
          <a:prstGeom prst="rect">
            <a:avLst/>
          </a:prstGeom>
        </p:spPr>
      </p:pic>
      <p:sp>
        <p:nvSpPr>
          <p:cNvPr id="19" name="文本框 18">
            <a:extLst>
              <a:ext uri="{FF2B5EF4-FFF2-40B4-BE49-F238E27FC236}">
                <a16:creationId xmlns:a16="http://schemas.microsoft.com/office/drawing/2014/main" id="{7DF7FF3C-D4C2-F214-C8F0-DA5DAEDAA26F}"/>
              </a:ext>
            </a:extLst>
          </p:cNvPr>
          <p:cNvSpPr txBox="1"/>
          <p:nvPr/>
        </p:nvSpPr>
        <p:spPr>
          <a:xfrm>
            <a:off x="325996" y="5150632"/>
            <a:ext cx="9307286" cy="646331"/>
          </a:xfrm>
          <a:prstGeom prst="rect">
            <a:avLst/>
          </a:prstGeom>
          <a:noFill/>
        </p:spPr>
        <p:txBody>
          <a:bodyPr wrap="square">
            <a:spAutoFit/>
          </a:bodyPr>
          <a:lstStyle/>
          <a:p>
            <a:r>
              <a:rPr lang="zh-CN" altLang="en-US" b="1" dirty="0"/>
              <a:t>连续码态制备困难</a:t>
            </a:r>
            <a:endParaRPr lang="en-US" altLang="zh-CN" b="1" dirty="0"/>
          </a:p>
          <a:p>
            <a:r>
              <a:rPr lang="en-US" altLang="zh-CN" b="1" dirty="0"/>
              <a:t> </a:t>
            </a:r>
            <a:r>
              <a:rPr lang="zh-CN" altLang="en-US" sz="1800" b="1" dirty="0"/>
              <a:t>单量子比特门精度与双量子比特门精度仍需提升</a:t>
            </a:r>
            <a:endParaRPr lang="en-US" altLang="zh-CN" sz="1800" b="1" dirty="0"/>
          </a:p>
        </p:txBody>
      </p:sp>
      <p:pic>
        <p:nvPicPr>
          <p:cNvPr id="20" name="图片 19">
            <a:extLst>
              <a:ext uri="{FF2B5EF4-FFF2-40B4-BE49-F238E27FC236}">
                <a16:creationId xmlns:a16="http://schemas.microsoft.com/office/drawing/2014/main" id="{F4D3F552-B122-31DD-A76F-172D7D04EB73}"/>
              </a:ext>
            </a:extLst>
          </p:cNvPr>
          <p:cNvPicPr>
            <a:picLocks noChangeAspect="1"/>
          </p:cNvPicPr>
          <p:nvPr/>
        </p:nvPicPr>
        <p:blipFill>
          <a:blip r:embed="rId4"/>
          <a:stretch>
            <a:fillRect/>
          </a:stretch>
        </p:blipFill>
        <p:spPr>
          <a:xfrm>
            <a:off x="6640769" y="990027"/>
            <a:ext cx="5204701" cy="4946698"/>
          </a:xfrm>
          <a:prstGeom prst="rect">
            <a:avLst/>
          </a:prstGeom>
        </p:spPr>
      </p:pic>
    </p:spTree>
    <p:extLst>
      <p:ext uri="{BB962C8B-B14F-4D97-AF65-F5344CB8AC3E}">
        <p14:creationId xmlns:p14="http://schemas.microsoft.com/office/powerpoint/2010/main" val="17705344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87E7E-CA17-9CCA-213F-1029DB33F7CE}"/>
            </a:ext>
          </a:extLst>
        </p:cNvPr>
        <p:cNvGrpSpPr/>
        <p:nvPr/>
      </p:nvGrpSpPr>
      <p:grpSpPr>
        <a:xfrm>
          <a:off x="0" y="0"/>
          <a:ext cx="0" cy="0"/>
          <a:chOff x="0" y="0"/>
          <a:chExt cx="0" cy="0"/>
        </a:xfrm>
      </p:grpSpPr>
      <p:sp>
        <p:nvSpPr>
          <p:cNvPr id="10" name="AutoShape 3">
            <a:extLst>
              <a:ext uri="{FF2B5EF4-FFF2-40B4-BE49-F238E27FC236}">
                <a16:creationId xmlns:a16="http://schemas.microsoft.com/office/drawing/2014/main" id="{A7D538FF-CEBC-350D-F86E-E576C944A212}"/>
              </a:ext>
            </a:extLst>
          </p:cNvPr>
          <p:cNvSpPr/>
          <p:nvPr/>
        </p:nvSpPr>
        <p:spPr>
          <a:xfrm>
            <a:off x="202130" y="0"/>
            <a:ext cx="2486068"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zh-CN" altLang="en-US" sz="3200" b="1" i="0" u="none" strike="noStrike" dirty="0">
                <a:solidFill>
                  <a:srgbClr val="555555"/>
                </a:solidFill>
                <a:latin typeface="Noto Sans SC"/>
                <a:ea typeface="Noto Sans SC"/>
                <a:cs typeface="Noto Sans SC"/>
                <a:sym typeface="Noto Sans SC"/>
              </a:rPr>
              <a:t>参考文献</a:t>
            </a:r>
            <a:endParaRPr lang="en-US" sz="3200" b="1" i="0" u="none" strike="noStrike" dirty="0">
              <a:solidFill>
                <a:srgbClr val="555555"/>
              </a:solidFill>
              <a:latin typeface="Noto Sans SC"/>
              <a:ea typeface="Noto Sans SC"/>
              <a:cs typeface="Noto Sans SC"/>
              <a:sym typeface="Noto Sans SC"/>
            </a:endParaRPr>
          </a:p>
        </p:txBody>
      </p:sp>
      <p:sp>
        <p:nvSpPr>
          <p:cNvPr id="7" name="文本框 6">
            <a:extLst>
              <a:ext uri="{FF2B5EF4-FFF2-40B4-BE49-F238E27FC236}">
                <a16:creationId xmlns:a16="http://schemas.microsoft.com/office/drawing/2014/main" id="{721C4410-15E2-D62C-C23E-911D607D9B23}"/>
              </a:ext>
            </a:extLst>
          </p:cNvPr>
          <p:cNvSpPr txBox="1"/>
          <p:nvPr/>
        </p:nvSpPr>
        <p:spPr>
          <a:xfrm>
            <a:off x="192503" y="791337"/>
            <a:ext cx="11868869" cy="6032421"/>
          </a:xfrm>
          <a:prstGeom prst="rect">
            <a:avLst/>
          </a:prstGeom>
          <a:noFill/>
        </p:spPr>
        <p:txBody>
          <a:bodyPr wrap="square">
            <a:spAutoFit/>
          </a:bodyPr>
          <a:lstStyle/>
          <a:p>
            <a:pPr algn="l">
              <a:spcBef>
                <a:spcPts val="1200"/>
              </a:spcBef>
              <a:buFont typeface="+mj-lt"/>
              <a:buAutoNum type="arabicPeriod"/>
            </a:pPr>
            <a:r>
              <a:rPr lang="en-US" altLang="zh-CN" sz="1600" b="1" i="1" dirty="0">
                <a:effectLst/>
                <a:latin typeface="quote-cjk-patch"/>
              </a:rPr>
              <a:t>Peres, A. (1985). Reversible logic and quantum computers. Physical Review A, 32(6), 3266–3276.</a:t>
            </a:r>
          </a:p>
          <a:p>
            <a:pPr algn="l">
              <a:spcBef>
                <a:spcPts val="450"/>
              </a:spcBef>
              <a:buFont typeface="+mj-lt"/>
              <a:buAutoNum type="arabicPeriod"/>
            </a:pPr>
            <a:r>
              <a:rPr lang="en-US" altLang="zh-CN" sz="1600" b="1" i="1" dirty="0">
                <a:effectLst/>
                <a:latin typeface="quote-cjk-patch"/>
              </a:rPr>
              <a:t>Shor, P. W. (1995). Algorithms for quantum computation: discrete logarithms and factoring. In Proceedings of the 35th Annual Symposium on Foundations of Computer Science (pp. 124–134). IEEE Press.</a:t>
            </a:r>
          </a:p>
          <a:p>
            <a:pPr algn="l">
              <a:spcBef>
                <a:spcPts val="450"/>
              </a:spcBef>
              <a:buFont typeface="+mj-lt"/>
              <a:buAutoNum type="arabicPeriod"/>
            </a:pPr>
            <a:r>
              <a:rPr lang="en-US" altLang="zh-CN" sz="1600" b="1" i="1" dirty="0" err="1">
                <a:effectLst/>
                <a:latin typeface="quote-cjk-patch"/>
              </a:rPr>
              <a:t>Kitaev</a:t>
            </a:r>
            <a:r>
              <a:rPr lang="en-US" altLang="zh-CN" sz="1600" b="1" i="1" dirty="0">
                <a:effectLst/>
                <a:latin typeface="quote-cjk-patch"/>
              </a:rPr>
              <a:t>, A. Y. (1997). Fault-tolerant quantum computation by </a:t>
            </a:r>
            <a:r>
              <a:rPr lang="en-US" altLang="zh-CN" sz="1600" b="1" i="1" dirty="0" err="1">
                <a:effectLst/>
                <a:latin typeface="quote-cjk-patch"/>
              </a:rPr>
              <a:t>anyons</a:t>
            </a:r>
            <a:r>
              <a:rPr lang="en-US" altLang="zh-CN" sz="1600" b="1" i="1" dirty="0">
                <a:effectLst/>
                <a:latin typeface="quote-cjk-patch"/>
              </a:rPr>
              <a:t>. Annals of Physics, 303(1), 2–30. (</a:t>
            </a:r>
            <a:r>
              <a:rPr lang="en-US" altLang="zh-CN" sz="1600" b="1" i="1" dirty="0" err="1">
                <a:effectLst/>
                <a:latin typeface="quote-cjk-patch"/>
              </a:rPr>
              <a:t>arXiv:quant-ph</a:t>
            </a:r>
            <a:r>
              <a:rPr lang="en-US" altLang="zh-CN" sz="1600" b="1" i="1" dirty="0">
                <a:effectLst/>
                <a:latin typeface="quote-cjk-patch"/>
              </a:rPr>
              <a:t>/9707021)</a:t>
            </a:r>
          </a:p>
          <a:p>
            <a:pPr algn="l">
              <a:spcBef>
                <a:spcPts val="450"/>
              </a:spcBef>
              <a:buFont typeface="+mj-lt"/>
              <a:buAutoNum type="arabicPeriod"/>
            </a:pPr>
            <a:r>
              <a:rPr lang="en-US" altLang="zh-CN" sz="1600" b="1" i="1" dirty="0">
                <a:effectLst/>
                <a:latin typeface="quote-cjk-patch"/>
              </a:rPr>
              <a:t>Gottesman, D., </a:t>
            </a:r>
            <a:r>
              <a:rPr lang="en-US" altLang="zh-CN" sz="1600" b="1" i="1" dirty="0" err="1">
                <a:effectLst/>
                <a:latin typeface="quote-cjk-patch"/>
              </a:rPr>
              <a:t>Kitaev</a:t>
            </a:r>
            <a:r>
              <a:rPr lang="en-US" altLang="zh-CN" sz="1600" b="1" i="1" dirty="0">
                <a:effectLst/>
                <a:latin typeface="quote-cjk-patch"/>
              </a:rPr>
              <a:t>, A., &amp; </a:t>
            </a:r>
            <a:r>
              <a:rPr lang="en-US" altLang="zh-CN" sz="1600" b="1" i="1" dirty="0" err="1">
                <a:effectLst/>
                <a:latin typeface="quote-cjk-patch"/>
              </a:rPr>
              <a:t>Preskill</a:t>
            </a:r>
            <a:r>
              <a:rPr lang="en-US" altLang="zh-CN" sz="1600" b="1" i="1" dirty="0">
                <a:effectLst/>
                <a:latin typeface="quote-cjk-patch"/>
              </a:rPr>
              <a:t>, J. (2000). Encoding a qubit in an oscillator. Physical Review A, 64(1), 012310. (</a:t>
            </a:r>
            <a:r>
              <a:rPr lang="en-US" altLang="zh-CN" sz="1600" b="1" i="1" dirty="0" err="1">
                <a:effectLst/>
                <a:latin typeface="quote-cjk-patch"/>
              </a:rPr>
              <a:t>arXiv:quant-ph</a:t>
            </a:r>
            <a:r>
              <a:rPr lang="en-US" altLang="zh-CN" sz="1600" b="1" i="1" dirty="0">
                <a:effectLst/>
                <a:latin typeface="quote-cjk-patch"/>
              </a:rPr>
              <a:t>/0008040)</a:t>
            </a:r>
          </a:p>
          <a:p>
            <a:pPr algn="l">
              <a:spcBef>
                <a:spcPts val="450"/>
              </a:spcBef>
              <a:buFont typeface="+mj-lt"/>
              <a:buAutoNum type="arabicPeriod"/>
            </a:pPr>
            <a:r>
              <a:rPr lang="en-US" altLang="zh-CN" sz="1600" b="1" i="1" dirty="0">
                <a:effectLst/>
                <a:latin typeface="quote-cjk-patch"/>
              </a:rPr>
              <a:t>Dennis, E., </a:t>
            </a:r>
            <a:r>
              <a:rPr lang="en-US" altLang="zh-CN" sz="1600" b="1" i="1" dirty="0" err="1">
                <a:effectLst/>
                <a:latin typeface="quote-cjk-patch"/>
              </a:rPr>
              <a:t>Kitaev</a:t>
            </a:r>
            <a:r>
              <a:rPr lang="en-US" altLang="zh-CN" sz="1600" b="1" i="1" dirty="0">
                <a:effectLst/>
                <a:latin typeface="quote-cjk-patch"/>
              </a:rPr>
              <a:t>, A., Landahl, A., &amp; </a:t>
            </a:r>
            <a:r>
              <a:rPr lang="en-US" altLang="zh-CN" sz="1600" b="1" i="1" dirty="0" err="1">
                <a:effectLst/>
                <a:latin typeface="quote-cjk-patch"/>
              </a:rPr>
              <a:t>Preskill</a:t>
            </a:r>
            <a:r>
              <a:rPr lang="en-US" altLang="zh-CN" sz="1600" b="1" i="1" dirty="0">
                <a:effectLst/>
                <a:latin typeface="quote-cjk-patch"/>
              </a:rPr>
              <a:t>, J. (2002). Topological quantum memory. Journal of Mathematical Physics, 43(9), 4452–4505. (</a:t>
            </a:r>
            <a:r>
              <a:rPr lang="en-US" altLang="zh-CN" sz="1600" b="1" i="1" dirty="0" err="1">
                <a:effectLst/>
                <a:latin typeface="quote-cjk-patch"/>
              </a:rPr>
              <a:t>arXiv:quant-ph</a:t>
            </a:r>
            <a:r>
              <a:rPr lang="en-US" altLang="zh-CN" sz="1600" b="1" i="1" dirty="0">
                <a:effectLst/>
                <a:latin typeface="quote-cjk-patch"/>
              </a:rPr>
              <a:t>/0110143)</a:t>
            </a:r>
          </a:p>
          <a:p>
            <a:pPr algn="l">
              <a:spcBef>
                <a:spcPts val="450"/>
              </a:spcBef>
              <a:buFont typeface="+mj-lt"/>
              <a:buAutoNum type="arabicPeriod"/>
            </a:pPr>
            <a:r>
              <a:rPr lang="en-US" altLang="zh-CN" sz="1600" b="1" i="1" dirty="0">
                <a:effectLst/>
                <a:latin typeface="quote-cjk-patch"/>
              </a:rPr>
              <a:t>Fowler, A. G. (2012). Proof of finite surface code threshold for matching. Physical Review A, 86(2), 020302(R). (arXiv:1208.0928)</a:t>
            </a:r>
          </a:p>
          <a:p>
            <a:pPr algn="l">
              <a:spcBef>
                <a:spcPts val="450"/>
              </a:spcBef>
              <a:buFont typeface="+mj-lt"/>
              <a:buAutoNum type="arabicPeriod"/>
            </a:pPr>
            <a:r>
              <a:rPr lang="en-US" altLang="zh-CN" sz="1600" b="1" i="1" dirty="0">
                <a:effectLst/>
                <a:latin typeface="quote-cjk-patch"/>
              </a:rPr>
              <a:t>Google Quantum AI (Acharya, R. et al.). (2023). Suppressing quantum errors by scaling a surface code logical qubit. Nature, 614(7949), 676–681. (</a:t>
            </a:r>
            <a:r>
              <a:rPr lang="en-US" altLang="zh-CN" sz="1600" b="1" i="1" u="none" strike="noStrike" dirty="0">
                <a:effectLst/>
                <a:latin typeface="quote-cjk-patch"/>
                <a:hlinkClick r:id="rId2">
                  <a:extLst>
                    <a:ext uri="{A12FA001-AC4F-418D-AE19-62706E023703}">
                      <ahyp:hlinkClr xmlns:ahyp="http://schemas.microsoft.com/office/drawing/2018/hyperlinkcolor" val="tx"/>
                    </a:ext>
                  </a:extLst>
                </a:hlinkClick>
              </a:rPr>
              <a:t>https://doi.org/10.1038/s41586-022-05434-1</a:t>
            </a:r>
            <a:r>
              <a:rPr lang="en-US" altLang="zh-CN" sz="1600" b="1" i="1" dirty="0">
                <a:effectLst/>
                <a:latin typeface="quote-cjk-patch"/>
              </a:rPr>
              <a:t>)</a:t>
            </a:r>
          </a:p>
          <a:p>
            <a:pPr algn="l">
              <a:spcBef>
                <a:spcPts val="450"/>
              </a:spcBef>
              <a:buFont typeface="+mj-lt"/>
              <a:buAutoNum type="arabicPeriod"/>
            </a:pPr>
            <a:r>
              <a:rPr lang="en-US" altLang="zh-CN" sz="1600" b="1" i="1" dirty="0">
                <a:effectLst/>
                <a:latin typeface="quote-cjk-patch"/>
              </a:rPr>
              <a:t>Google Quantum AI and Collaborators. (2024). Quantum error correction below the surface code threshold. Nature, 638(8052), 920–926. (</a:t>
            </a:r>
            <a:r>
              <a:rPr lang="en-US" altLang="zh-CN" sz="1600" b="1" i="1" u="none" strike="noStrike" dirty="0">
                <a:effectLst/>
                <a:latin typeface="quote-cjk-patch"/>
                <a:hlinkClick r:id="rId3">
                  <a:extLst>
                    <a:ext uri="{A12FA001-AC4F-418D-AE19-62706E023703}">
                      <ahyp:hlinkClr xmlns:ahyp="http://schemas.microsoft.com/office/drawing/2018/hyperlinkcolor" val="tx"/>
                    </a:ext>
                  </a:extLst>
                </a:hlinkClick>
              </a:rPr>
              <a:t>https://doi.org/10.1038/s41586-024-08449-y</a:t>
            </a:r>
            <a:r>
              <a:rPr lang="en-US" altLang="zh-CN" sz="1600" b="1" i="1" dirty="0">
                <a:effectLst/>
                <a:latin typeface="quote-cjk-patch"/>
              </a:rPr>
              <a:t>)</a:t>
            </a:r>
          </a:p>
          <a:p>
            <a:pPr algn="l">
              <a:spcBef>
                <a:spcPts val="450"/>
              </a:spcBef>
              <a:buFont typeface="+mj-lt"/>
              <a:buAutoNum type="arabicPeriod"/>
            </a:pPr>
            <a:r>
              <a:rPr lang="en-US" altLang="zh-CN" sz="1600" b="1" i="1" dirty="0">
                <a:effectLst/>
                <a:latin typeface="quote-cjk-patch"/>
              </a:rPr>
              <a:t>Larsen, M. V., Bourassa, J. E., Kocsis, S., Tasker, J. F., Chadwick, R. S., Gonzalez-Arciniegas, C., ... &amp; Mahler, D. H. (2025). Integrated photonic source of Gottesman–</a:t>
            </a:r>
            <a:r>
              <a:rPr lang="en-US" altLang="zh-CN" sz="1600" b="1" i="1" dirty="0" err="1">
                <a:effectLst/>
                <a:latin typeface="quote-cjk-patch"/>
              </a:rPr>
              <a:t>Kitaev</a:t>
            </a:r>
            <a:r>
              <a:rPr lang="en-US" altLang="zh-CN" sz="1600" b="1" i="1" dirty="0">
                <a:effectLst/>
                <a:latin typeface="quote-cjk-patch"/>
              </a:rPr>
              <a:t>–</a:t>
            </a:r>
            <a:r>
              <a:rPr lang="en-US" altLang="zh-CN" sz="1600" b="1" i="1" dirty="0" err="1">
                <a:effectLst/>
                <a:latin typeface="quote-cjk-patch"/>
              </a:rPr>
              <a:t>Preskill</a:t>
            </a:r>
            <a:r>
              <a:rPr lang="en-US" altLang="zh-CN" sz="1600" b="1" i="1" dirty="0">
                <a:effectLst/>
                <a:latin typeface="quote-cjk-patch"/>
              </a:rPr>
              <a:t> qubits. Nature, 642(8010), 880–886. (</a:t>
            </a:r>
            <a:r>
              <a:rPr lang="en-US" altLang="zh-CN" sz="1600" b="1" i="1" u="none" strike="noStrike" dirty="0">
                <a:effectLst/>
                <a:latin typeface="quote-cjk-patch"/>
                <a:hlinkClick r:id="rId4">
                  <a:extLst>
                    <a:ext uri="{A12FA001-AC4F-418D-AE19-62706E023703}">
                      <ahyp:hlinkClr xmlns:ahyp="http://schemas.microsoft.com/office/drawing/2018/hyperlinkcolor" val="tx"/>
                    </a:ext>
                  </a:extLst>
                </a:hlinkClick>
              </a:rPr>
              <a:t>https://doi.org/10.1038/s41586-025-09044-5</a:t>
            </a:r>
            <a:r>
              <a:rPr lang="en-US" altLang="zh-CN" sz="1600" b="1" i="1" dirty="0">
                <a:effectLst/>
                <a:latin typeface="quote-cjk-patch"/>
              </a:rPr>
              <a:t>)</a:t>
            </a:r>
          </a:p>
          <a:p>
            <a:pPr algn="l">
              <a:spcBef>
                <a:spcPts val="450"/>
              </a:spcBef>
              <a:buFont typeface="+mj-lt"/>
              <a:buAutoNum type="arabicPeriod"/>
            </a:pPr>
            <a:r>
              <a:rPr lang="en-US" altLang="zh-CN" sz="1600" b="1" i="1" dirty="0">
                <a:effectLst/>
                <a:latin typeface="quote-cjk-patch"/>
              </a:rPr>
              <a:t>He, T., Lin, W., Wang, R., Li, Y., Bei, J., Cai, J., Cao, S., Chen, D., Chen, K., et al. (2025). Experimental Quantum Error Correction below the Surface Code Threshold via All-Microwave Leakage Suppression. Physical Review Letters, *135*, 260601. </a:t>
            </a:r>
            <a:r>
              <a:rPr lang="en-US" altLang="zh-CN" sz="1600" b="1" i="1" u="none" strike="noStrike" dirty="0">
                <a:effectLst/>
                <a:latin typeface="quote-cjk-patch"/>
                <a:hlinkClick r:id="rId5">
                  <a:extLst>
                    <a:ext uri="{A12FA001-AC4F-418D-AE19-62706E023703}">
                      <ahyp:hlinkClr xmlns:ahyp="http://schemas.microsoft.com/office/drawing/2018/hyperlinkcolor" val="tx"/>
                    </a:ext>
                  </a:extLst>
                </a:hlinkClick>
              </a:rPr>
              <a:t>https://doi.org/10.1103/rqkg-dw31</a:t>
            </a:r>
            <a:endParaRPr lang="en-US" altLang="zh-CN" sz="1600" b="1" i="1" dirty="0">
              <a:effectLst/>
              <a:latin typeface="quote-cjk-patch"/>
            </a:endParaRPr>
          </a:p>
          <a:p>
            <a:pPr algn="l">
              <a:spcBef>
                <a:spcPts val="450"/>
              </a:spcBef>
              <a:buFont typeface="+mj-lt"/>
              <a:buAutoNum type="arabicPeriod"/>
            </a:pPr>
            <a:r>
              <a:rPr lang="en-US" altLang="zh-CN" sz="1600" b="1" i="1" dirty="0">
                <a:effectLst/>
                <a:latin typeface="quote-cjk-patch"/>
              </a:rPr>
              <a:t>Gottesman, D. (1997). Stabilizer Codes and Quantum Error Correction (Doctoral dissertation). California Institute of Technology.</a:t>
            </a:r>
          </a:p>
          <a:p>
            <a:pPr algn="l">
              <a:spcBef>
                <a:spcPts val="450"/>
              </a:spcBef>
              <a:buFont typeface="+mj-lt"/>
              <a:buAutoNum type="arabicPeriod"/>
            </a:pPr>
            <a:r>
              <a:rPr lang="en-US" altLang="zh-CN" sz="1600" b="1" i="1" dirty="0">
                <a:effectLst/>
                <a:latin typeface="quote-cjk-patch"/>
              </a:rPr>
              <a:t>[Anonymous]. (n.d.). QI_E_Lecture_Notes_Intro_QEC.pdf. (Teaching notes, source and year unknown).</a:t>
            </a:r>
          </a:p>
          <a:p>
            <a:pPr algn="l">
              <a:spcBef>
                <a:spcPts val="450"/>
              </a:spcBef>
              <a:buFont typeface="+mj-lt"/>
              <a:buAutoNum type="arabicPeriod"/>
            </a:pPr>
            <a:r>
              <a:rPr lang="en-US" altLang="zh-CN" sz="1600" b="1" i="1" dirty="0">
                <a:effectLst/>
                <a:latin typeface="quote-cjk-patch"/>
              </a:rPr>
              <a:t>Gottesman, D. (2024). Surviving as a Quantum Computer in a Classical World. (Unpublished manuscript, March 31, 2024).</a:t>
            </a:r>
          </a:p>
        </p:txBody>
      </p:sp>
    </p:spTree>
    <p:extLst>
      <p:ext uri="{BB962C8B-B14F-4D97-AF65-F5344CB8AC3E}">
        <p14:creationId xmlns:p14="http://schemas.microsoft.com/office/powerpoint/2010/main" val="213518295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605</TotalTime>
  <Words>942</Words>
  <Application>Microsoft Office PowerPoint</Application>
  <PresentationFormat>宽屏</PresentationFormat>
  <Paragraphs>84</Paragraphs>
  <Slides>10</Slides>
  <Notes>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10</vt:i4>
      </vt:variant>
    </vt:vector>
  </HeadingPairs>
  <TitlesOfParts>
    <vt:vector size="19" baseType="lpstr">
      <vt:lpstr>BIZ UDPMincho Medium</vt:lpstr>
      <vt:lpstr>Noto Sans SC</vt:lpstr>
      <vt:lpstr>quote-cjk-patch</vt:lpstr>
      <vt:lpstr>等线</vt:lpstr>
      <vt:lpstr>等线 Light</vt:lpstr>
      <vt:lpstr>Arial</vt:lpstr>
      <vt:lpstr>Cambria Math</vt:lpstr>
      <vt:lpstr>Lucida Handwriting</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恩泽 施</dc:creator>
  <cp:lastModifiedBy>恩泽 施</cp:lastModifiedBy>
  <cp:revision>8</cp:revision>
  <dcterms:created xsi:type="dcterms:W3CDTF">2026-05-21T06:40:06Z</dcterms:created>
  <dcterms:modified xsi:type="dcterms:W3CDTF">2026-05-22T05:14:57Z</dcterms:modified>
</cp:coreProperties>
</file>