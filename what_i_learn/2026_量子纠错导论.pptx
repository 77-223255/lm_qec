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7" r:id="rId2"/>
    <p:sldId id="307" r:id="rId3"/>
    <p:sldId id="295" r:id="rId4"/>
    <p:sldId id="261" r:id="rId5"/>
    <p:sldId id="263" r:id="rId6"/>
    <p:sldId id="264" r:id="rId7"/>
    <p:sldId id="296" r:id="rId8"/>
    <p:sldId id="297" r:id="rId9"/>
    <p:sldId id="266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25" r:id="rId25"/>
    <p:sldId id="326" r:id="rId26"/>
    <p:sldId id="306" r:id="rId27"/>
    <p:sldId id="314" r:id="rId28"/>
    <p:sldId id="308" r:id="rId29"/>
    <p:sldId id="309" r:id="rId30"/>
    <p:sldId id="316" r:id="rId31"/>
    <p:sldId id="312" r:id="rId32"/>
    <p:sldId id="315" r:id="rId33"/>
    <p:sldId id="310" r:id="rId34"/>
    <p:sldId id="311" r:id="rId35"/>
    <p:sldId id="313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58" y="715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156BD1-BC13-4455-9FB2-79876EFAE974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67CEA1-1525-44B0-A225-B30656B773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88957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8015D-C387-691C-7195-69EF63D81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132EFE-7422-884E-2E90-AFB45509F6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EBC9F7-7F85-67F5-2F1E-F89047737F7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0D259A1-5009-7C05-ADBC-BD4C124877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C59F1F6-3E49-2311-3DA7-87E055228B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8CC22-B65E-2248-39FC-24CC358C81B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8818C7-6918-B4FE-138E-364662F6F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9248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10EE4-C37A-4B16-3DD4-5DB6C66D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7EA77DF-289C-FCCB-46BC-DFBE40ADEB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5DC3A-9C4A-7759-E417-2BD8D67255C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33F9770-A305-A0D1-96A8-6B28467F1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1067F9C-910F-336F-BDE4-6A46975EC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04896-084D-5623-36E6-C86CEE523B8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57EAB-FAC0-C092-5572-5BAEEB0838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41059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34878-A308-A948-C24B-CCCDDD041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44C3A5-9A79-EBD0-1B02-83915BA5E3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66D07F-5BEC-762D-6317-04E6DA0F911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47C184E-607C-A3EC-01ED-3951D0DE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1DDAEFE-DB2A-CC8D-A0AF-8AAA19E463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E19B7-227D-A822-409B-5C25005CAD2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344C67-A19B-20D7-96D7-0B52C2B7B8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185643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78C4D-D3B7-71C6-5700-11FEAA25A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4EA0FF-6018-DA65-0096-B252A9DA48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4F910-D2D4-7419-5882-10A998523C2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40C7C3C-E518-A2E9-2671-FBA7188080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B1B2A2D-8CDD-DD22-D178-134F8B867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46A39-99F6-ECAF-78C7-1419EF57EEC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33F46-179E-EBBB-E407-232A4BF36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959748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57A98-EB2A-C8BE-BB4D-0AD44965C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177F18-F6CE-21DA-AB64-1FC7EF9A4C7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BE871E-5019-A228-7D5C-73EC96A4D2B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83B9D1C-2D26-572D-35D4-11D904810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F62F2EC-E2DA-7D32-05D9-48440F386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D2046-F7B8-BA60-7064-994918F3B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459B2B-E497-2787-3955-E9852B3C3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22954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A43B-CD01-0200-2AB5-5067A7BCC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8DEEC96-F8F8-37E7-C083-0A5FBD7961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1CE35-47C2-48F6-D186-0C138C00030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9303814-0EF3-6584-BE07-2DA1E9EB96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707F2F2-B1CD-8B30-2B8E-A5BEF9EA81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6EAA40-4F75-D07F-78C7-44E7B0937A6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63096-2ABD-B4C6-E15B-A8CB75A05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2855301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D76E-90E9-137B-DA3B-76045CF94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51D2FD-1F02-E96E-87C7-3ADCB467F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EEB8CF-44FF-84D5-2AC0-8F4CCB74A76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95BEF3B-C623-8AEB-D206-32327FB9E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F5D2114-1CCA-1268-5DFC-1397694B4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D1C3E5-ED98-8C33-93CF-50303A16AC6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BF0CDC-58E2-87EF-BD90-46725E0379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66406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A9D3C-17AC-8830-D723-3C19C23D5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ADEF51-FFAF-F1A5-ED97-25F7767700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D5709-B829-8A04-5916-A39ED89E528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99A37FC-9611-001C-D264-0B4608B4E9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89976EC-FD33-2F71-5DD4-4027291E1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ED635-D5F4-7040-E969-6C4A9134907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8F609-6486-BDA6-A0C6-37AD1410F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020921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3506A-297D-F145-FCAF-8888E2C6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15DE58-1169-D948-15B6-AF61512658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236F7-E2CE-12EB-B48D-FFF7185330C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F31E7A6-7A25-03BE-9982-603872B4B0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378CA56-F440-1804-D998-0A01EFAF8E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A60AC-ECDA-7E51-242B-A327C9B959D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8851D-DD04-AE73-B80A-2790AEFBF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30133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0FD51-03CB-FBA2-7175-B01879C8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4B0DB3D-3BB5-0ADD-9EBF-314C1862FD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213A82-CE53-06C8-6D4D-1EBB08C9F0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E81DAA0-7A23-0063-54DA-F98E85EC3C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8850B73-9F44-D199-0BCB-A32DB00C62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11C5B0-C8E6-5A3E-FB4A-640F3F9E0F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2D56D-9800-87BE-CC0E-31F17D44C7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179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CFC81-2081-67CC-2BC0-10FFC89B7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27C0248-D564-85EE-EDBA-05E34BD002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7D44D0-B544-066D-DD46-953ABD93585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2B1DF71-7B95-FD1D-0E06-6246A9247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0BCE4FB-F7A1-EA2C-0FE6-D0D31C04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F331CC-92DE-87F0-3787-7C192DFD895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E794C-0FD2-4EE9-6964-27F55886F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1083428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95000-0E94-65AA-0D0A-234D2E42C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2CE73F7-416D-D2E5-CEFF-17D2B38E43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B66A97-A875-309A-1B45-05892D68CAD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E940F6A-A10D-6C99-1492-4A0E34201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8168F94-58A1-B900-BD9B-96447503D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560AF-D056-7550-BA08-ACD970EDB28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15229-9569-8755-E9D7-66B9812B2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570373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701A-2922-774E-845D-325E51060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A553B8C-D724-6F96-02E1-2F65A53E2D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A87D98-3188-39A2-D365-E236E602330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25830BB5-961B-1CF2-8698-9A40AD5B91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9D81512-A987-433D-AE08-1FA17E10D6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5D4027-310A-5E28-D235-E0C29F3905A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F6ECDF-A592-28B9-5B64-F771A21E7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156481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D9312-8C5C-F491-EDA1-D262E0C85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3A5764B-671A-4787-ED16-C678E2493E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0D697A-6765-2A41-3C73-87F66DEF09C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2289CAF-DA18-7203-BFD0-2211B04D2A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7407B2C-32D5-8F28-CFB5-FDB376B3A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8228BB-176D-470A-5D19-57DD3F284A2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7EA2BE-C146-AD0C-B365-F2469314C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618605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9C519-432E-569D-E0A5-86BB05A15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328AE1E-5394-83F6-012B-80CAD0D9CF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33AA8E-7753-9C15-959F-A8AD41DD59D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7117B06-8CBF-F4E9-3676-D825EE7F18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62D4447-7861-7AA6-38FB-CF4D49A5AD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63E36-0AD7-1A56-C23F-10932612A3B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F3022F-2FB7-67B5-3157-3F4F40502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6583328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9162B-8273-1FC8-CAFF-E836E94C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A631DE-68C0-B31B-B991-99F409079F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BA007C-E1F1-7583-4D07-020EC2F0EFA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897E598-BF25-E243-9F92-407318956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6FA40A6-668D-3E4E-B065-221DA3C2A0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81654-01F8-3123-9123-9678AA40A38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8BBFB6-0187-09B9-3851-F4519083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226618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46D91-B62E-619F-131D-0B831F09C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483E96-2CC5-D94A-DF73-E42993E6F4D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3426C2-4305-69B0-A292-F5B7284786C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AAE1674-E768-82F7-E97F-6934EC7B9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333FD44-523E-BD6D-0CD1-2EF02DC0B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1AC5A-31F3-677B-1235-615B94920C0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7A0A5-2870-C54E-D5E2-B03CCA727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599117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E495-9B34-2518-8254-7CCD6F6CA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5F5B8C-5FEF-8816-5296-1337DE8B8E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394702-EC79-A79C-34A6-B25B781F767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283564D-AF3B-AC9B-54F5-1163D7F044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4D5D823-AC87-4CBC-880F-9AD77C443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712AD-D81F-D638-D905-388F889E44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D6BA55-EF2F-7E3E-B39A-7ABEB67CF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770142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BBFE2-FABD-E0DA-5A9D-0119491A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7800C2-C05A-DD53-26AE-307544E20CB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D50137-A846-D200-9F0D-E0F8A3694DE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2EA039F-199F-DEEF-C7DC-F0D45E230C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D6900AB-35F1-C9DD-5A8C-7FC68E675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E1F1E-D991-6EF7-04BE-0FEFCB274DF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CDF62B-2927-7B1A-4D1D-93D59C46DC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6888391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62768-7E82-7C92-1C1A-976047E96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453949-301C-F43E-502B-D6D18ACC412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EB8DB-A4C7-6E76-3C91-2E788861F38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4229429-D9E4-416D-24B6-8D1CEE9612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89AD0F5-6078-4561-F4E0-32CA9268AA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5B2873-67C8-5A62-E649-6D783B3D62B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287447-9A42-B733-2EF5-97254CB97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660020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22430-2FD2-06F2-1120-AAB48B4BC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2B4C53-B160-CC1A-06A1-07C5DE6E37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DA7015-1619-EC39-C5C8-D5E7137F52B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4D88BFE-970A-D963-669E-7F7792C37A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9ABE69E-AB40-CD96-5DE2-5592DE19C3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1946C-60BE-244E-AC35-15ADD7FB49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B20FE0-2713-CCF2-9200-33E072CCFF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4512328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F3AC-F7AF-9112-D7CD-DEDF13D1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82AFBE-239E-3B1C-9D73-F02DEF647A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80055C-92B5-91DA-B01B-A6C5BD79C7A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03C41F2-D1E4-9D71-BDEF-E7D727772E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A8117C8-C595-F5A0-3AAE-5954D7D709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0380E7-2ECF-7738-B325-0C977F22BAC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F7E68-0B10-46B6-02D9-2DD3D8307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1200996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93A29-2B7E-8941-CCC1-0B79EDEB1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5C3FD8-689B-DEF4-D3AF-1C86846353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E2A292-A7CE-C8B7-4A08-C40E98BDA9E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CA95DD8-D57C-7294-7B10-660D2473BE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9D7ADCF-BBD8-484E-54BD-7B784B797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5B5C0-566E-C41F-B209-592BED6F1D5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147E1-8FCD-36F7-EB3D-B0713562D6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675776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F29E9-494A-ADD6-9E64-5F60E9B8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49286BA-8B2E-7B9B-EEC9-CA856FA4A7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BF38FF-A277-9072-1DF2-D8AC0C5507B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89B0A84-7C3E-7C51-81BA-B40DAA2AA4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AF8CFC9-0A62-7467-7F4B-570FC4B95F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B5D00-DB7A-C13B-D38D-18A18E64E8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F7EB99-A698-5033-E0E7-E35DDEA29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9392909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5D8B-0DDD-CEF4-F5CE-670EED646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86F0B3-D41C-EC1B-958C-03B8EDF03C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64C43B-D34B-2651-73B3-D241C3B6C45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DFD7DE-C42B-C245-437F-12C7F9AB68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E573ABD-1C52-A7D9-D1E7-8EA9F8EAB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5C22F5-3EEC-85A5-CBAF-3F527FFDF16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A2B719-08A4-9900-FF4C-C01560756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058436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DF37-692B-64AA-8E4E-11EA4898E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91A7BFD-2E86-BD9E-84FA-D58A45B601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002C37-8FE9-5CFF-3249-3EB7B1FCB60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B950BC9-8390-C395-7216-B9FFDB07A3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FB32A99-22C0-55DF-EDDD-1E2C51AC50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F61D2-5A4F-62D7-55B2-B05485CECB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CBF98-07CF-F066-2B74-CDA37D84E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0501221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465B-DDEA-15A0-B629-73134A36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15AB8E8-4466-5DC9-B5A5-62E457672B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A30FA5-5790-AB95-53A1-21C0DC25752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0C67F2D-A505-8A15-409B-438B0E1A1A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BF9821A-483C-F4FC-CAED-D14E5F4B8E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CD5A-C638-D924-28BE-E186B878D63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254236-0323-E8E9-1F57-DEA3581B7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614843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9644-B325-C435-FF2D-FB8EACD78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2CF97A-6CE9-F327-4077-F6B74847717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BA8485-C3A5-7F68-40DE-2FEB2E923AE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4C4E0B2-DEB3-CD25-E517-242225D52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9B22D37-1B02-48E4-E401-BCD2D02F11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E5AD0-FD96-2DF4-58CF-614AAB82A5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4FEF5A-82E2-B5DA-FD5A-8B6AA614F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043930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8FFB-A299-84B3-85D1-99E2B3C05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C3BD9A-DAB7-F8E3-47A3-257BA3A4FD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4B1E04-28FA-F780-1F1D-1E971714263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31D212E-41CC-95F6-E057-C3B266426F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A836C2B-339F-A92C-C5D6-2F0640DB6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463D9-6CCC-43E6-C3D9-BCF74DA117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F4480-F208-F51B-2CF3-FEBEB4BC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209065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1A05D-2253-2565-7067-0B9C51E2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1D4ADC3-0A73-C8B3-77B1-5E4E885C62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BAF988-506D-2D7F-3A7D-1DC903BDFEF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7E0DBC4-D119-1C8A-5AC2-F2DFF85F8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B84915C-8190-28DF-F81D-02FB335808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7821E-1BE0-9BE2-B0E0-F7AECF0E0E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0BA1C5-2E03-0933-2960-7D0AFCABD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10537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9B4761-31D7-4105-A27E-2CC8EDB06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294F8A-0F41-222A-2D11-8631F469D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FC30D8-FE30-291A-7C72-E11CFF130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A88F23-8DEB-9D93-567E-27AC0CF0D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421225-061B-9E11-938A-DC1EBB630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483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FC986B-DA6D-BCF2-21A9-B0E329CE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7A245E-5787-F4AC-11AB-ECFE81153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645801-7C43-F892-6CCC-BD151CC8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2DA07-9E9F-C151-F32C-4A03DE366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703374-F99D-AB3C-02DE-CABD81FA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9934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744908-C44D-F638-5ED6-1D976E954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305695-BA62-357C-E285-02B72B0BA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D8FE58-BBDD-0049-B5C7-C3899C5EE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1E74D6-AECC-5CE3-A08C-C07480C12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0523BA-1BA6-7950-94C3-25C38448F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19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D6DAA5-D0AF-D7A7-0AB5-884D83C6A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F84EE0-F5C6-2050-7471-D8FA7229A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8C2FE9B-282E-08D4-E5CF-B1C06F58E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38FF5B-1F82-AC3B-EF37-5C6FFB34D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73D0D5-911E-5251-3AB0-AE6101F7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C47DA-F90D-4EF1-7182-725A63C85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5236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99D3B-33C0-7821-3DCE-152CD9B31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610081-0C0C-C6B1-01ED-6479FBE1F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142D702-D6CE-4741-6A48-C15E828DD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D9E1396-C5DB-F34F-E0ED-32AA864D60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6A0A188-88CD-5681-4F58-3929222181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996D7D-646E-3636-07C6-DE73F17F9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E76941E-C350-9CBB-CC30-6F56F88D8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6105E-3596-08B4-DCE0-6272917E7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203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97E2DA-015C-AEBF-1A48-B7B89E34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7D8DA5-7FF6-E4AC-1E92-97A1D06E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BA3A086-AA8F-8BD2-4A97-2FDB3DC75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0681EC-A86B-B80A-92FB-26B3A3E95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2352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B6F6216-3E07-A782-2169-CBC582BA8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DB9DEC-8257-F9B5-7BD6-80F2ED41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45C304-2564-214F-DB6F-177CB3242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11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607657-A0CD-8CB6-375F-432205382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F94334-6932-BB6B-4B59-64CFC6109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2950E0A-D125-FBC1-18E3-CDC27206FB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D5DCE2-AB53-4194-02EA-E8244C4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6F1792-FD36-6925-C2EC-7E023FDD9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84CB3F3-53DF-6FE1-38E9-B7DBA4ED2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1732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5240-4AF7-F9D3-0DC0-FBFBBC10A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23EFAF9-1989-58F8-F22B-CD6697D880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3B2875E-7E63-8479-745C-611D2344E2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CB2BDD-DEB5-AA21-FC0A-8253E2C6B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397DA8-CE26-F5B5-352F-8CFBFC5E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7AED7CC-7637-8C8D-A251-2B9A7A706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822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18B78-2D68-C9F5-2B88-F7B6B43A5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09FCBD4-99C7-A798-77AA-4245BA0B1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1F34C6-2E43-CF0F-334F-6FCE3305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608127-12B3-59EF-2876-B245B6BC3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B99B1D-6DE2-E7DE-A654-49B2D7F9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393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71A012C-B4C2-5397-D506-15BB75411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89343-C205-FE67-809D-ADCA060ADE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E3CE3C-962C-D837-4B72-9F9797FBD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5E23F6-71CC-FB6D-C5A3-C7D644E42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32C07A-57E3-629B-8FC6-2DE160071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806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3568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D1DB38A-6066-110A-3382-F5F6828DE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DEC672-8E00-1A77-5EE7-B12491C0A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680427-5DCE-1CD7-8584-18F3B45659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06B81-D0D4-404B-8474-757991D5685D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54D226-3675-21B9-1A38-D143C92B8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DA05ED-2FFF-4B5A-5220-E74F4234F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531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4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BEB0F588-289D-2035-82FD-12F5B64B4A01}"/>
              </a:ext>
            </a:extLst>
          </p:cNvPr>
          <p:cNvSpPr txBox="1"/>
          <p:nvPr/>
        </p:nvSpPr>
        <p:spPr>
          <a:xfrm>
            <a:off x="-5424636" y="-2872225"/>
            <a:ext cx="26549625" cy="11326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73000" b="0" i="0" u="none" strike="noStrike" dirty="0">
                <a:solidFill>
                  <a:schemeClr val="bg1">
                    <a:lumMod val="85000"/>
                  </a:schemeClr>
                </a:solidFill>
                <a:latin typeface="BIZ UDPMincho Medium" panose="02020500000000000000" pitchFamily="18" charset="-128"/>
                <a:ea typeface="BIZ UDPMincho Medium" panose="02020500000000000000" pitchFamily="18" charset="-128"/>
                <a:cs typeface="Noto Sans SC"/>
                <a:sym typeface="Noto Sans SC"/>
              </a:rPr>
              <a:t>QEC</a:t>
            </a:r>
            <a:endParaRPr lang="zh-CN" altLang="en-US" sz="73000" dirty="0">
              <a:solidFill>
                <a:schemeClr val="bg1">
                  <a:lumMod val="85000"/>
                </a:schemeClr>
              </a:solidFill>
              <a:latin typeface="BIZ UDPMincho Medium" panose="02020500000000000000" pitchFamily="18" charset="-128"/>
              <a:ea typeface="BIZ UDPMincho Medium" panose="02020500000000000000" pitchFamily="18" charset="-128"/>
            </a:endParaRPr>
          </a:p>
        </p:txBody>
      </p:sp>
      <p:sp>
        <p:nvSpPr>
          <p:cNvPr id="2" name="AutoShape 2"/>
          <p:cNvSpPr/>
          <p:nvPr/>
        </p:nvSpPr>
        <p:spPr>
          <a:xfrm>
            <a:off x="762000" y="946973"/>
            <a:ext cx="1066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8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量子纠错导论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0" y="3159459"/>
            <a:ext cx="1219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5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Quantum Error Correction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414B-F091-74EB-89A5-B63882C3E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>
            <a:extLst>
              <a:ext uri="{FF2B5EF4-FFF2-40B4-BE49-F238E27FC236}">
                <a16:creationId xmlns:a16="http://schemas.microsoft.com/office/drawing/2014/main" id="{239F19E0-FE72-880A-FD5F-9A59643C726B}"/>
              </a:ext>
            </a:extLst>
          </p:cNvPr>
          <p:cNvSpPr/>
          <p:nvPr/>
        </p:nvSpPr>
        <p:spPr>
          <a:xfrm>
            <a:off x="762000" y="15875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1.1 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为什么要量子纠错？</a:t>
            </a:r>
            <a:endParaRPr lang="en-US" sz="1100" dirty="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A12639C-356D-DD15-83F3-7362892060B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utoShape 2">
            <a:extLst>
              <a:ext uri="{FF2B5EF4-FFF2-40B4-BE49-F238E27FC236}">
                <a16:creationId xmlns:a16="http://schemas.microsoft.com/office/drawing/2014/main" id="{6326C543-B062-AC66-AAF8-5967CFC2272F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AutoShape 3">
            <a:extLst>
              <a:ext uri="{FF2B5EF4-FFF2-40B4-BE49-F238E27FC236}">
                <a16:creationId xmlns:a16="http://schemas.microsoft.com/office/drawing/2014/main" id="{2E4D0343-A822-DB28-F1E0-BBAFFB81B556}"/>
              </a:ext>
            </a:extLst>
          </p:cNvPr>
          <p:cNvSpPr/>
          <p:nvPr/>
        </p:nvSpPr>
        <p:spPr>
          <a:xfrm>
            <a:off x="762000" y="2374903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1.2 </a:t>
            </a:r>
            <a:r>
              <a:rPr lang="en-US" sz="2200" b="1" i="0" u="none" strike="noStrike" dirty="0" err="1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经典纠错：重复码</a:t>
            </a: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 (Repetition Code)</a:t>
            </a:r>
            <a:endParaRPr lang="en-US" sz="1100" dirty="0"/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89388E4D-A327-5039-A904-CA97C8177132}"/>
              </a:ext>
            </a:extLst>
          </p:cNvPr>
          <p:cNvSpPr/>
          <p:nvPr/>
        </p:nvSpPr>
        <p:spPr>
          <a:xfrm>
            <a:off x="762000" y="3301101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1.3 </a:t>
            </a:r>
            <a:r>
              <a:rPr lang="en-US" sz="2200" b="1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不同</a:t>
            </a: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682221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2FE8C-7A65-7C82-5F79-709A2F61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>
            <a:extLst>
              <a:ext uri="{FF2B5EF4-FFF2-40B4-BE49-F238E27FC236}">
                <a16:creationId xmlns:a16="http://schemas.microsoft.com/office/drawing/2014/main" id="{D69940B1-B336-CB4E-498A-03A3AB4100EF}"/>
              </a:ext>
            </a:extLst>
          </p:cNvPr>
          <p:cNvSpPr/>
          <p:nvPr/>
        </p:nvSpPr>
        <p:spPr>
          <a:xfrm>
            <a:off x="762000" y="15875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1.1 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为什么要量子纠错？</a:t>
            </a:r>
            <a:endParaRPr lang="en-US" sz="1100" dirty="0"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697FA8DB-E922-2205-5395-CCDBF8256763}"/>
              </a:ext>
            </a:extLst>
          </p:cNvPr>
          <p:cNvSpPr/>
          <p:nvPr/>
        </p:nvSpPr>
        <p:spPr>
          <a:xfrm>
            <a:off x="693718" y="2398816"/>
            <a:ext cx="6478977" cy="3699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33333"/>
              </a:lnSpc>
              <a:spcBef>
                <a:spcPts val="800"/>
              </a:spcBef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01. </a:t>
            </a:r>
            <a:r>
              <a:rPr lang="en-US" sz="24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环境</a:t>
            </a:r>
            <a:r>
              <a:rPr lang="zh-CN" altLang="en-US" sz="24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影响</a:t>
            </a:r>
            <a:endParaRPr lang="en-US" sz="2400" dirty="0"/>
          </a:p>
          <a:p>
            <a:pPr indent="0" algn="l">
              <a:lnSpc>
                <a:spcPct val="116666"/>
              </a:lnSpc>
            </a:pPr>
            <a:r>
              <a:rPr 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2400" b="0" i="0" u="none" strike="noStrike" dirty="0" err="1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环境的微小相互作用会导致叠加态坍缩或相位相干性丧失</a:t>
            </a:r>
            <a:r>
              <a:rPr lang="zh-CN" alt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2400" b="0" i="0" u="none" strike="noStrike" dirty="0">
              <a:solidFill>
                <a:srgbClr val="60606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33333"/>
              </a:lnSpc>
              <a:spcBef>
                <a:spcPts val="2000"/>
              </a:spcBef>
            </a:pPr>
            <a:r>
              <a:rPr lang="en-US" sz="2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02. </a:t>
            </a:r>
            <a:r>
              <a:rPr lang="en-US" sz="24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量子操作的物理局限性</a:t>
            </a:r>
            <a:endParaRPr lang="en-US" sz="2400" b="1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</a:pPr>
            <a:r>
              <a:rPr lang="en-US" sz="2400" b="0" i="0" u="none" strike="noStrike" dirty="0" err="1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门操作</a:t>
            </a:r>
            <a:r>
              <a:rPr lang="zh-CN" alt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无法</a:t>
            </a:r>
            <a:r>
              <a:rPr 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达到100%的精准度，每一步操作都可能引入比特翻转或相位翻转错误</a:t>
            </a:r>
            <a:r>
              <a:rPr lang="zh-CN" alt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2400" b="0" i="0" u="none" strike="noStrike" dirty="0">
              <a:solidFill>
                <a:srgbClr val="60606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F9513B4-8B63-CB6D-4A6D-6F09ABE86EF5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D6E84219-4855-9D2E-6ABB-3E9E68D86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867" y="1863089"/>
            <a:ext cx="1419423" cy="543001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AFE9003-3A25-8D9A-6AC9-FE67C2480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249" y="3829566"/>
            <a:ext cx="2829320" cy="14670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84D9988B-D418-E53B-2FEF-704A6FE2F8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1355" y="2843782"/>
            <a:ext cx="1657581" cy="695422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BD504D10-08FF-7204-1491-0E92F6382F92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1373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1460500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1.2 </a:t>
            </a:r>
            <a:r>
              <a:rPr lang="en-US" sz="2200" b="1" i="0" u="none" strike="noStrike" dirty="0" err="1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经典纠错：重复码</a:t>
            </a: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 (Repetition Code)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863267" y="3711038"/>
            <a:ext cx="5911604" cy="192974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28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01.</a:t>
            </a:r>
            <a:r>
              <a:rPr lang="zh-CN" altLang="en-US" sz="28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编码</a:t>
            </a:r>
            <a:endParaRPr lang="en-US" sz="2800" b="1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en-US" sz="28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将1个比特映射为3个比特</a:t>
            </a:r>
          </a:p>
          <a:p>
            <a:pPr indent="0" algn="l">
              <a:lnSpc>
                <a:spcPct val="116666"/>
              </a:lnSpc>
              <a:defRPr/>
            </a:pPr>
            <a:endParaRPr lang="en-US" sz="28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en-US" sz="2800" b="1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02.</a:t>
            </a:r>
            <a:r>
              <a:rPr lang="zh-CN" altLang="en-US" sz="2800" b="1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判定</a:t>
            </a:r>
            <a:endParaRPr lang="en-US" sz="2800" b="1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28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按照少数服从多数的原则判定</a:t>
            </a:r>
            <a:br>
              <a:rPr lang="en-US" altLang="zh-CN" sz="28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endParaRPr lang="en-US" altLang="zh-CN" sz="2000" dirty="0"/>
          </a:p>
          <a:p>
            <a:pPr indent="0" algn="l">
              <a:lnSpc>
                <a:spcPct val="116666"/>
              </a:lnSpc>
              <a:defRPr/>
            </a:pPr>
            <a:endParaRPr lang="en-US" sz="28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DBB1FC-E4AC-43BA-E2ED-C5A96C693B6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89D48D2B-38E1-206D-5CBD-74419FB33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1366" y="1942693"/>
            <a:ext cx="1305107" cy="514422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2EE13B9E-B0ED-2A51-E22E-E71D5E3E7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8056" y="2768293"/>
            <a:ext cx="1486107" cy="2924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1397000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1.3 </a:t>
            </a:r>
            <a:r>
              <a:rPr lang="en-US" sz="2200" b="1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不同</a:t>
            </a: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b="1" dirty="0"/>
          </a:p>
        </p:txBody>
      </p:sp>
      <p:sp>
        <p:nvSpPr>
          <p:cNvPr id="10" name="AutoShape 10"/>
          <p:cNvSpPr/>
          <p:nvPr/>
        </p:nvSpPr>
        <p:spPr>
          <a:xfrm>
            <a:off x="687778" y="2488540"/>
            <a:ext cx="6449292" cy="39122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01. </a:t>
            </a:r>
            <a:r>
              <a:rPr lang="en-US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编码</a:t>
            </a:r>
            <a:br>
              <a:rPr lang="en-US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将k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个逻辑比特的态映射到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n </a:t>
            </a: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个物理比特的高维希尔伯特空间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dirty="0"/>
          </a:p>
          <a:p>
            <a:pPr indent="0" algn="l">
              <a:lnSpc>
                <a:spcPct val="116666"/>
              </a:lnSpc>
              <a:spcBef>
                <a:spcPts val="1200"/>
              </a:spcBef>
            </a:pP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02. </a:t>
            </a:r>
            <a:r>
              <a:rPr lang="en-US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非破坏性</a:t>
            </a:r>
            <a:r>
              <a:rPr lang="zh-CN" alt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测量</a:t>
            </a:r>
            <a:br>
              <a:rPr lang="en-US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引入辅助比特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，</a:t>
            </a: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通过特定的量子门操作，将“错误信息”转移到辅助比特上，最后仅测量辅助比特，从而在不干扰逻辑信息的前提下提取错误线索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  <a:p>
            <a:pPr indent="0" algn="l">
              <a:lnSpc>
                <a:spcPct val="116666"/>
              </a:lnSpc>
              <a:spcBef>
                <a:spcPts val="1200"/>
              </a:spcBef>
            </a:pP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03. </a:t>
            </a:r>
            <a:r>
              <a:rPr lang="en-US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症候</a:t>
            </a: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(Syndrome)</a:t>
            </a:r>
            <a:br>
              <a:rPr lang="en-US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辅助比特测量后的经典二进制输出，每一个特定的症候值都唯一对应一种物理错误的类型与位置，为后续纠正提供精确指引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CD50F3C-2A74-B258-BD64-F7407EAD907D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utoShape 11">
            <a:extLst>
              <a:ext uri="{FF2B5EF4-FFF2-40B4-BE49-F238E27FC236}">
                <a16:creationId xmlns:a16="http://schemas.microsoft.com/office/drawing/2014/main" id="{4E41CD68-F6D6-30D8-910D-44EE21E151E2}"/>
              </a:ext>
            </a:extLst>
          </p:cNvPr>
          <p:cNvSpPr/>
          <p:nvPr/>
        </p:nvSpPr>
        <p:spPr>
          <a:xfrm>
            <a:off x="667324" y="1341910"/>
            <a:ext cx="5911604" cy="192974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2800" b="1" dirty="0">
                <a:solidFill>
                  <a:schemeClr val="accent2"/>
                </a:solidFill>
              </a:rPr>
              <a:t>直接测量将导致叠加态坍缩</a:t>
            </a:r>
            <a:endParaRPr lang="en-US" sz="2800" b="1" dirty="0">
              <a:solidFill>
                <a:schemeClr val="accent2"/>
              </a:solidFill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520E38C-05AA-0B93-7AD4-DE392CAE2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36" y="1112981"/>
            <a:ext cx="4333464" cy="722244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DD35154A-E96F-1A55-3E6A-69D46E758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3874" y="1899699"/>
            <a:ext cx="4325736" cy="1384564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4DCF17C7-34E1-BD07-4B80-158961F75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3781" y="3501368"/>
            <a:ext cx="4401164" cy="2943636"/>
          </a:xfrm>
          <a:prstGeom prst="rect">
            <a:avLst/>
          </a:prstGeom>
        </p:spPr>
      </p:pic>
      <p:sp>
        <p:nvSpPr>
          <p:cNvPr id="19" name="椭圆 18">
            <a:extLst>
              <a:ext uri="{FF2B5EF4-FFF2-40B4-BE49-F238E27FC236}">
                <a16:creationId xmlns:a16="http://schemas.microsoft.com/office/drawing/2014/main" id="{0F02576F-EA7D-C5B0-C998-F36E7366383E}"/>
              </a:ext>
            </a:extLst>
          </p:cNvPr>
          <p:cNvSpPr/>
          <p:nvPr/>
        </p:nvSpPr>
        <p:spPr>
          <a:xfrm>
            <a:off x="7642204" y="1368572"/>
            <a:ext cx="248281" cy="248281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7EE7788-03D4-1F72-DDE1-8C5587B5EF69}"/>
              </a:ext>
            </a:extLst>
          </p:cNvPr>
          <p:cNvSpPr/>
          <p:nvPr/>
        </p:nvSpPr>
        <p:spPr>
          <a:xfrm>
            <a:off x="7649269" y="3749444"/>
            <a:ext cx="248281" cy="248281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3E21AED-AB59-9257-281B-0EEA1366E963}"/>
              </a:ext>
            </a:extLst>
          </p:cNvPr>
          <p:cNvSpPr/>
          <p:nvPr/>
        </p:nvSpPr>
        <p:spPr>
          <a:xfrm>
            <a:off x="7644223" y="2509049"/>
            <a:ext cx="248281" cy="24828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CD7AB5CB-10AC-4FAF-61CF-6A4DEB986744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4447" y="27719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783724" y="2720511"/>
            <a:ext cx="4191000" cy="39302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量子脆弱性</a:t>
            </a:r>
            <a:endParaRPr lang="en-US" sz="1100" dirty="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8734" y="3318165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95481" y="3217507"/>
            <a:ext cx="1446481" cy="5268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经典重复码</a:t>
            </a:r>
            <a:endParaRPr lang="en-US" sz="1100" dirty="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60385" y="3893623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61507" y="4376058"/>
            <a:ext cx="1735777" cy="13656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</a:t>
            </a:r>
            <a:r>
              <a:rPr lang="zh-CN" altLang="en-US" sz="17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测量的不同</a:t>
            </a:r>
            <a:endParaRPr lang="en-US" sz="1100" dirty="0"/>
          </a:p>
          <a:p>
            <a:pPr indent="0" algn="l">
              <a:lnSpc>
                <a:spcPct val="108333"/>
              </a:lnSpc>
              <a:spcBef>
                <a:spcPts val="800"/>
              </a:spcBef>
            </a:pP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endParaRPr lang="en-US" sz="12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70610" y="4469576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77667" y="4364511"/>
            <a:ext cx="2093685" cy="50437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7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特殊的</a:t>
            </a: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</a:t>
            </a:r>
            <a:r>
              <a:rPr lang="zh-CN" altLang="en-US" sz="17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形式</a:t>
            </a:r>
            <a:endParaRPr lang="en-US" sz="1100" dirty="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6019800"/>
            <a:ext cx="406400" cy="406400"/>
          </a:xfrm>
          <a:prstGeom prst="rect">
            <a:avLst/>
          </a:prstGeom>
        </p:spPr>
      </p:pic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B61D1BA-C3B5-E945-3BCE-4AF3B399C2C2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E88D39AA-7F98-9E0C-1DB8-A4B2349B9DAB}"/>
              </a:ext>
            </a:extLst>
          </p:cNvPr>
          <p:cNvCxnSpPr>
            <a:cxnSpLocks/>
          </p:cNvCxnSpPr>
          <p:nvPr/>
        </p:nvCxnSpPr>
        <p:spPr>
          <a:xfrm>
            <a:off x="1157844" y="2778827"/>
            <a:ext cx="0" cy="1995054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C77EF5D5-E969-EADB-D0C1-4887B8DE94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536" y="1712686"/>
            <a:ext cx="4333464" cy="722244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0E9415A6-CA36-75CF-CC0A-35B9224EE2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3781" y="2693845"/>
            <a:ext cx="4401164" cy="2943636"/>
          </a:xfrm>
          <a:prstGeom prst="rect">
            <a:avLst/>
          </a:prstGeom>
        </p:spPr>
      </p:pic>
      <p:sp>
        <p:nvSpPr>
          <p:cNvPr id="25" name="AutoShape 3">
            <a:extLst>
              <a:ext uri="{FF2B5EF4-FFF2-40B4-BE49-F238E27FC236}">
                <a16:creationId xmlns:a16="http://schemas.microsoft.com/office/drawing/2014/main" id="{3F8D7A4E-0024-A580-D971-52195E37DC78}"/>
              </a:ext>
            </a:extLst>
          </p:cNvPr>
          <p:cNvSpPr/>
          <p:nvPr/>
        </p:nvSpPr>
        <p:spPr>
          <a:xfrm>
            <a:off x="1041070" y="1492497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dirty="0">
                <a:solidFill>
                  <a:srgbClr val="666666"/>
                </a:solidFill>
                <a:latin typeface="Noto Sans SC"/>
                <a:ea typeface="Noto Sans SC"/>
                <a:sym typeface="Noto Sans SC"/>
              </a:rPr>
              <a:t>总结</a:t>
            </a:r>
            <a:endParaRPr lang="en-US" sz="36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36E47B9-305F-D9FB-9113-0522CFE7E03F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BAC-DEF5-9C28-859C-99B510B8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C96660B-39D4-78AC-4179-6C2BBB1B84B3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C0954DA-6793-313E-BB9F-ECF18F2ED5E4}"/>
              </a:ext>
            </a:extLst>
          </p:cNvPr>
          <p:cNvSpPr/>
          <p:nvPr/>
        </p:nvSpPr>
        <p:spPr>
          <a:xfrm>
            <a:off x="762000" y="896915"/>
            <a:ext cx="6155377" cy="49101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纠正</a:t>
            </a:r>
            <a:r>
              <a:rPr lang="en-US" sz="2200" b="1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比特翻转</a:t>
            </a:r>
            <a:r>
              <a:rPr lang="zh-CN" alt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bit flip error</a:t>
            </a: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</a:p>
          <a:p>
            <a:pPr indent="0" algn="l">
              <a:lnSpc>
                <a:spcPct val="125000"/>
              </a:lnSpc>
              <a:defRPr/>
            </a:pPr>
            <a:endParaRPr lang="en-US" sz="2200" b="1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2.2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纠正相位反转错误 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(phase flip error)</a:t>
            </a:r>
          </a:p>
          <a:p>
            <a:pPr indent="0" algn="l">
              <a:lnSpc>
                <a:spcPct val="125000"/>
              </a:lnSpc>
              <a:defRPr/>
            </a:pPr>
            <a:endParaRPr lang="en-US" sz="2200" b="1" dirty="0">
              <a:solidFill>
                <a:srgbClr val="555555"/>
              </a:solidFill>
              <a:latin typeface="Noto Sans SC"/>
              <a:ea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1D6C7C7-3815-CFB3-16C1-299071DB385C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>
            <a:extLst>
              <a:ext uri="{FF2B5EF4-FFF2-40B4-BE49-F238E27FC236}">
                <a16:creationId xmlns:a16="http://schemas.microsoft.com/office/drawing/2014/main" id="{5AF47E0C-9BC8-E270-DA51-1F7DD2660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867" y="2076846"/>
            <a:ext cx="1419423" cy="54300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F99C748-60EA-735D-66C6-8323D055A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1355" y="4126321"/>
            <a:ext cx="1657581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05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FA5A-BFE3-A2A4-1A34-1E7A2C42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6C917F8-181D-7581-F332-2B69922CBAC8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0179B69-5B69-2B62-5F3A-541276DB0029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编码实现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E1628F-3B84-BA2D-616B-5C8CCDA8315B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78D239FF-485F-2F02-ABE1-A762E557F24F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1100" dirty="0"/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通过CNOT门实现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以输入比特为控制位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(C)，</a:t>
            </a:r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依次作用于两个初始化为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|0⟩ 的</a:t>
            </a:r>
            <a:r>
              <a:rPr lang="zh-CN" alt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冗余</a:t>
            </a: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比特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(T)。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F0744CF-E897-1C86-78BE-211E70CC3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066" y="1229723"/>
            <a:ext cx="3915321" cy="4315427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B467EC5E-661F-383F-4BF9-2EE232DEC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482" y="4507036"/>
            <a:ext cx="4315427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69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错误描述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由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Pauli</a:t>
            </a: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-X 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算子</a:t>
            </a: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描述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比特翻转</a:t>
            </a: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7F470BB-2341-418A-4F05-F8FCB00097C7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>
            <a:extLst>
              <a:ext uri="{FF2B5EF4-FFF2-40B4-BE49-F238E27FC236}">
                <a16:creationId xmlns:a16="http://schemas.microsoft.com/office/drawing/2014/main" id="{C7F3E105-A5E1-130B-38D4-57A4A4FE7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726" y="1645522"/>
            <a:ext cx="4792118" cy="230586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9B644BC-CB46-D593-9123-71625818D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763" y="4330449"/>
            <a:ext cx="3982006" cy="7525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02EFF-ADA6-C07B-C6DF-898954B4F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781C5F2-82BB-8066-CC6F-07AE70058231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2CDBA42-CC71-310F-CCB2-4C2A3650D29B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错误提取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辅助码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)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BD8B7E-22D4-746B-9D50-E7616C986843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11">
            <a:extLst>
              <a:ext uri="{FF2B5EF4-FFF2-40B4-BE49-F238E27FC236}">
                <a16:creationId xmlns:a16="http://schemas.microsoft.com/office/drawing/2014/main" id="{571DF09A-798B-FAD3-AD1B-AE949D67776F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4F3A689B-E175-5F14-E02E-859E047135A9}"/>
              </a:ext>
            </a:extLst>
          </p:cNvPr>
          <p:cNvSpPr/>
          <p:nvPr/>
        </p:nvSpPr>
        <p:spPr>
          <a:xfrm>
            <a:off x="931601" y="24756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4185A5-719F-47CA-40F0-B7574179AAD0}"/>
              </a:ext>
            </a:extLst>
          </p:cNvPr>
          <p:cNvSpPr txBox="1"/>
          <p:nvPr/>
        </p:nvSpPr>
        <p:spPr>
          <a:xfrm>
            <a:off x="716077" y="2227034"/>
            <a:ext cx="685444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额外使用两个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辅助比特</a:t>
            </a:r>
            <a:r>
              <a:rPr lang="en-US" altLang="zh-CN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(a1 a2)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，</a:t>
            </a:r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第一个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辅助比特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  a1</a:t>
            </a:r>
          </a:p>
          <a:p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由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第二个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物理比特和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第三个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物理比特相加得到</a:t>
            </a:r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第二个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辅助比特  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a2</a:t>
            </a:r>
          </a:p>
          <a:p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由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第一个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物理比特和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第三个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物理比特相加得到</a:t>
            </a:r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(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此处相加实际为异或操作，同出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0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异出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1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，为测量操作，非门操作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)</a:t>
            </a:r>
          </a:p>
          <a:p>
            <a:endParaRPr lang="zh-CN" altLang="en-US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90162736-0DC2-2E3C-C829-A392BD45F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30" y="1734402"/>
            <a:ext cx="4541568" cy="147945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807DB077-3FD3-377D-7FA2-DFDBEA7E65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0141" y="3535563"/>
            <a:ext cx="4431859" cy="1084882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985790F9-F446-1704-B9B9-9822D3ADA2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674" y="4596223"/>
            <a:ext cx="4660365" cy="232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501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0D324-0BED-69F2-049A-4C593A736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798DE43-FCFF-70C8-8147-EBFF4A766E30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10DDE7-1907-3C90-5CC9-ED29DCE9B273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症状提取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辅助码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) </a:t>
            </a:r>
            <a:endParaRPr lang="en-US" sz="1100" dirty="0"/>
          </a:p>
        </p:txBody>
      </p:sp>
      <p:sp>
        <p:nvSpPr>
          <p:cNvPr id="5" name="AutoShape 11">
            <a:extLst>
              <a:ext uri="{FF2B5EF4-FFF2-40B4-BE49-F238E27FC236}">
                <a16:creationId xmlns:a16="http://schemas.microsoft.com/office/drawing/2014/main" id="{E065972E-8F90-9A96-6A84-1F200A62E0B6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EDE22D6-0295-AAA5-B11D-393F0EB1E7A4}"/>
              </a:ext>
            </a:extLst>
          </p:cNvPr>
          <p:cNvSpPr/>
          <p:nvPr/>
        </p:nvSpPr>
        <p:spPr>
          <a:xfrm>
            <a:off x="931601" y="24756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AF316DA-F693-1CF8-3811-4CD4CF9EF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76" y="3203428"/>
            <a:ext cx="10379246" cy="323136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626A26F-D3D4-5666-D200-2D3B065DEC59}"/>
              </a:ext>
            </a:extLst>
          </p:cNvPr>
          <p:cNvSpPr txBox="1"/>
          <p:nvPr/>
        </p:nvSpPr>
        <p:spPr>
          <a:xfrm>
            <a:off x="1188417" y="2517703"/>
            <a:ext cx="61812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Syndrome – </a:t>
            </a:r>
            <a:r>
              <a:rPr lang="zh-CN" altLang="en-US" sz="2400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症状</a:t>
            </a:r>
          </a:p>
        </p:txBody>
      </p:sp>
    </p:spTree>
    <p:extLst>
      <p:ext uri="{BB962C8B-B14F-4D97-AF65-F5344CB8AC3E}">
        <p14:creationId xmlns:p14="http://schemas.microsoft.com/office/powerpoint/2010/main" val="1893980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4637A-90F0-B9CF-E52D-00AABED7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0276B87-B47A-4A6B-C76F-3D7C5B72084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24A0B83-6F16-A8F5-9D00-3FF283E2A2EC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.4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修复</a:t>
            </a:r>
            <a:endParaRPr lang="en-US" sz="1100" dirty="0"/>
          </a:p>
        </p:txBody>
      </p:sp>
      <p:sp>
        <p:nvSpPr>
          <p:cNvPr id="5" name="AutoShape 11">
            <a:extLst>
              <a:ext uri="{FF2B5EF4-FFF2-40B4-BE49-F238E27FC236}">
                <a16:creationId xmlns:a16="http://schemas.microsoft.com/office/drawing/2014/main" id="{0432B237-2BE1-3969-FACB-426089697A5B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9EAF41-F339-E821-74A6-7AFCCA73C177}"/>
              </a:ext>
            </a:extLst>
          </p:cNvPr>
          <p:cNvSpPr/>
          <p:nvPr/>
        </p:nvSpPr>
        <p:spPr>
          <a:xfrm>
            <a:off x="931601" y="24756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62203799-8C50-34D5-8E4A-A4FAFE70D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43" y="3603099"/>
            <a:ext cx="10932596" cy="2491797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1F2F13AB-DCE3-1761-2C75-40DCB9702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831" y="1076412"/>
            <a:ext cx="4449474" cy="226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06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6D9B2-625F-4D0A-0E0B-E03B3F31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53DBC2D-274C-C8E9-D58E-3320FDECE898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6D9D841-312A-77DA-5181-951BC5867D44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2.2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编码实现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B720568-5A01-3E28-0221-D0DA87B9E037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3431320E-CC31-65FB-6D3E-EABA738B3BD0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0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通过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CNOT门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加</a:t>
            </a:r>
            <a:r>
              <a:rPr lang="en-US" altLang="zh-CN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H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r>
              <a:rPr lang="en-US" sz="20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实现</a:t>
            </a:r>
            <a:r>
              <a:rPr 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首先通过</a:t>
            </a:r>
            <a:r>
              <a:rPr lang="en-US" altLang="zh-CN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CNOT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获得与比特翻转时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相同的</a:t>
            </a: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冗余码，</a:t>
            </a:r>
            <a:endParaRPr lang="en-US" altLang="zh-CN" sz="20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>
              <a:lnSpc>
                <a:spcPct val="116666"/>
              </a:lnSpc>
              <a:spcBef>
                <a:spcPts val="800"/>
              </a:spcBef>
            </a:pP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再通过</a:t>
            </a:r>
            <a:r>
              <a:rPr lang="en-US" altLang="zh-CN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H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获得</a:t>
            </a:r>
            <a:r>
              <a:rPr lang="en-US" altLang="zh-CN" b="1" dirty="0"/>
              <a:t>|+⟩</a:t>
            </a:r>
            <a:r>
              <a:rPr lang="zh-CN" altLang="en-US" b="1" dirty="0"/>
              <a:t>，</a:t>
            </a:r>
            <a:r>
              <a:rPr lang="en-US" altLang="zh-CN" b="1" dirty="0"/>
              <a:t>|-</a:t>
            </a:r>
            <a:r>
              <a:rPr lang="en-US" altLang="zh-CN" sz="2000" b="1" dirty="0"/>
              <a:t>⟩</a:t>
            </a:r>
            <a:endParaRPr lang="en-US" sz="2000" b="1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D0F7F0-F534-A1B7-AF1A-35B8E2006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462" y="4577937"/>
            <a:ext cx="3670949" cy="20128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5CF8FFC-99B3-D996-020A-76BFF439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0098" y="343216"/>
            <a:ext cx="4422525" cy="61949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B6D0AAC-656A-22ED-7BFC-C2B0D16E52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7904" y="3598200"/>
            <a:ext cx="4258269" cy="2191056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8CA9D39-F93A-A70F-8233-23FD86B7D9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82" y="3047947"/>
            <a:ext cx="2762636" cy="76210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882E0F61-4F8F-826F-46A4-53C9C2E647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4366" y="856250"/>
            <a:ext cx="4554824" cy="71948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D695EFE-4037-E643-0872-BEFEF035A9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0099" y="1662188"/>
            <a:ext cx="2838846" cy="695422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25F4D496-5282-84B9-D3D6-50AEFFF447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881" y="2669372"/>
            <a:ext cx="2772162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864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A1CBF-BEF3-2AC7-B1C0-A2797726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EB15FCA-E0A3-6CE9-32A9-E7AB3A43EDDE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B2B8058-1A79-11E3-A41B-F14A9BDCED39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2.2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错误描述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314B4269-6152-4AE7-F3C4-021017A3C4E1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由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Pauli</a:t>
            </a: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-Z 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算子</a:t>
            </a: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描述</a:t>
            </a:r>
            <a:r>
              <a:rPr lang="zh-CN" altLang="en-US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相位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翻转</a:t>
            </a: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98D94A2-F27C-C284-29F5-35E1CA7EE16B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543BE8F7-43FF-0F5B-80AD-1BEAA4D72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803" y="1695579"/>
            <a:ext cx="4456994" cy="199323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2057352-AD93-9C59-478C-C2E9F82B5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800" y="4154909"/>
            <a:ext cx="357237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731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5CF8E-E518-55AF-F455-64660C53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32AC28F-FE9A-E96C-3917-5A61E15049E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8E41084-8346-79CA-37A7-339B706CE372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2.2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症状提取与修复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95ED69BD-FA22-2440-7CAA-EB409E73452D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由于</a:t>
            </a:r>
            <a:r>
              <a:rPr lang="en-US" altLang="zh-CN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CNOT</a:t>
            </a:r>
            <a:r>
              <a:rPr lang="zh-CN" altLang="en-US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门对</a:t>
            </a:r>
            <a:r>
              <a:rPr lang="en-US" altLang="zh-CN" sz="2000" b="1" dirty="0"/>
              <a:t>|++⟩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|--⟩</a:t>
            </a:r>
            <a:r>
              <a:rPr lang="zh-CN" altLang="en-US" sz="2000" b="1" dirty="0"/>
              <a:t>作用</a:t>
            </a:r>
            <a:endParaRPr lang="en-US" altLang="zh-CN" sz="2000" b="1" dirty="0"/>
          </a:p>
          <a:p>
            <a:pPr>
              <a:lnSpc>
                <a:spcPct val="116666"/>
              </a:lnSpc>
              <a:defRPr/>
            </a:pPr>
            <a:r>
              <a:rPr lang="zh-CN" altLang="en-US" sz="2000" b="1" dirty="0"/>
              <a:t>类似对</a:t>
            </a:r>
            <a:r>
              <a:rPr lang="en-US" altLang="zh-CN" sz="2000" b="1" dirty="0"/>
              <a:t>|00⟩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|11⟩</a:t>
            </a:r>
            <a:r>
              <a:rPr lang="zh-CN" altLang="en-US" sz="2000" b="1" dirty="0"/>
              <a:t>作用</a:t>
            </a:r>
            <a:endParaRPr lang="en-US" altLang="zh-CN" sz="2000" b="1" dirty="0"/>
          </a:p>
          <a:p>
            <a:pPr>
              <a:lnSpc>
                <a:spcPct val="116666"/>
              </a:lnSpc>
              <a:defRPr/>
            </a:pPr>
            <a:r>
              <a:rPr lang="zh-CN" altLang="en-US" sz="20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故可直接套用比特翻转模式</a:t>
            </a: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0BE11BD-AF4B-BA63-C30D-4EF4AE61101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69E9A67C-3B17-BAD2-8B92-3021DD14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84" y="1980015"/>
            <a:ext cx="3772426" cy="100979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90DEF44-DC35-22ED-B4A7-9EA7346ED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958" y="3118090"/>
            <a:ext cx="3762900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33BF-8072-4E17-5048-DCD18D6B8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CD4870E-0127-F376-6C9C-A3B9D67E32B1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F2C612F-7C19-2E6D-8F12-FC7EA5457755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8630F4A-9D5E-EF34-E31B-DFE7A4937A46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3">
            <a:extLst>
              <a:ext uri="{FF2B5EF4-FFF2-40B4-BE49-F238E27FC236}">
                <a16:creationId xmlns:a16="http://schemas.microsoft.com/office/drawing/2014/main" id="{58654DCE-EA30-A84A-1494-6CAA074FACA4}"/>
              </a:ext>
            </a:extLst>
          </p:cNvPr>
          <p:cNvSpPr/>
          <p:nvPr/>
        </p:nvSpPr>
        <p:spPr>
          <a:xfrm>
            <a:off x="1041070" y="1492497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dirty="0">
                <a:solidFill>
                  <a:srgbClr val="666666"/>
                </a:solidFill>
                <a:latin typeface="Noto Sans SC"/>
                <a:ea typeface="Noto Sans SC"/>
                <a:sym typeface="Noto Sans SC"/>
              </a:rPr>
              <a:t>总结</a:t>
            </a:r>
            <a:endParaRPr lang="en-US" sz="3600" dirty="0"/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29922F11-4941-C191-C416-81A82507BFD1}"/>
              </a:ext>
            </a:extLst>
          </p:cNvPr>
          <p:cNvSpPr/>
          <p:nvPr/>
        </p:nvSpPr>
        <p:spPr>
          <a:xfrm>
            <a:off x="3568265" y="3076913"/>
            <a:ext cx="1391013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94D2968A-7A9B-C07D-1604-FAFBEB3B320E}"/>
              </a:ext>
            </a:extLst>
          </p:cNvPr>
          <p:cNvSpPr/>
          <p:nvPr/>
        </p:nvSpPr>
        <p:spPr>
          <a:xfrm>
            <a:off x="3575329" y="3744043"/>
            <a:ext cx="2050919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/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症状提取</a:t>
            </a:r>
            <a:endParaRPr lang="en-US" sz="1100" dirty="0"/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8C8D3348-03BA-0321-DAFF-206D047748AA}"/>
              </a:ext>
            </a:extLst>
          </p:cNvPr>
          <p:cNvSpPr/>
          <p:nvPr/>
        </p:nvSpPr>
        <p:spPr>
          <a:xfrm>
            <a:off x="3564227" y="4411171"/>
            <a:ext cx="1599446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修复</a:t>
            </a:r>
            <a:endParaRPr lang="en-US" sz="11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D6440F8-199B-A74B-72CF-2536A7B3D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06" y="160317"/>
            <a:ext cx="2307779" cy="114624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BB28409-8095-2561-EA4D-020FFD2D2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4057" y="212771"/>
            <a:ext cx="1983455" cy="108757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82655A24-8B83-1C24-4DDC-43C07DF1A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0612" y="1579890"/>
            <a:ext cx="4660365" cy="232162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B6C86BE-3439-FDED-99F2-C34851F9F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9608" y="3938365"/>
            <a:ext cx="4449474" cy="2269651"/>
          </a:xfrm>
          <a:prstGeom prst="rect">
            <a:avLst/>
          </a:prstGeom>
        </p:spPr>
      </p:pic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C2EBC7D-3D9A-0F90-3862-93113A33CD66}"/>
              </a:ext>
            </a:extLst>
          </p:cNvPr>
          <p:cNvCxnSpPr>
            <a:cxnSpLocks/>
          </p:cNvCxnSpPr>
          <p:nvPr/>
        </p:nvCxnSpPr>
        <p:spPr>
          <a:xfrm>
            <a:off x="3393830" y="3034914"/>
            <a:ext cx="0" cy="1995054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utoShape 3">
            <a:extLst>
              <a:ext uri="{FF2B5EF4-FFF2-40B4-BE49-F238E27FC236}">
                <a16:creationId xmlns:a16="http://schemas.microsoft.com/office/drawing/2014/main" id="{CCF0D56C-DB11-001E-FC62-DFD2E2C4474D}"/>
              </a:ext>
            </a:extLst>
          </p:cNvPr>
          <p:cNvSpPr/>
          <p:nvPr/>
        </p:nvSpPr>
        <p:spPr>
          <a:xfrm>
            <a:off x="2085501" y="3713407"/>
            <a:ext cx="1391013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CNOT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H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862578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EF6C7-1AB9-6866-5766-8F38A9B4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D4B8998-DF69-7C16-F5E7-53E9A1C83FD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shor码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简单介绍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9A25A08-3B0D-54FE-4D95-F67955520706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5266E420-ED24-A6B6-50C9-E77580CD6CBD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altLang="zh-CN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en-US" altLang="zh-CN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Shor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码也叫</a:t>
            </a:r>
            <a:r>
              <a:rPr lang="en-US" altLang="zh-CN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9-qubit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码</a:t>
            </a:r>
            <a:endParaRPr lang="en-US" altLang="zh-CN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既可纠正</a:t>
            </a:r>
            <a:r>
              <a:rPr lang="en-US" altLang="zh-CN" sz="20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bit flip error 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也可纠正 </a:t>
            </a:r>
            <a:r>
              <a:rPr lang="en-US" altLang="zh-CN" sz="20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phase error</a:t>
            </a: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200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并且支持</a:t>
            </a:r>
            <a:r>
              <a:rPr lang="zh-CN" altLang="en-US" sz="20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同时</a:t>
            </a:r>
            <a:r>
              <a:rPr lang="zh-CN" altLang="en-US" sz="200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纠正这两个错误</a:t>
            </a:r>
            <a:endParaRPr lang="en-US" sz="200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96D4A49D-81A7-C88E-AB20-8AE226B5A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443" y="1755041"/>
            <a:ext cx="3587934" cy="1447874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BEA0B8D8-F9B6-68D9-424B-3DC1504AA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526" y="3336153"/>
            <a:ext cx="3617100" cy="489816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6258BEA0-8F2F-104C-DA26-EBF7CBE90C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6869" y="4114805"/>
            <a:ext cx="3953035" cy="8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21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2C9F9-40B2-528E-2400-EB57E09B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DA6F049-A6D7-2734-AD5F-E078EDA5E28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DE670F42-385E-EC54-B3CE-1BDD92A1302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E0C26ADA-31F9-E4F9-A7A0-B5A98334BCDE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4.1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量子纠错码的定义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0766DD20-F633-EF8A-C37B-B3738A7BE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269" y="2160111"/>
            <a:ext cx="4336810" cy="5342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EF3A509-C3E0-540B-6797-60334708A2A0}"/>
                  </a:ext>
                </a:extLst>
              </p:cNvPr>
              <p:cNvSpPr txBox="1"/>
              <p:nvPr/>
            </p:nvSpPr>
            <p:spPr>
              <a:xfrm>
                <a:off x="402274" y="2133681"/>
                <a:ext cx="6995476" cy="48013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定义 </a:t>
                </a:r>
                <a:endParaRPr lang="en-US" altLang="zh-CN" b="1" i="0" dirty="0">
                  <a:solidFill>
                    <a:schemeClr val="tx1"/>
                  </a:solidFill>
                  <a:effectLst/>
                  <a:latin typeface="quote-cjk-patch"/>
                </a:endParaRPr>
              </a:p>
              <a:p>
                <a:endParaRPr lang="en-US" altLang="zh-CN" b="1" i="0" dirty="0">
                  <a:solidFill>
                    <a:schemeClr val="tx1"/>
                  </a:solidFill>
                  <a:effectLst/>
                  <a:latin typeface="quote-cjk-patch"/>
                </a:endParaRPr>
              </a:p>
              <a:p>
                <a:r>
                  <a:rPr lang="en-US" altLang="zh-CN" b="1" dirty="0">
                    <a:latin typeface="quote-cjk-patch"/>
                  </a:rPr>
                  <a:t>  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 一个量子纠错码 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altLang="zh-CN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ar-AE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  <m:e>
                        <m:r>
                          <a:rPr lang="ar-AE" altLang="zh-CN" b="1" i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𝓔</m:t>
                        </m:r>
                      </m:e>
                    </m:d>
                  </m:oMath>
                </a14:m>
                <a:r>
                  <a:rPr lang="zh-CN" altLang="ar-AE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（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简称 </a:t>
                </a:r>
                <a:r>
                  <a:rPr lang="en-US" altLang="zh-CN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QECC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）是一个部分等距映射 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𝑼</m:t>
                    </m:r>
                    <m:r>
                      <a:rPr lang="en-US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𝑲</m:t>
                        </m:r>
                      </m:sub>
                    </m:sSub>
                    <m:r>
                      <a:rPr lang="ar-AE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zh-CN" altLang="ar-AE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，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并配有一个可纠正错误的集合 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𝓔</m:t>
                    </m:r>
                  </m:oMath>
                </a14:m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（</a:t>
                </a:r>
                <a14:m>
                  <m:oMath xmlns:m="http://schemas.openxmlformats.org/officeDocument/2006/math">
                    <m:r>
                      <a:rPr lang="en-US" altLang="zh-CN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𝓔</m:t>
                    </m:r>
                  </m:oMath>
                </a14:m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 由线性映射 </a:t>
                </a:r>
                <a14:m>
                  <m:oMath xmlns:m="http://schemas.openxmlformats.org/officeDocument/2006/math">
                    <m:r>
                      <a:rPr lang="zh-CN" altLang="en-US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ar-AE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sub>
                    </m:sSub>
                  </m:oMath>
                </a14:m>
                <a:r>
                  <a:rPr lang="ar-AE" altLang="zh-CN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 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组成）</a:t>
                </a:r>
                <a:endParaRPr lang="en-US" altLang="zh-CN" b="1" i="0" dirty="0">
                  <a:solidFill>
                    <a:schemeClr val="tx1"/>
                  </a:solidFill>
                  <a:effectLst/>
                  <a:latin typeface="quote-cjk-patch"/>
                </a:endParaRPr>
              </a:p>
              <a:p>
                <a:r>
                  <a:rPr lang="en-US" altLang="zh-CN" b="1" dirty="0">
                    <a:latin typeface="quote-cjk-patch"/>
                  </a:rPr>
                  <a:t>  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满足如下性质：存在量子操作 </a:t>
                </a:r>
                <a14:m>
                  <m:oMath xmlns:m="http://schemas.openxmlformats.org/officeDocument/2006/math">
                    <m:r>
                      <a:rPr lang="zh-CN" altLang="en-US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sub>
                    </m:sSub>
                    <m:r>
                      <a:rPr lang="ar-AE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𝑲</m:t>
                        </m:r>
                      </m:sub>
                    </m:sSub>
                  </m:oMath>
                </a14:m>
                <a:r>
                  <a:rPr lang="zh-CN" altLang="ar-AE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，</a:t>
                </a:r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使得对于所有 </a:t>
                </a:r>
                <a14:m>
                  <m:oMath xmlns:m="http://schemas.openxmlformats.org/officeDocument/2006/math">
                    <m:r>
                      <a:rPr lang="zh-CN" altLang="en-US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zh-CN" altLang="en-US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𝓔</m:t>
                    </m:r>
                  </m:oMath>
                </a14:m>
                <a:r>
                  <a:rPr lang="zh-CN" altLang="en-US" b="1" i="0" dirty="0">
                    <a:solidFill>
                      <a:schemeClr val="tx1"/>
                    </a:solidFill>
                    <a:effectLst/>
                    <a:latin typeface="quote-cjk-patch"/>
                  </a:rPr>
                  <a:t> 以及所有 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altLang="zh-CN" b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𝝍</m:t>
                        </m:r>
                      </m:e>
                    </m:d>
                    <m:r>
                      <a:rPr lang="ar-AE" altLang="zh-CN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altLang="zh-CN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𝓗</m:t>
                        </m:r>
                      </m:e>
                      <m:sub>
                        <m:r>
                          <a:rPr lang="zh-CN" altLang="ar-AE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𝑲</m:t>
                        </m:r>
                      </m:sub>
                    </m:sSub>
                  </m:oMath>
                </a14:m>
                <a:endParaRPr lang="en-US" altLang="zh-CN" b="1" dirty="0">
                  <a:solidFill>
                    <a:schemeClr val="tx1"/>
                  </a:solidFill>
                </a:endParaRPr>
              </a:p>
              <a:p>
                <a:endParaRPr lang="en-US" altLang="zh-CN" b="1" dirty="0"/>
              </a:p>
              <a:p>
                <a:r>
                  <a:rPr lang="zh-CN" altLang="en-US" b="1" dirty="0"/>
                  <a:t>如果 </a:t>
                </a:r>
                <a:r>
                  <a:rPr lang="en-US" altLang="zh-CN" b="1" dirty="0"/>
                  <a:t>ℰ </a:t>
                </a:r>
                <a:r>
                  <a:rPr lang="zh-CN" altLang="en-US" b="1" dirty="0"/>
                  <a:t>是所有 </a:t>
                </a:r>
                <a:r>
                  <a:rPr lang="en-US" altLang="zh-CN" b="1" dirty="0">
                    <a:solidFill>
                      <a:schemeClr val="accent2"/>
                    </a:solidFill>
                  </a:rPr>
                  <a:t>t </a:t>
                </a:r>
                <a:r>
                  <a:rPr lang="zh-CN" altLang="en-US" b="1" dirty="0"/>
                  <a:t>量子比特错误的集合，我们说 </a:t>
                </a:r>
                <a:r>
                  <a:rPr lang="en-US" altLang="zh-CN" b="1" dirty="0"/>
                  <a:t>U</a:t>
                </a:r>
                <a:r>
                  <a:rPr lang="zh-CN" altLang="en-US" b="1" dirty="0"/>
                  <a:t>是一个 </a:t>
                </a:r>
                <a:r>
                  <a:rPr lang="en-US" altLang="zh-CN" b="1" dirty="0">
                    <a:solidFill>
                      <a:schemeClr val="accent2"/>
                    </a:solidFill>
                  </a:rPr>
                  <a:t>t 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纠错码</a:t>
                </a:r>
                <a:r>
                  <a:rPr lang="zh-CN" altLang="en-US" b="1" dirty="0"/>
                  <a:t>，或者说它能纠正 </a:t>
                </a:r>
                <a:r>
                  <a:rPr lang="en-US" altLang="zh-CN" b="1" dirty="0">
                    <a:solidFill>
                      <a:schemeClr val="accent2"/>
                    </a:solidFill>
                  </a:rPr>
                  <a:t>t </a:t>
                </a:r>
                <a:r>
                  <a:rPr lang="zh-CN" altLang="en-US" b="1" dirty="0"/>
                  <a:t>个错误</a:t>
                </a:r>
                <a:endParaRPr lang="en-US" altLang="zh-CN" b="1" dirty="0"/>
              </a:p>
              <a:p>
                <a:endParaRPr lang="en-US" altLang="zh-CN" b="1" dirty="0">
                  <a:solidFill>
                    <a:schemeClr val="tx1"/>
                  </a:solidFill>
                </a:endParaRPr>
              </a:p>
              <a:p>
                <a:r>
                  <a:rPr lang="zh-CN" altLang="en-US" b="1" dirty="0"/>
                  <a:t>注意到我们之前讨论过直接测量是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非幺正</a:t>
                </a:r>
                <a:r>
                  <a:rPr lang="zh-CN" altLang="en-US" b="1" dirty="0"/>
                  <a:t>的，五哦一我们需要进行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纯化解码器</a:t>
                </a:r>
                <a:r>
                  <a:rPr lang="en-US" altLang="zh-CN" b="1" dirty="0">
                    <a:solidFill>
                      <a:schemeClr val="accent2"/>
                    </a:solidFill>
                  </a:rPr>
                  <a:t>(Stinespring dilation)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，</a:t>
                </a:r>
                <a:r>
                  <a:rPr lang="zh-CN" altLang="en-US" b="1" dirty="0"/>
                  <a:t>本质就是任何量子操作都可以看成在一个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更大</a:t>
                </a:r>
                <a:r>
                  <a:rPr lang="zh-CN" altLang="en-US" b="1" dirty="0"/>
                  <a:t>空间上的幺正操作，而实现的操作就是加上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辅助比特</a:t>
                </a:r>
                <a:endParaRPr lang="en-US" altLang="zh-CN" b="1" dirty="0">
                  <a:solidFill>
                    <a:schemeClr val="accent2"/>
                  </a:solidFill>
                </a:endParaRPr>
              </a:p>
              <a:p>
                <a:endParaRPr lang="en-US" altLang="zh-CN" b="1" dirty="0">
                  <a:solidFill>
                    <a:schemeClr val="accent2"/>
                  </a:solidFill>
                </a:endParaRPr>
              </a:p>
              <a:p>
                <a:r>
                  <a:rPr lang="zh-CN" altLang="en-US" b="1" dirty="0">
                    <a:solidFill>
                      <a:schemeClr val="tx1"/>
                    </a:solidFill>
                  </a:rPr>
                  <a:t>注意有时候我们也会用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altLang="zh-CN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e>
                        <m:r>
                          <a:rPr lang="ar-AE" altLang="zh-CN" b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𝓔</m:t>
                        </m:r>
                      </m:e>
                    </m:d>
                    <m:r>
                      <a:rPr lang="zh-CN" altLang="en-US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来</m:t>
                    </m:r>
                  </m:oMath>
                </a14:m>
                <a:r>
                  <a:rPr lang="zh-CN" altLang="en-US" b="1" dirty="0">
                    <a:solidFill>
                      <a:schemeClr val="tx1"/>
                    </a:solidFill>
                  </a:rPr>
                  <a:t>定义一个</a:t>
                </a:r>
                <a:r>
                  <a:rPr lang="en-US" altLang="zh-CN" b="1" dirty="0">
                    <a:solidFill>
                      <a:schemeClr val="tx1"/>
                    </a:solidFill>
                  </a:rPr>
                  <a:t>QEEC</a:t>
                </a:r>
                <a:r>
                  <a:rPr lang="zh-CN" altLang="en-US" b="1" dirty="0">
                    <a:solidFill>
                      <a:schemeClr val="tx1"/>
                    </a:solidFill>
                  </a:rPr>
                  <a:t>其中</a:t>
                </a:r>
                <a:r>
                  <a:rPr lang="en-US" altLang="zh-CN" b="1" dirty="0">
                    <a:solidFill>
                      <a:schemeClr val="tx1"/>
                    </a:solidFill>
                  </a:rPr>
                  <a:t>Q</a:t>
                </a:r>
                <a:r>
                  <a:rPr lang="zh-CN" altLang="en-US" b="1" dirty="0">
                    <a:solidFill>
                      <a:schemeClr val="tx1"/>
                    </a:solidFill>
                  </a:rPr>
                  <a:t>代表的是</a:t>
                </a:r>
                <a:r>
                  <a:rPr lang="en-US" altLang="zh-CN" b="1" dirty="0">
                    <a:solidFill>
                      <a:schemeClr val="tx1"/>
                    </a:solidFill>
                  </a:rPr>
                  <a:t>Image(U)</a:t>
                </a:r>
                <a:r>
                  <a:rPr lang="zh-CN" altLang="en-US" b="1" dirty="0">
                    <a:solidFill>
                      <a:schemeClr val="tx1"/>
                    </a:solidFill>
                  </a:rPr>
                  <a:t>，即态的集合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EF3A509-C3E0-540B-6797-60334708A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74" y="2133681"/>
                <a:ext cx="6995476" cy="4801314"/>
              </a:xfrm>
              <a:prstGeom prst="rect">
                <a:avLst/>
              </a:prstGeom>
              <a:blipFill>
                <a:blip r:embed="rId4"/>
                <a:stretch>
                  <a:fillRect l="-784" t="-635" r="-87" b="-10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5D8A05A7-BB72-C02D-50DC-629D4AE195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735" y="4494812"/>
            <a:ext cx="4409650" cy="430572"/>
          </a:xfrm>
          <a:prstGeom prst="rect">
            <a:avLst/>
          </a:prstGeom>
        </p:spPr>
      </p:pic>
      <p:sp>
        <p:nvSpPr>
          <p:cNvPr id="21" name="箭头: 下 20">
            <a:extLst>
              <a:ext uri="{FF2B5EF4-FFF2-40B4-BE49-F238E27FC236}">
                <a16:creationId xmlns:a16="http://schemas.microsoft.com/office/drawing/2014/main" id="{2BDBCFEF-BA8F-13C9-5D06-72C74DEFFAEB}"/>
              </a:ext>
            </a:extLst>
          </p:cNvPr>
          <p:cNvSpPr/>
          <p:nvPr/>
        </p:nvSpPr>
        <p:spPr>
          <a:xfrm>
            <a:off x="9642763" y="3040083"/>
            <a:ext cx="439387" cy="1021278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5C0FDF8-7332-7BAE-5872-434A3C6B6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2756" y="3410109"/>
            <a:ext cx="1606633" cy="21591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08A6F12-21DC-DE4A-724D-AA82DB6618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2874" y="5128520"/>
            <a:ext cx="1914581" cy="20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306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6B17D-4175-9405-80BC-CF865344E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51BA56D-D346-2E6A-151B-74BF1488558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9D52DBC-DCAE-2B46-203C-8E714B3919BE}"/>
              </a:ext>
            </a:extLst>
          </p:cNvPr>
          <p:cNvCxnSpPr/>
          <p:nvPr/>
        </p:nvCxnSpPr>
        <p:spPr>
          <a:xfrm>
            <a:off x="4352291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EEAA1FF7-2F44-E401-C41D-F79480E551BF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4.1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量子纠错码的定义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90E56BA-28CC-1693-A906-C82F086349DC}"/>
              </a:ext>
            </a:extLst>
          </p:cNvPr>
          <p:cNvSpPr txBox="1"/>
          <p:nvPr/>
        </p:nvSpPr>
        <p:spPr>
          <a:xfrm>
            <a:off x="351805" y="2437987"/>
            <a:ext cx="380455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quote-cjk-patch"/>
              </a:rPr>
              <a:t>命题</a:t>
            </a:r>
            <a:endParaRPr lang="en-US" altLang="zh-CN" b="1" dirty="0">
              <a:latin typeface="quote-cjk-patch"/>
            </a:endParaRPr>
          </a:p>
          <a:p>
            <a:endParaRPr lang="en-US" altLang="zh-CN" b="1" i="0" dirty="0">
              <a:solidFill>
                <a:schemeClr val="tx1"/>
              </a:solidFill>
              <a:effectLst/>
              <a:latin typeface="quote-cjk-patch"/>
            </a:endParaRPr>
          </a:p>
          <a:p>
            <a:r>
              <a:rPr lang="en-US" altLang="zh-CN" b="1" i="0" dirty="0">
                <a:solidFill>
                  <a:schemeClr val="tx1"/>
                </a:solidFill>
                <a:effectLst/>
                <a:latin typeface="quote-cjk-patch"/>
              </a:rPr>
              <a:t>  </a:t>
            </a:r>
            <a:r>
              <a:rPr lang="zh-CN" altLang="en-US" b="1" dirty="0">
                <a:latin typeface="quote-cjk-patch"/>
              </a:rPr>
              <a:t> 在定义 </a:t>
            </a:r>
            <a:r>
              <a:rPr lang="en-US" altLang="zh-CN" b="1" dirty="0">
                <a:latin typeface="quote-cjk-patch"/>
              </a:rPr>
              <a:t>1 </a:t>
            </a:r>
            <a:r>
              <a:rPr lang="zh-CN" altLang="en-US" b="1" dirty="0">
                <a:latin typeface="quote-cjk-patch"/>
              </a:rPr>
              <a:t>中，</a:t>
            </a:r>
            <a:r>
              <a:rPr lang="en-US" altLang="zh-CN" b="1" dirty="0">
                <a:latin typeface="quote-cjk-patch"/>
              </a:rPr>
              <a:t>c(</a:t>
            </a:r>
            <a:r>
              <a:rPr lang="en-US" altLang="zh-CN" b="1" dirty="0" err="1">
                <a:latin typeface="quote-cjk-patch"/>
              </a:rPr>
              <a:t>E,|ψ</a:t>
            </a:r>
            <a:r>
              <a:rPr lang="en-US" altLang="zh-CN" b="1" dirty="0">
                <a:latin typeface="quote-cjk-patch"/>
              </a:rPr>
              <a:t>⟩) </a:t>
            </a:r>
            <a:r>
              <a:rPr lang="zh-CN" altLang="en-US" b="1" dirty="0">
                <a:latin typeface="quote-cjk-patch"/>
              </a:rPr>
              <a:t>与 </a:t>
            </a:r>
            <a:r>
              <a:rPr lang="en-US" altLang="zh-CN" b="1" dirty="0">
                <a:latin typeface="quote-cjk-patch"/>
              </a:rPr>
              <a:t>|ψ⟩ </a:t>
            </a:r>
            <a:r>
              <a:rPr lang="zh-CN" altLang="en-US" b="1" dirty="0">
                <a:solidFill>
                  <a:schemeClr val="accent2"/>
                </a:solidFill>
                <a:latin typeface="quote-cjk-patch"/>
              </a:rPr>
              <a:t>无关</a:t>
            </a:r>
            <a:r>
              <a:rPr lang="zh-CN" altLang="en-US" b="1" dirty="0">
                <a:latin typeface="quote-cjk-patch"/>
              </a:rPr>
              <a:t>，当我们纯化解码器时，</a:t>
            </a:r>
            <a:r>
              <a:rPr lang="en-US" altLang="zh-CN" b="1" dirty="0">
                <a:latin typeface="quote-cjk-patch"/>
              </a:rPr>
              <a:t>|A(</a:t>
            </a:r>
            <a:r>
              <a:rPr lang="en-US" altLang="zh-CN" b="1" dirty="0" err="1">
                <a:latin typeface="quote-cjk-patch"/>
              </a:rPr>
              <a:t>E,|ψ</a:t>
            </a:r>
            <a:r>
              <a:rPr lang="en-US" altLang="zh-CN" b="1" dirty="0">
                <a:latin typeface="quote-cjk-patch"/>
              </a:rPr>
              <a:t>⟩)⟩ </a:t>
            </a:r>
            <a:r>
              <a:rPr lang="zh-CN" altLang="en-US" b="1" dirty="0">
                <a:latin typeface="quote-cjk-patch"/>
              </a:rPr>
              <a:t>也是如此。</a:t>
            </a:r>
            <a:endParaRPr lang="en-US" altLang="zh-CN" b="1" dirty="0">
              <a:latin typeface="quote-cjk-patch"/>
            </a:endParaRPr>
          </a:p>
          <a:p>
            <a:endParaRPr lang="en-US" altLang="zh-CN" b="1" i="0" dirty="0">
              <a:solidFill>
                <a:schemeClr val="tx1"/>
              </a:solidFill>
              <a:effectLst/>
              <a:latin typeface="quote-cjk-patch"/>
            </a:endParaRPr>
          </a:p>
          <a:p>
            <a:r>
              <a:rPr lang="zh-CN" altLang="en-US" b="1" i="0" dirty="0">
                <a:solidFill>
                  <a:schemeClr val="tx1"/>
                </a:solidFill>
                <a:effectLst/>
                <a:latin typeface="quote-cjk-patch"/>
              </a:rPr>
              <a:t>物理意义</a:t>
            </a:r>
            <a:endParaRPr lang="en-US" altLang="zh-CN" b="1" i="0" dirty="0">
              <a:solidFill>
                <a:schemeClr val="tx1"/>
              </a:solidFill>
              <a:effectLst/>
              <a:latin typeface="quote-cjk-patch"/>
            </a:endParaRPr>
          </a:p>
          <a:p>
            <a:endParaRPr lang="en-US" altLang="zh-CN" b="1" dirty="0">
              <a:latin typeface="quote-cjk-patch"/>
            </a:endParaRPr>
          </a:p>
          <a:p>
            <a:r>
              <a:rPr lang="zh-CN" altLang="en-US" b="1" dirty="0">
                <a:latin typeface="quote-cjk-patch"/>
              </a:rPr>
              <a:t>  为了在解码器输出中</a:t>
            </a:r>
            <a:r>
              <a:rPr lang="zh-CN" altLang="en-US" b="1" dirty="0">
                <a:solidFill>
                  <a:schemeClr val="accent2"/>
                </a:solidFill>
                <a:latin typeface="quote-cjk-patch"/>
              </a:rPr>
              <a:t>保持相干叠加</a:t>
            </a:r>
            <a:r>
              <a:rPr lang="zh-CN" altLang="en-US" b="1" dirty="0">
                <a:latin typeface="quote-cjk-patch"/>
              </a:rPr>
              <a:t>，辅助系统中</a:t>
            </a:r>
            <a:r>
              <a:rPr lang="zh-CN" altLang="en-US" b="1" dirty="0">
                <a:solidFill>
                  <a:schemeClr val="accent2"/>
                </a:solidFill>
                <a:latin typeface="quote-cjk-patch"/>
              </a:rPr>
              <a:t>不能留下</a:t>
            </a:r>
            <a:r>
              <a:rPr lang="zh-CN" altLang="en-US" b="1" dirty="0">
                <a:latin typeface="quote-cjk-patch"/>
              </a:rPr>
              <a:t>关于编码状态的任何信息</a:t>
            </a:r>
            <a:endParaRPr lang="en-US" altLang="zh-CN" b="1" i="0" dirty="0">
              <a:solidFill>
                <a:schemeClr val="tx1"/>
              </a:solidFill>
              <a:effectLst/>
              <a:latin typeface="quote-cjk-patch"/>
            </a:endParaRPr>
          </a:p>
          <a:p>
            <a:r>
              <a:rPr lang="en-US" altLang="zh-CN" b="1" dirty="0">
                <a:latin typeface="quote-cjk-patch"/>
              </a:rPr>
              <a:t>  </a:t>
            </a:r>
            <a:endParaRPr lang="zh-CN" altLang="en-US" b="1" dirty="0">
              <a:solidFill>
                <a:schemeClr val="accent2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EA344A-5002-60D1-A7F8-0458E60AB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10" y="1009404"/>
            <a:ext cx="4409650" cy="43057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DA83995-81F7-4CE7-7C8D-F286CBD64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145" y="2363338"/>
            <a:ext cx="3257717" cy="6350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5B0A714-CF05-A97B-C505-7C6D837A001F}"/>
                  </a:ext>
                </a:extLst>
              </p:cNvPr>
              <p:cNvSpPr txBox="1"/>
              <p:nvPr/>
            </p:nvSpPr>
            <p:spPr>
              <a:xfrm>
                <a:off x="4634345" y="1828799"/>
                <a:ext cx="9922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2400" b="1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𝒓𝒐𝒐𝒇</m:t>
                      </m:r>
                    </m:oMath>
                  </m:oMathPara>
                </a14:m>
                <a:endParaRPr lang="zh-CN" altLang="en-US" sz="2400" b="1" i="1" dirty="0">
                  <a:latin typeface="Brush Script MT" panose="03060802040406070304" pitchFamily="66" charset="0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5B0A714-CF05-A97B-C505-7C6D837A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345" y="1828799"/>
                <a:ext cx="992259" cy="369332"/>
              </a:xfrm>
              <a:prstGeom prst="rect">
                <a:avLst/>
              </a:prstGeom>
              <a:blipFill>
                <a:blip r:embed="rId5"/>
                <a:stretch>
                  <a:fillRect l="-5521" t="-3279" r="-9816" b="-295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62637885-281C-976E-6C13-B39B71AE05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0705" y="3652922"/>
            <a:ext cx="6216970" cy="692186"/>
          </a:xfrm>
          <a:prstGeom prst="rect">
            <a:avLst/>
          </a:prstGeom>
        </p:spPr>
      </p:pic>
      <p:sp>
        <p:nvSpPr>
          <p:cNvPr id="12" name="箭头: 下 11">
            <a:extLst>
              <a:ext uri="{FF2B5EF4-FFF2-40B4-BE49-F238E27FC236}">
                <a16:creationId xmlns:a16="http://schemas.microsoft.com/office/drawing/2014/main" id="{CBAF8A1A-949A-6542-C8E9-0F4E487C9DAE}"/>
              </a:ext>
            </a:extLst>
          </p:cNvPr>
          <p:cNvSpPr/>
          <p:nvPr/>
        </p:nvSpPr>
        <p:spPr>
          <a:xfrm>
            <a:off x="8330540" y="3182587"/>
            <a:ext cx="439387" cy="37407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ED0DFDDE-5470-8F82-A5ED-C4589DA4DD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3291" y="4886719"/>
            <a:ext cx="3753043" cy="730288"/>
          </a:xfrm>
          <a:prstGeom prst="rect">
            <a:avLst/>
          </a:prstGeom>
        </p:spPr>
      </p:pic>
      <p:sp>
        <p:nvSpPr>
          <p:cNvPr id="22" name="箭头: 下 21">
            <a:extLst>
              <a:ext uri="{FF2B5EF4-FFF2-40B4-BE49-F238E27FC236}">
                <a16:creationId xmlns:a16="http://schemas.microsoft.com/office/drawing/2014/main" id="{A075E893-77E9-EE79-29A9-4BDD9506E99E}"/>
              </a:ext>
            </a:extLst>
          </p:cNvPr>
          <p:cNvSpPr/>
          <p:nvPr/>
        </p:nvSpPr>
        <p:spPr>
          <a:xfrm>
            <a:off x="8334498" y="4463142"/>
            <a:ext cx="439387" cy="37407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29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AF982-992A-1326-DE6E-D86EF8E41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68E0BAD-8393-BACC-0E52-C6EE5204FF84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7B4AEFE8-A529-751F-3AF4-ED5E8FA5063A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BA0F4CA1-1039-A62F-4E56-EFFF3E5C1481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4.1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量子纠错码的定义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0CA4B4A-823C-CBE9-3E73-71575D81C1C1}"/>
              </a:ext>
            </a:extLst>
          </p:cNvPr>
          <p:cNvSpPr txBox="1"/>
          <p:nvPr/>
        </p:nvSpPr>
        <p:spPr>
          <a:xfrm>
            <a:off x="455261" y="2344871"/>
            <a:ext cx="695077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quote-cjk-patch"/>
              </a:rPr>
              <a:t>注意点</a:t>
            </a:r>
            <a:endParaRPr lang="en-US" altLang="zh-CN" b="1" dirty="0">
              <a:latin typeface="quote-cjk-patch"/>
            </a:endParaRPr>
          </a:p>
          <a:p>
            <a:endParaRPr lang="en-US" altLang="zh-CN" b="1" dirty="0">
              <a:latin typeface="quote-cjk-patch"/>
            </a:endParaRPr>
          </a:p>
          <a:p>
            <a:r>
              <a:rPr lang="en-US" altLang="zh-CN" b="1" dirty="0"/>
              <a:t>1. </a:t>
            </a:r>
            <a:r>
              <a:rPr lang="en-US" altLang="zh-CN" b="1" i="1" dirty="0"/>
              <a:t>ℰ  </a:t>
            </a:r>
            <a:r>
              <a:rPr lang="zh-CN" altLang="en-US" b="1" dirty="0"/>
              <a:t>不是</a:t>
            </a:r>
            <a:r>
              <a:rPr lang="zh-CN" altLang="en-US" b="1" dirty="0">
                <a:solidFill>
                  <a:schemeClr val="accent2"/>
                </a:solidFill>
              </a:rPr>
              <a:t>唯一</a:t>
            </a:r>
            <a:r>
              <a:rPr lang="zh-CN" altLang="en-US" b="1" dirty="0"/>
              <a:t>的，正因如此我们将其作为定义的一部分</a:t>
            </a:r>
            <a:endParaRPr lang="en-US" altLang="zh-CN" b="1" dirty="0"/>
          </a:p>
          <a:p>
            <a:r>
              <a:rPr lang="en-US" altLang="zh-CN" b="1" dirty="0">
                <a:latin typeface="quote-cjk-patch"/>
              </a:rPr>
              <a:t>     </a:t>
            </a:r>
            <a:r>
              <a:rPr lang="zh-CN" altLang="en-US" b="1" dirty="0">
                <a:latin typeface="quote-cjk-patch"/>
              </a:rPr>
              <a:t>且 </a:t>
            </a:r>
            <a:r>
              <a:rPr lang="en-US" altLang="zh-CN" b="1" i="1" dirty="0"/>
              <a:t>ℰ </a:t>
            </a:r>
            <a:r>
              <a:rPr lang="zh-CN" altLang="en-US" b="1" i="1" dirty="0"/>
              <a:t> </a:t>
            </a:r>
            <a:r>
              <a:rPr lang="zh-CN" altLang="en-US" b="1" dirty="0"/>
              <a:t>中</a:t>
            </a:r>
            <a:r>
              <a:rPr lang="zh-CN" altLang="en-US" b="1" dirty="0">
                <a:solidFill>
                  <a:schemeClr val="accent2"/>
                </a:solidFill>
              </a:rPr>
              <a:t>不能放入</a:t>
            </a:r>
            <a:r>
              <a:rPr lang="en-US" altLang="zh-CN" b="1" dirty="0" err="1">
                <a:solidFill>
                  <a:schemeClr val="accent2"/>
                </a:solidFill>
              </a:rPr>
              <a:t>syndorme</a:t>
            </a:r>
            <a:r>
              <a:rPr lang="zh-CN" altLang="en-US" b="1" dirty="0">
                <a:solidFill>
                  <a:schemeClr val="accent2"/>
                </a:solidFill>
              </a:rPr>
              <a:t>相同的错误</a:t>
            </a:r>
            <a:endParaRPr lang="en-US" altLang="zh-CN" b="1" dirty="0">
              <a:solidFill>
                <a:schemeClr val="accent2"/>
              </a:solidFill>
              <a:latin typeface="quote-cjk-patch"/>
            </a:endParaRPr>
          </a:p>
          <a:p>
            <a:r>
              <a:rPr lang="en-US" altLang="zh-CN" b="1" i="0" dirty="0">
                <a:solidFill>
                  <a:schemeClr val="tx1"/>
                </a:solidFill>
                <a:effectLst/>
                <a:latin typeface="quote-cjk-patch"/>
              </a:rPr>
              <a:t>2. </a:t>
            </a:r>
            <a:r>
              <a:rPr lang="zh-CN" altLang="en-US" b="1" i="1" dirty="0"/>
              <a:t>𝒟  </a:t>
            </a:r>
            <a:r>
              <a:rPr lang="zh-CN" altLang="en-US" b="1" dirty="0"/>
              <a:t>在 </a:t>
            </a:r>
            <a:r>
              <a:rPr lang="en-US" altLang="zh-CN" b="1" dirty="0">
                <a:solidFill>
                  <a:schemeClr val="accent2"/>
                </a:solidFill>
              </a:rPr>
              <a:t>ℰ </a:t>
            </a:r>
            <a:r>
              <a:rPr lang="zh-CN" altLang="en-US" b="1" dirty="0">
                <a:solidFill>
                  <a:schemeClr val="accent2"/>
                </a:solidFill>
              </a:rPr>
              <a:t>导致的错误子空间</a:t>
            </a:r>
            <a:r>
              <a:rPr lang="zh-CN" altLang="en-US" b="1" dirty="0"/>
              <a:t>上所产生的行为是</a:t>
            </a:r>
            <a:r>
              <a:rPr lang="zh-CN" altLang="en-US" b="1" dirty="0">
                <a:solidFill>
                  <a:schemeClr val="accent2"/>
                </a:solidFill>
              </a:rPr>
              <a:t>唯一</a:t>
            </a:r>
            <a:r>
              <a:rPr lang="zh-CN" altLang="en-US" b="1" dirty="0"/>
              <a:t>的，但在该子空间</a:t>
            </a:r>
            <a:r>
              <a:rPr lang="zh-CN" altLang="en-US" b="1" dirty="0">
                <a:solidFill>
                  <a:schemeClr val="accent2"/>
                </a:solidFill>
              </a:rPr>
              <a:t>外</a:t>
            </a:r>
            <a:r>
              <a:rPr lang="zh-CN" altLang="en-US" b="1" dirty="0"/>
              <a:t>，</a:t>
            </a:r>
            <a:r>
              <a:rPr lang="zh-CN" altLang="en-US" b="1" dirty="0">
                <a:solidFill>
                  <a:schemeClr val="accent2"/>
                </a:solidFill>
              </a:rPr>
              <a:t>并不唯一</a:t>
            </a:r>
            <a:r>
              <a:rPr lang="zh-CN" altLang="en-US" b="1" dirty="0"/>
              <a:t>，且也是我们需要考虑的</a:t>
            </a:r>
            <a:endParaRPr lang="en-US" altLang="zh-CN" b="1" dirty="0"/>
          </a:p>
          <a:p>
            <a:r>
              <a:rPr lang="en-US" altLang="zh-CN" b="1" dirty="0">
                <a:latin typeface="quote-cjk-patch"/>
              </a:rPr>
              <a:t>  </a:t>
            </a:r>
            <a:r>
              <a:rPr lang="zh-CN" altLang="en-US" b="1" dirty="0">
                <a:latin typeface="quote-cjk-patch"/>
              </a:rPr>
              <a:t>原因</a:t>
            </a:r>
            <a:r>
              <a:rPr lang="en-US" altLang="zh-CN" b="1" dirty="0">
                <a:latin typeface="quote-cjk-patch"/>
              </a:rPr>
              <a:t> </a:t>
            </a:r>
          </a:p>
          <a:p>
            <a:r>
              <a:rPr lang="en-US" altLang="zh-CN" b="1" i="1" dirty="0">
                <a:latin typeface="quote-cjk-patch"/>
              </a:rPr>
              <a:t>    </a:t>
            </a:r>
            <a:r>
              <a:rPr lang="zh-CN" altLang="en-US" b="1" i="1" dirty="0"/>
              <a:t>𝒟 </a:t>
            </a:r>
            <a:r>
              <a:rPr lang="zh-CN" altLang="en-US" b="1" dirty="0"/>
              <a:t>本身会</a:t>
            </a:r>
            <a:r>
              <a:rPr lang="zh-CN" altLang="en-US" b="1" dirty="0">
                <a:solidFill>
                  <a:schemeClr val="accent2"/>
                </a:solidFill>
              </a:rPr>
              <a:t>出错</a:t>
            </a:r>
            <a:r>
              <a:rPr lang="zh-CN" altLang="en-US" b="1" dirty="0"/>
              <a:t>，所以确保</a:t>
            </a:r>
            <a:r>
              <a:rPr lang="en-US" altLang="zh-CN" b="1" dirty="0">
                <a:latin typeface="quote-cjk-patch"/>
              </a:rPr>
              <a:t> </a:t>
            </a:r>
            <a:r>
              <a:rPr lang="en-US" altLang="zh-CN" b="1" dirty="0">
                <a:solidFill>
                  <a:schemeClr val="accent2"/>
                </a:solidFill>
              </a:rPr>
              <a:t>ℰ </a:t>
            </a:r>
            <a:r>
              <a:rPr lang="zh-CN" altLang="en-US" b="1" dirty="0"/>
              <a:t>外的操作不会有糟糕影响</a:t>
            </a:r>
            <a:r>
              <a:rPr lang="en-US" altLang="zh-CN" b="1" dirty="0"/>
              <a:t>(</a:t>
            </a:r>
            <a:r>
              <a:rPr lang="zh-CN" altLang="en-US" b="1" dirty="0"/>
              <a:t>导致新的错误</a:t>
            </a:r>
            <a:r>
              <a:rPr lang="en-US" altLang="zh-CN" b="1" dirty="0"/>
              <a:t>)</a:t>
            </a:r>
            <a:r>
              <a:rPr lang="zh-CN" altLang="en-US" b="1" dirty="0"/>
              <a:t>很重要</a:t>
            </a:r>
            <a:r>
              <a:rPr lang="en-US" altLang="zh-CN" b="1" dirty="0"/>
              <a:t>(</a:t>
            </a:r>
            <a:r>
              <a:rPr lang="zh-CN" altLang="en-US" b="1" dirty="0"/>
              <a:t>容错</a:t>
            </a:r>
            <a:r>
              <a:rPr lang="en-US" altLang="zh-CN" b="1" dirty="0"/>
              <a:t>)</a:t>
            </a:r>
            <a:r>
              <a:rPr lang="zh-CN" altLang="en-US" b="1" dirty="0"/>
              <a:t>，甚至可以让 </a:t>
            </a:r>
            <a:r>
              <a:rPr lang="zh-CN" altLang="en-US" b="1" i="1" dirty="0"/>
              <a:t>𝒟  </a:t>
            </a:r>
            <a:r>
              <a:rPr lang="zh-CN" altLang="en-US" b="1" dirty="0"/>
              <a:t>实现</a:t>
            </a:r>
            <a:r>
              <a:rPr lang="zh-CN" altLang="en-US" b="1" dirty="0">
                <a:solidFill>
                  <a:schemeClr val="accent2"/>
                </a:solidFill>
              </a:rPr>
              <a:t>丢弃态</a:t>
            </a:r>
            <a:r>
              <a:rPr lang="zh-CN" altLang="en-US" b="1" dirty="0"/>
              <a:t>或者</a:t>
            </a:r>
            <a:r>
              <a:rPr lang="zh-CN" altLang="en-US" b="1" dirty="0">
                <a:solidFill>
                  <a:schemeClr val="accent2"/>
                </a:solidFill>
              </a:rPr>
              <a:t>报错</a:t>
            </a:r>
            <a:r>
              <a:rPr lang="en-US" altLang="zh-CN" b="1" dirty="0">
                <a:solidFill>
                  <a:schemeClr val="accent2"/>
                </a:solidFill>
              </a:rPr>
              <a:t>(</a:t>
            </a:r>
            <a:r>
              <a:rPr lang="zh-CN" altLang="en-US" b="1" dirty="0"/>
              <a:t>无法用于纠正</a:t>
            </a:r>
            <a:r>
              <a:rPr lang="en-US" altLang="zh-CN" b="1" dirty="0"/>
              <a:t>)</a:t>
            </a:r>
            <a:r>
              <a:rPr lang="zh-CN" altLang="en-US" b="1" dirty="0"/>
              <a:t>，等有利行为 ，最后 </a:t>
            </a:r>
            <a:r>
              <a:rPr lang="zh-CN" altLang="en-US" b="1" i="1" dirty="0"/>
              <a:t>𝒟 </a:t>
            </a:r>
            <a:r>
              <a:rPr lang="zh-CN" altLang="en-US" b="1" dirty="0"/>
              <a:t>的子空间外的</a:t>
            </a:r>
            <a:r>
              <a:rPr lang="zh-CN" altLang="en-US" b="1" dirty="0">
                <a:solidFill>
                  <a:schemeClr val="accent2"/>
                </a:solidFill>
              </a:rPr>
              <a:t>平滑行为</a:t>
            </a:r>
            <a:r>
              <a:rPr lang="zh-CN" altLang="en-US" b="1" dirty="0"/>
              <a:t>也可为</a:t>
            </a:r>
            <a:r>
              <a:rPr lang="zh-CN" altLang="en-US" b="1" dirty="0">
                <a:solidFill>
                  <a:schemeClr val="accent2"/>
                </a:solidFill>
              </a:rPr>
              <a:t>近似纠错</a:t>
            </a:r>
            <a:r>
              <a:rPr lang="zh-CN" altLang="en-US" b="1" dirty="0"/>
              <a:t>服务</a:t>
            </a:r>
            <a:endParaRPr lang="en-US" altLang="zh-CN" b="1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B2EB6B-C349-BF76-D3DB-FFE8C17B7F8B}"/>
              </a:ext>
            </a:extLst>
          </p:cNvPr>
          <p:cNvSpPr txBox="1"/>
          <p:nvPr/>
        </p:nvSpPr>
        <p:spPr>
          <a:xfrm>
            <a:off x="8837897" y="2586657"/>
            <a:ext cx="91532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b="1" i="1" dirty="0"/>
              <a:t>ℰ       </a:t>
            </a:r>
            <a:r>
              <a:rPr lang="zh-CN" altLang="en-US" b="1" i="1" dirty="0"/>
              <a:t>𝒟</a:t>
            </a:r>
            <a:endParaRPr lang="zh-CN" altLang="en-US" b="1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FBB95F4-6258-FBAA-E9AF-675E3E4A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3905" y="4054301"/>
            <a:ext cx="1219263" cy="2349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2B2BF3F-FD13-A1A6-61A9-03F8C2FB2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0207" y="3266248"/>
            <a:ext cx="1276416" cy="22861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846D36-9378-7A09-CF63-ACE1E88197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5020" y="3675446"/>
            <a:ext cx="1873346" cy="209561"/>
          </a:xfrm>
          <a:prstGeom prst="rect">
            <a:avLst/>
          </a:prstGeom>
        </p:spPr>
      </p:pic>
      <p:sp>
        <p:nvSpPr>
          <p:cNvPr id="12" name="椭圆 11">
            <a:extLst>
              <a:ext uri="{FF2B5EF4-FFF2-40B4-BE49-F238E27FC236}">
                <a16:creationId xmlns:a16="http://schemas.microsoft.com/office/drawing/2014/main" id="{FD2C6C38-2115-6DAC-15F3-F3AA8320E8EE}"/>
              </a:ext>
            </a:extLst>
          </p:cNvPr>
          <p:cNvSpPr/>
          <p:nvPr/>
        </p:nvSpPr>
        <p:spPr>
          <a:xfrm>
            <a:off x="8727486" y="3702218"/>
            <a:ext cx="133224" cy="133224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E5C14188-C3EE-E213-1325-83484BFE3343}"/>
              </a:ext>
            </a:extLst>
          </p:cNvPr>
          <p:cNvSpPr/>
          <p:nvPr/>
        </p:nvSpPr>
        <p:spPr>
          <a:xfrm>
            <a:off x="8709235" y="3307677"/>
            <a:ext cx="133224" cy="133224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927D714-A511-31D0-07B0-D1875A95CCD0}"/>
              </a:ext>
            </a:extLst>
          </p:cNvPr>
          <p:cNvSpPr/>
          <p:nvPr/>
        </p:nvSpPr>
        <p:spPr>
          <a:xfrm>
            <a:off x="8730661" y="4108618"/>
            <a:ext cx="133224" cy="1332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0936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6180E-11FF-6107-3485-AD40F508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03D9620-47AB-8DF2-3E98-4229FE36CF3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EFB89F97-CA2D-4196-AEBA-36BC3FCD07D1}"/>
              </a:ext>
            </a:extLst>
          </p:cNvPr>
          <p:cNvCxnSpPr/>
          <p:nvPr/>
        </p:nvCxnSpPr>
        <p:spPr>
          <a:xfrm>
            <a:off x="49567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E53C509F-1BB1-F53B-DC1E-2C2D4169C402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4.2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量子纠错的线性性质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73F14DE-3FBB-FEA9-65C4-E269E013C899}"/>
              </a:ext>
            </a:extLst>
          </p:cNvPr>
          <p:cNvSpPr txBox="1"/>
          <p:nvPr/>
        </p:nvSpPr>
        <p:spPr>
          <a:xfrm>
            <a:off x="258411" y="2319471"/>
            <a:ext cx="466918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定理 </a:t>
            </a:r>
            <a:r>
              <a:rPr lang="en-US" altLang="zh-CN" b="1" dirty="0"/>
              <a:t>2</a:t>
            </a:r>
          </a:p>
          <a:p>
            <a:r>
              <a:rPr lang="en-US" altLang="zh-CN" b="1" dirty="0"/>
              <a:t>  </a:t>
            </a:r>
          </a:p>
          <a:p>
            <a:r>
              <a:rPr lang="zh-CN" altLang="en-US" b="1" dirty="0"/>
              <a:t>  如果 </a:t>
            </a:r>
            <a:r>
              <a:rPr lang="en-US" altLang="zh-CN" b="1" dirty="0"/>
              <a:t>(U, ℰ) </a:t>
            </a:r>
            <a:r>
              <a:rPr lang="zh-CN" altLang="en-US" b="1" dirty="0"/>
              <a:t>是一个 </a:t>
            </a:r>
            <a:r>
              <a:rPr lang="en-US" altLang="zh-CN" b="1" dirty="0"/>
              <a:t>QECC</a:t>
            </a:r>
            <a:r>
              <a:rPr lang="zh-CN" altLang="en-US" b="1" dirty="0"/>
              <a:t>，那么 </a:t>
            </a:r>
            <a:r>
              <a:rPr lang="en-US" altLang="zh-CN" b="1" dirty="0"/>
              <a:t>(U, ℰ′) </a:t>
            </a:r>
            <a:r>
              <a:rPr lang="zh-CN" altLang="en-US" b="1" dirty="0"/>
              <a:t>也是一个 </a:t>
            </a:r>
            <a:r>
              <a:rPr lang="en-US" altLang="zh-CN" b="1" dirty="0"/>
              <a:t>QECC</a:t>
            </a:r>
            <a:r>
              <a:rPr lang="zh-CN" altLang="en-US" b="1" dirty="0"/>
              <a:t>，其中 </a:t>
            </a:r>
            <a:r>
              <a:rPr lang="en-US" altLang="zh-CN" b="1" dirty="0"/>
              <a:t>ℰ′ = span ℰ </a:t>
            </a:r>
            <a:r>
              <a:rPr lang="zh-CN" altLang="en-US" b="1" dirty="0"/>
              <a:t>是 </a:t>
            </a:r>
            <a:r>
              <a:rPr lang="en-US" altLang="zh-CN" b="1" dirty="0"/>
              <a:t>ℰ </a:t>
            </a:r>
            <a:r>
              <a:rPr lang="zh-CN" altLang="en-US" b="1" dirty="0"/>
              <a:t>的</a:t>
            </a:r>
            <a:r>
              <a:rPr lang="zh-CN" altLang="en-US" b="1" dirty="0">
                <a:solidFill>
                  <a:schemeClr val="accent2"/>
                </a:solidFill>
              </a:rPr>
              <a:t>线性</a:t>
            </a:r>
            <a:r>
              <a:rPr lang="zh-CN" altLang="en-US" b="1" dirty="0"/>
              <a:t>张成空间。换句话说，如果一个 </a:t>
            </a:r>
            <a:r>
              <a:rPr lang="en-US" altLang="zh-CN" b="1" dirty="0"/>
              <a:t>QECC </a:t>
            </a:r>
            <a:r>
              <a:rPr lang="zh-CN" altLang="en-US" b="1" dirty="0"/>
              <a:t>能纠正 </a:t>
            </a:r>
            <a:r>
              <a:rPr lang="en-US" altLang="zh-CN" b="1" dirty="0"/>
              <a:t>E </a:t>
            </a:r>
            <a:r>
              <a:rPr lang="zh-CN" altLang="en-US" b="1" dirty="0"/>
              <a:t>和 </a:t>
            </a:r>
            <a:r>
              <a:rPr lang="en-US" altLang="zh-CN" b="1" dirty="0"/>
              <a:t>F</a:t>
            </a:r>
            <a:r>
              <a:rPr lang="zh-CN" altLang="en-US" b="1" dirty="0"/>
              <a:t>，那么它也能纠正 </a:t>
            </a:r>
            <a:r>
              <a:rPr lang="en-US" altLang="zh-CN" b="1" dirty="0">
                <a:solidFill>
                  <a:schemeClr val="accent2"/>
                </a:solidFill>
              </a:rPr>
              <a:t>αE + βF</a:t>
            </a:r>
            <a:r>
              <a:rPr lang="zh-CN" altLang="en-US" b="1" dirty="0"/>
              <a:t>。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证明用到了之前的</a:t>
            </a:r>
            <a:r>
              <a:rPr lang="zh-CN" altLang="en-US" b="1" dirty="0">
                <a:solidFill>
                  <a:schemeClr val="accent2"/>
                </a:solidFill>
              </a:rPr>
              <a:t>命题 </a:t>
            </a:r>
            <a:r>
              <a:rPr lang="en-US" altLang="zh-CN" b="1" dirty="0">
                <a:solidFill>
                  <a:schemeClr val="accent2"/>
                </a:solidFill>
              </a:rPr>
              <a:t>1</a:t>
            </a:r>
          </a:p>
          <a:p>
            <a:endParaRPr lang="en-US" altLang="zh-CN" b="1" dirty="0">
              <a:solidFill>
                <a:schemeClr val="accent2"/>
              </a:solidFill>
            </a:endParaRPr>
          </a:p>
          <a:p>
            <a:r>
              <a:rPr lang="zh-CN" altLang="en-US" b="1" dirty="0"/>
              <a:t>推论 </a:t>
            </a:r>
            <a:r>
              <a:rPr lang="en-US" altLang="zh-CN" b="1" dirty="0"/>
              <a:t>3</a:t>
            </a:r>
          </a:p>
          <a:p>
            <a:r>
              <a:rPr lang="en-US" altLang="zh-CN" b="1" dirty="0"/>
              <a:t>  </a:t>
            </a:r>
          </a:p>
          <a:p>
            <a:r>
              <a:rPr lang="zh-CN" altLang="en-US" b="1" dirty="0"/>
              <a:t>  如果 </a:t>
            </a:r>
            <a:r>
              <a:rPr lang="en-US" altLang="zh-CN" b="1" i="1" dirty="0">
                <a:solidFill>
                  <a:schemeClr val="accent2"/>
                </a:solidFill>
              </a:rPr>
              <a:t>ℰ</a:t>
            </a:r>
            <a:r>
              <a:rPr lang="en-US" altLang="zh-CN" b="1" i="1" dirty="0"/>
              <a:t> </a:t>
            </a:r>
            <a:r>
              <a:rPr lang="zh-CN" altLang="en-US" b="1" dirty="0"/>
              <a:t>包含了所有权重为 </a:t>
            </a:r>
            <a:r>
              <a:rPr lang="en-US" altLang="zh-CN" b="1" dirty="0">
                <a:solidFill>
                  <a:schemeClr val="accent2"/>
                </a:solidFill>
              </a:rPr>
              <a:t>t</a:t>
            </a:r>
            <a:r>
              <a:rPr lang="en-US" altLang="zh-CN" b="1" dirty="0"/>
              <a:t> </a:t>
            </a:r>
            <a:r>
              <a:rPr lang="zh-CN" altLang="en-US" b="1" dirty="0"/>
              <a:t>或</a:t>
            </a:r>
            <a:r>
              <a:rPr lang="zh-CN" altLang="en-US" b="1" dirty="0">
                <a:solidFill>
                  <a:schemeClr val="accent2"/>
                </a:solidFill>
              </a:rPr>
              <a:t>更小</a:t>
            </a:r>
            <a:r>
              <a:rPr lang="zh-CN" altLang="en-US" b="1" dirty="0"/>
              <a:t>的 </a:t>
            </a:r>
            <a:r>
              <a:rPr lang="en-US" altLang="zh-CN" b="1" dirty="0">
                <a:solidFill>
                  <a:schemeClr val="accent2"/>
                </a:solidFill>
              </a:rPr>
              <a:t>I</a:t>
            </a:r>
            <a:r>
              <a:rPr lang="zh-CN" altLang="en-US" b="1" dirty="0">
                <a:solidFill>
                  <a:schemeClr val="accent2"/>
                </a:solidFill>
              </a:rPr>
              <a:t>、</a:t>
            </a:r>
            <a:r>
              <a:rPr lang="en-US" altLang="zh-CN" b="1" dirty="0">
                <a:solidFill>
                  <a:schemeClr val="accent2"/>
                </a:solidFill>
              </a:rPr>
              <a:t>X</a:t>
            </a:r>
            <a:r>
              <a:rPr lang="zh-CN" altLang="en-US" b="1" dirty="0">
                <a:solidFill>
                  <a:schemeClr val="accent2"/>
                </a:solidFill>
              </a:rPr>
              <a:t>、</a:t>
            </a:r>
            <a:r>
              <a:rPr lang="en-US" altLang="zh-CN" b="1" dirty="0">
                <a:solidFill>
                  <a:schemeClr val="accent2"/>
                </a:solidFill>
              </a:rPr>
              <a:t>Y</a:t>
            </a:r>
            <a:r>
              <a:rPr lang="zh-CN" altLang="en-US" b="1" dirty="0">
                <a:solidFill>
                  <a:schemeClr val="accent2"/>
                </a:solidFill>
              </a:rPr>
              <a:t>、</a:t>
            </a:r>
            <a:r>
              <a:rPr lang="en-US" altLang="zh-CN" b="1" dirty="0">
                <a:solidFill>
                  <a:schemeClr val="accent2"/>
                </a:solidFill>
              </a:rPr>
              <a:t>Z </a:t>
            </a:r>
            <a:r>
              <a:rPr lang="zh-CN" altLang="en-US" b="1" dirty="0"/>
              <a:t>的张量积，那么它是一个 </a:t>
            </a:r>
            <a:r>
              <a:rPr lang="en-US" altLang="zh-CN" b="1" dirty="0">
                <a:solidFill>
                  <a:schemeClr val="accent2"/>
                </a:solidFill>
              </a:rPr>
              <a:t>t </a:t>
            </a:r>
            <a:r>
              <a:rPr lang="zh-CN" altLang="en-US" b="1" dirty="0">
                <a:solidFill>
                  <a:schemeClr val="accent2"/>
                </a:solidFill>
              </a:rPr>
              <a:t>纠错码</a:t>
            </a:r>
            <a:r>
              <a:rPr lang="zh-CN" altLang="en-US" b="1" dirty="0"/>
              <a:t>。</a:t>
            </a:r>
            <a:endParaRPr lang="en-US" altLang="zh-CN" b="1" dirty="0"/>
          </a:p>
          <a:p>
            <a:endParaRPr lang="en-US" altLang="zh-CN" b="1" dirty="0">
              <a:solidFill>
                <a:schemeClr val="accent2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6056168-CC49-135B-DC5B-E6EF64DF9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788" y="1054100"/>
            <a:ext cx="4148510" cy="87631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D1AEA17-3C84-2868-7903-47F69382F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083" y="1406398"/>
            <a:ext cx="901717" cy="27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8638AFD5-BE25-739A-8DE4-BB05B5C87D04}"/>
                  </a:ext>
                </a:extLst>
              </p:cNvPr>
              <p:cNvSpPr txBox="1"/>
              <p:nvPr/>
            </p:nvSpPr>
            <p:spPr>
              <a:xfrm>
                <a:off x="5167745" y="520699"/>
                <a:ext cx="9922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2400" b="1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𝒓𝒐𝒐𝒇</m:t>
                      </m:r>
                    </m:oMath>
                  </m:oMathPara>
                </a14:m>
                <a:endParaRPr lang="zh-CN" altLang="en-US" sz="2400" b="1" i="1" dirty="0">
                  <a:latin typeface="Brush Script MT" panose="03060802040406070304" pitchFamily="66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8638AFD5-BE25-739A-8DE4-BB05B5C87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7745" y="520699"/>
                <a:ext cx="992259" cy="369332"/>
              </a:xfrm>
              <a:prstGeom prst="rect">
                <a:avLst/>
              </a:prstGeom>
              <a:blipFill>
                <a:blip r:embed="rId5"/>
                <a:stretch>
                  <a:fillRect l="-6173" t="-3279" r="-9877" b="-31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BEBBAA66-6AB7-9A4F-C421-AC372087E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0593" y="3352800"/>
            <a:ext cx="7171407" cy="857250"/>
          </a:xfrm>
          <a:prstGeom prst="rect">
            <a:avLst/>
          </a:prstGeom>
        </p:spPr>
      </p:pic>
      <p:sp>
        <p:nvSpPr>
          <p:cNvPr id="20" name="箭头: 下 19">
            <a:extLst>
              <a:ext uri="{FF2B5EF4-FFF2-40B4-BE49-F238E27FC236}">
                <a16:creationId xmlns:a16="http://schemas.microsoft.com/office/drawing/2014/main" id="{503EEDC9-9704-807F-3EBB-9160867A8EF5}"/>
              </a:ext>
            </a:extLst>
          </p:cNvPr>
          <p:cNvSpPr/>
          <p:nvPr/>
        </p:nvSpPr>
        <p:spPr>
          <a:xfrm>
            <a:off x="8404513" y="2024083"/>
            <a:ext cx="439387" cy="1021278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6503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ED27-5DA6-5C29-CF0D-1A9576B9F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A2A8FCB-098F-06D5-2DEA-36ACDBA502C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7C5A5407-7735-2281-F87A-4E6606C328D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594D432D-490C-C9BA-BB0B-ED2D0F74978E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4.3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量子纠错的条件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C667DD7-421C-7F6E-50E2-5F21AAF23354}"/>
                  </a:ext>
                </a:extLst>
              </p:cNvPr>
              <p:cNvSpPr txBox="1"/>
              <p:nvPr/>
            </p:nvSpPr>
            <p:spPr>
              <a:xfrm>
                <a:off x="620361" y="2338521"/>
                <a:ext cx="6950773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/>
                  <a:t>充分条件</a:t>
                </a:r>
                <a:endParaRPr lang="en-US" altLang="zh-CN" b="1" dirty="0"/>
              </a:p>
              <a:p>
                <a:endParaRPr lang="en-US" altLang="zh-CN" b="1" dirty="0"/>
              </a:p>
              <a:p>
                <a:r>
                  <a:rPr lang="en-US" altLang="zh-CN" b="1" dirty="0"/>
                  <a:t>  1. </a:t>
                </a:r>
                <a:r>
                  <a:rPr lang="zh-CN" altLang="en-US" b="1" dirty="0"/>
                  <a:t>错误子空间相互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正交</a:t>
                </a:r>
                <a:endParaRPr lang="en-US" altLang="zh-CN" b="1" dirty="0">
                  <a:solidFill>
                    <a:schemeClr val="accent2"/>
                  </a:solidFill>
                </a:endParaRPr>
              </a:p>
              <a:p>
                <a:r>
                  <a:rPr lang="en-US" altLang="zh-CN" b="1" dirty="0"/>
                  <a:t>  2. E</a:t>
                </a:r>
                <a:r>
                  <a:rPr lang="zh-CN" altLang="en-US" b="1" dirty="0"/>
                  <a:t>是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幺正</a:t>
                </a:r>
                <a:r>
                  <a:rPr lang="zh-CN" altLang="en-US" b="1" dirty="0"/>
                  <a:t>的</a:t>
                </a:r>
                <a:endParaRPr lang="en-US" altLang="zh-CN" b="1" dirty="0"/>
              </a:p>
              <a:p>
                <a:endParaRPr lang="en-US" altLang="zh-CN" b="1" dirty="0"/>
              </a:p>
              <a:p>
                <a:r>
                  <a:rPr lang="en-US" altLang="zh-CN" b="1" dirty="0"/>
                  <a:t>Shor</a:t>
                </a:r>
                <a:r>
                  <a:rPr lang="zh-CN" altLang="en-US" b="1" dirty="0"/>
                  <a:t>码特例</a:t>
                </a:r>
                <a:endParaRPr lang="en-US" altLang="zh-CN" b="1" dirty="0"/>
              </a:p>
              <a:p>
                <a:endParaRPr lang="en-US" altLang="zh-CN" b="1" dirty="0"/>
              </a:p>
              <a:p>
                <a:r>
                  <a:rPr lang="en-US" altLang="zh-CN" b="1" dirty="0"/>
                  <a:t> 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zh-CN" altLang="en-US" b="1" dirty="0"/>
                  <a:t>得到了</a:t>
                </a:r>
                <a:r>
                  <a:rPr lang="zh-CN" altLang="en-US" b="1" dirty="0">
                    <a:solidFill>
                      <a:schemeClr val="accent2"/>
                    </a:solidFill>
                  </a:rPr>
                  <a:t>一毛一样</a:t>
                </a:r>
                <a:r>
                  <a:rPr lang="zh-CN" altLang="en-US" b="1" dirty="0"/>
                  <a:t>的错误子空间</a:t>
                </a:r>
                <a:endParaRPr lang="en-US" altLang="zh-CN" b="1" dirty="0"/>
              </a:p>
              <a:p>
                <a:r>
                  <a:rPr lang="en-US" altLang="zh-CN" b="1" dirty="0"/>
                  <a:t>  </a:t>
                </a:r>
              </a:p>
              <a:p>
                <a:endParaRPr lang="en-US" altLang="zh-CN" b="1" dirty="0"/>
              </a:p>
              <a:p>
                <a:endParaRPr lang="en-US" altLang="zh-CN" b="1" dirty="0"/>
              </a:p>
              <a:p>
                <a:r>
                  <a:rPr lang="en-US" altLang="zh-CN" b="1" dirty="0"/>
                  <a:t>  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C667DD7-421C-7F6E-50E2-5F21AAF23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361" y="2338521"/>
                <a:ext cx="6950773" cy="3416320"/>
              </a:xfrm>
              <a:prstGeom prst="rect">
                <a:avLst/>
              </a:prstGeom>
              <a:blipFill>
                <a:blip r:embed="rId3"/>
                <a:stretch>
                  <a:fillRect l="-789" t="-10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B1A0F4FD-2CCD-2214-D527-ABD83A1777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71" y="2520950"/>
            <a:ext cx="3849549" cy="84773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2214A9E-CE94-3FB2-30EC-AE4DFA8928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8885" y="1444119"/>
            <a:ext cx="3799565" cy="37198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D9310050-60A2-C4C5-E209-420C0C659F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3182" y="234950"/>
            <a:ext cx="1318931" cy="4699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37E813D-0263-903A-EF44-B1E17F6629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2793" y="3710841"/>
            <a:ext cx="3587934" cy="1447874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B47F30-01B3-BFC7-7DAA-2C89BE5D2AF4}"/>
              </a:ext>
            </a:extLst>
          </p:cNvPr>
          <p:cNvCxnSpPr>
            <a:cxnSpLocks/>
          </p:cNvCxnSpPr>
          <p:nvPr/>
        </p:nvCxnSpPr>
        <p:spPr>
          <a:xfrm flipH="1">
            <a:off x="7537450" y="3670300"/>
            <a:ext cx="4699000" cy="0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图片 27">
            <a:extLst>
              <a:ext uri="{FF2B5EF4-FFF2-40B4-BE49-F238E27FC236}">
                <a16:creationId xmlns:a16="http://schemas.microsoft.com/office/drawing/2014/main" id="{B1773685-761F-279C-7CC6-3DA58BAB17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6201" y="5271818"/>
            <a:ext cx="2016164" cy="284438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23E3B40-B9A3-DA4D-1374-55569A4F98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0801" y="5867400"/>
            <a:ext cx="2057425" cy="43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548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D76A5-A0AB-87CB-2F08-92764D3DD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DFB5D8A-3742-048D-7C05-0EB970C930B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66CF105-D423-44B5-7438-8DD3144AA736}"/>
              </a:ext>
            </a:extLst>
          </p:cNvPr>
          <p:cNvCxnSpPr/>
          <p:nvPr/>
        </p:nvCxnSpPr>
        <p:spPr>
          <a:xfrm>
            <a:off x="52742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EDE7C807-8C5F-7F60-70A8-7A18690DA635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4.3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量子纠错的条件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12BBCF9-48FA-D8FA-349A-7BC7F96AF7A4}"/>
              </a:ext>
            </a:extLst>
          </p:cNvPr>
          <p:cNvSpPr txBox="1"/>
          <p:nvPr/>
        </p:nvSpPr>
        <p:spPr>
          <a:xfrm>
            <a:off x="391761" y="2459171"/>
            <a:ext cx="475173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QECC</a:t>
            </a:r>
            <a:r>
              <a:rPr lang="zh-CN" altLang="en-US" b="1" dirty="0"/>
              <a:t>条件</a:t>
            </a:r>
            <a:r>
              <a:rPr lang="en-US" altLang="zh-CN" b="1" dirty="0"/>
              <a:t>/</a:t>
            </a:r>
            <a:r>
              <a:rPr lang="zh-CN" altLang="en-US" b="1" dirty="0"/>
              <a:t>充要条件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  ⟨</a:t>
            </a:r>
            <a:r>
              <a:rPr lang="en-US" altLang="zh-CN" b="1" dirty="0" err="1"/>
              <a:t>ψ|E</a:t>
            </a:r>
            <a:r>
              <a:rPr lang="en-US" altLang="zh-CN" b="1" dirty="0"/>
              <a:t>ₐ†Eᵦ|φ⟩ = Cₐᵦ ⟨</a:t>
            </a:r>
            <a:r>
              <a:rPr lang="en-US" altLang="zh-CN" b="1" dirty="0" err="1"/>
              <a:t>ψ|φ</a:t>
            </a:r>
            <a:r>
              <a:rPr lang="en-US" altLang="zh-CN" b="1" dirty="0"/>
              <a:t>⟩</a:t>
            </a:r>
          </a:p>
          <a:p>
            <a:r>
              <a:rPr lang="zh-CN" altLang="en-US" b="1" dirty="0"/>
              <a:t>  其中 </a:t>
            </a:r>
            <a:r>
              <a:rPr lang="en-US" altLang="zh-CN" b="1" dirty="0"/>
              <a:t>Cₐᵦ </a:t>
            </a:r>
            <a:r>
              <a:rPr lang="zh-CN" altLang="en-US" b="1" dirty="0"/>
              <a:t>是一个与 </a:t>
            </a:r>
            <a:r>
              <a:rPr lang="en-US" altLang="zh-CN" b="1" dirty="0"/>
              <a:t>|ψ⟩,|φ⟩ </a:t>
            </a:r>
            <a:r>
              <a:rPr lang="zh-CN" altLang="en-US" b="1" dirty="0">
                <a:solidFill>
                  <a:schemeClr val="accent2"/>
                </a:solidFill>
              </a:rPr>
              <a:t>无关</a:t>
            </a:r>
            <a:r>
              <a:rPr lang="zh-CN" altLang="en-US" b="1" dirty="0"/>
              <a:t>的</a:t>
            </a:r>
            <a:r>
              <a:rPr lang="zh-CN" altLang="en-US" b="1" dirty="0">
                <a:solidFill>
                  <a:schemeClr val="accent2"/>
                </a:solidFill>
              </a:rPr>
              <a:t>常数</a:t>
            </a:r>
            <a:r>
              <a:rPr lang="zh-CN" altLang="en-US" b="1" dirty="0"/>
              <a:t>矩阵</a:t>
            </a:r>
            <a:endParaRPr lang="en-US" altLang="zh-CN" b="1" dirty="0"/>
          </a:p>
          <a:p>
            <a:r>
              <a:rPr lang="en-US" altLang="zh-CN" b="1" dirty="0"/>
              <a:t>  </a:t>
            </a:r>
          </a:p>
          <a:p>
            <a:endParaRPr lang="en-US" altLang="zh-CN" b="1" dirty="0"/>
          </a:p>
          <a:p>
            <a:r>
              <a:rPr lang="en-US" altLang="zh-CN" b="1" dirty="0"/>
              <a:t>  </a:t>
            </a:r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  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CAEFC9D-C52B-2327-9E12-3AC4EA8F6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7753" y="38100"/>
            <a:ext cx="3251244" cy="40640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2B79A5C-34DD-A17E-0422-736B9BB69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1762" y="457201"/>
            <a:ext cx="4211265" cy="7524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0618674-1C5B-FB44-F6F9-A7E743561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7613" y="1187416"/>
            <a:ext cx="4306487" cy="4445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A4B6B79-D1CA-BF37-4322-A00B635298A0}"/>
                  </a:ext>
                </a:extLst>
              </p:cNvPr>
              <p:cNvSpPr txBox="1"/>
              <p:nvPr/>
            </p:nvSpPr>
            <p:spPr>
              <a:xfrm>
                <a:off x="5383645" y="1733549"/>
                <a:ext cx="9922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2400" b="1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𝒓𝒐𝒐𝒇</m:t>
                      </m:r>
                    </m:oMath>
                  </m:oMathPara>
                </a14:m>
                <a:endParaRPr lang="zh-CN" altLang="en-US" sz="2400" b="1" i="1" dirty="0">
                  <a:latin typeface="Brush Script MT" panose="03060802040406070304" pitchFamily="66" charset="0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A4B6B79-D1CA-BF37-4322-A00B635298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3645" y="1733549"/>
                <a:ext cx="992259" cy="369332"/>
              </a:xfrm>
              <a:prstGeom prst="rect">
                <a:avLst/>
              </a:prstGeom>
              <a:blipFill>
                <a:blip r:embed="rId6"/>
                <a:stretch>
                  <a:fillRect l="-5521" t="-3279" r="-9816" b="-31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8F738E24-C215-B82F-8C23-AEAE43108F78}"/>
              </a:ext>
            </a:extLst>
          </p:cNvPr>
          <p:cNvSpPr txBox="1"/>
          <p:nvPr/>
        </p:nvSpPr>
        <p:spPr>
          <a:xfrm>
            <a:off x="5632450" y="2247384"/>
            <a:ext cx="254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⟨ψ|Eₐ†Eᵦ|φ⟩ = Cₐᵦ ⟨ψ|φ⟩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D0E11C3-C46E-C187-3F56-869877F1C802}"/>
              </a:ext>
            </a:extLst>
          </p:cNvPr>
          <p:cNvSpPr txBox="1"/>
          <p:nvPr/>
        </p:nvSpPr>
        <p:spPr>
          <a:xfrm>
            <a:off x="8959850" y="2266434"/>
            <a:ext cx="2940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⟨φ|Eᵦ†Eₐ|ψ⟩ = Cₐᵦ* ⟨φ|ψ⟩</a:t>
            </a:r>
          </a:p>
        </p:txBody>
      </p:sp>
      <p:sp>
        <p:nvSpPr>
          <p:cNvPr id="22" name="箭头: 下 21">
            <a:extLst>
              <a:ext uri="{FF2B5EF4-FFF2-40B4-BE49-F238E27FC236}">
                <a16:creationId xmlns:a16="http://schemas.microsoft.com/office/drawing/2014/main" id="{62FA3221-4613-CFCE-D3D5-6D236FA60A94}"/>
              </a:ext>
            </a:extLst>
          </p:cNvPr>
          <p:cNvSpPr/>
          <p:nvPr/>
        </p:nvSpPr>
        <p:spPr>
          <a:xfrm rot="16200000">
            <a:off x="8440474" y="2174049"/>
            <a:ext cx="388380" cy="62498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15149B-F1EA-55C2-DEDA-B5BE060C3348}"/>
              </a:ext>
            </a:extLst>
          </p:cNvPr>
          <p:cNvSpPr txBox="1"/>
          <p:nvPr/>
        </p:nvSpPr>
        <p:spPr>
          <a:xfrm>
            <a:off x="5664200" y="2825234"/>
            <a:ext cx="252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⟨φ|Eᵦ†Eₐ|ψ⟩ = Cᵦₐ ⟨φ|ψ⟩</a:t>
            </a:r>
          </a:p>
        </p:txBody>
      </p:sp>
      <p:sp>
        <p:nvSpPr>
          <p:cNvPr id="25" name="箭头: 下 24">
            <a:extLst>
              <a:ext uri="{FF2B5EF4-FFF2-40B4-BE49-F238E27FC236}">
                <a16:creationId xmlns:a16="http://schemas.microsoft.com/office/drawing/2014/main" id="{D9174A82-D59F-431D-020D-1B0E6E40721B}"/>
              </a:ext>
            </a:extLst>
          </p:cNvPr>
          <p:cNvSpPr/>
          <p:nvPr/>
        </p:nvSpPr>
        <p:spPr>
          <a:xfrm>
            <a:off x="6713275" y="2631249"/>
            <a:ext cx="388380" cy="22625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747C890-361A-85B2-1963-09D19E674674}"/>
              </a:ext>
            </a:extLst>
          </p:cNvPr>
          <p:cNvSpPr txBox="1"/>
          <p:nvPr/>
        </p:nvSpPr>
        <p:spPr>
          <a:xfrm>
            <a:off x="5683250" y="3415784"/>
            <a:ext cx="181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Cᵦₐ = Cₐᵦ*</a:t>
            </a: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0A72F5B-52EC-3875-A42D-232986DE58D9}"/>
              </a:ext>
            </a:extLst>
          </p:cNvPr>
          <p:cNvSpPr/>
          <p:nvPr/>
        </p:nvSpPr>
        <p:spPr>
          <a:xfrm>
            <a:off x="5410200" y="2415540"/>
            <a:ext cx="70843" cy="66675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7D7D718-2516-1FC0-7B2C-E88A76AF611A}"/>
              </a:ext>
            </a:extLst>
          </p:cNvPr>
          <p:cNvSpPr/>
          <p:nvPr/>
        </p:nvSpPr>
        <p:spPr>
          <a:xfrm>
            <a:off x="5415280" y="3578860"/>
            <a:ext cx="70843" cy="66675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3831F622-54B4-1AB3-6C4E-35C4B1D8C8FD}"/>
              </a:ext>
            </a:extLst>
          </p:cNvPr>
          <p:cNvSpPr/>
          <p:nvPr/>
        </p:nvSpPr>
        <p:spPr>
          <a:xfrm>
            <a:off x="5567680" y="3578860"/>
            <a:ext cx="70843" cy="66675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AB57D89-9CFD-277F-F63C-9B62E28E30C1}"/>
              </a:ext>
            </a:extLst>
          </p:cNvPr>
          <p:cNvSpPr txBox="1"/>
          <p:nvPr/>
        </p:nvSpPr>
        <p:spPr>
          <a:xfrm>
            <a:off x="7587888" y="3449183"/>
            <a:ext cx="1210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00B050"/>
                </a:solidFill>
              </a:rPr>
              <a:t>可对角化</a:t>
            </a:r>
          </a:p>
        </p:txBody>
      </p:sp>
      <p:sp>
        <p:nvSpPr>
          <p:cNvPr id="34" name="箭头: 下 33">
            <a:extLst>
              <a:ext uri="{FF2B5EF4-FFF2-40B4-BE49-F238E27FC236}">
                <a16:creationId xmlns:a16="http://schemas.microsoft.com/office/drawing/2014/main" id="{09479BCB-57AF-20B5-EAB3-F4CB04E7E3D8}"/>
              </a:ext>
            </a:extLst>
          </p:cNvPr>
          <p:cNvSpPr/>
          <p:nvPr/>
        </p:nvSpPr>
        <p:spPr>
          <a:xfrm rot="16200000">
            <a:off x="7179588" y="3299791"/>
            <a:ext cx="245011" cy="62498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82959B3-F1A5-C677-8D78-8B7E282280F8}"/>
              </a:ext>
            </a:extLst>
          </p:cNvPr>
          <p:cNvSpPr txBox="1"/>
          <p:nvPr/>
        </p:nvSpPr>
        <p:spPr>
          <a:xfrm>
            <a:off x="9306273" y="3441554"/>
            <a:ext cx="2792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D = U† C U，Dₐᵦ = dₐ δₐᵦ</a:t>
            </a:r>
          </a:p>
        </p:txBody>
      </p:sp>
      <p:sp>
        <p:nvSpPr>
          <p:cNvPr id="37" name="箭头: 下 36">
            <a:extLst>
              <a:ext uri="{FF2B5EF4-FFF2-40B4-BE49-F238E27FC236}">
                <a16:creationId xmlns:a16="http://schemas.microsoft.com/office/drawing/2014/main" id="{800E1817-2EFF-6F69-F3B4-8C8AD4294359}"/>
              </a:ext>
            </a:extLst>
          </p:cNvPr>
          <p:cNvSpPr/>
          <p:nvPr/>
        </p:nvSpPr>
        <p:spPr>
          <a:xfrm rot="16200000">
            <a:off x="8864064" y="3318968"/>
            <a:ext cx="245011" cy="62498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4A8A0B1C-4221-C800-DF25-888A686DB220}"/>
              </a:ext>
            </a:extLst>
          </p:cNvPr>
          <p:cNvSpPr txBox="1"/>
          <p:nvPr/>
        </p:nvSpPr>
        <p:spPr>
          <a:xfrm>
            <a:off x="9327182" y="3854438"/>
            <a:ext cx="1651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Fₐ = Σᵦ U†ₐᵦ E</a:t>
            </a:r>
            <a:r>
              <a:rPr lang="zh-CN" altLang="en-US" dirty="0"/>
              <a:t>ᵦ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00EB1CB-2634-2D93-1A08-AF4D87267FB0}"/>
              </a:ext>
            </a:extLst>
          </p:cNvPr>
          <p:cNvSpPr txBox="1"/>
          <p:nvPr/>
        </p:nvSpPr>
        <p:spPr>
          <a:xfrm>
            <a:off x="5711971" y="4338889"/>
            <a:ext cx="2929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⟨ψ|Fₐ† Fᵦ |φ⟩ = dₐ δₐᵦ ⟨ψ|φ⟩</a:t>
            </a: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5695CC33-7748-3350-1789-E9086942E3E9}"/>
              </a:ext>
            </a:extLst>
          </p:cNvPr>
          <p:cNvSpPr/>
          <p:nvPr/>
        </p:nvSpPr>
        <p:spPr>
          <a:xfrm>
            <a:off x="5428401" y="4457936"/>
            <a:ext cx="70843" cy="66675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3241AA7-BD75-02A3-3A1F-1770F328C2F5}"/>
              </a:ext>
            </a:extLst>
          </p:cNvPr>
          <p:cNvSpPr/>
          <p:nvPr/>
        </p:nvSpPr>
        <p:spPr>
          <a:xfrm>
            <a:off x="5580801" y="4457936"/>
            <a:ext cx="70843" cy="66675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831823D-043C-3639-A933-C22B40259300}"/>
              </a:ext>
            </a:extLst>
          </p:cNvPr>
          <p:cNvSpPr/>
          <p:nvPr/>
        </p:nvSpPr>
        <p:spPr>
          <a:xfrm>
            <a:off x="5429410" y="4610336"/>
            <a:ext cx="70843" cy="66675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7F464FA-8DFA-C2CE-F501-63EFE78A8865}"/>
              </a:ext>
            </a:extLst>
          </p:cNvPr>
          <p:cNvSpPr txBox="1"/>
          <p:nvPr/>
        </p:nvSpPr>
        <p:spPr>
          <a:xfrm>
            <a:off x="7250102" y="574380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⟨ψ|Z₁†Z₂|φ⟩ = ⟨ψ|I|φ⟩ = ⟨ψ|φ⟩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E0D7A5C5-A37C-6705-E350-C38366D6C116}"/>
                  </a:ext>
                </a:extLst>
              </p:cNvPr>
              <p:cNvSpPr txBox="1"/>
              <p:nvPr/>
            </p:nvSpPr>
            <p:spPr>
              <a:xfrm>
                <a:off x="5384655" y="5143878"/>
                <a:ext cx="141545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𝑬𝒙𝒂𝒎𝒑𝒍𝒆</m:t>
                      </m:r>
                    </m:oMath>
                  </m:oMathPara>
                </a14:m>
                <a:endParaRPr lang="zh-CN" altLang="en-US" sz="2400" b="1" i="1" dirty="0">
                  <a:solidFill>
                    <a:schemeClr val="accent2"/>
                  </a:solidFill>
                  <a:latin typeface="Brush Script MT" panose="03060802040406070304" pitchFamily="66" charset="0"/>
                </a:endParaRPr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E0D7A5C5-A37C-6705-E350-C38366D6C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4655" y="5143878"/>
                <a:ext cx="1415452" cy="369332"/>
              </a:xfrm>
              <a:prstGeom prst="rect">
                <a:avLst/>
              </a:prstGeom>
              <a:blipFill>
                <a:blip r:embed="rId7"/>
                <a:stretch>
                  <a:fillRect l="-6438" t="-3333" r="-6438" b="-3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3564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1E80-66C1-61FD-250B-895D58D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2FD7880-AD3E-7417-1056-D54478A15AF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78B6343-724A-6361-7F36-74D29C2917D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E77BFB64-C469-1B19-A0C3-C3E13BAEA8C6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4.3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量子纠错的条件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7FB1B4C-05A7-D758-0502-C16E9F8AAC54}"/>
              </a:ext>
            </a:extLst>
          </p:cNvPr>
          <p:cNvSpPr txBox="1"/>
          <p:nvPr/>
        </p:nvSpPr>
        <p:spPr>
          <a:xfrm>
            <a:off x="489732" y="2350397"/>
            <a:ext cx="695077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简并码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    </a:t>
            </a:r>
            <a:r>
              <a:rPr lang="zh-CN" altLang="en-US" b="1" dirty="0"/>
              <a:t>观察</a:t>
            </a:r>
            <a:r>
              <a:rPr lang="en-US" altLang="zh-CN" b="1" dirty="0"/>
              <a:t>C</a:t>
            </a:r>
            <a:r>
              <a:rPr lang="zh-CN" altLang="en-US" b="1" dirty="0"/>
              <a:t>的秩我们发现当可以取到</a:t>
            </a:r>
            <a:r>
              <a:rPr lang="zh-CN" altLang="en-US" b="1" dirty="0">
                <a:solidFill>
                  <a:schemeClr val="accent2"/>
                </a:solidFill>
              </a:rPr>
              <a:t>最大秩</a:t>
            </a:r>
            <a:r>
              <a:rPr lang="zh-CN" altLang="en-US" b="1" dirty="0"/>
              <a:t>的时候实际就</a:t>
            </a:r>
            <a:r>
              <a:rPr lang="zh-CN" altLang="en-US" b="1" dirty="0">
                <a:solidFill>
                  <a:schemeClr val="accent2"/>
                </a:solidFill>
              </a:rPr>
              <a:t>退化</a:t>
            </a:r>
            <a:r>
              <a:rPr lang="zh-CN" altLang="en-US" b="1" dirty="0"/>
              <a:t>成了</a:t>
            </a:r>
            <a:r>
              <a:rPr lang="zh-CN" altLang="en-US" b="1" dirty="0">
                <a:solidFill>
                  <a:schemeClr val="accent2"/>
                </a:solidFill>
              </a:rPr>
              <a:t>充分条件</a:t>
            </a:r>
            <a:r>
              <a:rPr lang="zh-CN" altLang="en-US" b="1" dirty="0"/>
              <a:t>的情况</a:t>
            </a:r>
            <a:endParaRPr lang="en-US" altLang="zh-CN" b="1" dirty="0"/>
          </a:p>
          <a:p>
            <a:r>
              <a:rPr lang="en-US" altLang="zh-CN" b="1" dirty="0"/>
              <a:t>    </a:t>
            </a:r>
            <a:r>
              <a:rPr lang="zh-CN" altLang="en-US" b="1" dirty="0"/>
              <a:t>而当无法取最大秩时就无法进行退化，此时会出现一种奇妙的状况，错误集里面的错误都是</a:t>
            </a:r>
            <a:r>
              <a:rPr lang="zh-CN" altLang="en-US" b="1" dirty="0">
                <a:solidFill>
                  <a:schemeClr val="accent2"/>
                </a:solidFill>
              </a:rPr>
              <a:t>完全线性无关</a:t>
            </a:r>
            <a:r>
              <a:rPr lang="zh-CN" altLang="en-US" b="1" dirty="0"/>
              <a:t>的，但</a:t>
            </a:r>
            <a:r>
              <a:rPr lang="en-US" altLang="zh-CN" b="1" dirty="0"/>
              <a:t>C</a:t>
            </a:r>
            <a:r>
              <a:rPr lang="zh-CN" altLang="en-US" b="1" dirty="0">
                <a:solidFill>
                  <a:schemeClr val="accent2"/>
                </a:solidFill>
              </a:rPr>
              <a:t>仍无法取到最大秩</a:t>
            </a:r>
            <a:r>
              <a:rPr lang="zh-CN" altLang="en-US" b="1" dirty="0"/>
              <a:t>，这实际就是之前</a:t>
            </a:r>
            <a:r>
              <a:rPr lang="en-US" altLang="zh-CN" b="1" dirty="0" err="1"/>
              <a:t>shor</a:t>
            </a:r>
            <a:r>
              <a:rPr lang="zh-CN" altLang="en-US" b="1" dirty="0"/>
              <a:t>码的状况，我们称之为</a:t>
            </a:r>
            <a:r>
              <a:rPr lang="zh-CN" altLang="en-US" b="1" dirty="0">
                <a:solidFill>
                  <a:schemeClr val="accent2"/>
                </a:solidFill>
              </a:rPr>
              <a:t>简并码。</a:t>
            </a:r>
            <a:endParaRPr lang="en-US" altLang="zh-CN" b="1" dirty="0">
              <a:solidFill>
                <a:schemeClr val="accent2"/>
              </a:solidFill>
            </a:endParaRPr>
          </a:p>
          <a:p>
            <a:endParaRPr lang="en-US" altLang="zh-CN" b="1" dirty="0">
              <a:solidFill>
                <a:schemeClr val="accent2"/>
              </a:solidFill>
            </a:endParaRPr>
          </a:p>
          <a:p>
            <a:r>
              <a:rPr lang="zh-CN" altLang="en-US" b="1" dirty="0"/>
              <a:t>定义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    假设 </a:t>
            </a:r>
            <a:r>
              <a:rPr lang="en-US" altLang="zh-CN" b="1" dirty="0"/>
              <a:t>(U, ℰ) </a:t>
            </a:r>
            <a:r>
              <a:rPr lang="zh-CN" altLang="en-US" b="1" dirty="0"/>
              <a:t>是一个 </a:t>
            </a:r>
            <a:r>
              <a:rPr lang="en-US" altLang="zh-CN" b="1" dirty="0"/>
              <a:t>QECC </a:t>
            </a:r>
            <a:r>
              <a:rPr lang="zh-CN" altLang="en-US" b="1" dirty="0"/>
              <a:t>且 </a:t>
            </a:r>
            <a:r>
              <a:rPr lang="en-US" altLang="zh-CN" b="1" dirty="0">
                <a:solidFill>
                  <a:schemeClr val="accent2"/>
                </a:solidFill>
              </a:rPr>
              <a:t>ℰ </a:t>
            </a:r>
            <a:r>
              <a:rPr lang="zh-CN" altLang="en-US" b="1" dirty="0">
                <a:solidFill>
                  <a:schemeClr val="accent2"/>
                </a:solidFill>
              </a:rPr>
              <a:t>线性无关</a:t>
            </a:r>
            <a:r>
              <a:rPr lang="zh-CN" altLang="en-US" b="1" dirty="0"/>
              <a:t>。如果 </a:t>
            </a:r>
            <a:r>
              <a:rPr lang="en-US" altLang="zh-CN" b="1" dirty="0">
                <a:solidFill>
                  <a:schemeClr val="accent2"/>
                </a:solidFill>
              </a:rPr>
              <a:t>rank(Cₐᵦ) &lt; |ℰ|</a:t>
            </a:r>
            <a:r>
              <a:rPr lang="zh-CN" altLang="en-US" b="1" dirty="0"/>
              <a:t>，则该码是</a:t>
            </a:r>
            <a:r>
              <a:rPr lang="zh-CN" altLang="en-US" b="1" dirty="0">
                <a:solidFill>
                  <a:schemeClr val="accent2"/>
                </a:solidFill>
              </a:rPr>
              <a:t>简并</a:t>
            </a:r>
            <a:r>
              <a:rPr lang="zh-CN" altLang="en-US" b="1" dirty="0"/>
              <a:t>的。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  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E09B18-C3C5-C203-427C-96EB4EB05E61}"/>
              </a:ext>
            </a:extLst>
          </p:cNvPr>
          <p:cNvSpPr txBox="1"/>
          <p:nvPr/>
        </p:nvSpPr>
        <p:spPr>
          <a:xfrm>
            <a:off x="9548776" y="3084290"/>
            <a:ext cx="2658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⟨ψ|Gₐ†Gᵦ|φ⟩ = δₐᵦ ⟨ψ|φ⟩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B96303-B134-C6A6-52CF-47870C11C08B}"/>
              </a:ext>
            </a:extLst>
          </p:cNvPr>
          <p:cNvSpPr txBox="1"/>
          <p:nvPr/>
        </p:nvSpPr>
        <p:spPr>
          <a:xfrm>
            <a:off x="7641256" y="3078235"/>
            <a:ext cx="1628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Gₐ = Fₐ/√dₐ</a:t>
            </a:r>
          </a:p>
        </p:txBody>
      </p:sp>
      <p:sp>
        <p:nvSpPr>
          <p:cNvPr id="7" name="箭头: 下 6">
            <a:extLst>
              <a:ext uri="{FF2B5EF4-FFF2-40B4-BE49-F238E27FC236}">
                <a16:creationId xmlns:a16="http://schemas.microsoft.com/office/drawing/2014/main" id="{6C31F49E-676B-1EFE-3661-EF12047B2DA6}"/>
              </a:ext>
            </a:extLst>
          </p:cNvPr>
          <p:cNvSpPr/>
          <p:nvPr/>
        </p:nvSpPr>
        <p:spPr>
          <a:xfrm rot="16200000">
            <a:off x="9185733" y="3213274"/>
            <a:ext cx="245011" cy="168086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477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96FC6-6E27-B2C1-CC7B-28C3FBDD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C2EAC1C-3519-8F89-11C4-84642ABA2F1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45B3228-6DCD-D4D0-4095-CA90D8C3F4E7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3">
            <a:extLst>
              <a:ext uri="{FF2B5EF4-FFF2-40B4-BE49-F238E27FC236}">
                <a16:creationId xmlns:a16="http://schemas.microsoft.com/office/drawing/2014/main" id="{955AC964-B623-591D-E75A-9F0C2991029A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4.3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量子纠错的条件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6AFF781-BA10-C302-7D9A-37FEC606E913}"/>
              </a:ext>
            </a:extLst>
          </p:cNvPr>
          <p:cNvSpPr txBox="1"/>
          <p:nvPr/>
        </p:nvSpPr>
        <p:spPr>
          <a:xfrm>
            <a:off x="489732" y="2350397"/>
            <a:ext cx="6950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距离</a:t>
            </a:r>
            <a:endParaRPr lang="en-US" altLang="zh-CN" b="1" dirty="0"/>
          </a:p>
          <a:p>
            <a:r>
              <a:rPr lang="en-US" altLang="zh-CN" b="1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1547772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F847-ED78-C1AF-30CF-7C85A86D5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B3F8E78-4444-08AC-22A4-2912BB84D57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A45A18E-24F4-1D12-28F2-DB8E04D34DC1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2B006EE-A168-F996-81B7-61D9C60F98D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utoShape 3">
            <a:extLst>
              <a:ext uri="{FF2B5EF4-FFF2-40B4-BE49-F238E27FC236}">
                <a16:creationId xmlns:a16="http://schemas.microsoft.com/office/drawing/2014/main" id="{35FE90DB-96F3-7BB8-6E40-4780EA334F23}"/>
              </a:ext>
            </a:extLst>
          </p:cNvPr>
          <p:cNvSpPr/>
          <p:nvPr/>
        </p:nvSpPr>
        <p:spPr>
          <a:xfrm>
            <a:off x="914400" y="1565893"/>
            <a:ext cx="6068291" cy="422332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在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章节中我们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在</a:t>
            </a:r>
            <a:r>
              <a:rPr lang="zh-CN" altLang="en-US" sz="2200" b="1" dirty="0">
                <a:solidFill>
                  <a:schemeClr val="accent2"/>
                </a:solidFill>
                <a:latin typeface="Noto Sans SC"/>
                <a:ea typeface="Noto Sans SC"/>
                <a:cs typeface="Noto Sans SC"/>
                <a:sym typeface="Noto Sans SC"/>
              </a:rPr>
              <a:t>实际电路框架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下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讨论了简单的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 bit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建立了直观的量子纠错过程的印象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而本章节我们从</a:t>
            </a:r>
            <a:r>
              <a:rPr lang="zh-CN" altLang="en-US" sz="2200" b="1" dirty="0">
                <a:solidFill>
                  <a:schemeClr val="accent2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的视角重新看待量子纠错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009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D7008-93EE-B69E-76DB-D70EEA1E5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6CCE066-D664-E775-A319-58B173371B4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3E952E4-BA09-6EC1-3E9D-0D4F44BA572D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2CE4F8C-A252-63E9-0A22-73318ECC4FC5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utoShape 3">
            <a:extLst>
              <a:ext uri="{FF2B5EF4-FFF2-40B4-BE49-F238E27FC236}">
                <a16:creationId xmlns:a16="http://schemas.microsoft.com/office/drawing/2014/main" id="{C3BDC17F-4900-C1C0-4B4F-3A8C2FA95207}"/>
              </a:ext>
            </a:extLst>
          </p:cNvPr>
          <p:cNvSpPr/>
          <p:nvPr/>
        </p:nvSpPr>
        <p:spPr>
          <a:xfrm>
            <a:off x="914400" y="1565893"/>
            <a:ext cx="6068291" cy="422332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F3EFDBCB-DDE8-541B-8CD4-8AA73A56E093}"/>
              </a:ext>
            </a:extLst>
          </p:cNvPr>
          <p:cNvSpPr/>
          <p:nvPr/>
        </p:nvSpPr>
        <p:spPr>
          <a:xfrm>
            <a:off x="1005840" y="1065007"/>
            <a:ext cx="1877209" cy="588443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泡利群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</a:t>
            </a: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3653603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78C0D-69E0-7034-60B7-D046DB2A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9878A1D-9AE6-3F22-3927-39A0E32FCBD0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64AB6D7-07E8-FAF3-C60A-B07058B174D3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034550F-5C2A-1A56-9CB6-452B2F559192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4C207BCB-6A2A-5385-D0D2-8AEE53813A12}"/>
              </a:ext>
            </a:extLst>
          </p:cNvPr>
          <p:cNvSpPr/>
          <p:nvPr/>
        </p:nvSpPr>
        <p:spPr>
          <a:xfrm>
            <a:off x="1005840" y="1315720"/>
            <a:ext cx="1877209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3.1.1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泡利群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C98D530-48AC-DD7F-A58E-CD9165AA5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709" y="180453"/>
            <a:ext cx="3124636" cy="266737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F074AF4-3082-57CF-4B98-CB23275D5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462" y="2865618"/>
            <a:ext cx="2095792" cy="168616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A750BD3A-1878-627D-7197-D75D9398F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3869" y="4802902"/>
            <a:ext cx="4191585" cy="1533739"/>
          </a:xfrm>
          <a:prstGeom prst="rect">
            <a:avLst/>
          </a:prstGeom>
        </p:spPr>
      </p:pic>
      <p:sp>
        <p:nvSpPr>
          <p:cNvPr id="16" name="AutoShape 7">
            <a:extLst>
              <a:ext uri="{FF2B5EF4-FFF2-40B4-BE49-F238E27FC236}">
                <a16:creationId xmlns:a16="http://schemas.microsoft.com/office/drawing/2014/main" id="{77BCB919-D09E-B807-C793-462DBB4A90A3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3AF00C-CDE6-3F85-48E0-1A90C0355DD4}"/>
                  </a:ext>
                </a:extLst>
              </p:cNvPr>
              <p:cNvSpPr txBox="1"/>
              <p:nvPr/>
            </p:nvSpPr>
            <p:spPr>
              <a:xfrm>
                <a:off x="895575" y="2324566"/>
                <a:ext cx="6094206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i="0" dirty="0">
                    <a:solidFill>
                      <a:schemeClr val="accent2"/>
                    </a:solidFill>
                    <a:effectLst/>
                    <a:latin typeface="quote-cjk-patch"/>
                  </a:rPr>
                  <a:t>单</a:t>
                </a:r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量子比特的泡利矩阵 </a:t>
                </a:r>
                <a14:m>
                  <m:oMath xmlns:m="http://schemas.openxmlformats.org/officeDocument/2006/math"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 </a:t>
                </a:r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乘以</a:t>
                </a:r>
                <a:r>
                  <a:rPr lang="zh-CN" altLang="en-US" sz="2400" b="1" i="0" dirty="0">
                    <a:solidFill>
                      <a:schemeClr val="accent2"/>
                    </a:solidFill>
                    <a:effectLst/>
                    <a:latin typeface="quote-cjk-patch"/>
                  </a:rPr>
                  <a:t>相位</a:t>
                </a:r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因子 </a:t>
                </a:r>
                <a14:m>
                  <m:oMath xmlns:m="http://schemas.openxmlformats.org/officeDocument/2006/math">
                    <m:r>
                      <a:rPr lang="en-US" altLang="zh-CN" sz="240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,±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 后生成的</a:t>
                </a:r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240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zh-CN" altLang="en-US" sz="2400" b="1" i="0" dirty="0">
                    <a:solidFill>
                      <a:schemeClr val="accent2"/>
                    </a:solidFill>
                    <a:effectLst/>
                    <a:latin typeface="quote-cjk-patch"/>
                  </a:rPr>
                  <a:t> </a:t>
                </a:r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个 </a:t>
                </a:r>
                <a14:m>
                  <m:oMath xmlns:m="http://schemas.openxmlformats.org/officeDocument/2006/math">
                    <m:r>
                      <a:rPr lang="en-US" altLang="zh-CN" sz="24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 矩阵构成的集合</a:t>
                </a:r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:r>
                  <a:rPr lang="en-US" altLang="zh-CN" sz="2400" b="1" dirty="0">
                    <a:solidFill>
                      <a:schemeClr val="accent2"/>
                    </a:solidFill>
                    <a:latin typeface="quote-cjk-patch"/>
                  </a:rPr>
                  <a:t>g</a:t>
                </a:r>
                <a:r>
                  <a:rPr lang="en-US" altLang="zh-CN" sz="2400" b="1" dirty="0">
                    <a:solidFill>
                      <a:srgbClr val="0F1115"/>
                    </a:solidFill>
                    <a:latin typeface="quote-cjk-patch"/>
                  </a:rPr>
                  <a:t>(group)</a:t>
                </a:r>
              </a:p>
              <a:p>
                <a:r>
                  <a:rPr lang="en-US" altLang="zh-CN" sz="2400" b="1" dirty="0">
                    <a:solidFill>
                      <a:srgbClr val="0F1115"/>
                    </a:solidFill>
                    <a:latin typeface="quote-cjk-patch"/>
                  </a:rPr>
                  <a:t>e f </a:t>
                </a:r>
                <a:r>
                  <a:rPr lang="en-US" altLang="zh-CN" sz="2400" b="1" dirty="0">
                    <a:solidFill>
                      <a:schemeClr val="accent2"/>
                    </a:solidFill>
                    <a:latin typeface="quote-cjk-patch"/>
                  </a:rPr>
                  <a:t>g h</a:t>
                </a: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zh-CN" altLang="en-US" sz="2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3AF00C-CDE6-3F85-48E0-1A90C0355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575" y="2324566"/>
                <a:ext cx="6094206" cy="3416320"/>
              </a:xfrm>
              <a:prstGeom prst="rect">
                <a:avLst/>
              </a:prstGeom>
              <a:blipFill>
                <a:blip r:embed="rId6"/>
                <a:stretch>
                  <a:fillRect l="-1600" t="-12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895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F2551-B6DD-BC69-23FB-62F545EA4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E399A43-7346-FFA3-19BC-245E246F9DF7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130DFF4-47EA-B098-C3D3-F65543E093AD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5522C79-C040-68B4-F0F1-6F0D3131FE6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C7ED3541-43E7-82B8-A10B-0193E1FE46E6}"/>
              </a:ext>
            </a:extLst>
          </p:cNvPr>
          <p:cNvSpPr/>
          <p:nvPr/>
        </p:nvSpPr>
        <p:spPr>
          <a:xfrm>
            <a:off x="1005840" y="1315720"/>
            <a:ext cx="25872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3.1.2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广义泡利群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A60A6B15-FDCD-EF5B-CD43-EAD08D215F8E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E1DBBE6-4C18-DA89-CDDE-00BE16EB2BA5}"/>
              </a:ext>
            </a:extLst>
          </p:cNvPr>
          <p:cNvSpPr txBox="1"/>
          <p:nvPr/>
        </p:nvSpPr>
        <p:spPr>
          <a:xfrm>
            <a:off x="1046182" y="3529423"/>
            <a:ext cx="60942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quote-cjk-patch"/>
              </a:rPr>
              <a:t>泡利群的张量积结果</a:t>
            </a:r>
            <a:endParaRPr lang="en-US" altLang="zh-CN" sz="2400" b="1" dirty="0">
              <a:latin typeface="quote-cjk-patch"/>
            </a:endParaRPr>
          </a:p>
          <a:p>
            <a:endParaRPr lang="en-US" altLang="zh-CN" sz="2400" b="1" dirty="0">
              <a:solidFill>
                <a:schemeClr val="accent2"/>
              </a:solidFill>
              <a:latin typeface="quote-cjk-patch"/>
            </a:endParaRPr>
          </a:p>
          <a:p>
            <a:endParaRPr lang="en-US" altLang="zh-CN" sz="2400" b="1" dirty="0">
              <a:solidFill>
                <a:schemeClr val="accent2"/>
              </a:solidFill>
              <a:latin typeface="quote-cjk-patch"/>
            </a:endParaRPr>
          </a:p>
          <a:p>
            <a:endParaRPr lang="zh-CN" altLang="en-US" sz="2400" dirty="0">
              <a:solidFill>
                <a:schemeClr val="accent2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FCAEAF6-C7BA-EA09-1BD4-B715472F0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3051" y="544428"/>
            <a:ext cx="4368949" cy="195823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2B2038C-F743-2D0C-F5E5-47D89498C9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462" y="2865618"/>
            <a:ext cx="2095792" cy="168616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D38DBB3-FB92-71B4-B7CB-CBAACB5D7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3869" y="4802902"/>
            <a:ext cx="4191585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12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F2AC9-7FB2-471D-89B5-119D0484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75245E9-A822-F0EE-2DE1-EB0A59846F0E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233C1B7-6C31-35EB-F3DA-85EAABBCD824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7E50337-FEDF-8501-5BEE-C416EBFA2094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34261D83-7996-788A-65B5-CA2D0B89B371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62616CF6-F500-9769-324A-3728E092D1B3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93D62D-9A1D-6C4B-E322-3A48BE21DE7F}"/>
              </a:ext>
            </a:extLst>
          </p:cNvPr>
          <p:cNvSpPr txBox="1"/>
          <p:nvPr/>
        </p:nvSpPr>
        <p:spPr>
          <a:xfrm>
            <a:off x="2186492" y="3569752"/>
            <a:ext cx="60942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accent2"/>
                </a:solidFill>
              </a:rPr>
              <a:t>稳定</a:t>
            </a:r>
            <a:r>
              <a:rPr lang="en-US" altLang="zh-CN" sz="2400" b="1" dirty="0">
                <a:solidFill>
                  <a:schemeClr val="accent2"/>
                </a:solidFill>
              </a:rPr>
              <a:t> </a:t>
            </a:r>
            <a:r>
              <a:rPr lang="zh-CN" altLang="en-US" sz="2400" b="1" dirty="0">
                <a:solidFill>
                  <a:schemeClr val="accent2"/>
                </a:solidFill>
              </a:rPr>
              <a:t> </a:t>
            </a:r>
            <a:r>
              <a:rPr lang="zh-CN" altLang="en-US" sz="2400" b="1" dirty="0"/>
              <a:t>操作</a:t>
            </a:r>
            <a:r>
              <a:rPr lang="zh-CN" altLang="en-US" sz="2400" b="1" dirty="0">
                <a:solidFill>
                  <a:schemeClr val="accent2"/>
                </a:solidFill>
              </a:rPr>
              <a:t>不</a:t>
            </a:r>
            <a:r>
              <a:rPr lang="zh-CN" altLang="en-US" sz="2400" b="1" dirty="0"/>
              <a:t>改变对象</a:t>
            </a:r>
            <a:endParaRPr lang="en-US" altLang="zh-CN" sz="2400" b="1" dirty="0"/>
          </a:p>
          <a:p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590623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854DD-86EC-9B62-A016-A97C2444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0500A6C-1164-3352-CB20-33D553EBD28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AE17005-26EC-2A9F-F9E2-E28B82CD5897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F80C0FF-8569-79FB-0162-E47EB241CBCA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4AC70BBF-4194-E1E1-A39E-907AD56EA928}"/>
              </a:ext>
            </a:extLst>
          </p:cNvPr>
          <p:cNvSpPr/>
          <p:nvPr/>
        </p:nvSpPr>
        <p:spPr>
          <a:xfrm>
            <a:off x="1005840" y="1315720"/>
            <a:ext cx="5093746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 群 与 稳定子 空间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392362B9-3F87-8473-4FEF-567157535624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DC061F4-DDB1-DBF4-5F25-072379B19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115" y="1266617"/>
            <a:ext cx="1914792" cy="58110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751D7AC-020A-B649-65D8-82AF7AA5CCEF}"/>
              </a:ext>
            </a:extLst>
          </p:cNvPr>
          <p:cNvSpPr txBox="1"/>
          <p:nvPr/>
        </p:nvSpPr>
        <p:spPr>
          <a:xfrm>
            <a:off x="1132242" y="2117469"/>
            <a:ext cx="60942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accent2"/>
                </a:solidFill>
              </a:rPr>
              <a:t>稳定子群中</a:t>
            </a:r>
            <a:r>
              <a:rPr lang="zh-CN" altLang="en-US" sz="2400" b="1" dirty="0"/>
              <a:t>的算符 对 </a:t>
            </a:r>
            <a:r>
              <a:rPr lang="zh-CN" altLang="en-US" sz="2400" b="1" dirty="0">
                <a:solidFill>
                  <a:schemeClr val="accent2"/>
                </a:solidFill>
              </a:rPr>
              <a:t>稳定子空间</a:t>
            </a:r>
            <a:r>
              <a:rPr lang="zh-CN" altLang="en-US" sz="2400" b="1" dirty="0"/>
              <a:t>的态</a:t>
            </a:r>
            <a:endParaRPr lang="en-US" altLang="zh-CN" sz="2400" b="1" dirty="0"/>
          </a:p>
          <a:p>
            <a:r>
              <a:rPr lang="zh-CN" altLang="en-US" sz="2400" b="1" dirty="0"/>
              <a:t>                                                   本征值为 </a:t>
            </a:r>
            <a:r>
              <a:rPr lang="en-US" altLang="zh-CN" sz="2400" b="1" dirty="0">
                <a:solidFill>
                  <a:schemeClr val="accent2"/>
                </a:solidFill>
              </a:rPr>
              <a:t>1</a:t>
            </a:r>
          </a:p>
          <a:p>
            <a:r>
              <a:rPr lang="zh-CN" altLang="en-US" sz="2400" b="1" dirty="0"/>
              <a:t> </a:t>
            </a:r>
            <a:endParaRPr lang="en-US" altLang="zh-CN" sz="2400" b="1" dirty="0"/>
          </a:p>
          <a:p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590672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6BF1E-DFC2-EBA3-9F60-3777461A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34A4411-DB39-BE2A-AAF4-FEB0C16B6E69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FAD9A11-509D-55B2-3A83-A2989C58B13F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FD04918-1139-7A27-C6CF-2C3582FCEFE2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E36C58BE-C8F6-20B8-3EB3-89BB09DE8CA8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 空间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ECD93D52-8130-C542-3CCF-F27E31F82528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204BC14-AA27-5D05-046C-3DA1E502E247}"/>
              </a:ext>
            </a:extLst>
          </p:cNvPr>
          <p:cNvSpPr txBox="1"/>
          <p:nvPr/>
        </p:nvSpPr>
        <p:spPr>
          <a:xfrm>
            <a:off x="755725" y="2343380"/>
            <a:ext cx="60942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accent2"/>
                </a:solidFill>
              </a:rPr>
              <a:t>稳定 </a:t>
            </a:r>
            <a:r>
              <a:rPr lang="zh-CN" altLang="en-US" sz="2400" b="1" dirty="0"/>
              <a:t>操作</a:t>
            </a:r>
            <a:r>
              <a:rPr lang="zh-CN" altLang="en-US" sz="2400" b="1" dirty="0">
                <a:solidFill>
                  <a:schemeClr val="accent2"/>
                </a:solidFill>
              </a:rPr>
              <a:t>不</a:t>
            </a:r>
            <a:r>
              <a:rPr lang="zh-CN" altLang="en-US" sz="2400" b="1" dirty="0"/>
              <a:t>改变对象</a:t>
            </a:r>
            <a:endParaRPr lang="en-US" altLang="zh-CN" sz="2400" b="1" dirty="0"/>
          </a:p>
          <a:p>
            <a:endParaRPr lang="zh-CN" altLang="en-US" sz="2400" b="1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3A583C8-AEE7-30B7-625B-DEAB1F226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115" y="1266617"/>
            <a:ext cx="1914792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83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1EAB-822E-0EA9-1695-CF82529DF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3EB5F16-1BEE-93C7-7EA9-EB09139E5963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C58F4E4-DFF3-8AC9-5752-E7BE72DC8364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9622008-4D84-591A-0261-94982E5B4C3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CD5D7014-2B63-102A-1895-F98208F555DD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权重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DDACA48F-1BCA-110C-ACEA-FA8E9E410248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51D7CF7-042D-6047-7F1E-4871F38B9E8F}"/>
                  </a:ext>
                </a:extLst>
              </p:cNvPr>
              <p:cNvSpPr txBox="1"/>
              <p:nvPr/>
            </p:nvSpPr>
            <p:spPr>
              <a:xfrm>
                <a:off x="744967" y="3518665"/>
                <a:ext cx="6473413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/>
                  <a:t>泡利算符中</a:t>
                </a:r>
                <a:r>
                  <a:rPr lang="zh-CN" altLang="en-US" sz="2400" b="1" dirty="0">
                    <a:solidFill>
                      <a:schemeClr val="accent2"/>
                    </a:solidFill>
                  </a:rPr>
                  <a:t>非单位算符（即 </a:t>
                </a:r>
                <a14:m>
                  <m:oMath xmlns:m="http://schemas.openxmlformats.org/officeDocument/2006/math">
                    <m:r>
                      <a:rPr lang="zh-CN" alt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400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400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zh-CN" altLang="en-US" sz="2400" b="1" dirty="0">
                    <a:solidFill>
                      <a:schemeClr val="accent2"/>
                    </a:solidFill>
                  </a:rPr>
                  <a:t>）</a:t>
                </a:r>
                <a:r>
                  <a:rPr lang="zh-CN" altLang="en-US" sz="2400" b="1" dirty="0"/>
                  <a:t>的数量</a:t>
                </a:r>
                <a:endParaRPr lang="en-US" altLang="zh-CN" sz="2400" b="1" dirty="0">
                  <a:latin typeface="quote-cjk-patch"/>
                </a:endParaRP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zh-CN" alt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51D7CF7-042D-6047-7F1E-4871F38B9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67" y="3518665"/>
                <a:ext cx="6473413" cy="1569660"/>
              </a:xfrm>
              <a:prstGeom prst="rect">
                <a:avLst/>
              </a:prstGeom>
              <a:blipFill>
                <a:blip r:embed="rId3"/>
                <a:stretch>
                  <a:fillRect l="-1412" t="-27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F51B604B-9C26-8ECC-BC7F-DDF393831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390" y="3087673"/>
            <a:ext cx="3305636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575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22B70-331D-3B36-A841-B3AA9ACC1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7D6CD0B-B4AC-AF5C-90A5-FE8222926B67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1999969-B224-D8A0-B3F7-A85D2587ECC9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677D746-B4ED-10D5-8FFA-193B1A70C45A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DD9D581C-F370-BADD-27F6-EB6AA8F58836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量子码距离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4650CA24-08F1-A104-D048-B0E6AB8C4418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59F456D-5A11-C509-8FD3-05F292874492}"/>
              </a:ext>
            </a:extLst>
          </p:cNvPr>
          <p:cNvSpPr txBox="1"/>
          <p:nvPr/>
        </p:nvSpPr>
        <p:spPr>
          <a:xfrm>
            <a:off x="766483" y="3247023"/>
            <a:ext cx="6094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使纠错</a:t>
            </a:r>
            <a:r>
              <a:rPr lang="zh-CN" altLang="en-US" sz="2400" b="1" i="0" dirty="0">
                <a:solidFill>
                  <a:schemeClr val="accent2"/>
                </a:solidFill>
                <a:effectLst/>
                <a:latin typeface="quote-cjk-patch"/>
              </a:rPr>
              <a:t>失效</a:t>
            </a:r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的</a:t>
            </a:r>
            <a:r>
              <a:rPr lang="zh-CN" altLang="en-US" sz="2400" b="1" i="0" dirty="0">
                <a:solidFill>
                  <a:schemeClr val="accent2"/>
                </a:solidFill>
                <a:effectLst/>
                <a:latin typeface="quote-cjk-patch"/>
              </a:rPr>
              <a:t>最小</a:t>
            </a:r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错误</a:t>
            </a:r>
            <a:r>
              <a:rPr lang="zh-CN" altLang="en-US" sz="2400" b="1" i="0" dirty="0">
                <a:solidFill>
                  <a:schemeClr val="accent2"/>
                </a:solidFill>
                <a:effectLst/>
                <a:latin typeface="quote-cjk-patch"/>
              </a:rPr>
              <a:t>权重</a:t>
            </a:r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。</a:t>
            </a:r>
            <a:endParaRPr lang="zh-CN" altLang="en-US" sz="2400" b="1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42A9871-E190-2F2B-3035-AAD93CF3D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9210" y="4395500"/>
            <a:ext cx="3248478" cy="163852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1F8F269-0711-81FB-4AB7-41CEAFB356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476" y="2310661"/>
            <a:ext cx="2838846" cy="150516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1CFDCBD0-70B5-EA09-945A-913D26C32F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593" y="372220"/>
            <a:ext cx="4529407" cy="143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201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31A9-5202-4109-3B52-67108EB3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DFDAFE-1765-7C72-F84B-C4552894E824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64BF0EA-612B-A9F0-A554-7D2EF3A75905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6DFE714-0F6D-D919-53C0-B92EC02331A4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73D8C765-D609-E7B1-13E4-E8E76FD7F3B0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纠错码标记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52D0F09A-8DC6-26C6-2F64-A42DECEAE472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F00BE5B-2C1C-1946-A84F-1D5135556D3C}"/>
              </a:ext>
            </a:extLst>
          </p:cNvPr>
          <p:cNvSpPr txBox="1"/>
          <p:nvPr/>
        </p:nvSpPr>
        <p:spPr>
          <a:xfrm>
            <a:off x="841787" y="3634298"/>
            <a:ext cx="6094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概括了该码的规模、信息容量和纠错能力</a:t>
            </a:r>
            <a:endParaRPr lang="zh-CN" altLang="en-US" sz="2400" b="1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FB027404-165E-F7D7-4D0A-8EC7A4570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7629" y="3119228"/>
            <a:ext cx="1381318" cy="53347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59D7589-EED1-B597-41BB-79556E0A36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0818" y="1105249"/>
            <a:ext cx="1228896" cy="58110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39DB3366-6DE3-82A3-8FBD-77169730D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9428" y="4262167"/>
            <a:ext cx="1514686" cy="657317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C5041C44-83FB-C6DE-E711-D22B26826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84" y="2204669"/>
            <a:ext cx="1152686" cy="44773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87A2A4D3-8A4D-BC80-7B6C-8D01FC360B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3284" y="3138610"/>
            <a:ext cx="1876687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011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1589</Words>
  <Application>Microsoft Office PowerPoint</Application>
  <PresentationFormat>宽屏</PresentationFormat>
  <Paragraphs>305</Paragraphs>
  <Slides>35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4" baseType="lpstr">
      <vt:lpstr>BIZ UDPMincho Medium</vt:lpstr>
      <vt:lpstr>Noto Sans SC</vt:lpstr>
      <vt:lpstr>quote-cjk-patch</vt:lpstr>
      <vt:lpstr>等线</vt:lpstr>
      <vt:lpstr>等线 Light</vt:lpstr>
      <vt:lpstr>Arial</vt:lpstr>
      <vt:lpstr>Brush Script MT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恩泽 施</dc:creator>
  <cp:lastModifiedBy>恩泽 施</cp:lastModifiedBy>
  <cp:revision>39</cp:revision>
  <dcterms:created xsi:type="dcterms:W3CDTF">2026-04-29T05:54:02Z</dcterms:created>
  <dcterms:modified xsi:type="dcterms:W3CDTF">2026-05-18T00:51:03Z</dcterms:modified>
</cp:coreProperties>
</file>