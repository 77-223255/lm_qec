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67" r:id="rId2"/>
    <p:sldId id="307" r:id="rId3"/>
    <p:sldId id="295" r:id="rId4"/>
    <p:sldId id="261" r:id="rId5"/>
    <p:sldId id="263" r:id="rId6"/>
    <p:sldId id="264" r:id="rId7"/>
    <p:sldId id="296" r:id="rId8"/>
    <p:sldId id="297" r:id="rId9"/>
    <p:sldId id="266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5" r:id="rId25"/>
    <p:sldId id="327" r:id="rId26"/>
    <p:sldId id="326" r:id="rId27"/>
    <p:sldId id="328" r:id="rId28"/>
    <p:sldId id="330" r:id="rId29"/>
    <p:sldId id="331" r:id="rId30"/>
    <p:sldId id="332" r:id="rId31"/>
    <p:sldId id="333" r:id="rId32"/>
    <p:sldId id="334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84" y="5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56BD1-BC13-4455-9FB2-79876EFAE974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7CEA1-1525-44B0-A225-B30656B773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89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8015D-C387-691C-7195-69EF63D8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132EFE-7422-884E-2E90-AFB45509F6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BC9F7-7F85-67F5-2F1E-F89047737F7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0D259A1-5009-7C05-ADBC-BD4C124877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C59F1F6-3E49-2311-3DA7-87E055228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8CC22-B65E-2248-39FC-24CC358C81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818C7-6918-B4FE-138E-364662F6F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7924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10EE4-C37A-4B16-3DD4-5DB6C66D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EA77DF-289C-FCCB-46BC-DFBE40ADEB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5DC3A-9C4A-7759-E417-2BD8D67255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33F9770-A305-A0D1-96A8-6B28467F1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1067F9C-910F-336F-BDE4-6A46975EC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04896-084D-5623-36E6-C86CEE523B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57EAB-FAC0-C092-5572-5BAEEB083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41059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4878-A308-A948-C24B-CCCDDD041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44C3A5-9A79-EBD0-1B02-83915BA5E3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66D07F-5BEC-762D-6317-04E6DA0F911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47C184E-607C-A3EC-01ED-3951D0DE6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1DDAEFE-DB2A-CC8D-A0AF-8AAA19E463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E19B7-227D-A822-409B-5C25005CAD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44C67-A19B-20D7-96D7-0B52C2B7B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8564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8C4D-D3B7-71C6-5700-11FEAA25A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4EA0FF-6018-DA65-0096-B252A9DA48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4F910-D2D4-7419-5882-10A998523C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40C7C3C-E518-A2E9-2671-FBA718808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B1B2A2D-8CDD-DD22-D178-134F8B867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46A39-99F6-ECAF-78C7-1419EF57EE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33F46-179E-EBBB-E407-232A4BF36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59748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57A98-EB2A-C8BE-BB4D-0AD44965C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177F18-F6CE-21DA-AB64-1FC7EF9A4C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E871E-5019-A228-7D5C-73EC96A4D2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83B9D1C-2D26-572D-35D4-11D904810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62F2EC-E2DA-7D32-05D9-48440F386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D2046-F7B8-BA60-7064-994918F3B9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59B2B-E497-2787-3955-E9852B3C3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2295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6A43B-CD01-0200-2AB5-5067A7BC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DEEC96-F8F8-37E7-C083-0A5FBD7961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1CE35-47C2-48F6-D186-0C138C0003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303814-0EF3-6584-BE07-2DA1E9EB96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707F2F2-B1CD-8B30-2B8E-A5BEF9EA8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EAA40-4F75-D07F-78C7-44E7B0937A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63096-2ABD-B4C6-E15B-A8CB75A05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85530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DD76E-90E9-137B-DA3B-76045CF9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51D2FD-1F02-E96E-87C7-3ADCB467FF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EEB8CF-44FF-84D5-2AC0-8F4CCB74A76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5BEF3B-C623-8AEB-D206-32327FB9E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F5D2114-1CCA-1268-5DFC-1397694B4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1C3E5-ED98-8C33-93CF-50303A16AC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F0CDC-58E2-87EF-BD90-46725E037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6640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A9D3C-17AC-8830-D723-3C19C23D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ADEF51-FFAF-F1A5-ED97-25F7767700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D5709-B829-8A04-5916-A39ED89E528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99A37FC-9611-001C-D264-0B4608B4E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89976EC-FD33-2F71-5DD4-4027291E1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ED635-D5F4-7040-E969-6C4A913490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8F609-6486-BDA6-A0C6-37AD1410F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02092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3506A-297D-F145-FCAF-8888E2C6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15DE58-1169-D948-15B6-AF61512658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236F7-E2CE-12EB-B48D-FFF7185330C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F31E7A6-7A25-03BE-9982-603872B4B0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78CA56-F440-1804-D998-0A01EFAF8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A60AC-ECDA-7E51-242B-A327C9B959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8851D-DD04-AE73-B80A-2790AEFBF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30133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0FD51-03CB-FBA2-7175-B01879C8A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B0DB3D-3BB5-0ADD-9EBF-314C1862FD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213A82-CE53-06C8-6D4D-1EBB08C9F0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E81DAA0-7A23-0063-54DA-F98E85EC3C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850B73-9F44-D199-0BCB-A32DB00C6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1C5B0-C8E6-5A3E-FB4A-640F3F9E0F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2D56D-9800-87BE-CC0E-31F17D44C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1791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CFC81-2081-67CC-2BC0-10FFC89B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7C0248-D564-85EE-EDBA-05E34BD002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7D44D0-B544-066D-DD46-953ABD9358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2B1DF71-7B95-FD1D-0E06-6246A9247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BCE4FB-F7A1-EA2C-0FE6-D0D31C048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331CC-92DE-87F0-3787-7C192DFD89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E794C-0FD2-4EE9-6964-27F55886F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083428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5000-0E94-65AA-0D0A-234D2E42C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CE73F7-416D-D2E5-CEFF-17D2B38E43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66A97-A875-309A-1B45-05892D68CAD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E940F6A-A10D-6C99-1492-4A0E34201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168F94-58A1-B900-BD9B-96447503D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560AF-D056-7550-BA08-ACD970EDB2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15229-9569-8755-E9D7-66B9812B2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70373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701A-2922-774E-845D-325E5106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553B8C-D724-6F96-02E1-2F65A53E2D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87D98-3188-39A2-D365-E236E602330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5830BB5-961B-1CF2-8698-9A40AD5B91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9D81512-A987-433D-AE08-1FA17E10D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D4027-310A-5E28-D235-E0C29F3905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6ECDF-A592-28B9-5B64-F771A21E7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15648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D9312-8C5C-F491-EDA1-D262E0C8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A5764B-671A-4787-ED16-C678E2493E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0D697A-6765-2A41-3C73-87F66DEF09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2289CAF-DA18-7203-BFD0-2211B04D2A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7407B2C-32D5-8F28-CFB5-FDB376B3A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228BB-176D-470A-5D19-57DD3F284A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EA2BE-C146-AD0C-B365-F2469314C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61860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9C519-432E-569D-E0A5-86BB05A1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28AE1E-5394-83F6-012B-80CAD0D9CF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3AA8E-7753-9C15-959F-A8AD41DD59D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117B06-8CBF-F4E9-3676-D825EE7F18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62D4447-7861-7AA6-38FB-CF4D49A5A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63E36-0AD7-1A56-C23F-10932612A3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3022F-2FB7-67B5-3157-3F4F40502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583328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9162B-8273-1FC8-CAFF-E836E94C8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A631DE-68C0-B31B-B991-99F409079F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BA007C-E1F1-7583-4D07-020EC2F0EFA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897E598-BF25-E243-9F92-4073189568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6FA40A6-668D-3E4E-B065-221DA3C2A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81654-01F8-3123-9123-9678AA40A3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BBFB6-0187-09B9-3851-F45190837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226618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46D91-B62E-619F-131D-0B831F09C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483E96-2CC5-D94A-DF73-E42993E6F4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3426C2-4305-69B0-A292-F5B7284786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AAE1674-E768-82F7-E97F-6934EC7B9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333FD44-523E-BD6D-0CD1-2EF02DC0B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C5A-31F3-677B-1235-615B94920C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7A0A5-2870-C54E-D5E2-B03CCA727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599117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E495-9B34-2518-8254-7CCD6F6CA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5F5B8C-5FEF-8816-5296-1337DE8B8E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394702-EC79-A79C-34A6-B25B781F76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283564D-AF3B-AC9B-54F5-1163D7F044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4D5D823-AC87-4CBC-880F-9AD77C443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712AD-D81F-D638-D905-388F889E44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6BA55-EF2F-7E3E-B39A-7ABEB67CF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770142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BBFE2-FABD-E0DA-5A9D-0119491A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7800C2-C05A-DD53-26AE-307544E20C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50137-A846-D200-9F0D-E0F8A3694D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2EA039F-199F-DEEF-C7DC-F0D45E230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D6900AB-35F1-C9DD-5A8C-7FC68E675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E1F1E-D991-6EF7-04BE-0FEFCB274D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DF62B-2927-7B1A-4D1D-93D59C46D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888391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9EE06-1486-1A60-5A6E-DEF1BDAE1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3DE342-0670-4128-563D-F61E96257B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ED36D-A40B-9BB9-FE3B-8FFBC122D23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8C0B583-B515-F541-67E8-76513AFE04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7D29AA8-9447-FF1C-AC99-4BEDA8FDC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7BD9F-99FD-9E67-D276-19D63B9987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91504-BCFE-BB7E-5225-8F4FCAE8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375258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2768-7E82-7C92-1C1A-976047E96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453949-301C-F43E-502B-D6D18ACC41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EB8DB-A4C7-6E76-3C91-2E788861F3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4229429-D9E4-416D-24B6-8D1CEE961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89AD0F5-6078-4561-F4E0-32CA9268A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B2873-67C8-5A62-E649-6D783B3D62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87447-9A42-B733-2EF5-97254CB97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60020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C4EE1-E3AC-797F-AC87-D4937A87F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EEE28CB-8B9D-CD0F-3988-9EAA605F6A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F367AC-78B9-86DE-4F56-36C49C975F6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7E6DFF5-515C-6B0E-9707-8F3F73E5A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7249AD8-2116-CEFC-494A-6B2C9CF5C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C9B9A-747A-064D-D986-81C02D1980A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566E2-5F91-18CF-7B83-61265F0C2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78204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72834-FBFD-2BAB-E9FA-82092A67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515D8B-9EBC-A46B-18C9-E2671DB1AF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25940-AECC-8860-573E-132E08AB2C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CE39F42-7B0C-E23F-0EE5-CA9CCAA2B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4EA678-F425-B6E4-DF75-2B7930E07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7A925-10F7-C87F-DE9C-BAA67FC90E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637FE-F64F-AC3A-2383-CE7030AC6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166605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92B75-869D-3369-9090-0C07F9DB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D1A0B8-C712-B0BC-87B8-60D27630E1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8EFD1E-4939-EC8F-4CDF-559C532D98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F3260C4-6353-0779-4868-4320B4FFE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873026D-78BF-933D-121C-CFCE60B30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357C2-EF9C-8723-5A78-AE9DDE4375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17D2F-5D80-82DC-67AA-C89C07216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73975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ED07-62AC-08AB-7422-E9637B35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6A3164-BCC0-C110-DEB1-DC6EE53A50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C7441B-9BD4-B5D4-2748-7B75B7ECEF0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409F95-8E3F-7CE3-EB8F-221BC51BF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CE071B9-223B-A56B-7E71-CDF531C40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79F1A-3BEC-12C1-8EF0-B66D351ECC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466E0-3B56-543B-AE2A-EA2FBCE99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780312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BC83-0464-6DCE-B1C0-BF574FA88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E3039A-149B-6840-9DE3-622FEBA4DD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E8093-B980-653C-0ACA-42EB4830AAB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CE4D976-3289-2450-A6F3-421B6E2B1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E7C4723-4AA3-7E87-8C54-14FB39A5B2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01C62-FCC9-FD42-AB4C-D5CDB84697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4ED4B-6477-BB58-B374-2B5EC761B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028243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B247B-C871-F2D1-56FA-AF3E1A2D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A1B665-5386-5C2D-21A1-AFCC0B37AB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96678-ACA0-9F3A-2D47-CB5F6F674B8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5FA6315-CFB2-3475-5317-04BCC9C4A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531C429-28C8-4E8A-2F61-ADBA8E36C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15065-976C-8867-E1A4-DB14F5A827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A0F03-850B-FC62-4EC2-F562A2660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21944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4761-31D7-4105-A27E-2CC8EDB06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294F8A-0F41-222A-2D11-8631F469D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C30D8-FE30-291A-7C72-E11CFF13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A88F23-8DEB-9D93-567E-27AC0CF0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421225-061B-9E11-938A-DC1EBB63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483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C986B-DA6D-BCF2-21A9-B0E329CE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7A245E-5787-F4AC-11AB-ECFE81153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645801-7C43-F892-6CCC-BD151CC8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E2DA07-9E9F-C151-F32C-4A03DE36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703374-F99D-AB3C-02DE-CABD81FA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934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44908-C44D-F638-5ED6-1D976E95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05695-BA62-357C-E285-02B72B0BA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D8FE58-BBDD-0049-B5C7-C3899C5E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1E74D6-AECC-5CE3-A08C-C07480C12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0523BA-1BA6-7950-94C3-25C38448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419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6DAA5-D0AF-D7A7-0AB5-884D83C6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84EE0-F5C6-2050-7471-D8FA7229A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C2FE9B-282E-08D4-E5CF-B1C06F58E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38FF5B-1F82-AC3B-EF37-5C6FFB34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73D0D5-911E-5251-3AB0-AE6101F7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4C47DA-F90D-4EF1-7182-725A63C8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236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99D3B-33C0-7821-3DCE-152CD9B31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610081-0C0C-C6B1-01ED-6479FBE1F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42D702-D6CE-4741-6A48-C15E828DD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9E1396-C5DB-F34F-E0ED-32AA864D6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A0A188-88CD-5681-4F58-392922218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996D7D-646E-3636-07C6-DE73F17F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76941E-C350-9CBB-CC30-6F56F88D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66105E-3596-08B4-DCE0-6272917E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203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7E2DA-015C-AEBF-1A48-B7B89E34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7D8DA5-7FF6-E4AC-1E92-97A1D06E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A3A086-AA8F-8BD2-4A97-2FDB3DC7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681EC-A86B-B80A-92FB-26B3A3E95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352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6F6216-3E07-A782-2169-CBC582BA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DB9DEC-8257-F9B5-7BD6-80F2ED41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45C304-2564-214F-DB6F-177CB324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11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07657-A0CD-8CB6-375F-43220538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F94334-6932-BB6B-4B59-64CFC610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950E0A-D125-FBC1-18E3-CDC27206F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D5DCE2-AB53-4194-02EA-E8244C41C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6F1792-FD36-6925-C2EC-7E023FDD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4CB3F3-53DF-6FE1-38E9-B7DBA4ED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732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265240-4AF7-F9D3-0DC0-FBFBBC10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3EFAF9-1989-58F8-F22B-CD6697D88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B2875E-7E63-8479-745C-611D2344E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CB2BDD-DEB5-AA21-FC0A-8253E2C6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397DA8-CE26-F5B5-352F-8CFBFC5E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AED7CC-7637-8C8D-A251-2B9A7A70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822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18B78-2D68-C9F5-2B88-F7B6B43A5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9FCBD4-99C7-A798-77AA-4245BA0B1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1F34C6-2E43-CF0F-334F-6FCE3305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608127-12B3-59EF-2876-B245B6BC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B99B1D-6DE2-E7DE-A654-49B2D7F9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938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1A012C-B4C2-5397-D506-15BB75411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989343-C205-FE67-809D-ADCA060AD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E3CE3C-962C-D837-4B72-9F9797FBD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5E23F6-71CC-FB6D-C5A3-C7D644E42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32C07A-57E3-629B-8FC6-2DE160071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806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568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1DB38A-6066-110A-3382-F5F6828D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DEC672-8E00-1A77-5EE7-B12491C0A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680427-5DCE-1CD7-8584-18F3B4565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06B81-D0D4-404B-8474-757991D5685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54D226-3675-21B9-1A38-D143C92B8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DA05ED-2FFF-4B5A-5220-E74F4234F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82809-23E3-414D-A6DC-9D5DC14E8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31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5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EB0F588-289D-2035-82FD-12F5B64B4A01}"/>
              </a:ext>
            </a:extLst>
          </p:cNvPr>
          <p:cNvSpPr txBox="1"/>
          <p:nvPr/>
        </p:nvSpPr>
        <p:spPr>
          <a:xfrm>
            <a:off x="-5424636" y="-2872225"/>
            <a:ext cx="26549625" cy="11326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3000" b="0" i="0" u="none" strike="noStrike" dirty="0">
                <a:solidFill>
                  <a:schemeClr val="bg1">
                    <a:lumMod val="85000"/>
                  </a:schemeClr>
                </a:solidFill>
                <a:latin typeface="BIZ UDPMincho Medium" panose="02020500000000000000" pitchFamily="18" charset="-128"/>
                <a:ea typeface="BIZ UDPMincho Medium" panose="02020500000000000000" pitchFamily="18" charset="-128"/>
                <a:cs typeface="Noto Sans SC"/>
                <a:sym typeface="Noto Sans SC"/>
              </a:rPr>
              <a:t>QEC</a:t>
            </a:r>
            <a:endParaRPr lang="zh-CN" altLang="en-US" sz="73000" dirty="0">
              <a:solidFill>
                <a:schemeClr val="bg1">
                  <a:lumMod val="85000"/>
                </a:schemeClr>
              </a:solidFill>
              <a:latin typeface="BIZ UDPMincho Medium" panose="02020500000000000000" pitchFamily="18" charset="-128"/>
              <a:ea typeface="BIZ UDPMincho Medium" panose="02020500000000000000" pitchFamily="18" charset="-128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762000" y="946973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量子纠错导论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0" y="3159459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Quantum Error Correction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414B-F091-74EB-89A5-B63882C3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239F19E0-FE72-880A-FD5F-9A59643C726B}"/>
              </a:ext>
            </a:extLst>
          </p:cNvPr>
          <p:cNvSpPr/>
          <p:nvPr/>
        </p:nvSpPr>
        <p:spPr>
          <a:xfrm>
            <a:off x="762000" y="1587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1.1 </a:t>
            </a:r>
            <a:r>
              <a:rPr lang="zh-CN" alt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为什么要量子纠错？</a:t>
            </a:r>
            <a:endParaRPr lang="en-US" sz="1100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A12639C-356D-DD15-83F3-7362892060B1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>
            <a:extLst>
              <a:ext uri="{FF2B5EF4-FFF2-40B4-BE49-F238E27FC236}">
                <a16:creationId xmlns:a16="http://schemas.microsoft.com/office/drawing/2014/main" id="{6326C543-B062-AC66-AAF8-5967CFC2272F}"/>
              </a:ext>
            </a:extLst>
          </p:cNvPr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引言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I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ntroduction</a:t>
            </a: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2E4D0343-A822-DB28-F1E0-BBAFFB81B556}"/>
              </a:ext>
            </a:extLst>
          </p:cNvPr>
          <p:cNvSpPr/>
          <p:nvPr/>
        </p:nvSpPr>
        <p:spPr>
          <a:xfrm>
            <a:off x="762000" y="2374903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1.2 </a:t>
            </a:r>
            <a:r>
              <a:rPr lang="en-US" sz="2200" b="1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经典纠错：重复码</a:t>
            </a:r>
            <a:r>
              <a:rPr lang="en-US" sz="2200" b="1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 (Repetition Code)</a:t>
            </a:r>
            <a:endParaRPr lang="en-US" sz="1100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89388E4D-A327-5039-A904-CA97C8177132}"/>
              </a:ext>
            </a:extLst>
          </p:cNvPr>
          <p:cNvSpPr/>
          <p:nvPr/>
        </p:nvSpPr>
        <p:spPr>
          <a:xfrm>
            <a:off x="762000" y="3301101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1.3 </a:t>
            </a:r>
            <a:r>
              <a:rPr lang="en-US" sz="2200" b="1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</a:t>
            </a:r>
            <a:r>
              <a:rPr lang="zh-CN" alt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不同</a:t>
            </a: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682221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2FE8C-7A65-7C82-5F79-709A2F619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D69940B1-B336-CB4E-498A-03A3AB4100EF}"/>
              </a:ext>
            </a:extLst>
          </p:cNvPr>
          <p:cNvSpPr/>
          <p:nvPr/>
        </p:nvSpPr>
        <p:spPr>
          <a:xfrm>
            <a:off x="762000" y="1587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1.1 </a:t>
            </a:r>
            <a:r>
              <a:rPr lang="zh-CN" alt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为什么要量子纠错？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697FA8DB-E922-2205-5395-CCDBF8256763}"/>
              </a:ext>
            </a:extLst>
          </p:cNvPr>
          <p:cNvSpPr/>
          <p:nvPr/>
        </p:nvSpPr>
        <p:spPr>
          <a:xfrm>
            <a:off x="693718" y="2398816"/>
            <a:ext cx="6478977" cy="3699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spcBef>
                <a:spcPts val="800"/>
              </a:spcBef>
              <a:defRPr/>
            </a:pPr>
            <a:r>
              <a:rPr lang="en-US" sz="2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环境</a:t>
            </a:r>
            <a:r>
              <a:rPr lang="zh-CN" altLang="en-US" sz="24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影响</a:t>
            </a:r>
            <a:endParaRPr lang="en-US" sz="2400" dirty="0"/>
          </a:p>
          <a:p>
            <a:pPr indent="0" algn="l">
              <a:lnSpc>
                <a:spcPct val="116666"/>
              </a:lnSpc>
            </a:pPr>
            <a:r>
              <a:rPr lang="en-US" sz="2400" b="0" i="0" u="none" strike="noStrike" dirty="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400" b="0" i="0" u="none" strike="noStrike" dirty="0" err="1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环境的微小相互作用会导致叠加态坍缩或相位相干性丧失</a:t>
            </a:r>
            <a:r>
              <a:rPr lang="zh-CN" altLang="en-US" sz="2400" b="0" i="0" u="none" strike="noStrike" dirty="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400" b="0" i="0" u="none" strike="noStrike" dirty="0">
              <a:solidFill>
                <a:srgbClr val="60606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量子操作的物理局限性</a:t>
            </a:r>
            <a:endParaRPr lang="en-US" sz="24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2400" b="0" i="0" u="none" strike="noStrike" dirty="0" err="1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门操作</a:t>
            </a:r>
            <a:r>
              <a:rPr lang="zh-CN" altLang="en-US" sz="2400" b="0" i="0" u="none" strike="noStrike" dirty="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无法</a:t>
            </a:r>
            <a:r>
              <a:rPr lang="en-US" sz="2400" b="0" i="0" u="none" strike="noStrike" dirty="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达到100%的精准度，每一步操作都可能引入比特翻转或相位翻转错误</a:t>
            </a:r>
            <a:r>
              <a:rPr lang="zh-CN" altLang="en-US" sz="2400" b="0" i="0" u="none" strike="noStrike" dirty="0">
                <a:solidFill>
                  <a:srgbClr val="60606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400" b="0" i="0" u="none" strike="noStrike" dirty="0">
              <a:solidFill>
                <a:srgbClr val="60606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F9513B4-8B63-CB6D-4A6D-6F09ABE86EF5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D6E84219-4855-9D2E-6ABB-3E9E68D86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867" y="1863089"/>
            <a:ext cx="1419423" cy="54300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AFE9003-3A25-8D9A-6AC9-FE67C2480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249" y="3829566"/>
            <a:ext cx="2829320" cy="146705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4D9988B-D418-E53B-2FEF-704A6FE2F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1355" y="2843782"/>
            <a:ext cx="1657581" cy="695422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BD504D10-08FF-7204-1491-0E92F6382F92}"/>
              </a:ext>
            </a:extLst>
          </p:cNvPr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引言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I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ntroduction</a:t>
            </a: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37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引言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I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ntroduction</a:t>
            </a: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1.2 </a:t>
            </a:r>
            <a:r>
              <a:rPr lang="en-US" sz="2200" b="1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经典纠错：重复码</a:t>
            </a:r>
            <a:r>
              <a:rPr lang="en-US" sz="2200" b="1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 (Repetition Code)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863267" y="3711038"/>
            <a:ext cx="5911604" cy="19297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8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zh-CN" altLang="en-US" sz="28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编码</a:t>
            </a:r>
            <a:endParaRPr lang="en-US" sz="2800" b="1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en-US" sz="28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将1个比特映射为3个比特</a:t>
            </a:r>
          </a:p>
          <a:p>
            <a:pPr indent="0" algn="l">
              <a:lnSpc>
                <a:spcPct val="116666"/>
              </a:lnSpc>
              <a:defRPr/>
            </a:pPr>
            <a:endParaRPr lang="en-US" sz="28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en-US" sz="2800" b="1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zh-CN" altLang="en-US" sz="2800" b="1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判定</a:t>
            </a:r>
            <a:endParaRPr lang="en-US" sz="2800" b="1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sz="28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按照少数服从多数的原则判定</a:t>
            </a:r>
            <a:br>
              <a:rPr lang="en-US" altLang="zh-CN" sz="28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altLang="zh-CN" sz="2000" dirty="0"/>
          </a:p>
          <a:p>
            <a:pPr indent="0" algn="l">
              <a:lnSpc>
                <a:spcPct val="116666"/>
              </a:lnSpc>
              <a:defRPr/>
            </a:pPr>
            <a:endParaRPr lang="en-US" sz="28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ADBB1FC-E4AC-43BA-E2ED-C5A96C693B60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89D48D2B-38E1-206D-5CBD-74419FB33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366" y="1942693"/>
            <a:ext cx="1305107" cy="51442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EE13B9E-B0ED-2A51-E22E-E71D5E3E7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056" y="2768293"/>
            <a:ext cx="1486107" cy="2924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1.3 </a:t>
            </a:r>
            <a:r>
              <a:rPr lang="en-US" sz="2200" b="1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</a:t>
            </a:r>
            <a:r>
              <a:rPr lang="zh-CN" alt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不同</a:t>
            </a:r>
            <a:r>
              <a:rPr lang="en-US" sz="22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b="1" dirty="0"/>
          </a:p>
        </p:txBody>
      </p:sp>
      <p:sp>
        <p:nvSpPr>
          <p:cNvPr id="10" name="AutoShape 10"/>
          <p:cNvSpPr/>
          <p:nvPr/>
        </p:nvSpPr>
        <p:spPr>
          <a:xfrm>
            <a:off x="687778" y="2488540"/>
            <a:ext cx="6449292" cy="39122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编码</a:t>
            </a:r>
            <a:br>
              <a:rPr lang="en-US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将k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个逻辑比特的态映射到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n </a:t>
            </a: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个物理比特的高维希尔伯特空间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非破坏性</a:t>
            </a:r>
            <a:r>
              <a:rPr lang="zh-CN" alt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测量</a:t>
            </a:r>
            <a:br>
              <a:rPr lang="en-US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引入辅助比特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，</a:t>
            </a: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通过特定的量子门操作，将“错误信息”转移到辅助比特上，最后仅测量辅助比特，从而在不干扰逻辑信息的前提下提取错误线索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症候</a:t>
            </a: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(Syndrome)</a:t>
            </a:r>
            <a:br>
              <a:rPr lang="en-US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辅助比特测量后的经典二进制输出，每一个特定的症候值都唯一对应一种物理错误的类型与位置，为后续纠正提供精确指引</a:t>
            </a:r>
            <a:r>
              <a:rPr lang="en-US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CD50F3C-2A74-B258-BD64-F7407EAD907D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utoShape 11">
            <a:extLst>
              <a:ext uri="{FF2B5EF4-FFF2-40B4-BE49-F238E27FC236}">
                <a16:creationId xmlns:a16="http://schemas.microsoft.com/office/drawing/2014/main" id="{4E41CD68-F6D6-30D8-910D-44EE21E151E2}"/>
              </a:ext>
            </a:extLst>
          </p:cNvPr>
          <p:cNvSpPr/>
          <p:nvPr/>
        </p:nvSpPr>
        <p:spPr>
          <a:xfrm>
            <a:off x="667324" y="1341910"/>
            <a:ext cx="5911604" cy="19297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直接测量将导致叠加态坍缩</a:t>
            </a:r>
            <a:endParaRPr lang="en-US" sz="2800" b="1" dirty="0">
              <a:solidFill>
                <a:schemeClr val="accent2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520E38C-05AA-0B93-7AD4-DE392CAE2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536" y="1112981"/>
            <a:ext cx="4333464" cy="72224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5154A-E96F-1A55-3E6A-69D46E758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874" y="1899699"/>
            <a:ext cx="4325736" cy="138456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DCF17C7-34E1-BD07-4B80-158961F75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781" y="3501368"/>
            <a:ext cx="4401164" cy="2943636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0F02576F-EA7D-C5B0-C998-F36E7366383E}"/>
              </a:ext>
            </a:extLst>
          </p:cNvPr>
          <p:cNvSpPr/>
          <p:nvPr/>
        </p:nvSpPr>
        <p:spPr>
          <a:xfrm>
            <a:off x="7642204" y="1368572"/>
            <a:ext cx="248281" cy="24828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7EE7788-03D4-1F72-DDE1-8C5587B5EF69}"/>
              </a:ext>
            </a:extLst>
          </p:cNvPr>
          <p:cNvSpPr/>
          <p:nvPr/>
        </p:nvSpPr>
        <p:spPr>
          <a:xfrm>
            <a:off x="7649269" y="3749444"/>
            <a:ext cx="248281" cy="24828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3E21AED-AB59-9257-281B-0EEA1366E963}"/>
              </a:ext>
            </a:extLst>
          </p:cNvPr>
          <p:cNvSpPr/>
          <p:nvPr/>
        </p:nvSpPr>
        <p:spPr>
          <a:xfrm>
            <a:off x="7644223" y="2509049"/>
            <a:ext cx="248281" cy="24828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D7AB5CB-10AC-4FAF-61CF-6A4DEB986744}"/>
              </a:ext>
            </a:extLst>
          </p:cNvPr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引言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I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ntroduction</a:t>
            </a: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4447" y="27719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83724" y="2720511"/>
            <a:ext cx="4191000" cy="3930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量子脆弱性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8734" y="3318165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95481" y="3217507"/>
            <a:ext cx="1446481" cy="526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经典重复码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0385" y="3893623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61507" y="4376058"/>
            <a:ext cx="1735777" cy="1365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</a:t>
            </a:r>
            <a:r>
              <a:rPr lang="zh-CN" altLang="en-US" sz="17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测量的不同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2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0610" y="4469576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7667" y="4364511"/>
            <a:ext cx="2093685" cy="5043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7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特殊的</a:t>
            </a:r>
            <a:r>
              <a:rPr lang="en-US" sz="17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</a:t>
            </a:r>
            <a:r>
              <a:rPr lang="zh-CN" altLang="en-US" sz="17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形式</a:t>
            </a:r>
            <a:endParaRPr lang="en-US" sz="1100" dirty="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6019800"/>
            <a:ext cx="406400" cy="406400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B61D1BA-C3B5-E945-3BCE-4AF3B399C2C2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88D39AA-7F98-9E0C-1DB8-A4B2349B9DAB}"/>
              </a:ext>
            </a:extLst>
          </p:cNvPr>
          <p:cNvCxnSpPr>
            <a:cxnSpLocks/>
          </p:cNvCxnSpPr>
          <p:nvPr/>
        </p:nvCxnSpPr>
        <p:spPr>
          <a:xfrm>
            <a:off x="1157844" y="2778827"/>
            <a:ext cx="0" cy="199505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C77EF5D5-E969-EADB-D0C1-4887B8DE94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536" y="1712686"/>
            <a:ext cx="4333464" cy="72224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E9415A6-CA36-75CF-CC0A-35B9224EE2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3781" y="2693845"/>
            <a:ext cx="4401164" cy="2943636"/>
          </a:xfrm>
          <a:prstGeom prst="rect">
            <a:avLst/>
          </a:prstGeom>
        </p:spPr>
      </p:pic>
      <p:sp>
        <p:nvSpPr>
          <p:cNvPr id="25" name="AutoShape 3">
            <a:extLst>
              <a:ext uri="{FF2B5EF4-FFF2-40B4-BE49-F238E27FC236}">
                <a16:creationId xmlns:a16="http://schemas.microsoft.com/office/drawing/2014/main" id="{3F8D7A4E-0024-A580-D971-52195E37DC78}"/>
              </a:ext>
            </a:extLst>
          </p:cNvPr>
          <p:cNvSpPr/>
          <p:nvPr/>
        </p:nvSpPr>
        <p:spPr>
          <a:xfrm>
            <a:off x="1041070" y="1492497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总结</a:t>
            </a:r>
            <a:endParaRPr lang="en-US" sz="3600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E36E47B9-305F-D9FB-9113-0522CFE7E03F}"/>
              </a:ext>
            </a:extLst>
          </p:cNvPr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引言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I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ntroduction</a:t>
            </a:r>
            <a:endParaRPr 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9BBAC-DEF5-9C28-859C-99B510B8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C96660B-39D4-78AC-4179-6C2BBB1B84B3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C0954DA-6793-313E-BB9F-ECF18F2ED5E4}"/>
              </a:ext>
            </a:extLst>
          </p:cNvPr>
          <p:cNvSpPr/>
          <p:nvPr/>
        </p:nvSpPr>
        <p:spPr>
          <a:xfrm>
            <a:off x="762000" y="896915"/>
            <a:ext cx="6155377" cy="49101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纠正</a:t>
            </a:r>
            <a:r>
              <a:rPr lang="en-US" sz="2200" b="1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比特翻转</a:t>
            </a:r>
            <a:r>
              <a:rPr lang="zh-CN" alt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bit flip error</a:t>
            </a: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l">
              <a:lnSpc>
                <a:spcPct val="125000"/>
              </a:lnSpc>
              <a:defRPr/>
            </a:pPr>
            <a:endParaRPr lang="en-US" sz="2200" b="1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2.2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纠正相位反转错误 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(phase flip error)</a:t>
            </a:r>
          </a:p>
          <a:p>
            <a:pPr indent="0" algn="l">
              <a:lnSpc>
                <a:spcPct val="125000"/>
              </a:lnSpc>
              <a:defRPr/>
            </a:pPr>
            <a:endParaRPr lang="en-US" sz="2200" b="1" dirty="0">
              <a:solidFill>
                <a:srgbClr val="555555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1D6C7C7-3815-CFB3-16C1-299071DB385C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5AF47E0C-9BC8-E270-DA51-1F7DD2660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867" y="2076846"/>
            <a:ext cx="1419423" cy="5430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F99C748-60EA-735D-66C6-8323D055A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355" y="4126321"/>
            <a:ext cx="1657581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05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AFA5A-BFE3-A2A4-1A34-1E7A2C42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6C917F8-181D-7581-F332-2B69922CBAC8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0179B69-5B69-2B62-5F3A-541276DB0029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.1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编码实现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EE1628F-3B84-BA2D-616B-5C8CCDA8315B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7">
            <a:extLst>
              <a:ext uri="{FF2B5EF4-FFF2-40B4-BE49-F238E27FC236}">
                <a16:creationId xmlns:a16="http://schemas.microsoft.com/office/drawing/2014/main" id="{78D239FF-485F-2F02-ABE1-A762E557F24F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通过CNOT门实现</a:t>
            </a:r>
            <a:r>
              <a:rPr lang="en-US" sz="2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以输入比特为控制位</a:t>
            </a:r>
            <a:r>
              <a:rPr lang="en-US" sz="2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(C)，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依次作用于两个初始化为</a:t>
            </a:r>
            <a:r>
              <a:rPr lang="en-US" sz="2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|0⟩ 的</a:t>
            </a:r>
            <a:r>
              <a:rPr lang="zh-CN" altLang="en-US" sz="2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冗余</a:t>
            </a:r>
            <a:r>
              <a:rPr lang="en-US" sz="2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比特</a:t>
            </a:r>
            <a:r>
              <a:rPr lang="en-US" sz="2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(T)。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F0744CF-E897-1C86-78BE-211E70CC3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066" y="1229723"/>
            <a:ext cx="3915321" cy="431542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467EC5E-661F-383F-4BF9-2EE232DEC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482" y="4507036"/>
            <a:ext cx="431542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69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.2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错误描述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Pauli</a:t>
            </a: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-X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算子</a:t>
            </a:r>
            <a:r>
              <a:rPr lang="en-US" sz="2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描述</a:t>
            </a: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比特翻转</a:t>
            </a: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7F470BB-2341-418A-4F05-F8FCB00097C7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C7F3E105-A5E1-130B-38D4-57A4A4FE7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726" y="1645522"/>
            <a:ext cx="4792118" cy="230586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9B644BC-CB46-D593-9123-71625818D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763" y="4330449"/>
            <a:ext cx="3982006" cy="752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2EFF-ADA6-C07B-C6DF-898954B4F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781C5F2-82BB-8066-CC6F-07AE70058231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2CDBA42-CC71-310F-CCB2-4C2A3650D29B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.3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错误提取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辅助码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ABD8B7E-22D4-746B-9D50-E7616C986843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11">
            <a:extLst>
              <a:ext uri="{FF2B5EF4-FFF2-40B4-BE49-F238E27FC236}">
                <a16:creationId xmlns:a16="http://schemas.microsoft.com/office/drawing/2014/main" id="{571DF09A-798B-FAD3-AD1B-AE949D67776F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4F3A689B-E175-5F14-E02E-859E047135A9}"/>
              </a:ext>
            </a:extLst>
          </p:cNvPr>
          <p:cNvSpPr/>
          <p:nvPr/>
        </p:nvSpPr>
        <p:spPr>
          <a:xfrm>
            <a:off x="931601" y="24756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4185A5-719F-47CA-40F0-B7574179AAD0}"/>
              </a:ext>
            </a:extLst>
          </p:cNvPr>
          <p:cNvSpPr txBox="1"/>
          <p:nvPr/>
        </p:nvSpPr>
        <p:spPr>
          <a:xfrm>
            <a:off x="716077" y="2227034"/>
            <a:ext cx="685444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额外使用两个</a:t>
            </a:r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辅助比特</a:t>
            </a:r>
            <a:r>
              <a:rPr lang="en-US" altLang="zh-CN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(a1 a2)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，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第一个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辅助比特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a1</a:t>
            </a:r>
          </a:p>
          <a:p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由</a:t>
            </a:r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第二个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物理比特和</a:t>
            </a:r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第三个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物理比特相加得到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第二个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辅助比特  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a2</a:t>
            </a:r>
          </a:p>
          <a:p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由</a:t>
            </a:r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第一个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物理比特和</a:t>
            </a:r>
            <a:r>
              <a:rPr lang="zh-CN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第三个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物理比特相加得到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(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此处相加实际为异或操作，同出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0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异出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1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，为测量操作，非门操作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)</a:t>
            </a:r>
          </a:p>
          <a:p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0162736-0DC2-2E3C-C829-A392BD45F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30" y="1734402"/>
            <a:ext cx="4541568" cy="14794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07DB077-3FD3-377D-7FA2-DFDBEA7E6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141" y="3535563"/>
            <a:ext cx="4431859" cy="108488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85790F9-F446-1704-B9B9-9822D3ADA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74" y="4596223"/>
            <a:ext cx="4660365" cy="232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01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0D324-0BED-69F2-049A-4C593A736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798DE43-FCFF-70C8-8147-EBFF4A766E30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10DDE7-1907-3C90-5CC9-ED29DCE9B273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.3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症状提取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辅助码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endParaRPr lang="en-US" sz="1100" dirty="0"/>
          </a:p>
        </p:txBody>
      </p:sp>
      <p:sp>
        <p:nvSpPr>
          <p:cNvPr id="5" name="AutoShape 11">
            <a:extLst>
              <a:ext uri="{FF2B5EF4-FFF2-40B4-BE49-F238E27FC236}">
                <a16:creationId xmlns:a16="http://schemas.microsoft.com/office/drawing/2014/main" id="{E065972E-8F90-9A96-6A84-1F200A62E0B6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DEDE22D6-0295-AAA5-B11D-393F0EB1E7A4}"/>
              </a:ext>
            </a:extLst>
          </p:cNvPr>
          <p:cNvSpPr/>
          <p:nvPr/>
        </p:nvSpPr>
        <p:spPr>
          <a:xfrm>
            <a:off x="931601" y="24756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AF316DA-F693-1CF8-3811-4CD4CF9EF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76" y="3203428"/>
            <a:ext cx="10379246" cy="323136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626A26F-D3D4-5666-D200-2D3B065DEC59}"/>
              </a:ext>
            </a:extLst>
          </p:cNvPr>
          <p:cNvSpPr txBox="1"/>
          <p:nvPr/>
        </p:nvSpPr>
        <p:spPr>
          <a:xfrm>
            <a:off x="1188417" y="2517703"/>
            <a:ext cx="61812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Syndrome – </a:t>
            </a:r>
            <a:r>
              <a:rPr lang="zh-CN" altLang="en-US" sz="2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症状</a:t>
            </a:r>
          </a:p>
        </p:txBody>
      </p:sp>
    </p:spTree>
    <p:extLst>
      <p:ext uri="{BB962C8B-B14F-4D97-AF65-F5344CB8AC3E}">
        <p14:creationId xmlns:p14="http://schemas.microsoft.com/office/powerpoint/2010/main" val="1893980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4637A-90F0-B9CF-E52D-00AABED7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0276B87-B47A-4A6B-C76F-3D7C5B720842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24A0B83-6F16-A8F5-9D00-3FF283E2A2EC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2.1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.4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修复</a:t>
            </a:r>
            <a:endParaRPr lang="en-US" sz="1100" dirty="0"/>
          </a:p>
        </p:txBody>
      </p:sp>
      <p:sp>
        <p:nvSpPr>
          <p:cNvPr id="5" name="AutoShape 11">
            <a:extLst>
              <a:ext uri="{FF2B5EF4-FFF2-40B4-BE49-F238E27FC236}">
                <a16:creationId xmlns:a16="http://schemas.microsoft.com/office/drawing/2014/main" id="{0432B237-2BE1-3969-FACB-426089697A5B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DB9EAF41-F339-E821-74A6-7AFCCA73C177}"/>
              </a:ext>
            </a:extLst>
          </p:cNvPr>
          <p:cNvSpPr/>
          <p:nvPr/>
        </p:nvSpPr>
        <p:spPr>
          <a:xfrm>
            <a:off x="931601" y="24756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2203799-8C50-34D5-8E4A-A4FAFE70D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43" y="3603099"/>
            <a:ext cx="10932596" cy="249179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F2F13AB-DCE3-1761-2C75-40DCB9702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831" y="1076412"/>
            <a:ext cx="4449474" cy="226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06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6D9B2-625F-4D0A-0E0B-E03B3F31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53DBC2D-274C-C8E9-D58E-3320FDECE898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6D9D841-312A-77DA-5181-951BC5867D44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2.2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.1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编码实现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B720568-5A01-3E28-0221-D0DA87B9E037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7">
            <a:extLst>
              <a:ext uri="{FF2B5EF4-FFF2-40B4-BE49-F238E27FC236}">
                <a16:creationId xmlns:a16="http://schemas.microsoft.com/office/drawing/2014/main" id="{3431320E-CC31-65FB-6D3E-EABA738B3BD0}"/>
              </a:ext>
            </a:extLst>
          </p:cNvPr>
          <p:cNvSpPr/>
          <p:nvPr/>
        </p:nvSpPr>
        <p:spPr>
          <a:xfrm>
            <a:off x="736929" y="1861292"/>
            <a:ext cx="6340764" cy="3061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20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CNOT门</a:t>
            </a: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加</a:t>
            </a:r>
            <a:r>
              <a:rPr lang="en-US" altLang="zh-CN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</a:t>
            </a: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门</a:t>
            </a:r>
            <a:r>
              <a:rPr lang="en-US" sz="20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</a:t>
            </a:r>
            <a:r>
              <a:rPr 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首先通过</a:t>
            </a:r>
            <a:r>
              <a:rPr lang="en-US" altLang="zh-CN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CNOT</a:t>
            </a: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门</a:t>
            </a: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获得与比特翻转时</a:t>
            </a: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相同的</a:t>
            </a: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冗余码，</a:t>
            </a:r>
            <a:endParaRPr lang="en-US" altLang="zh-CN" sz="20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16666"/>
              </a:lnSpc>
              <a:spcBef>
                <a:spcPts val="800"/>
              </a:spcBef>
            </a:pP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再通过</a:t>
            </a:r>
            <a:r>
              <a:rPr lang="en-US" altLang="zh-CN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</a:t>
            </a: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门</a:t>
            </a:r>
            <a:r>
              <a:rPr lang="zh-CN" altLang="en-US" sz="20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获得</a:t>
            </a:r>
            <a:r>
              <a:rPr lang="en-US" altLang="zh-CN" b="1" dirty="0"/>
              <a:t>|+⟩</a:t>
            </a:r>
            <a:r>
              <a:rPr lang="zh-CN" altLang="en-US" b="1" dirty="0"/>
              <a:t>，</a:t>
            </a:r>
            <a:r>
              <a:rPr lang="en-US" altLang="zh-CN" b="1" dirty="0"/>
              <a:t>|-</a:t>
            </a:r>
            <a:r>
              <a:rPr lang="en-US" altLang="zh-CN" sz="2000" b="1" dirty="0"/>
              <a:t>⟩</a:t>
            </a:r>
            <a:endParaRPr lang="en-US" sz="20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D0F7F0-F534-A1B7-AF1A-35B8E2006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462" y="4577937"/>
            <a:ext cx="3670949" cy="20128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5CF8FFC-99B3-D996-020A-76BFF439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098" y="343216"/>
            <a:ext cx="4422525" cy="61949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B6D0AAC-656A-22ED-7BFC-C2B0D16E5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904" y="3598200"/>
            <a:ext cx="4258269" cy="219105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8CA9D39-F93A-A70F-8233-23FD86B7D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682" y="3047947"/>
            <a:ext cx="2762636" cy="76210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82E0F61-4F8F-826F-46A4-53C9C2E647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4366" y="856250"/>
            <a:ext cx="4554824" cy="71948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D695EFE-4037-E643-0872-BEFEF035A9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0099" y="1662188"/>
            <a:ext cx="2838846" cy="69542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5F4D496-5282-84B9-D3D6-50AEFFF447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6881" y="2669372"/>
            <a:ext cx="2772162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64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1CBF-BEF3-2AC7-B1C0-A2797726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EB15FCA-E0A3-6CE9-32A9-E7AB3A43EDDE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B2B8058-1A79-11E3-A41B-F14A9BDCED39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2.2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.2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错误描述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314B4269-6152-4AE7-F3C4-021017A3C4E1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Pauli</a:t>
            </a:r>
            <a:r>
              <a:rPr 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-Z </a:t>
            </a: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算子</a:t>
            </a:r>
            <a:r>
              <a:rPr lang="en-US" sz="2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描述</a:t>
            </a:r>
            <a:r>
              <a:rPr lang="zh-CN" altLang="en-US" sz="20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相位</a:t>
            </a: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翻转</a:t>
            </a: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98D94A2-F27C-C284-29F5-35E1CA7EE16B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543BE8F7-43FF-0F5B-80AD-1BEAA4D72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803" y="1695579"/>
            <a:ext cx="4456994" cy="19932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057352-AD93-9C59-478C-C2E9F82B5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800" y="4154909"/>
            <a:ext cx="3572374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31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5CF8E-E518-55AF-F455-64660C53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32AC28F-FE9A-E96C-3917-5A61E15049E2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8E41084-8346-79CA-37A7-339B706CE372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2.2</a:t>
            </a:r>
            <a:r>
              <a:rPr 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.3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症状提取与修复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95ED69BD-FA22-2440-7CAA-EB409E73452D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20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由于</a:t>
            </a:r>
            <a:r>
              <a:rPr lang="en-US" altLang="zh-CN" sz="20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CNOT</a:t>
            </a:r>
            <a:r>
              <a:rPr lang="zh-CN" altLang="en-US" sz="20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门对</a:t>
            </a:r>
            <a:r>
              <a:rPr lang="en-US" altLang="zh-CN" sz="2000" b="1" dirty="0"/>
              <a:t>|++⟩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|--⟩</a:t>
            </a:r>
            <a:r>
              <a:rPr lang="zh-CN" altLang="en-US" sz="2000" b="1" dirty="0"/>
              <a:t>作用</a:t>
            </a:r>
            <a:endParaRPr lang="en-US" altLang="zh-CN" sz="2000" b="1" dirty="0"/>
          </a:p>
          <a:p>
            <a:pPr>
              <a:lnSpc>
                <a:spcPct val="116666"/>
              </a:lnSpc>
              <a:defRPr/>
            </a:pPr>
            <a:r>
              <a:rPr lang="zh-CN" altLang="en-US" sz="2000" b="1" dirty="0"/>
              <a:t>类似对</a:t>
            </a:r>
            <a:r>
              <a:rPr lang="en-US" altLang="zh-CN" sz="2000" b="1" dirty="0"/>
              <a:t>|00⟩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|11⟩</a:t>
            </a:r>
            <a:r>
              <a:rPr lang="zh-CN" altLang="en-US" sz="2000" b="1" dirty="0"/>
              <a:t>作用</a:t>
            </a:r>
            <a:endParaRPr lang="en-US" altLang="zh-CN" sz="2000" b="1" dirty="0"/>
          </a:p>
          <a:p>
            <a:pPr>
              <a:lnSpc>
                <a:spcPct val="116666"/>
              </a:lnSpc>
              <a:defRPr/>
            </a:pPr>
            <a:r>
              <a:rPr lang="zh-CN" altLang="en-US" sz="20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故可直接套用比特翻转模式</a:t>
            </a:r>
            <a:endParaRPr lang="en-US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0BE11BD-AF4B-BA63-C30D-4EF4AE611011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9E9A67C-3B17-BAD2-8B92-3021DD14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84" y="1980015"/>
            <a:ext cx="3772426" cy="100979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90DEF44-DC35-22ED-B4A7-9EA7346ED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958" y="3118090"/>
            <a:ext cx="3762900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733BF-8072-4E17-5048-DCD18D6B8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CD4870E-0127-F376-6C9C-A3B9D67E32B1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3-</a:t>
            </a:r>
            <a:r>
              <a:rPr lang="en-US" altLang="zh-CN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bit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F2C612F-7C19-2E6D-8F12-FC7EA5457755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8630F4A-9D5E-EF34-E31B-DFE7A4937A46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3">
            <a:extLst>
              <a:ext uri="{FF2B5EF4-FFF2-40B4-BE49-F238E27FC236}">
                <a16:creationId xmlns:a16="http://schemas.microsoft.com/office/drawing/2014/main" id="{58654DCE-EA30-A84A-1494-6CAA074FACA4}"/>
              </a:ext>
            </a:extLst>
          </p:cNvPr>
          <p:cNvSpPr/>
          <p:nvPr/>
        </p:nvSpPr>
        <p:spPr>
          <a:xfrm>
            <a:off x="1041070" y="1492497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666666"/>
                </a:solidFill>
                <a:latin typeface="Noto Sans SC"/>
                <a:ea typeface="Noto Sans SC"/>
                <a:sym typeface="Noto Sans SC"/>
              </a:rPr>
              <a:t>总结</a:t>
            </a:r>
            <a:endParaRPr lang="en-US" sz="3600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29922F11-4941-C191-C416-81A82507BFD1}"/>
              </a:ext>
            </a:extLst>
          </p:cNvPr>
          <p:cNvSpPr/>
          <p:nvPr/>
        </p:nvSpPr>
        <p:spPr>
          <a:xfrm>
            <a:off x="3568265" y="3076913"/>
            <a:ext cx="139101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编码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94D2968A-7A9B-C07D-1604-FAFBEB3B320E}"/>
              </a:ext>
            </a:extLst>
          </p:cNvPr>
          <p:cNvSpPr/>
          <p:nvPr/>
        </p:nvSpPr>
        <p:spPr>
          <a:xfrm>
            <a:off x="3575329" y="3744043"/>
            <a:ext cx="205091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错误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/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症状提取</a:t>
            </a:r>
            <a:endParaRPr lang="en-US" sz="1100" dirty="0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8C8D3348-03BA-0321-DAFF-206D047748AA}"/>
              </a:ext>
            </a:extLst>
          </p:cNvPr>
          <p:cNvSpPr/>
          <p:nvPr/>
        </p:nvSpPr>
        <p:spPr>
          <a:xfrm>
            <a:off x="3564227" y="4411171"/>
            <a:ext cx="159944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修复</a:t>
            </a:r>
            <a:endParaRPr lang="en-US" sz="11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D6440F8-199B-A74B-72CF-2536A7B3D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06" y="160317"/>
            <a:ext cx="2307779" cy="114624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BB28409-8095-2561-EA4D-020FFD2D2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057" y="212771"/>
            <a:ext cx="1983455" cy="10875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2655A24-8B83-1C24-4DDC-43C07DF1A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612" y="1579890"/>
            <a:ext cx="4660365" cy="232162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B6C86BE-3439-FDED-99F2-C34851F9F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608" y="3938365"/>
            <a:ext cx="4449474" cy="2269651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C2EBC7D-3D9A-0F90-3862-93113A33CD66}"/>
              </a:ext>
            </a:extLst>
          </p:cNvPr>
          <p:cNvCxnSpPr>
            <a:cxnSpLocks/>
          </p:cNvCxnSpPr>
          <p:nvPr/>
        </p:nvCxnSpPr>
        <p:spPr>
          <a:xfrm>
            <a:off x="3393830" y="3034914"/>
            <a:ext cx="0" cy="199505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utoShape 3">
            <a:extLst>
              <a:ext uri="{FF2B5EF4-FFF2-40B4-BE49-F238E27FC236}">
                <a16:creationId xmlns:a16="http://schemas.microsoft.com/office/drawing/2014/main" id="{CCF0D56C-DB11-001E-FC62-DFD2E2C4474D}"/>
              </a:ext>
            </a:extLst>
          </p:cNvPr>
          <p:cNvSpPr/>
          <p:nvPr/>
        </p:nvSpPr>
        <p:spPr>
          <a:xfrm>
            <a:off x="2085501" y="3713407"/>
            <a:ext cx="139101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CNOT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门</a:t>
            </a:r>
            <a:endParaRPr lang="en-US" altLang="zh-CN" sz="2200" b="1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H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门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62578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EF6C7-1AB9-6866-5766-8F38A9B4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D4B8998-DF69-7C16-F5E7-53E9A1C83FD2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shor码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简单介绍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9A25A08-3B0D-54FE-4D95-F67955520706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11">
            <a:extLst>
              <a:ext uri="{FF2B5EF4-FFF2-40B4-BE49-F238E27FC236}">
                <a16:creationId xmlns:a16="http://schemas.microsoft.com/office/drawing/2014/main" id="{5266E420-ED24-A6B6-50C9-E77580CD6CBD}"/>
              </a:ext>
            </a:extLst>
          </p:cNvPr>
          <p:cNvSpPr/>
          <p:nvPr/>
        </p:nvSpPr>
        <p:spPr>
          <a:xfrm>
            <a:off x="779201" y="2323271"/>
            <a:ext cx="6273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altLang="zh-CN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en-US" altLang="zh-CN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Shor</a:t>
            </a: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码也叫</a:t>
            </a:r>
            <a:r>
              <a:rPr lang="en-US" altLang="zh-CN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9-qubit</a:t>
            </a: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码</a:t>
            </a:r>
            <a:endParaRPr lang="en-US" altLang="zh-CN" sz="20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既可纠正</a:t>
            </a:r>
            <a:r>
              <a:rPr lang="en-US" altLang="zh-CN" sz="20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bit flip error </a:t>
            </a: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也可纠正 </a:t>
            </a:r>
            <a:r>
              <a:rPr lang="en-US" altLang="zh-CN" sz="20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phase error</a:t>
            </a: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sz="200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并且支持</a:t>
            </a:r>
            <a:r>
              <a:rPr lang="zh-CN" altLang="en-US" sz="20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同时</a:t>
            </a:r>
            <a:r>
              <a:rPr lang="zh-CN" altLang="en-US" sz="200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纠正这两个错误</a:t>
            </a:r>
            <a:endParaRPr lang="en-US" sz="200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6D4A49D-81A7-C88E-AB20-8AE226B5A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443" y="1755041"/>
            <a:ext cx="3587934" cy="144787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EA0B8D8-F9B6-68D9-424B-3DC1504A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526" y="3336153"/>
            <a:ext cx="3617100" cy="48981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258BEA0-8F2F-104C-DA26-EBF7CBE90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869" y="4114805"/>
            <a:ext cx="3953035" cy="89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21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2C9F9-40B2-528E-2400-EB57E09B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DA6F049-A6D7-2734-AD5F-E078EDA5E28C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E670F42-385E-EC54-B3CE-1BDD92A13021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E0C26ADA-31F9-E4F9-A7A0-B5A98334BCDE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4.1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量子纠错码的定义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766DD20-F633-EF8A-C37B-B3738A7BE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269" y="2160111"/>
            <a:ext cx="4336810" cy="534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EF3A509-C3E0-540B-6797-60334708A2A0}"/>
                  </a:ext>
                </a:extLst>
              </p:cNvPr>
              <p:cNvSpPr txBox="1"/>
              <p:nvPr/>
            </p:nvSpPr>
            <p:spPr>
              <a:xfrm>
                <a:off x="402274" y="2133681"/>
                <a:ext cx="6995476" cy="4801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定义 </a:t>
                </a:r>
                <a:endParaRPr lang="en-US" altLang="zh-CN" b="1" i="0" dirty="0">
                  <a:solidFill>
                    <a:schemeClr val="tx1"/>
                  </a:solidFill>
                  <a:effectLst/>
                  <a:latin typeface="quote-cjk-patch"/>
                </a:endParaRPr>
              </a:p>
              <a:p>
                <a:endParaRPr lang="en-US" altLang="zh-CN" b="1" i="0" dirty="0">
                  <a:solidFill>
                    <a:schemeClr val="tx1"/>
                  </a:solidFill>
                  <a:effectLst/>
                  <a:latin typeface="quote-cjk-patch"/>
                </a:endParaRPr>
              </a:p>
              <a:p>
                <a:r>
                  <a:rPr lang="en-US" altLang="zh-CN" b="1" dirty="0">
                    <a:latin typeface="quote-cjk-patch"/>
                  </a:rPr>
                  <a:t>  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 一个量子纠错码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e>
                        <m:r>
                          <a:rPr lang="ar-AE" altLang="zh-CN" b="1" i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𝓔</m:t>
                        </m:r>
                      </m:e>
                    </m:d>
                  </m:oMath>
                </a14:m>
                <a:r>
                  <a:rPr lang="zh-CN" altLang="ar-AE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（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简称 </a:t>
                </a:r>
                <a:r>
                  <a:rPr lang="en-US" altLang="zh-CN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QECC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）是一个部分等距映射 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</m:sSub>
                    <m:r>
                      <a:rPr lang="ar-AE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zh-CN" altLang="ar-AE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，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并配有一个可纠正错误的集合 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𝓔</m:t>
                    </m:r>
                  </m:oMath>
                </a14:m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𝓔</m:t>
                    </m:r>
                  </m:oMath>
                </a14:m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 由线性映射 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ar-AE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ar-AE" altLang="zh-CN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 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组成）</a:t>
                </a:r>
                <a:endParaRPr lang="en-US" altLang="zh-CN" b="1" i="0" dirty="0">
                  <a:solidFill>
                    <a:schemeClr val="tx1"/>
                  </a:solidFill>
                  <a:effectLst/>
                  <a:latin typeface="quote-cjk-patch"/>
                </a:endParaRPr>
              </a:p>
              <a:p>
                <a:r>
                  <a:rPr lang="en-US" altLang="zh-CN" b="1" dirty="0">
                    <a:latin typeface="quote-cjk-patch"/>
                  </a:rPr>
                  <a:t>  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满足如下性质：存在量子操作 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  <m:r>
                      <a:rPr lang="ar-AE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</m:sSub>
                  </m:oMath>
                </a14:m>
                <a:r>
                  <a:rPr lang="zh-CN" altLang="ar-AE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，</a:t>
                </a:r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使得对于所有 </a:t>
                </a:r>
                <a14:m>
                  <m:oMath xmlns:m="http://schemas.openxmlformats.org/officeDocument/2006/math">
                    <m:r>
                      <a:rPr lang="zh-CN" alt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zh-CN" altLang="en-US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𝓔</m:t>
                    </m:r>
                  </m:oMath>
                </a14:m>
                <a:r>
                  <a:rPr lang="zh-CN" altLang="en-US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 以及所有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𝝍</m:t>
                        </m:r>
                      </m:e>
                    </m:d>
                    <m:r>
                      <a:rPr lang="ar-AE" altLang="zh-CN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𝓗</m:t>
                        </m:r>
                      </m:e>
                      <m:sub>
                        <m:r>
                          <a:rPr lang="zh-CN" altLang="ar-AE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</m:sSub>
                  </m:oMath>
                </a14:m>
                <a:endParaRPr lang="en-US" altLang="zh-CN" b="1" dirty="0">
                  <a:solidFill>
                    <a:schemeClr val="tx1"/>
                  </a:solidFill>
                </a:endParaRPr>
              </a:p>
              <a:p>
                <a:endParaRPr lang="en-US" altLang="zh-CN" b="1" dirty="0"/>
              </a:p>
              <a:p>
                <a:r>
                  <a:rPr lang="zh-CN" altLang="en-US" b="1" dirty="0"/>
                  <a:t>如果 </a:t>
                </a:r>
                <a:r>
                  <a:rPr lang="en-US" altLang="zh-CN" b="1" dirty="0"/>
                  <a:t>ℰ </a:t>
                </a:r>
                <a:r>
                  <a:rPr lang="zh-CN" altLang="en-US" b="1" dirty="0"/>
                  <a:t>是所有 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t </a:t>
                </a:r>
                <a:r>
                  <a:rPr lang="zh-CN" altLang="en-US" b="1" dirty="0"/>
                  <a:t>量子比特错误的集合，我们说 </a:t>
                </a:r>
                <a:r>
                  <a:rPr lang="en-US" altLang="zh-CN" b="1" dirty="0"/>
                  <a:t>U</a:t>
                </a:r>
                <a:r>
                  <a:rPr lang="zh-CN" altLang="en-US" b="1" dirty="0"/>
                  <a:t>是一个 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t 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纠错码</a:t>
                </a:r>
                <a:r>
                  <a:rPr lang="zh-CN" altLang="en-US" b="1" dirty="0"/>
                  <a:t>，或者说它能纠正 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t </a:t>
                </a:r>
                <a:r>
                  <a:rPr lang="zh-CN" altLang="en-US" b="1" dirty="0"/>
                  <a:t>个错误</a:t>
                </a:r>
                <a:endParaRPr lang="en-US" altLang="zh-CN" b="1" dirty="0"/>
              </a:p>
              <a:p>
                <a:endParaRPr lang="en-US" altLang="zh-CN" b="1" dirty="0">
                  <a:solidFill>
                    <a:schemeClr val="tx1"/>
                  </a:solidFill>
                </a:endParaRPr>
              </a:p>
              <a:p>
                <a:r>
                  <a:rPr lang="zh-CN" altLang="en-US" b="1" dirty="0"/>
                  <a:t>注意到我们之前讨论过直接测量是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非幺正</a:t>
                </a:r>
                <a:r>
                  <a:rPr lang="zh-CN" altLang="en-US" b="1" dirty="0"/>
                  <a:t>的，五哦一我们需要进行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纯化解码器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(Stinespring dilation)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，</a:t>
                </a:r>
                <a:r>
                  <a:rPr lang="zh-CN" altLang="en-US" b="1" dirty="0"/>
                  <a:t>本质就是任何量子操作都可以看成在一个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更大</a:t>
                </a:r>
                <a:r>
                  <a:rPr lang="zh-CN" altLang="en-US" b="1" dirty="0"/>
                  <a:t>空间上的幺正操作，而实现的操作就是加上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辅助比特</a:t>
                </a:r>
                <a:endParaRPr lang="en-US" altLang="zh-CN" b="1" dirty="0">
                  <a:solidFill>
                    <a:schemeClr val="accent2"/>
                  </a:solidFill>
                </a:endParaRPr>
              </a:p>
              <a:p>
                <a:endParaRPr lang="en-US" altLang="zh-CN" b="1" dirty="0">
                  <a:solidFill>
                    <a:schemeClr val="accent2"/>
                  </a:solidFill>
                </a:endParaRPr>
              </a:p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注意有时候我们也会用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e>
                        <m:r>
                          <a:rPr lang="ar-AE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𝓔</m:t>
                        </m:r>
                      </m:e>
                    </m:d>
                    <m:r>
                      <a:rPr lang="zh-CN" alt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来</m:t>
                    </m:r>
                  </m:oMath>
                </a14:m>
                <a:r>
                  <a:rPr lang="zh-CN" altLang="en-US" b="1" dirty="0">
                    <a:solidFill>
                      <a:schemeClr val="tx1"/>
                    </a:solidFill>
                  </a:rPr>
                  <a:t>定义一个</a:t>
                </a:r>
                <a:r>
                  <a:rPr lang="en-US" altLang="zh-CN" b="1" dirty="0">
                    <a:solidFill>
                      <a:schemeClr val="tx1"/>
                    </a:solidFill>
                  </a:rPr>
                  <a:t>QEEC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其中</a:t>
                </a:r>
                <a:r>
                  <a:rPr lang="en-US" altLang="zh-CN" b="1" dirty="0">
                    <a:solidFill>
                      <a:schemeClr val="tx1"/>
                    </a:solidFill>
                  </a:rPr>
                  <a:t>Q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代表的是</a:t>
                </a:r>
                <a:r>
                  <a:rPr lang="en-US" altLang="zh-CN" b="1" dirty="0">
                    <a:solidFill>
                      <a:schemeClr val="tx1"/>
                    </a:solidFill>
                  </a:rPr>
                  <a:t>Image(U)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，即态的集合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EF3A509-C3E0-540B-6797-60334708A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74" y="2133681"/>
                <a:ext cx="6995476" cy="4801314"/>
              </a:xfrm>
              <a:prstGeom prst="rect">
                <a:avLst/>
              </a:prstGeom>
              <a:blipFill>
                <a:blip r:embed="rId4"/>
                <a:stretch>
                  <a:fillRect l="-784" t="-635" r="-87" b="-10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5D8A05A7-BB72-C02D-50DC-629D4AE19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735" y="4494812"/>
            <a:ext cx="4409650" cy="430572"/>
          </a:xfrm>
          <a:prstGeom prst="rect">
            <a:avLst/>
          </a:prstGeom>
        </p:spPr>
      </p:pic>
      <p:sp>
        <p:nvSpPr>
          <p:cNvPr id="21" name="箭头: 下 20">
            <a:extLst>
              <a:ext uri="{FF2B5EF4-FFF2-40B4-BE49-F238E27FC236}">
                <a16:creationId xmlns:a16="http://schemas.microsoft.com/office/drawing/2014/main" id="{2BDBCFEF-BA8F-13C9-5D06-72C74DEFFAEB}"/>
              </a:ext>
            </a:extLst>
          </p:cNvPr>
          <p:cNvSpPr/>
          <p:nvPr/>
        </p:nvSpPr>
        <p:spPr>
          <a:xfrm>
            <a:off x="9642763" y="3040083"/>
            <a:ext cx="439387" cy="102127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5C0FDF8-7332-7BAE-5872-434A3C6B6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56" y="3410109"/>
            <a:ext cx="1606633" cy="21591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08A6F12-21DC-DE4A-724D-AA82DB6618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2874" y="5128520"/>
            <a:ext cx="1914581" cy="20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0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6B17D-4175-9405-80BC-CF865344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51BA56D-D346-2E6A-151B-74BF1488558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9D52DBC-DCAE-2B46-203C-8E714B3919BE}"/>
              </a:ext>
            </a:extLst>
          </p:cNvPr>
          <p:cNvCxnSpPr/>
          <p:nvPr/>
        </p:nvCxnSpPr>
        <p:spPr>
          <a:xfrm>
            <a:off x="4352291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EEAA1FF7-2F44-E401-C41D-F79480E551BF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4.1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量子纠错码的定义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0E56BA-28CC-1693-A906-C82F086349DC}"/>
              </a:ext>
            </a:extLst>
          </p:cNvPr>
          <p:cNvSpPr txBox="1"/>
          <p:nvPr/>
        </p:nvSpPr>
        <p:spPr>
          <a:xfrm>
            <a:off x="351805" y="2437987"/>
            <a:ext cx="38045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quote-cjk-patch"/>
              </a:rPr>
              <a:t>命题</a:t>
            </a:r>
            <a:endParaRPr lang="en-US" altLang="zh-CN" b="1" dirty="0">
              <a:latin typeface="quote-cjk-patch"/>
            </a:endParaRPr>
          </a:p>
          <a:p>
            <a:endParaRPr lang="en-US" altLang="zh-CN" b="1" i="0" dirty="0">
              <a:solidFill>
                <a:schemeClr val="tx1"/>
              </a:solidFill>
              <a:effectLst/>
              <a:latin typeface="quote-cjk-patch"/>
            </a:endParaRPr>
          </a:p>
          <a:p>
            <a:r>
              <a:rPr lang="en-US" altLang="zh-CN" b="1" i="0" dirty="0">
                <a:solidFill>
                  <a:schemeClr val="tx1"/>
                </a:solidFill>
                <a:effectLst/>
                <a:latin typeface="quote-cjk-patch"/>
              </a:rPr>
              <a:t>  </a:t>
            </a:r>
            <a:r>
              <a:rPr lang="zh-CN" altLang="en-US" b="1" dirty="0">
                <a:latin typeface="quote-cjk-patch"/>
              </a:rPr>
              <a:t> 在定义 </a:t>
            </a:r>
            <a:r>
              <a:rPr lang="en-US" altLang="zh-CN" b="1" dirty="0">
                <a:latin typeface="quote-cjk-patch"/>
              </a:rPr>
              <a:t>1 </a:t>
            </a:r>
            <a:r>
              <a:rPr lang="zh-CN" altLang="en-US" b="1" dirty="0">
                <a:latin typeface="quote-cjk-patch"/>
              </a:rPr>
              <a:t>中，</a:t>
            </a:r>
            <a:r>
              <a:rPr lang="en-US" altLang="zh-CN" b="1" dirty="0">
                <a:latin typeface="quote-cjk-patch"/>
              </a:rPr>
              <a:t>c(</a:t>
            </a:r>
            <a:r>
              <a:rPr lang="en-US" altLang="zh-CN" b="1" dirty="0" err="1">
                <a:latin typeface="quote-cjk-patch"/>
              </a:rPr>
              <a:t>E,|ψ</a:t>
            </a:r>
            <a:r>
              <a:rPr lang="en-US" altLang="zh-CN" b="1" dirty="0">
                <a:latin typeface="quote-cjk-patch"/>
              </a:rPr>
              <a:t>⟩) </a:t>
            </a:r>
            <a:r>
              <a:rPr lang="zh-CN" altLang="en-US" b="1" dirty="0">
                <a:latin typeface="quote-cjk-patch"/>
              </a:rPr>
              <a:t>与 </a:t>
            </a:r>
            <a:r>
              <a:rPr lang="en-US" altLang="zh-CN" b="1" dirty="0">
                <a:latin typeface="quote-cjk-patch"/>
              </a:rPr>
              <a:t>|ψ⟩ </a:t>
            </a:r>
            <a:r>
              <a:rPr lang="zh-CN" altLang="en-US" b="1" dirty="0">
                <a:solidFill>
                  <a:schemeClr val="accent2"/>
                </a:solidFill>
                <a:latin typeface="quote-cjk-patch"/>
              </a:rPr>
              <a:t>无关</a:t>
            </a:r>
            <a:r>
              <a:rPr lang="zh-CN" altLang="en-US" b="1" dirty="0">
                <a:latin typeface="quote-cjk-patch"/>
              </a:rPr>
              <a:t>，当我们纯化解码器时，</a:t>
            </a:r>
            <a:r>
              <a:rPr lang="en-US" altLang="zh-CN" b="1" dirty="0">
                <a:latin typeface="quote-cjk-patch"/>
              </a:rPr>
              <a:t>|A(</a:t>
            </a:r>
            <a:r>
              <a:rPr lang="en-US" altLang="zh-CN" b="1" dirty="0" err="1">
                <a:latin typeface="quote-cjk-patch"/>
              </a:rPr>
              <a:t>E,|ψ</a:t>
            </a:r>
            <a:r>
              <a:rPr lang="en-US" altLang="zh-CN" b="1" dirty="0">
                <a:latin typeface="quote-cjk-patch"/>
              </a:rPr>
              <a:t>⟩)⟩ </a:t>
            </a:r>
            <a:r>
              <a:rPr lang="zh-CN" altLang="en-US" b="1" dirty="0">
                <a:latin typeface="quote-cjk-patch"/>
              </a:rPr>
              <a:t>也是如此。</a:t>
            </a:r>
            <a:endParaRPr lang="en-US" altLang="zh-CN" b="1" dirty="0">
              <a:latin typeface="quote-cjk-patch"/>
            </a:endParaRPr>
          </a:p>
          <a:p>
            <a:endParaRPr lang="en-US" altLang="zh-CN" b="1" i="0" dirty="0">
              <a:solidFill>
                <a:schemeClr val="tx1"/>
              </a:solidFill>
              <a:effectLst/>
              <a:latin typeface="quote-cjk-patch"/>
            </a:endParaRPr>
          </a:p>
          <a:p>
            <a:r>
              <a:rPr lang="zh-CN" altLang="en-US" b="1" i="0" dirty="0">
                <a:solidFill>
                  <a:schemeClr val="tx1"/>
                </a:solidFill>
                <a:effectLst/>
                <a:latin typeface="quote-cjk-patch"/>
              </a:rPr>
              <a:t>物理意义</a:t>
            </a:r>
            <a:endParaRPr lang="en-US" altLang="zh-CN" b="1" i="0" dirty="0">
              <a:solidFill>
                <a:schemeClr val="tx1"/>
              </a:solidFill>
              <a:effectLst/>
              <a:latin typeface="quote-cjk-patch"/>
            </a:endParaRPr>
          </a:p>
          <a:p>
            <a:endParaRPr lang="en-US" altLang="zh-CN" b="1" dirty="0">
              <a:latin typeface="quote-cjk-patch"/>
            </a:endParaRPr>
          </a:p>
          <a:p>
            <a:r>
              <a:rPr lang="zh-CN" altLang="en-US" b="1" dirty="0">
                <a:latin typeface="quote-cjk-patch"/>
              </a:rPr>
              <a:t>  为了在解码器输出中</a:t>
            </a:r>
            <a:r>
              <a:rPr lang="zh-CN" altLang="en-US" b="1" dirty="0">
                <a:solidFill>
                  <a:schemeClr val="accent2"/>
                </a:solidFill>
                <a:latin typeface="quote-cjk-patch"/>
              </a:rPr>
              <a:t>保持相干叠加</a:t>
            </a:r>
            <a:r>
              <a:rPr lang="zh-CN" altLang="en-US" b="1" dirty="0">
                <a:latin typeface="quote-cjk-patch"/>
              </a:rPr>
              <a:t>，辅助系统中</a:t>
            </a:r>
            <a:r>
              <a:rPr lang="zh-CN" altLang="en-US" b="1" dirty="0">
                <a:solidFill>
                  <a:schemeClr val="accent2"/>
                </a:solidFill>
                <a:latin typeface="quote-cjk-patch"/>
              </a:rPr>
              <a:t>不能留下</a:t>
            </a:r>
            <a:r>
              <a:rPr lang="zh-CN" altLang="en-US" b="1" dirty="0">
                <a:latin typeface="quote-cjk-patch"/>
              </a:rPr>
              <a:t>关于编码状态的任何信息</a:t>
            </a:r>
            <a:endParaRPr lang="en-US" altLang="zh-CN" b="1" i="0" dirty="0">
              <a:solidFill>
                <a:schemeClr val="tx1"/>
              </a:solidFill>
              <a:effectLst/>
              <a:latin typeface="quote-cjk-patch"/>
            </a:endParaRPr>
          </a:p>
          <a:p>
            <a:r>
              <a:rPr lang="en-US" altLang="zh-CN" b="1" dirty="0">
                <a:latin typeface="quote-cjk-patch"/>
              </a:rPr>
              <a:t>  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EA344A-5002-60D1-A7F8-0458E60AB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10" y="1009404"/>
            <a:ext cx="4409650" cy="4305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A83995-81F7-4CE7-7C8D-F286CBD64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145" y="2363338"/>
            <a:ext cx="3257717" cy="635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5B0A714-CF05-A97B-C505-7C6D837A001F}"/>
                  </a:ext>
                </a:extLst>
              </p:cNvPr>
              <p:cNvSpPr txBox="1"/>
              <p:nvPr/>
            </p:nvSpPr>
            <p:spPr>
              <a:xfrm>
                <a:off x="4634345" y="1828799"/>
                <a:ext cx="992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𝒓𝒐𝒐𝒇</m:t>
                      </m:r>
                    </m:oMath>
                  </m:oMathPara>
                </a14:m>
                <a:endParaRPr lang="zh-CN" altLang="en-US" sz="2400" b="1" i="1" dirty="0">
                  <a:latin typeface="Brush Script MT" panose="03060802040406070304" pitchFamily="66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5B0A714-CF05-A97B-C505-7C6D837A0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345" y="1828799"/>
                <a:ext cx="992259" cy="369332"/>
              </a:xfrm>
              <a:prstGeom prst="rect">
                <a:avLst/>
              </a:prstGeom>
              <a:blipFill>
                <a:blip r:embed="rId5"/>
                <a:stretch>
                  <a:fillRect l="-5521" t="-3279" r="-9816" b="-29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62637885-281C-976E-6C13-B39B71AE05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0705" y="3652922"/>
            <a:ext cx="6216970" cy="692186"/>
          </a:xfrm>
          <a:prstGeom prst="rect">
            <a:avLst/>
          </a:prstGeom>
        </p:spPr>
      </p:pic>
      <p:sp>
        <p:nvSpPr>
          <p:cNvPr id="12" name="箭头: 下 11">
            <a:extLst>
              <a:ext uri="{FF2B5EF4-FFF2-40B4-BE49-F238E27FC236}">
                <a16:creationId xmlns:a16="http://schemas.microsoft.com/office/drawing/2014/main" id="{CBAF8A1A-949A-6542-C8E9-0F4E487C9DAE}"/>
              </a:ext>
            </a:extLst>
          </p:cNvPr>
          <p:cNvSpPr/>
          <p:nvPr/>
        </p:nvSpPr>
        <p:spPr>
          <a:xfrm>
            <a:off x="8330540" y="3182587"/>
            <a:ext cx="439387" cy="374073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D0DFDDE-5470-8F82-A5ED-C4589DA4DD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291" y="4886719"/>
            <a:ext cx="3753043" cy="730288"/>
          </a:xfrm>
          <a:prstGeom prst="rect">
            <a:avLst/>
          </a:prstGeom>
        </p:spPr>
      </p:pic>
      <p:sp>
        <p:nvSpPr>
          <p:cNvPr id="22" name="箭头: 下 21">
            <a:extLst>
              <a:ext uri="{FF2B5EF4-FFF2-40B4-BE49-F238E27FC236}">
                <a16:creationId xmlns:a16="http://schemas.microsoft.com/office/drawing/2014/main" id="{A075E893-77E9-EE79-29A9-4BDD9506E99E}"/>
              </a:ext>
            </a:extLst>
          </p:cNvPr>
          <p:cNvSpPr/>
          <p:nvPr/>
        </p:nvSpPr>
        <p:spPr>
          <a:xfrm>
            <a:off x="8334498" y="4463142"/>
            <a:ext cx="439387" cy="374073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9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AF982-992A-1326-DE6E-D86EF8E41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68E0BAD-8393-BACC-0E52-C6EE5204FF84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B4AEFE8-A529-751F-3AF4-ED5E8FA5063A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BA0F4CA1-1039-A62F-4E56-EFFF3E5C1481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4.1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量子纠错码的定义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CA4B4A-823C-CBE9-3E73-71575D81C1C1}"/>
              </a:ext>
            </a:extLst>
          </p:cNvPr>
          <p:cNvSpPr txBox="1"/>
          <p:nvPr/>
        </p:nvSpPr>
        <p:spPr>
          <a:xfrm>
            <a:off x="455261" y="2344871"/>
            <a:ext cx="695077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quote-cjk-patch"/>
              </a:rPr>
              <a:t>注意点</a:t>
            </a:r>
            <a:endParaRPr lang="en-US" altLang="zh-CN" b="1" dirty="0">
              <a:latin typeface="quote-cjk-patch"/>
            </a:endParaRPr>
          </a:p>
          <a:p>
            <a:endParaRPr lang="en-US" altLang="zh-CN" b="1" dirty="0">
              <a:latin typeface="quote-cjk-patch"/>
            </a:endParaRPr>
          </a:p>
          <a:p>
            <a:r>
              <a:rPr lang="en-US" altLang="zh-CN" b="1" dirty="0"/>
              <a:t>1. </a:t>
            </a:r>
            <a:r>
              <a:rPr lang="en-US" altLang="zh-CN" b="1" i="1" dirty="0"/>
              <a:t>ℰ  </a:t>
            </a:r>
            <a:r>
              <a:rPr lang="zh-CN" altLang="en-US" b="1" dirty="0"/>
              <a:t>不是</a:t>
            </a:r>
            <a:r>
              <a:rPr lang="zh-CN" altLang="en-US" b="1" dirty="0">
                <a:solidFill>
                  <a:schemeClr val="accent2"/>
                </a:solidFill>
              </a:rPr>
              <a:t>唯一</a:t>
            </a:r>
            <a:r>
              <a:rPr lang="zh-CN" altLang="en-US" b="1" dirty="0"/>
              <a:t>的，正因如此我们将其作为定义的一部分</a:t>
            </a:r>
            <a:endParaRPr lang="en-US" altLang="zh-CN" b="1" dirty="0"/>
          </a:p>
          <a:p>
            <a:r>
              <a:rPr lang="en-US" altLang="zh-CN" b="1" dirty="0">
                <a:latin typeface="quote-cjk-patch"/>
              </a:rPr>
              <a:t>     </a:t>
            </a:r>
            <a:r>
              <a:rPr lang="zh-CN" altLang="en-US" b="1" dirty="0">
                <a:latin typeface="quote-cjk-patch"/>
              </a:rPr>
              <a:t>且 </a:t>
            </a:r>
            <a:r>
              <a:rPr lang="en-US" altLang="zh-CN" b="1" i="1" dirty="0"/>
              <a:t>ℰ </a:t>
            </a:r>
            <a:r>
              <a:rPr lang="zh-CN" altLang="en-US" b="1" i="1" dirty="0"/>
              <a:t> </a:t>
            </a:r>
            <a:r>
              <a:rPr lang="zh-CN" altLang="en-US" b="1" dirty="0"/>
              <a:t>中</a:t>
            </a:r>
            <a:r>
              <a:rPr lang="zh-CN" altLang="en-US" b="1" dirty="0">
                <a:solidFill>
                  <a:schemeClr val="accent2"/>
                </a:solidFill>
              </a:rPr>
              <a:t>不能放入</a:t>
            </a:r>
            <a:r>
              <a:rPr lang="en-US" altLang="zh-CN" b="1" dirty="0" err="1">
                <a:solidFill>
                  <a:schemeClr val="accent2"/>
                </a:solidFill>
              </a:rPr>
              <a:t>syndorme</a:t>
            </a:r>
            <a:r>
              <a:rPr lang="zh-CN" altLang="en-US" b="1" dirty="0">
                <a:solidFill>
                  <a:schemeClr val="accent2"/>
                </a:solidFill>
              </a:rPr>
              <a:t>相同的错误</a:t>
            </a:r>
            <a:endParaRPr lang="en-US" altLang="zh-CN" b="1" dirty="0">
              <a:solidFill>
                <a:schemeClr val="accent2"/>
              </a:solidFill>
              <a:latin typeface="quote-cjk-patch"/>
            </a:endParaRPr>
          </a:p>
          <a:p>
            <a:r>
              <a:rPr lang="en-US" altLang="zh-CN" b="1" i="0" dirty="0">
                <a:solidFill>
                  <a:schemeClr val="tx1"/>
                </a:solidFill>
                <a:effectLst/>
                <a:latin typeface="quote-cjk-patch"/>
              </a:rPr>
              <a:t>2. </a:t>
            </a:r>
            <a:r>
              <a:rPr lang="zh-CN" altLang="en-US" b="1" i="1" dirty="0"/>
              <a:t>𝒟  </a:t>
            </a:r>
            <a:r>
              <a:rPr lang="zh-CN" altLang="en-US" b="1" dirty="0"/>
              <a:t>在 </a:t>
            </a:r>
            <a:r>
              <a:rPr lang="en-US" altLang="zh-CN" b="1" dirty="0">
                <a:solidFill>
                  <a:schemeClr val="accent2"/>
                </a:solidFill>
              </a:rPr>
              <a:t>ℰ </a:t>
            </a:r>
            <a:r>
              <a:rPr lang="zh-CN" altLang="en-US" b="1" dirty="0">
                <a:solidFill>
                  <a:schemeClr val="accent2"/>
                </a:solidFill>
              </a:rPr>
              <a:t>导致的错误子空间</a:t>
            </a:r>
            <a:r>
              <a:rPr lang="zh-CN" altLang="en-US" b="1" dirty="0"/>
              <a:t>上所产生的行为是</a:t>
            </a:r>
            <a:r>
              <a:rPr lang="zh-CN" altLang="en-US" b="1" dirty="0">
                <a:solidFill>
                  <a:schemeClr val="accent2"/>
                </a:solidFill>
              </a:rPr>
              <a:t>唯一</a:t>
            </a:r>
            <a:r>
              <a:rPr lang="zh-CN" altLang="en-US" b="1" dirty="0"/>
              <a:t>的，但在该子空间</a:t>
            </a:r>
            <a:r>
              <a:rPr lang="zh-CN" altLang="en-US" b="1" dirty="0">
                <a:solidFill>
                  <a:schemeClr val="accent2"/>
                </a:solidFill>
              </a:rPr>
              <a:t>外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chemeClr val="accent2"/>
                </a:solidFill>
              </a:rPr>
              <a:t>并不唯一</a:t>
            </a:r>
            <a:r>
              <a:rPr lang="zh-CN" altLang="en-US" b="1" dirty="0"/>
              <a:t>，且也是我们需要考虑的</a:t>
            </a:r>
            <a:endParaRPr lang="en-US" altLang="zh-CN" b="1" dirty="0"/>
          </a:p>
          <a:p>
            <a:r>
              <a:rPr lang="en-US" altLang="zh-CN" b="1" dirty="0">
                <a:latin typeface="quote-cjk-patch"/>
              </a:rPr>
              <a:t>  </a:t>
            </a:r>
            <a:r>
              <a:rPr lang="zh-CN" altLang="en-US" b="1" dirty="0">
                <a:latin typeface="quote-cjk-patch"/>
              </a:rPr>
              <a:t>原因</a:t>
            </a:r>
            <a:r>
              <a:rPr lang="en-US" altLang="zh-CN" b="1" dirty="0">
                <a:latin typeface="quote-cjk-patch"/>
              </a:rPr>
              <a:t> </a:t>
            </a:r>
          </a:p>
          <a:p>
            <a:r>
              <a:rPr lang="en-US" altLang="zh-CN" b="1" i="1" dirty="0">
                <a:latin typeface="quote-cjk-patch"/>
              </a:rPr>
              <a:t>    </a:t>
            </a:r>
            <a:r>
              <a:rPr lang="zh-CN" altLang="en-US" b="1" i="1" dirty="0"/>
              <a:t>𝒟 </a:t>
            </a:r>
            <a:r>
              <a:rPr lang="zh-CN" altLang="en-US" b="1" dirty="0"/>
              <a:t>本身会</a:t>
            </a:r>
            <a:r>
              <a:rPr lang="zh-CN" altLang="en-US" b="1" dirty="0">
                <a:solidFill>
                  <a:schemeClr val="accent2"/>
                </a:solidFill>
              </a:rPr>
              <a:t>出错</a:t>
            </a:r>
            <a:r>
              <a:rPr lang="zh-CN" altLang="en-US" b="1" dirty="0"/>
              <a:t>，所以确保</a:t>
            </a:r>
            <a:r>
              <a:rPr lang="en-US" altLang="zh-CN" b="1" dirty="0">
                <a:latin typeface="quote-cjk-patch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</a:rPr>
              <a:t>ℰ </a:t>
            </a:r>
            <a:r>
              <a:rPr lang="zh-CN" altLang="en-US" b="1" dirty="0"/>
              <a:t>外的操作不会有糟糕影响</a:t>
            </a:r>
            <a:r>
              <a:rPr lang="en-US" altLang="zh-CN" b="1" dirty="0"/>
              <a:t>(</a:t>
            </a:r>
            <a:r>
              <a:rPr lang="zh-CN" altLang="en-US" b="1" dirty="0"/>
              <a:t>导致新的错误</a:t>
            </a:r>
            <a:r>
              <a:rPr lang="en-US" altLang="zh-CN" b="1" dirty="0"/>
              <a:t>)</a:t>
            </a:r>
            <a:r>
              <a:rPr lang="zh-CN" altLang="en-US" b="1" dirty="0"/>
              <a:t>很重要</a:t>
            </a:r>
            <a:r>
              <a:rPr lang="en-US" altLang="zh-CN" b="1" dirty="0"/>
              <a:t>(</a:t>
            </a:r>
            <a:r>
              <a:rPr lang="zh-CN" altLang="en-US" b="1" dirty="0"/>
              <a:t>容错</a:t>
            </a:r>
            <a:r>
              <a:rPr lang="en-US" altLang="zh-CN" b="1" dirty="0"/>
              <a:t>)</a:t>
            </a:r>
            <a:r>
              <a:rPr lang="zh-CN" altLang="en-US" b="1" dirty="0"/>
              <a:t>，甚至可以让 </a:t>
            </a:r>
            <a:r>
              <a:rPr lang="zh-CN" altLang="en-US" b="1" i="1" dirty="0"/>
              <a:t>𝒟  </a:t>
            </a:r>
            <a:r>
              <a:rPr lang="zh-CN" altLang="en-US" b="1" dirty="0"/>
              <a:t>实现</a:t>
            </a:r>
            <a:r>
              <a:rPr lang="zh-CN" altLang="en-US" b="1" dirty="0">
                <a:solidFill>
                  <a:schemeClr val="accent2"/>
                </a:solidFill>
              </a:rPr>
              <a:t>丢弃态</a:t>
            </a:r>
            <a:r>
              <a:rPr lang="zh-CN" altLang="en-US" b="1" dirty="0"/>
              <a:t>或者</a:t>
            </a:r>
            <a:r>
              <a:rPr lang="zh-CN" altLang="en-US" b="1" dirty="0">
                <a:solidFill>
                  <a:schemeClr val="accent2"/>
                </a:solidFill>
              </a:rPr>
              <a:t>报错</a:t>
            </a:r>
            <a:r>
              <a:rPr lang="en-US" altLang="zh-CN" b="1" dirty="0">
                <a:solidFill>
                  <a:schemeClr val="accent2"/>
                </a:solidFill>
              </a:rPr>
              <a:t>(</a:t>
            </a:r>
            <a:r>
              <a:rPr lang="zh-CN" altLang="en-US" b="1" dirty="0"/>
              <a:t>无法用于纠正</a:t>
            </a:r>
            <a:r>
              <a:rPr lang="en-US" altLang="zh-CN" b="1" dirty="0"/>
              <a:t>)</a:t>
            </a:r>
            <a:r>
              <a:rPr lang="zh-CN" altLang="en-US" b="1" dirty="0"/>
              <a:t>，等有利行为 ，最后 </a:t>
            </a:r>
            <a:r>
              <a:rPr lang="zh-CN" altLang="en-US" b="1" i="1" dirty="0"/>
              <a:t>𝒟 </a:t>
            </a:r>
            <a:r>
              <a:rPr lang="zh-CN" altLang="en-US" b="1" dirty="0"/>
              <a:t>的子空间外的</a:t>
            </a:r>
            <a:r>
              <a:rPr lang="zh-CN" altLang="en-US" b="1" dirty="0">
                <a:solidFill>
                  <a:schemeClr val="accent2"/>
                </a:solidFill>
              </a:rPr>
              <a:t>平滑行为</a:t>
            </a:r>
            <a:r>
              <a:rPr lang="zh-CN" altLang="en-US" b="1" dirty="0"/>
              <a:t>也可为</a:t>
            </a:r>
            <a:r>
              <a:rPr lang="zh-CN" altLang="en-US" b="1" dirty="0">
                <a:solidFill>
                  <a:schemeClr val="accent2"/>
                </a:solidFill>
              </a:rPr>
              <a:t>近似纠错</a:t>
            </a:r>
            <a:r>
              <a:rPr lang="zh-CN" altLang="en-US" b="1" dirty="0"/>
              <a:t>服务</a:t>
            </a:r>
            <a:endParaRPr lang="en-US" altLang="zh-CN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B2EB6B-C349-BF76-D3DB-FFE8C17B7F8B}"/>
              </a:ext>
            </a:extLst>
          </p:cNvPr>
          <p:cNvSpPr txBox="1"/>
          <p:nvPr/>
        </p:nvSpPr>
        <p:spPr>
          <a:xfrm>
            <a:off x="8837897" y="2586657"/>
            <a:ext cx="91532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b="1" i="1" dirty="0"/>
              <a:t>ℰ       </a:t>
            </a:r>
            <a:r>
              <a:rPr lang="zh-CN" altLang="en-US" b="1" i="1" dirty="0"/>
              <a:t>𝒟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BB95F4-6258-FBAA-E9AF-675E3E4A5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905" y="4054301"/>
            <a:ext cx="1219263" cy="23496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2B2BF3F-FD13-A1A6-61A9-03F8C2FB2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207" y="3266248"/>
            <a:ext cx="1276416" cy="2286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6846D36-9378-7A09-CF63-ACE1E8819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5020" y="3675446"/>
            <a:ext cx="1873346" cy="209561"/>
          </a:xfrm>
          <a:prstGeom prst="rect">
            <a:avLst/>
          </a:prstGeom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FD2C6C38-2115-6DAC-15F3-F3AA8320E8EE}"/>
              </a:ext>
            </a:extLst>
          </p:cNvPr>
          <p:cNvSpPr/>
          <p:nvPr/>
        </p:nvSpPr>
        <p:spPr>
          <a:xfrm>
            <a:off x="8727486" y="3702218"/>
            <a:ext cx="133224" cy="13322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5C14188-C3EE-E213-1325-83484BFE3343}"/>
              </a:ext>
            </a:extLst>
          </p:cNvPr>
          <p:cNvSpPr/>
          <p:nvPr/>
        </p:nvSpPr>
        <p:spPr>
          <a:xfrm>
            <a:off x="8709235" y="3307677"/>
            <a:ext cx="133224" cy="13322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927D714-A511-31D0-07B0-D1875A95CCD0}"/>
              </a:ext>
            </a:extLst>
          </p:cNvPr>
          <p:cNvSpPr/>
          <p:nvPr/>
        </p:nvSpPr>
        <p:spPr>
          <a:xfrm>
            <a:off x="8730661" y="4108618"/>
            <a:ext cx="133224" cy="1332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0936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6180E-11FF-6107-3485-AD40F508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03D9620-47AB-8DF2-3E98-4229FE36CF3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FB89F97-CA2D-4196-AEBA-36BC3FCD07D1}"/>
              </a:ext>
            </a:extLst>
          </p:cNvPr>
          <p:cNvCxnSpPr/>
          <p:nvPr/>
        </p:nvCxnSpPr>
        <p:spPr>
          <a:xfrm>
            <a:off x="49567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E53C509F-1BB1-F53B-DC1E-2C2D4169C402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4.2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量子纠错的线性性质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73F14DE-3FBB-FEA9-65C4-E269E013C899}"/>
              </a:ext>
            </a:extLst>
          </p:cNvPr>
          <p:cNvSpPr txBox="1"/>
          <p:nvPr/>
        </p:nvSpPr>
        <p:spPr>
          <a:xfrm>
            <a:off x="258411" y="2319471"/>
            <a:ext cx="466918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定理 </a:t>
            </a:r>
            <a:r>
              <a:rPr lang="en-US" altLang="zh-CN" b="1" dirty="0"/>
              <a:t>2</a:t>
            </a:r>
          </a:p>
          <a:p>
            <a:r>
              <a:rPr lang="en-US" altLang="zh-CN" b="1" dirty="0"/>
              <a:t>  </a:t>
            </a:r>
          </a:p>
          <a:p>
            <a:r>
              <a:rPr lang="zh-CN" altLang="en-US" b="1" dirty="0"/>
              <a:t>  如果 </a:t>
            </a:r>
            <a:r>
              <a:rPr lang="en-US" altLang="zh-CN" b="1" dirty="0"/>
              <a:t>(U, ℰ) </a:t>
            </a:r>
            <a:r>
              <a:rPr lang="zh-CN" altLang="en-US" b="1" dirty="0"/>
              <a:t>是一个 </a:t>
            </a:r>
            <a:r>
              <a:rPr lang="en-US" altLang="zh-CN" b="1" dirty="0"/>
              <a:t>QECC</a:t>
            </a:r>
            <a:r>
              <a:rPr lang="zh-CN" altLang="en-US" b="1" dirty="0"/>
              <a:t>，那么 </a:t>
            </a:r>
            <a:r>
              <a:rPr lang="en-US" altLang="zh-CN" b="1" dirty="0"/>
              <a:t>(U, ℰ′) </a:t>
            </a:r>
            <a:r>
              <a:rPr lang="zh-CN" altLang="en-US" b="1" dirty="0"/>
              <a:t>也是一个 </a:t>
            </a:r>
            <a:r>
              <a:rPr lang="en-US" altLang="zh-CN" b="1" dirty="0"/>
              <a:t>QECC</a:t>
            </a:r>
            <a:r>
              <a:rPr lang="zh-CN" altLang="en-US" b="1" dirty="0"/>
              <a:t>，其中 </a:t>
            </a:r>
            <a:r>
              <a:rPr lang="en-US" altLang="zh-CN" b="1" dirty="0"/>
              <a:t>ℰ′ = span ℰ </a:t>
            </a:r>
            <a:r>
              <a:rPr lang="zh-CN" altLang="en-US" b="1" dirty="0"/>
              <a:t>是 </a:t>
            </a:r>
            <a:r>
              <a:rPr lang="en-US" altLang="zh-CN" b="1" dirty="0"/>
              <a:t>ℰ 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accent2"/>
                </a:solidFill>
              </a:rPr>
              <a:t>线性</a:t>
            </a:r>
            <a:r>
              <a:rPr lang="zh-CN" altLang="en-US" b="1" dirty="0"/>
              <a:t>张成空间。换句话说，如果一个 </a:t>
            </a:r>
            <a:r>
              <a:rPr lang="en-US" altLang="zh-CN" b="1" dirty="0"/>
              <a:t>QECC </a:t>
            </a:r>
            <a:r>
              <a:rPr lang="zh-CN" altLang="en-US" b="1" dirty="0"/>
              <a:t>能纠正 </a:t>
            </a:r>
            <a:r>
              <a:rPr lang="en-US" altLang="zh-CN" b="1" dirty="0"/>
              <a:t>E </a:t>
            </a:r>
            <a:r>
              <a:rPr lang="zh-CN" altLang="en-US" b="1" dirty="0"/>
              <a:t>和 </a:t>
            </a:r>
            <a:r>
              <a:rPr lang="en-US" altLang="zh-CN" b="1" dirty="0"/>
              <a:t>F</a:t>
            </a:r>
            <a:r>
              <a:rPr lang="zh-CN" altLang="en-US" b="1" dirty="0"/>
              <a:t>，那么它也能纠正 </a:t>
            </a:r>
            <a:r>
              <a:rPr lang="en-US" altLang="zh-CN" b="1" dirty="0">
                <a:solidFill>
                  <a:schemeClr val="accent2"/>
                </a:solidFill>
              </a:rPr>
              <a:t>αE + βF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证明用到了之前的</a:t>
            </a:r>
            <a:r>
              <a:rPr lang="zh-CN" altLang="en-US" b="1" dirty="0">
                <a:solidFill>
                  <a:schemeClr val="accent2"/>
                </a:solidFill>
              </a:rPr>
              <a:t>命题 </a:t>
            </a:r>
            <a:r>
              <a:rPr lang="en-US" altLang="zh-CN" b="1" dirty="0">
                <a:solidFill>
                  <a:schemeClr val="accent2"/>
                </a:solidFill>
              </a:rPr>
              <a:t>1</a:t>
            </a: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/>
              <a:t>推论 </a:t>
            </a:r>
            <a:r>
              <a:rPr lang="en-US" altLang="zh-CN" b="1" dirty="0"/>
              <a:t>3</a:t>
            </a:r>
          </a:p>
          <a:p>
            <a:r>
              <a:rPr lang="en-US" altLang="zh-CN" b="1" dirty="0"/>
              <a:t>  </a:t>
            </a:r>
          </a:p>
          <a:p>
            <a:r>
              <a:rPr lang="zh-CN" altLang="en-US" b="1" dirty="0"/>
              <a:t>  如果 </a:t>
            </a:r>
            <a:r>
              <a:rPr lang="en-US" altLang="zh-CN" b="1" i="1" dirty="0">
                <a:solidFill>
                  <a:schemeClr val="accent2"/>
                </a:solidFill>
              </a:rPr>
              <a:t>ℰ</a:t>
            </a:r>
            <a:r>
              <a:rPr lang="en-US" altLang="zh-CN" b="1" i="1" dirty="0"/>
              <a:t> </a:t>
            </a:r>
            <a:r>
              <a:rPr lang="zh-CN" altLang="en-US" b="1" dirty="0"/>
              <a:t>包含了所有权重为 </a:t>
            </a:r>
            <a:r>
              <a:rPr lang="en-US" altLang="zh-CN" b="1" dirty="0">
                <a:solidFill>
                  <a:schemeClr val="accent2"/>
                </a:solidFill>
              </a:rPr>
              <a:t>t</a:t>
            </a:r>
            <a:r>
              <a:rPr lang="en-US" altLang="zh-CN" b="1" dirty="0"/>
              <a:t> </a:t>
            </a:r>
            <a:r>
              <a:rPr lang="zh-CN" altLang="en-US" b="1" dirty="0"/>
              <a:t>或</a:t>
            </a:r>
            <a:r>
              <a:rPr lang="zh-CN" altLang="en-US" b="1" dirty="0">
                <a:solidFill>
                  <a:schemeClr val="accent2"/>
                </a:solidFill>
              </a:rPr>
              <a:t>更小</a:t>
            </a:r>
            <a:r>
              <a:rPr lang="zh-CN" altLang="en-US" b="1" dirty="0"/>
              <a:t>的 </a:t>
            </a:r>
            <a:r>
              <a:rPr lang="en-US" altLang="zh-CN" b="1" dirty="0">
                <a:solidFill>
                  <a:schemeClr val="accent2"/>
                </a:solidFill>
              </a:rPr>
              <a:t>I</a:t>
            </a:r>
            <a:r>
              <a:rPr lang="zh-CN" altLang="en-US" b="1" dirty="0">
                <a:solidFill>
                  <a:schemeClr val="accent2"/>
                </a:solidFill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</a:rPr>
              <a:t>X</a:t>
            </a:r>
            <a:r>
              <a:rPr lang="zh-CN" altLang="en-US" b="1" dirty="0">
                <a:solidFill>
                  <a:schemeClr val="accent2"/>
                </a:solidFill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</a:rPr>
              <a:t>Y</a:t>
            </a:r>
            <a:r>
              <a:rPr lang="zh-CN" altLang="en-US" b="1" dirty="0">
                <a:solidFill>
                  <a:schemeClr val="accent2"/>
                </a:solidFill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</a:rPr>
              <a:t>Z </a:t>
            </a:r>
            <a:r>
              <a:rPr lang="zh-CN" altLang="en-US" b="1" dirty="0"/>
              <a:t>的张量积，那么它是一个 </a:t>
            </a:r>
            <a:r>
              <a:rPr lang="en-US" altLang="zh-CN" b="1" dirty="0">
                <a:solidFill>
                  <a:schemeClr val="accent2"/>
                </a:solidFill>
              </a:rPr>
              <a:t>t </a:t>
            </a:r>
            <a:r>
              <a:rPr lang="zh-CN" altLang="en-US" b="1" dirty="0">
                <a:solidFill>
                  <a:schemeClr val="accent2"/>
                </a:solidFill>
              </a:rPr>
              <a:t>纠错码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endParaRPr lang="en-US" altLang="zh-CN" b="1" dirty="0">
              <a:solidFill>
                <a:schemeClr val="accent2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6056168-CC49-135B-DC5B-E6EF64DF9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788" y="1054100"/>
            <a:ext cx="4148510" cy="87631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D1AEA17-3C84-2868-7903-47F69382F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083" y="1406398"/>
            <a:ext cx="901717" cy="2795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638AFD5-BE25-739A-8DE4-BB05B5C87D04}"/>
                  </a:ext>
                </a:extLst>
              </p:cNvPr>
              <p:cNvSpPr txBox="1"/>
              <p:nvPr/>
            </p:nvSpPr>
            <p:spPr>
              <a:xfrm>
                <a:off x="5167745" y="520699"/>
                <a:ext cx="992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𝒓𝒐𝒐𝒇</m:t>
                      </m:r>
                    </m:oMath>
                  </m:oMathPara>
                </a14:m>
                <a:endParaRPr lang="zh-CN" altLang="en-US" sz="2400" b="1" i="1" dirty="0">
                  <a:latin typeface="Brush Script MT" panose="03060802040406070304" pitchFamily="66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638AFD5-BE25-739A-8DE4-BB05B5C87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745" y="520699"/>
                <a:ext cx="992259" cy="369332"/>
              </a:xfrm>
              <a:prstGeom prst="rect">
                <a:avLst/>
              </a:prstGeom>
              <a:blipFill>
                <a:blip r:embed="rId5"/>
                <a:stretch>
                  <a:fillRect l="-6173" t="-3279" r="-9877" b="-3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BEBBAA66-6AB7-9A4F-C421-AC372087E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593" y="3352800"/>
            <a:ext cx="7171407" cy="857250"/>
          </a:xfrm>
          <a:prstGeom prst="rect">
            <a:avLst/>
          </a:prstGeom>
        </p:spPr>
      </p:pic>
      <p:sp>
        <p:nvSpPr>
          <p:cNvPr id="20" name="箭头: 下 19">
            <a:extLst>
              <a:ext uri="{FF2B5EF4-FFF2-40B4-BE49-F238E27FC236}">
                <a16:creationId xmlns:a16="http://schemas.microsoft.com/office/drawing/2014/main" id="{503EEDC9-9704-807F-3EBB-9160867A8EF5}"/>
              </a:ext>
            </a:extLst>
          </p:cNvPr>
          <p:cNvSpPr/>
          <p:nvPr/>
        </p:nvSpPr>
        <p:spPr>
          <a:xfrm>
            <a:off x="8404513" y="2024083"/>
            <a:ext cx="439387" cy="102127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503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ED27-5DA6-5C29-CF0D-1A9576B9F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A2A8FCB-098F-06D5-2DEA-36ACDBA502C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C5A5407-7735-2281-F87A-4E6606C328D0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594D432D-490C-C9BA-BB0B-ED2D0F74978E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4.3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量子纠错的条件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C667DD7-421C-7F6E-50E2-5F21AAF23354}"/>
                  </a:ext>
                </a:extLst>
              </p:cNvPr>
              <p:cNvSpPr txBox="1"/>
              <p:nvPr/>
            </p:nvSpPr>
            <p:spPr>
              <a:xfrm>
                <a:off x="620361" y="2338521"/>
                <a:ext cx="6950773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/>
                  <a:t>充分条件</a:t>
                </a:r>
                <a:endParaRPr lang="en-US" altLang="zh-CN" b="1" dirty="0"/>
              </a:p>
              <a:p>
                <a:endParaRPr lang="en-US" altLang="zh-CN" b="1" dirty="0"/>
              </a:p>
              <a:p>
                <a:r>
                  <a:rPr lang="en-US" altLang="zh-CN" b="1" dirty="0"/>
                  <a:t>  1. </a:t>
                </a:r>
                <a:r>
                  <a:rPr lang="zh-CN" altLang="en-US" b="1" dirty="0"/>
                  <a:t>错误子空间相互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正交</a:t>
                </a:r>
                <a:endParaRPr lang="en-US" altLang="zh-CN" b="1" dirty="0">
                  <a:solidFill>
                    <a:schemeClr val="accent2"/>
                  </a:solidFill>
                </a:endParaRPr>
              </a:p>
              <a:p>
                <a:r>
                  <a:rPr lang="en-US" altLang="zh-CN" b="1" dirty="0"/>
                  <a:t>  2. E</a:t>
                </a:r>
                <a:r>
                  <a:rPr lang="zh-CN" altLang="en-US" b="1" dirty="0"/>
                  <a:t>是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幺正</a:t>
                </a:r>
                <a:r>
                  <a:rPr lang="zh-CN" altLang="en-US" b="1" dirty="0"/>
                  <a:t>的</a:t>
                </a:r>
                <a:endParaRPr lang="en-US" altLang="zh-CN" b="1" dirty="0"/>
              </a:p>
              <a:p>
                <a:endParaRPr lang="en-US" altLang="zh-CN" b="1" dirty="0"/>
              </a:p>
              <a:p>
                <a:r>
                  <a:rPr lang="en-US" altLang="zh-CN" b="1" dirty="0"/>
                  <a:t>Shor</a:t>
                </a:r>
                <a:r>
                  <a:rPr lang="zh-CN" altLang="en-US" b="1" dirty="0"/>
                  <a:t>码特例</a:t>
                </a:r>
                <a:endParaRPr lang="en-US" altLang="zh-CN" b="1" dirty="0"/>
              </a:p>
              <a:p>
                <a:endParaRPr lang="en-US" altLang="zh-CN" b="1" dirty="0"/>
              </a:p>
              <a:p>
                <a:r>
                  <a:rPr lang="en-US" altLang="zh-CN" b="1" dirty="0"/>
                  <a:t>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b="1" dirty="0"/>
                  <a:t>得到了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一毛一样</a:t>
                </a:r>
                <a:r>
                  <a:rPr lang="zh-CN" altLang="en-US" b="1" dirty="0"/>
                  <a:t>的错误子空间</a:t>
                </a:r>
                <a:endParaRPr lang="en-US" altLang="zh-CN" b="1" dirty="0"/>
              </a:p>
              <a:p>
                <a:r>
                  <a:rPr lang="en-US" altLang="zh-CN" b="1" dirty="0"/>
                  <a:t>  </a:t>
                </a:r>
              </a:p>
              <a:p>
                <a:endParaRPr lang="en-US" altLang="zh-CN" b="1" dirty="0"/>
              </a:p>
              <a:p>
                <a:endParaRPr lang="en-US" altLang="zh-CN" b="1" dirty="0"/>
              </a:p>
              <a:p>
                <a:r>
                  <a:rPr lang="en-US" altLang="zh-CN" b="1" dirty="0"/>
                  <a:t> 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C667DD7-421C-7F6E-50E2-5F21AAF23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61" y="2338521"/>
                <a:ext cx="6950773" cy="3416320"/>
              </a:xfrm>
              <a:prstGeom prst="rect">
                <a:avLst/>
              </a:prstGeom>
              <a:blipFill>
                <a:blip r:embed="rId3"/>
                <a:stretch>
                  <a:fillRect l="-789" t="-1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B1A0F4FD-2CCD-2214-D527-ABD83A177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71" y="2520950"/>
            <a:ext cx="3849549" cy="84773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2214A9E-CE94-3FB2-30EC-AE4DFA892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8885" y="1444119"/>
            <a:ext cx="3799565" cy="37198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9310050-60A2-C4C5-E209-420C0C659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3182" y="234950"/>
            <a:ext cx="1318931" cy="4699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37E813D-0263-903A-EF44-B1E17F6629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2793" y="3710841"/>
            <a:ext cx="3587934" cy="1447874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6B47F30-01B3-BFC7-7DAA-2C89BE5D2AF4}"/>
              </a:ext>
            </a:extLst>
          </p:cNvPr>
          <p:cNvCxnSpPr>
            <a:cxnSpLocks/>
          </p:cNvCxnSpPr>
          <p:nvPr/>
        </p:nvCxnSpPr>
        <p:spPr>
          <a:xfrm flipH="1">
            <a:off x="7537450" y="3670300"/>
            <a:ext cx="4699000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B1773685-761F-279C-7CC6-3DA58BAB17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6201" y="5271818"/>
            <a:ext cx="2016164" cy="28443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23E3B40-B9A3-DA4D-1374-55569A4F98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0801" y="5867400"/>
            <a:ext cx="2057425" cy="43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48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D76A5-A0AB-87CB-2F08-92764D3DD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DFB5D8A-3742-048D-7C05-0EB970C930B2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66CF105-D423-44B5-7438-8DD3144AA736}"/>
              </a:ext>
            </a:extLst>
          </p:cNvPr>
          <p:cNvCxnSpPr/>
          <p:nvPr/>
        </p:nvCxnSpPr>
        <p:spPr>
          <a:xfrm>
            <a:off x="52742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EDE7C807-8C5F-7F60-70A8-7A18690DA635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4.3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量子纠错的条件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2BBCF9-48FA-D8FA-349A-7BC7F96AF7A4}"/>
              </a:ext>
            </a:extLst>
          </p:cNvPr>
          <p:cNvSpPr txBox="1"/>
          <p:nvPr/>
        </p:nvSpPr>
        <p:spPr>
          <a:xfrm>
            <a:off x="391761" y="2459171"/>
            <a:ext cx="475173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QECC</a:t>
            </a:r>
            <a:r>
              <a:rPr lang="zh-CN" altLang="en-US" b="1" dirty="0"/>
              <a:t>条件</a:t>
            </a:r>
            <a:r>
              <a:rPr lang="en-US" altLang="zh-CN" b="1" dirty="0"/>
              <a:t>/</a:t>
            </a:r>
            <a:r>
              <a:rPr lang="zh-CN" altLang="en-US" b="1" dirty="0"/>
              <a:t>充要条件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  ⟨</a:t>
            </a:r>
            <a:r>
              <a:rPr lang="en-US" altLang="zh-CN" b="1" dirty="0" err="1"/>
              <a:t>ψ|E</a:t>
            </a:r>
            <a:r>
              <a:rPr lang="en-US" altLang="zh-CN" b="1" dirty="0"/>
              <a:t>ₐ†Eᵦ|φ⟩ = Cₐᵦ ⟨</a:t>
            </a:r>
            <a:r>
              <a:rPr lang="en-US" altLang="zh-CN" b="1" dirty="0" err="1"/>
              <a:t>ψ|φ</a:t>
            </a:r>
            <a:r>
              <a:rPr lang="en-US" altLang="zh-CN" b="1" dirty="0"/>
              <a:t>⟩</a:t>
            </a:r>
          </a:p>
          <a:p>
            <a:r>
              <a:rPr lang="zh-CN" altLang="en-US" b="1" dirty="0"/>
              <a:t>  其中 </a:t>
            </a:r>
            <a:r>
              <a:rPr lang="en-US" altLang="zh-CN" b="1" dirty="0"/>
              <a:t>Cₐᵦ </a:t>
            </a:r>
            <a:r>
              <a:rPr lang="zh-CN" altLang="en-US" b="1" dirty="0"/>
              <a:t>是一个与 </a:t>
            </a:r>
            <a:r>
              <a:rPr lang="en-US" altLang="zh-CN" b="1" dirty="0"/>
              <a:t>|ψ⟩,|φ⟩ </a:t>
            </a:r>
            <a:r>
              <a:rPr lang="zh-CN" altLang="en-US" b="1" dirty="0">
                <a:solidFill>
                  <a:schemeClr val="accent2"/>
                </a:solidFill>
              </a:rPr>
              <a:t>无关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accent2"/>
                </a:solidFill>
              </a:rPr>
              <a:t>常数</a:t>
            </a:r>
            <a:r>
              <a:rPr lang="zh-CN" altLang="en-US" b="1" dirty="0"/>
              <a:t>矩阵</a:t>
            </a:r>
            <a:endParaRPr lang="en-US" altLang="zh-CN" b="1" dirty="0"/>
          </a:p>
          <a:p>
            <a:r>
              <a:rPr lang="en-US" altLang="zh-CN" b="1" dirty="0"/>
              <a:t>  </a:t>
            </a:r>
          </a:p>
          <a:p>
            <a:endParaRPr lang="en-US" altLang="zh-CN" b="1" dirty="0"/>
          </a:p>
          <a:p>
            <a:r>
              <a:rPr lang="en-US" altLang="zh-CN" b="1" dirty="0"/>
              <a:t>  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 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CAEFC9D-C52B-2327-9E12-3AC4EA8F6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753" y="38100"/>
            <a:ext cx="3251244" cy="4064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2B79A5C-34DD-A17E-0422-736B9BB69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762" y="457201"/>
            <a:ext cx="4211265" cy="7524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0618674-1C5B-FB44-F6F9-A7E743561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613" y="1187416"/>
            <a:ext cx="4306487" cy="4445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4B6B79-D1CA-BF37-4322-A00B635298A0}"/>
                  </a:ext>
                </a:extLst>
              </p:cNvPr>
              <p:cNvSpPr txBox="1"/>
              <p:nvPr/>
            </p:nvSpPr>
            <p:spPr>
              <a:xfrm>
                <a:off x="5383645" y="1733549"/>
                <a:ext cx="992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𝒓𝒐𝒐𝒇</m:t>
                      </m:r>
                    </m:oMath>
                  </m:oMathPara>
                </a14:m>
                <a:endParaRPr lang="zh-CN" altLang="en-US" sz="2400" b="1" i="1" dirty="0">
                  <a:latin typeface="Brush Script MT" panose="03060802040406070304" pitchFamily="66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4B6B79-D1CA-BF37-4322-A00B63529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645" y="1733549"/>
                <a:ext cx="992259" cy="369332"/>
              </a:xfrm>
              <a:prstGeom prst="rect">
                <a:avLst/>
              </a:prstGeom>
              <a:blipFill>
                <a:blip r:embed="rId6"/>
                <a:stretch>
                  <a:fillRect l="-5521" t="-3279" r="-9816" b="-3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8F738E24-C215-B82F-8C23-AEAE43108F78}"/>
              </a:ext>
            </a:extLst>
          </p:cNvPr>
          <p:cNvSpPr txBox="1"/>
          <p:nvPr/>
        </p:nvSpPr>
        <p:spPr>
          <a:xfrm>
            <a:off x="5632450" y="2247384"/>
            <a:ext cx="25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⟨ψ|Eₐ†Eᵦ|φ⟩ = Cₐᵦ ⟨ψ|φ⟩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0E11C3-C46E-C187-3F56-869877F1C802}"/>
              </a:ext>
            </a:extLst>
          </p:cNvPr>
          <p:cNvSpPr txBox="1"/>
          <p:nvPr/>
        </p:nvSpPr>
        <p:spPr>
          <a:xfrm>
            <a:off x="8959850" y="2266434"/>
            <a:ext cx="2940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⟨φ|Eᵦ†Eₐ|ψ⟩ = Cₐᵦ* ⟨φ|ψ⟩</a:t>
            </a: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62FA3221-4613-CFCE-D3D5-6D236FA60A94}"/>
              </a:ext>
            </a:extLst>
          </p:cNvPr>
          <p:cNvSpPr/>
          <p:nvPr/>
        </p:nvSpPr>
        <p:spPr>
          <a:xfrm rot="16200000">
            <a:off x="8440474" y="2174049"/>
            <a:ext cx="388380" cy="62498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315149B-F1EA-55C2-DEDA-B5BE060C3348}"/>
              </a:ext>
            </a:extLst>
          </p:cNvPr>
          <p:cNvSpPr txBox="1"/>
          <p:nvPr/>
        </p:nvSpPr>
        <p:spPr>
          <a:xfrm>
            <a:off x="5664200" y="2825234"/>
            <a:ext cx="252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⟨φ|Eᵦ†Eₐ|ψ⟩ = Cᵦₐ ⟨φ|ψ⟩</a:t>
            </a: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D9174A82-D59F-431D-020D-1B0E6E40721B}"/>
              </a:ext>
            </a:extLst>
          </p:cNvPr>
          <p:cNvSpPr/>
          <p:nvPr/>
        </p:nvSpPr>
        <p:spPr>
          <a:xfrm>
            <a:off x="6713275" y="2631249"/>
            <a:ext cx="388380" cy="22625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747C890-361A-85B2-1963-09D19E674674}"/>
              </a:ext>
            </a:extLst>
          </p:cNvPr>
          <p:cNvSpPr txBox="1"/>
          <p:nvPr/>
        </p:nvSpPr>
        <p:spPr>
          <a:xfrm>
            <a:off x="5683250" y="3415784"/>
            <a:ext cx="181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Cᵦₐ = Cₐᵦ*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0A72F5B-52EC-3875-A42D-232986DE58D9}"/>
              </a:ext>
            </a:extLst>
          </p:cNvPr>
          <p:cNvSpPr/>
          <p:nvPr/>
        </p:nvSpPr>
        <p:spPr>
          <a:xfrm>
            <a:off x="5410200" y="2415540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7D7D718-2516-1FC0-7B2C-E88A76AF611A}"/>
              </a:ext>
            </a:extLst>
          </p:cNvPr>
          <p:cNvSpPr/>
          <p:nvPr/>
        </p:nvSpPr>
        <p:spPr>
          <a:xfrm>
            <a:off x="5415280" y="3578860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3831F622-54B4-1AB3-6C4E-35C4B1D8C8FD}"/>
              </a:ext>
            </a:extLst>
          </p:cNvPr>
          <p:cNvSpPr/>
          <p:nvPr/>
        </p:nvSpPr>
        <p:spPr>
          <a:xfrm>
            <a:off x="5567680" y="3578860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AB57D89-9CFD-277F-F63C-9B62E28E30C1}"/>
              </a:ext>
            </a:extLst>
          </p:cNvPr>
          <p:cNvSpPr txBox="1"/>
          <p:nvPr/>
        </p:nvSpPr>
        <p:spPr>
          <a:xfrm>
            <a:off x="7587888" y="3449183"/>
            <a:ext cx="1210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可对角化</a:t>
            </a:r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09479BCB-57AF-20B5-EAB3-F4CB04E7E3D8}"/>
              </a:ext>
            </a:extLst>
          </p:cNvPr>
          <p:cNvSpPr/>
          <p:nvPr/>
        </p:nvSpPr>
        <p:spPr>
          <a:xfrm rot="16200000">
            <a:off x="7179588" y="3299791"/>
            <a:ext cx="245011" cy="62498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82959B3-F1A5-C677-8D78-8B7E282280F8}"/>
              </a:ext>
            </a:extLst>
          </p:cNvPr>
          <p:cNvSpPr txBox="1"/>
          <p:nvPr/>
        </p:nvSpPr>
        <p:spPr>
          <a:xfrm>
            <a:off x="9306273" y="3441554"/>
            <a:ext cx="2792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D = U† C U，Dₐᵦ = dₐ δₐᵦ</a:t>
            </a:r>
          </a:p>
        </p:txBody>
      </p:sp>
      <p:sp>
        <p:nvSpPr>
          <p:cNvPr id="37" name="箭头: 下 36">
            <a:extLst>
              <a:ext uri="{FF2B5EF4-FFF2-40B4-BE49-F238E27FC236}">
                <a16:creationId xmlns:a16="http://schemas.microsoft.com/office/drawing/2014/main" id="{800E1817-2EFF-6F69-F3B4-8C8AD4294359}"/>
              </a:ext>
            </a:extLst>
          </p:cNvPr>
          <p:cNvSpPr/>
          <p:nvPr/>
        </p:nvSpPr>
        <p:spPr>
          <a:xfrm rot="16200000">
            <a:off x="8864064" y="3318968"/>
            <a:ext cx="245011" cy="62498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A8A0B1C-4221-C800-DF25-888A686DB220}"/>
              </a:ext>
            </a:extLst>
          </p:cNvPr>
          <p:cNvSpPr txBox="1"/>
          <p:nvPr/>
        </p:nvSpPr>
        <p:spPr>
          <a:xfrm>
            <a:off x="9327182" y="3854438"/>
            <a:ext cx="1651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Fₐ = Σᵦ U†ₐᵦ E</a:t>
            </a:r>
            <a:r>
              <a:rPr lang="zh-CN" altLang="en-US" dirty="0"/>
              <a:t>ᵦ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00EB1CB-2634-2D93-1A08-AF4D87267FB0}"/>
              </a:ext>
            </a:extLst>
          </p:cNvPr>
          <p:cNvSpPr txBox="1"/>
          <p:nvPr/>
        </p:nvSpPr>
        <p:spPr>
          <a:xfrm>
            <a:off x="5711971" y="4338889"/>
            <a:ext cx="2929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⟨ψ|Fₐ† Fᵦ |φ⟩ = dₐ δₐᵦ ⟨ψ|φ⟩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5695CC33-7748-3350-1789-E9086942E3E9}"/>
              </a:ext>
            </a:extLst>
          </p:cNvPr>
          <p:cNvSpPr/>
          <p:nvPr/>
        </p:nvSpPr>
        <p:spPr>
          <a:xfrm>
            <a:off x="5428401" y="4457936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C3241AA7-BD75-02A3-3A1F-1770F328C2F5}"/>
              </a:ext>
            </a:extLst>
          </p:cNvPr>
          <p:cNvSpPr/>
          <p:nvPr/>
        </p:nvSpPr>
        <p:spPr>
          <a:xfrm>
            <a:off x="5580801" y="4457936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3831823D-043C-3639-A933-C22B40259300}"/>
              </a:ext>
            </a:extLst>
          </p:cNvPr>
          <p:cNvSpPr/>
          <p:nvPr/>
        </p:nvSpPr>
        <p:spPr>
          <a:xfrm>
            <a:off x="5429410" y="4610336"/>
            <a:ext cx="70843" cy="666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7F464FA-8DFA-C2CE-F501-63EFE78A8865}"/>
              </a:ext>
            </a:extLst>
          </p:cNvPr>
          <p:cNvSpPr txBox="1"/>
          <p:nvPr/>
        </p:nvSpPr>
        <p:spPr>
          <a:xfrm>
            <a:off x="7250102" y="5743800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⟨ψ|Z₁†Z₂|φ⟩ = ⟨ψ|I|φ⟩ = ⟨ψ|φ⟩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E0D7A5C5-A37C-6705-E350-C38366D6C116}"/>
                  </a:ext>
                </a:extLst>
              </p:cNvPr>
              <p:cNvSpPr txBox="1"/>
              <p:nvPr/>
            </p:nvSpPr>
            <p:spPr>
              <a:xfrm>
                <a:off x="5384655" y="5143878"/>
                <a:ext cx="14154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𝑬𝒙𝒂𝒎𝒑𝒍𝒆</m:t>
                      </m:r>
                    </m:oMath>
                  </m:oMathPara>
                </a14:m>
                <a:endParaRPr lang="zh-CN" altLang="en-US" sz="2400" b="1" i="1" dirty="0">
                  <a:solidFill>
                    <a:schemeClr val="accent2"/>
                  </a:solidFill>
                  <a:latin typeface="Brush Script MT" panose="03060802040406070304" pitchFamily="66" charset="0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E0D7A5C5-A37C-6705-E350-C38366D6C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655" y="5143878"/>
                <a:ext cx="1415452" cy="369332"/>
              </a:xfrm>
              <a:prstGeom prst="rect">
                <a:avLst/>
              </a:prstGeom>
              <a:blipFill>
                <a:blip r:embed="rId7"/>
                <a:stretch>
                  <a:fillRect l="-6438" t="-3333" r="-6438" b="-3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564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81E80-66C1-61FD-250B-895D58D1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2FD7880-AD3E-7417-1056-D54478A15AF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78B6343-724A-6361-7F36-74D29C2917D0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E77BFB64-C469-1B19-A0C3-C3E13BAEA8C6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4.3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量子纠错的条件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7FB1B4C-05A7-D758-0502-C16E9F8AAC54}"/>
              </a:ext>
            </a:extLst>
          </p:cNvPr>
          <p:cNvSpPr txBox="1"/>
          <p:nvPr/>
        </p:nvSpPr>
        <p:spPr>
          <a:xfrm>
            <a:off x="489732" y="2350397"/>
            <a:ext cx="69507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简并码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b="1" dirty="0"/>
              <a:t>观察</a:t>
            </a:r>
            <a:r>
              <a:rPr lang="en-US" altLang="zh-CN" b="1" dirty="0"/>
              <a:t>C</a:t>
            </a:r>
            <a:r>
              <a:rPr lang="zh-CN" altLang="en-US" b="1" dirty="0"/>
              <a:t>的秩我们发现当可以取到</a:t>
            </a:r>
            <a:r>
              <a:rPr lang="zh-CN" altLang="en-US" b="1" dirty="0">
                <a:solidFill>
                  <a:schemeClr val="accent2"/>
                </a:solidFill>
              </a:rPr>
              <a:t>最大秩</a:t>
            </a:r>
            <a:r>
              <a:rPr lang="zh-CN" altLang="en-US" b="1" dirty="0"/>
              <a:t>的时候实际就</a:t>
            </a:r>
            <a:r>
              <a:rPr lang="zh-CN" altLang="en-US" b="1" dirty="0">
                <a:solidFill>
                  <a:schemeClr val="accent2"/>
                </a:solidFill>
              </a:rPr>
              <a:t>退化</a:t>
            </a:r>
            <a:r>
              <a:rPr lang="zh-CN" altLang="en-US" b="1" dirty="0"/>
              <a:t>成了</a:t>
            </a:r>
            <a:r>
              <a:rPr lang="zh-CN" altLang="en-US" b="1" dirty="0">
                <a:solidFill>
                  <a:schemeClr val="accent2"/>
                </a:solidFill>
              </a:rPr>
              <a:t>充分条件</a:t>
            </a:r>
            <a:r>
              <a:rPr lang="zh-CN" altLang="en-US" b="1" dirty="0"/>
              <a:t>的情况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b="1" dirty="0"/>
              <a:t>而当无法取最大秩时就无法进行退化，此时会出现一种奇妙的状况，错误集里面的错误都是</a:t>
            </a:r>
            <a:r>
              <a:rPr lang="zh-CN" altLang="en-US" b="1" dirty="0">
                <a:solidFill>
                  <a:schemeClr val="accent2"/>
                </a:solidFill>
              </a:rPr>
              <a:t>完全线性无关</a:t>
            </a:r>
            <a:r>
              <a:rPr lang="zh-CN" altLang="en-US" b="1" dirty="0"/>
              <a:t>的，但</a:t>
            </a:r>
            <a:r>
              <a:rPr lang="en-US" altLang="zh-CN" b="1" dirty="0"/>
              <a:t>C</a:t>
            </a:r>
            <a:r>
              <a:rPr lang="zh-CN" altLang="en-US" b="1" dirty="0">
                <a:solidFill>
                  <a:schemeClr val="accent2"/>
                </a:solidFill>
              </a:rPr>
              <a:t>仍无法取到最大秩</a:t>
            </a:r>
            <a:r>
              <a:rPr lang="zh-CN" altLang="en-US" b="1" dirty="0"/>
              <a:t>，这实际就是之前</a:t>
            </a:r>
            <a:r>
              <a:rPr lang="en-US" altLang="zh-CN" b="1" dirty="0" err="1"/>
              <a:t>shor</a:t>
            </a:r>
            <a:r>
              <a:rPr lang="zh-CN" altLang="en-US" b="1" dirty="0"/>
              <a:t>码的状况，我们称之为</a:t>
            </a:r>
            <a:r>
              <a:rPr lang="zh-CN" altLang="en-US" b="1" dirty="0">
                <a:solidFill>
                  <a:schemeClr val="accent2"/>
                </a:solidFill>
              </a:rPr>
              <a:t>简并码。</a:t>
            </a:r>
            <a:endParaRPr lang="en-US" altLang="zh-CN" b="1" dirty="0">
              <a:solidFill>
                <a:schemeClr val="accent2"/>
              </a:solidFill>
            </a:endParaRP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/>
              <a:t>定义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    假设 </a:t>
            </a:r>
            <a:r>
              <a:rPr lang="en-US" altLang="zh-CN" b="1" dirty="0"/>
              <a:t>(U, ℰ) </a:t>
            </a:r>
            <a:r>
              <a:rPr lang="zh-CN" altLang="en-US" b="1" dirty="0"/>
              <a:t>是一个 </a:t>
            </a:r>
            <a:r>
              <a:rPr lang="en-US" altLang="zh-CN" b="1" dirty="0"/>
              <a:t>QECC </a:t>
            </a:r>
            <a:r>
              <a:rPr lang="zh-CN" altLang="en-US" b="1" dirty="0"/>
              <a:t>且 </a:t>
            </a:r>
            <a:r>
              <a:rPr lang="en-US" altLang="zh-CN" b="1" dirty="0">
                <a:solidFill>
                  <a:schemeClr val="accent2"/>
                </a:solidFill>
              </a:rPr>
              <a:t>ℰ </a:t>
            </a:r>
            <a:r>
              <a:rPr lang="zh-CN" altLang="en-US" b="1" dirty="0">
                <a:solidFill>
                  <a:schemeClr val="accent2"/>
                </a:solidFill>
              </a:rPr>
              <a:t>线性无关</a:t>
            </a:r>
            <a:r>
              <a:rPr lang="zh-CN" altLang="en-US" b="1" dirty="0"/>
              <a:t>。如果 </a:t>
            </a:r>
            <a:r>
              <a:rPr lang="en-US" altLang="zh-CN" b="1" dirty="0">
                <a:solidFill>
                  <a:schemeClr val="accent2"/>
                </a:solidFill>
              </a:rPr>
              <a:t>rank(Cₐᵦ) &lt; |ℰ|</a:t>
            </a:r>
            <a:r>
              <a:rPr lang="zh-CN" altLang="en-US" b="1" dirty="0"/>
              <a:t>，则该码是</a:t>
            </a:r>
            <a:r>
              <a:rPr lang="zh-CN" altLang="en-US" b="1" dirty="0">
                <a:solidFill>
                  <a:schemeClr val="accent2"/>
                </a:solidFill>
              </a:rPr>
              <a:t>简并</a:t>
            </a:r>
            <a:r>
              <a:rPr lang="zh-CN" altLang="en-US" b="1" dirty="0"/>
              <a:t>的。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 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E09B18-C3C5-C203-427C-96EB4EB05E61}"/>
              </a:ext>
            </a:extLst>
          </p:cNvPr>
          <p:cNvSpPr txBox="1"/>
          <p:nvPr/>
        </p:nvSpPr>
        <p:spPr>
          <a:xfrm>
            <a:off x="9548776" y="3084290"/>
            <a:ext cx="2658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⟨ψ|Gₐ†Gᵦ|φ⟩ = δₐᵦ ⟨ψ|φ⟩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B96303-B134-C6A6-52CF-47870C11C08B}"/>
              </a:ext>
            </a:extLst>
          </p:cNvPr>
          <p:cNvSpPr txBox="1"/>
          <p:nvPr/>
        </p:nvSpPr>
        <p:spPr>
          <a:xfrm>
            <a:off x="7641256" y="3078235"/>
            <a:ext cx="1628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Gₐ = Fₐ/√dₐ</a:t>
            </a: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6C31F49E-676B-1EFE-3661-EF12047B2DA6}"/>
              </a:ext>
            </a:extLst>
          </p:cNvPr>
          <p:cNvSpPr/>
          <p:nvPr/>
        </p:nvSpPr>
        <p:spPr>
          <a:xfrm rot="16200000">
            <a:off x="9185733" y="3213274"/>
            <a:ext cx="245011" cy="168086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477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95744-4A46-D935-A2A4-BB21AE5FD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63232BC-7A3E-CB84-1301-CA0522F09CC0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EC8DAAC-197A-4B49-FC39-A0F06E7FC71C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6906D91C-D781-B8F2-EF78-A5AD2912AB26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回顾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5466041-96C6-68C5-21B0-73743B2D07C3}"/>
                  </a:ext>
                </a:extLst>
              </p:cNvPr>
              <p:cNvSpPr txBox="1"/>
              <p:nvPr/>
            </p:nvSpPr>
            <p:spPr>
              <a:xfrm>
                <a:off x="489732" y="2350397"/>
                <a:ext cx="6950773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zh-CN" b="1" dirty="0"/>
                  <a:t>3bit</a:t>
                </a:r>
                <a:r>
                  <a:rPr lang="zh-CN" altLang="en-US" b="1" dirty="0"/>
                  <a:t>码的电路模型</a:t>
                </a:r>
                <a:endParaRPr lang="en-US" altLang="zh-CN" b="1" dirty="0"/>
              </a:p>
              <a:p>
                <a:r>
                  <a:rPr lang="en-US" altLang="zh-CN" b="1" dirty="0"/>
                  <a:t>        </a:t>
                </a:r>
                <a:r>
                  <a:rPr lang="zh-CN" altLang="en-US" b="1" dirty="0"/>
                  <a:t>辅助码，症候，</a:t>
                </a:r>
                <a:r>
                  <a:rPr lang="en-US" altLang="zh-CN" b="1" dirty="0" err="1"/>
                  <a:t>cnot</a:t>
                </a:r>
                <a:r>
                  <a:rPr lang="zh-CN" altLang="en-US" b="1" dirty="0"/>
                  <a:t>门</a:t>
                </a:r>
                <a:endParaRPr lang="en-US" altLang="zh-CN" b="1" dirty="0"/>
              </a:p>
              <a:p>
                <a:pPr marL="342900" indent="-342900">
                  <a:buAutoNum type="arabicPeriod" startAt="2"/>
                </a:pPr>
                <a:r>
                  <a:rPr lang="en-US" altLang="zh-CN" b="1" dirty="0"/>
                  <a:t>Shor</a:t>
                </a:r>
                <a:r>
                  <a:rPr lang="zh-CN" altLang="en-US" b="1" dirty="0"/>
                  <a:t>码</a:t>
                </a:r>
                <a:endParaRPr lang="en-US" altLang="zh-CN" b="1" dirty="0"/>
              </a:p>
              <a:p>
                <a:r>
                  <a:rPr lang="en-US" altLang="zh-CN" b="1" dirty="0"/>
                  <a:t>        </a:t>
                </a:r>
                <a:r>
                  <a:rPr lang="zh-CN" altLang="en-US" b="1" dirty="0"/>
                  <a:t>同时修复比特翻转与相位翻转</a:t>
                </a:r>
                <a:endParaRPr lang="en-US" altLang="zh-CN" b="1" dirty="0"/>
              </a:p>
              <a:p>
                <a:pPr marL="342900" indent="-342900">
                  <a:buAutoNum type="arabicPeriod" startAt="3"/>
                </a:pPr>
                <a:r>
                  <a:rPr lang="zh-CN" altLang="en-US" b="1" dirty="0"/>
                  <a:t>量子纠错理论概念</a:t>
                </a:r>
                <a:endParaRPr lang="en-US" altLang="zh-CN" b="1" dirty="0"/>
              </a:p>
              <a:p>
                <a:r>
                  <a:rPr lang="en-US" altLang="zh-CN" b="1" dirty="0"/>
                  <a:t>        </a:t>
                </a:r>
                <a:r>
                  <a:rPr lang="zh-CN" altLang="en-US" b="1" dirty="0"/>
                  <a:t>定义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e>
                        <m:r>
                          <a:rPr lang="ar-AE" altLang="zh-CN" b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𝓔</m:t>
                        </m:r>
                      </m:e>
                    </m:d>
                  </m:oMath>
                </a14:m>
                <a:r>
                  <a:rPr lang="en-US" altLang="zh-CN" b="1" dirty="0"/>
                  <a:t> /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e>
                        <m:r>
                          <a:rPr lang="ar-AE" altLang="zh-CN" b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𝓔</m:t>
                        </m:r>
                      </m:e>
                    </m:d>
                  </m:oMath>
                </a14:m>
                <a:endParaRPr lang="en-US" altLang="zh-CN" b="1" dirty="0"/>
              </a:p>
              <a:p>
                <a:r>
                  <a:rPr lang="en-US" altLang="zh-CN" b="1" dirty="0"/>
                  <a:t>        </a:t>
                </a:r>
                <a:r>
                  <a:rPr lang="zh-CN" altLang="en-US" b="1" dirty="0"/>
                  <a:t>性质 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线性性质</a:t>
                </a:r>
                <a:endParaRPr lang="en-US" altLang="zh-CN" b="1" dirty="0">
                  <a:solidFill>
                    <a:schemeClr val="accent2"/>
                  </a:solidFill>
                </a:endParaRPr>
              </a:p>
              <a:p>
                <a:r>
                  <a:rPr lang="en-US" altLang="zh-CN" b="1" dirty="0"/>
                  <a:t>        </a:t>
                </a:r>
                <a:r>
                  <a:rPr lang="zh-CN" altLang="en-US" b="1" dirty="0"/>
                  <a:t>条件 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充分条件</a:t>
                </a:r>
                <a:r>
                  <a:rPr lang="en-US" altLang="zh-CN" b="1" dirty="0"/>
                  <a:t>/ 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QECC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条件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altLang="zh-CN" b="1" dirty="0">
                    <a:sym typeface="Wingdings" panose="05000000000000000000" pitchFamily="2" charset="2"/>
                  </a:rPr>
                  <a:t> </a:t>
                </a:r>
                <a:r>
                  <a:rPr lang="zh-CN" altLang="en-US" b="1" dirty="0">
                    <a:sym typeface="Wingdings" panose="05000000000000000000" pitchFamily="2" charset="2"/>
                  </a:rPr>
                  <a:t>简并码 </a:t>
                </a:r>
                <a:r>
                  <a:rPr lang="en-US" altLang="zh-CN" b="1" dirty="0">
                    <a:sym typeface="Wingdings" panose="05000000000000000000" pitchFamily="2" charset="2"/>
                  </a:rPr>
                  <a:t>(Shor</a:t>
                </a:r>
                <a:r>
                  <a:rPr lang="zh-CN" altLang="en-US" b="1" dirty="0">
                    <a:sym typeface="Wingdings" panose="05000000000000000000" pitchFamily="2" charset="2"/>
                  </a:rPr>
                  <a:t>码</a:t>
                </a:r>
                <a:r>
                  <a:rPr lang="en-US" altLang="zh-CN" b="1" dirty="0">
                    <a:sym typeface="Wingdings" panose="05000000000000000000" pitchFamily="2" charset="2"/>
                  </a:rPr>
                  <a:t>)</a:t>
                </a:r>
                <a:endParaRPr lang="en-US" altLang="zh-CN" b="1" dirty="0"/>
              </a:p>
              <a:p>
                <a:r>
                  <a:rPr lang="en-US" altLang="zh-CN" b="1" dirty="0"/>
                  <a:t>      </a:t>
                </a:r>
              </a:p>
              <a:p>
                <a:r>
                  <a:rPr lang="en-US" altLang="zh-CN" b="1" dirty="0"/>
                  <a:t> 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5466041-96C6-68C5-21B0-73743B2D0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32" y="2350397"/>
                <a:ext cx="6950773" cy="2862322"/>
              </a:xfrm>
              <a:prstGeom prst="rect">
                <a:avLst/>
              </a:prstGeom>
              <a:blipFill>
                <a:blip r:embed="rId3"/>
                <a:stretch>
                  <a:fillRect l="-438" t="-1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8ECF971E-F576-23BE-3AAA-04CB09942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474" y="2181509"/>
            <a:ext cx="3849549" cy="8477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5CC13A0-D303-39F0-0A5A-260E0B505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8885" y="1882515"/>
            <a:ext cx="3799565" cy="3719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A1BEF77-EDDF-CBA7-9E02-EB00D59911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6933" y="1225550"/>
            <a:ext cx="1318931" cy="4699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DE4D9D9-5854-BE03-FBDF-62EC6EA6B0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3711" y="4352142"/>
            <a:ext cx="3251244" cy="40640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B5EF09A-FBCA-B0BB-1D58-CA25375590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7720" y="4771243"/>
            <a:ext cx="4211265" cy="7524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D36917A-53FE-0A80-D14A-58B1920981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3571" y="5501458"/>
            <a:ext cx="4306487" cy="44454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9F4DBF7-2298-17E3-158B-CFA07E1589A8}"/>
              </a:ext>
            </a:extLst>
          </p:cNvPr>
          <p:cNvSpPr txBox="1"/>
          <p:nvPr/>
        </p:nvSpPr>
        <p:spPr>
          <a:xfrm>
            <a:off x="7631380" y="1168131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充分条件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2C3995-78E8-0688-2AD4-FAC338FD2F4A}"/>
              </a:ext>
            </a:extLst>
          </p:cNvPr>
          <p:cNvSpPr txBox="1"/>
          <p:nvPr/>
        </p:nvSpPr>
        <p:spPr>
          <a:xfrm>
            <a:off x="7628579" y="4014240"/>
            <a:ext cx="6864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QECC</a:t>
            </a:r>
            <a:r>
              <a:rPr lang="zh-CN" altLang="en-US" b="1" dirty="0">
                <a:solidFill>
                  <a:schemeClr val="accent2"/>
                </a:solidFill>
              </a:rPr>
              <a:t>条件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4569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96FC6-6E27-B2C1-CC7B-28C3FBDD0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C2EAC1C-3519-8F89-11C4-84642ABA2F1C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45B3228-6DCD-D4D0-4095-CA90D8C3F4E7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955AC964-B623-591D-E75A-9F0C2991029A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4.3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量子纠错的条件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6AFF781-BA10-C302-7D9A-37FEC606E913}"/>
              </a:ext>
            </a:extLst>
          </p:cNvPr>
          <p:cNvSpPr txBox="1"/>
          <p:nvPr/>
        </p:nvSpPr>
        <p:spPr>
          <a:xfrm>
            <a:off x="489732" y="2350397"/>
            <a:ext cx="695077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权</a:t>
            </a:r>
            <a:r>
              <a:rPr lang="en-US" altLang="zh-CN" b="1" dirty="0"/>
              <a:t>(weight)</a:t>
            </a:r>
          </a:p>
          <a:p>
            <a:endParaRPr lang="en-US" altLang="zh-CN" b="1" dirty="0"/>
          </a:p>
          <a:p>
            <a:r>
              <a:rPr lang="zh-CN" altLang="en-US" b="1" dirty="0"/>
              <a:t>  指一个错误算子</a:t>
            </a:r>
            <a:r>
              <a:rPr lang="en-US" altLang="zh-CN" b="1" dirty="0"/>
              <a:t>(</a:t>
            </a:r>
            <a:r>
              <a:rPr lang="zh-CN" altLang="en-US" b="1" dirty="0"/>
              <a:t>通常是 </a:t>
            </a:r>
            <a:r>
              <a:rPr lang="en-US" altLang="zh-CN" b="1" dirty="0"/>
              <a:t>Pauli </a:t>
            </a:r>
            <a:r>
              <a:rPr lang="zh-CN" altLang="en-US" b="1" dirty="0"/>
              <a:t>算子</a:t>
            </a:r>
            <a:r>
              <a:rPr lang="en-US" altLang="zh-CN" b="1" dirty="0"/>
              <a:t>)</a:t>
            </a:r>
            <a:r>
              <a:rPr lang="zh-CN" altLang="en-US" b="1" dirty="0">
                <a:solidFill>
                  <a:schemeClr val="accent2"/>
                </a:solidFill>
              </a:rPr>
              <a:t>非平凡作用</a:t>
            </a:r>
            <a:r>
              <a:rPr lang="zh-CN" altLang="en-US" b="1" dirty="0"/>
              <a:t>的量子比特个数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距离</a:t>
            </a:r>
            <a:r>
              <a:rPr lang="en-US" altLang="zh-CN" b="1" dirty="0"/>
              <a:t>(distance)</a:t>
            </a:r>
          </a:p>
          <a:p>
            <a:endParaRPr lang="en-US" altLang="zh-CN" b="1" dirty="0"/>
          </a:p>
          <a:p>
            <a:r>
              <a:rPr lang="zh-CN" altLang="en-US" b="1" dirty="0"/>
              <a:t>  </a:t>
            </a:r>
            <a:r>
              <a:rPr lang="zh-CN" altLang="en-US" b="1" dirty="0">
                <a:solidFill>
                  <a:schemeClr val="accent2"/>
                </a:solidFill>
              </a:rPr>
              <a:t>无法满足</a:t>
            </a:r>
            <a:r>
              <a:rPr lang="en-US" altLang="zh-CN" b="1" dirty="0">
                <a:solidFill>
                  <a:schemeClr val="accent2"/>
                </a:solidFill>
              </a:rPr>
              <a:t>QECC</a:t>
            </a:r>
            <a:r>
              <a:rPr lang="zh-CN" altLang="en-US" b="1" dirty="0">
                <a:solidFill>
                  <a:schemeClr val="accent2"/>
                </a:solidFill>
              </a:rPr>
              <a:t>条件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accent2"/>
                </a:solidFill>
              </a:rPr>
              <a:t>错误组合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accent2"/>
                </a:solidFill>
              </a:rPr>
              <a:t>最小的的权值</a:t>
            </a:r>
            <a:endParaRPr lang="en-US" altLang="zh-CN" b="1" dirty="0">
              <a:solidFill>
                <a:schemeClr val="accent2"/>
              </a:solidFill>
            </a:endParaRP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/>
              <a:t>定理 </a:t>
            </a:r>
            <a:r>
              <a:rPr lang="en-US" altLang="zh-CN" b="1" dirty="0"/>
              <a:t>1</a:t>
            </a: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en-US" altLang="zh-CN" b="1" dirty="0">
                <a:solidFill>
                  <a:schemeClr val="accent2"/>
                </a:solidFill>
              </a:rPr>
              <a:t>  </a:t>
            </a:r>
            <a:r>
              <a:rPr lang="zh-CN" altLang="en-US" b="1" dirty="0"/>
              <a:t>一个可以纠正所有</a:t>
            </a:r>
            <a:r>
              <a:rPr lang="en-US" altLang="zh-CN" b="1" dirty="0">
                <a:solidFill>
                  <a:schemeClr val="accent2"/>
                </a:solidFill>
              </a:rPr>
              <a:t>t</a:t>
            </a:r>
            <a:r>
              <a:rPr lang="zh-CN" altLang="en-US" b="1" dirty="0">
                <a:solidFill>
                  <a:schemeClr val="accent2"/>
                </a:solidFill>
              </a:rPr>
              <a:t>权值</a:t>
            </a:r>
            <a:r>
              <a:rPr lang="zh-CN" altLang="en-US" b="1" dirty="0"/>
              <a:t>错误的纠错码其</a:t>
            </a:r>
            <a:r>
              <a:rPr lang="zh-CN" altLang="en-US" b="1" dirty="0">
                <a:solidFill>
                  <a:schemeClr val="accent2"/>
                </a:solidFill>
              </a:rPr>
              <a:t>距离</a:t>
            </a:r>
            <a:r>
              <a:rPr lang="en-US" altLang="zh-CN" b="1" dirty="0">
                <a:solidFill>
                  <a:schemeClr val="accent2"/>
                </a:solidFill>
              </a:rPr>
              <a:t>d</a:t>
            </a:r>
            <a:r>
              <a:rPr lang="zh-CN" altLang="en-US" b="1" dirty="0"/>
              <a:t>至少为</a:t>
            </a:r>
            <a:r>
              <a:rPr lang="en-US" altLang="zh-CN" b="1" dirty="0">
                <a:solidFill>
                  <a:schemeClr val="accent2"/>
                </a:solidFill>
              </a:rPr>
              <a:t>2t+1</a:t>
            </a: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endParaRPr lang="en-US" altLang="zh-CN" b="1" dirty="0">
              <a:solidFill>
                <a:schemeClr val="accent2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1EB998-9C8E-0EB0-16C4-84A297BAC8B2}"/>
              </a:ext>
            </a:extLst>
          </p:cNvPr>
          <p:cNvSpPr txBox="1"/>
          <p:nvPr/>
        </p:nvSpPr>
        <p:spPr>
          <a:xfrm>
            <a:off x="9144000" y="16885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Artifakt Element Black" panose="020B0A03050000020004" pitchFamily="34" charset="0"/>
              </a:rPr>
              <a:t> X⊗</a:t>
            </a:r>
            <a:r>
              <a:rPr lang="en-US" altLang="zh-CN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I</a:t>
            </a:r>
            <a:r>
              <a:rPr lang="zh-CN" altLang="en-US" b="1" dirty="0">
                <a:latin typeface="Artifakt Element Black" panose="020B0A03050000020004" pitchFamily="34" charset="0"/>
              </a:rPr>
              <a:t>⊗X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CECA69-1135-F136-1076-743D16B9E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540" y="2260560"/>
            <a:ext cx="2467319" cy="5715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CA4376-F1F5-38D5-FAEF-E29F556A8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711" y="4091792"/>
            <a:ext cx="3251244" cy="40640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992DBA7-1C0A-283E-4665-71A9ACE2C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7720" y="4510893"/>
            <a:ext cx="4211265" cy="7524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592E105-4BC0-17D8-D7FD-AA8F832AE901}"/>
                  </a:ext>
                </a:extLst>
              </p:cNvPr>
              <p:cNvSpPr txBox="1"/>
              <p:nvPr/>
            </p:nvSpPr>
            <p:spPr>
              <a:xfrm>
                <a:off x="539750" y="5829300"/>
                <a:ext cx="2297617" cy="6612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en-US" altLang="zh-CN" b="1" i="1" dirty="0">
                  <a:solidFill>
                    <a:schemeClr val="accent2"/>
                  </a:solidFill>
                </a:endParaRPr>
              </a:p>
              <a:p>
                <a:endParaRPr lang="zh-CN" altLang="en-US" b="1" i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592E105-4BC0-17D8-D7FD-AA8F832AE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5829300"/>
                <a:ext cx="2297617" cy="6612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443AFA8-B9AF-6961-028D-06734EC406EB}"/>
                  </a:ext>
                </a:extLst>
              </p:cNvPr>
              <p:cNvSpPr txBox="1"/>
              <p:nvPr/>
            </p:nvSpPr>
            <p:spPr>
              <a:xfrm>
                <a:off x="7612495" y="3600449"/>
                <a:ext cx="992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𝒓𝒐𝒐𝒇</m:t>
                      </m:r>
                    </m:oMath>
                  </m:oMathPara>
                </a14:m>
                <a:endParaRPr lang="zh-CN" altLang="en-US" sz="2400" b="1" i="1" dirty="0">
                  <a:latin typeface="Brush Script MT" panose="03060802040406070304" pitchFamily="66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443AFA8-B9AF-6961-028D-06734EC40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495" y="3600449"/>
                <a:ext cx="992259" cy="369332"/>
              </a:xfrm>
              <a:prstGeom prst="rect">
                <a:avLst/>
              </a:prstGeom>
              <a:blipFill>
                <a:blip r:embed="rId7"/>
                <a:stretch>
                  <a:fillRect l="-6135" t="-3333" r="-9202" b="-3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777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24C7B-1EC9-C74A-863A-2397DB59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F597B1A-917F-F796-C63A-72B653C65CF1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D0B51A2-7E73-BDD6-4AC3-6678EFA2FB2E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0DB010BE-1429-2647-F103-C5A84B9282AD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4.3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量子纠错的条件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2F4436-30DF-D5E0-1293-F77814DD0E8B}"/>
              </a:ext>
            </a:extLst>
          </p:cNvPr>
          <p:cNvSpPr txBox="1"/>
          <p:nvPr/>
        </p:nvSpPr>
        <p:spPr>
          <a:xfrm>
            <a:off x="559582" y="2274197"/>
            <a:ext cx="69507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错误检测</a:t>
            </a:r>
            <a:endParaRPr lang="en-US" altLang="zh-CN" b="1" dirty="0"/>
          </a:p>
          <a:p>
            <a:r>
              <a:rPr lang="en-US" altLang="zh-CN" b="1" dirty="0"/>
              <a:t>  </a:t>
            </a:r>
          </a:p>
          <a:p>
            <a:r>
              <a:rPr lang="en-US" altLang="zh-CN" b="1" dirty="0"/>
              <a:t>  </a:t>
            </a:r>
            <a:r>
              <a:rPr lang="zh-CN" altLang="en-US" b="1" dirty="0"/>
              <a:t>只要求</a:t>
            </a:r>
            <a:r>
              <a:rPr lang="zh-CN" altLang="en-US" b="1" dirty="0">
                <a:solidFill>
                  <a:schemeClr val="accent2"/>
                </a:solidFill>
              </a:rPr>
              <a:t>检测</a:t>
            </a:r>
            <a:r>
              <a:rPr lang="zh-CN" altLang="en-US" b="1" dirty="0"/>
              <a:t>到错误不要求</a:t>
            </a:r>
            <a:r>
              <a:rPr lang="zh-CN" altLang="en-US" b="1" dirty="0">
                <a:solidFill>
                  <a:schemeClr val="accent2"/>
                </a:solidFill>
              </a:rPr>
              <a:t>纠正</a:t>
            </a:r>
            <a:endParaRPr lang="en-US" altLang="zh-CN" b="1" dirty="0">
              <a:solidFill>
                <a:schemeClr val="accent2"/>
              </a:solidFill>
            </a:endParaRP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/>
              <a:t>定理 </a:t>
            </a:r>
            <a:r>
              <a:rPr lang="en-US" altLang="zh-CN" b="1" dirty="0"/>
              <a:t>2</a:t>
            </a:r>
          </a:p>
          <a:p>
            <a:endParaRPr lang="en-US" altLang="zh-CN" b="1" dirty="0"/>
          </a:p>
          <a:p>
            <a:r>
              <a:rPr lang="zh-CN" altLang="en-US" b="1" dirty="0"/>
              <a:t>  距离为 </a:t>
            </a:r>
            <a:r>
              <a:rPr lang="en-US" altLang="zh-CN" b="1" dirty="0">
                <a:solidFill>
                  <a:schemeClr val="accent2"/>
                </a:solidFill>
              </a:rPr>
              <a:t>d</a:t>
            </a:r>
            <a:r>
              <a:rPr lang="en-US" altLang="zh-CN" b="1" dirty="0"/>
              <a:t> </a:t>
            </a:r>
            <a:r>
              <a:rPr lang="zh-CN" altLang="en-US" b="1" dirty="0"/>
              <a:t>的码可以</a:t>
            </a:r>
            <a:r>
              <a:rPr lang="zh-CN" altLang="en-US" b="1" dirty="0">
                <a:solidFill>
                  <a:schemeClr val="accent2"/>
                </a:solidFill>
              </a:rPr>
              <a:t>检测</a:t>
            </a:r>
            <a:r>
              <a:rPr lang="zh-CN" altLang="en-US" b="1" dirty="0"/>
              <a:t>任意 </a:t>
            </a:r>
            <a:r>
              <a:rPr lang="en-US" altLang="zh-CN" b="1" dirty="0">
                <a:solidFill>
                  <a:schemeClr val="accent2"/>
                </a:solidFill>
              </a:rPr>
              <a:t>(d−1) </a:t>
            </a:r>
            <a:r>
              <a:rPr lang="zh-CN" altLang="en-US" b="1" dirty="0">
                <a:solidFill>
                  <a:schemeClr val="accent2"/>
                </a:solidFill>
              </a:rPr>
              <a:t>权值</a:t>
            </a:r>
            <a:r>
              <a:rPr lang="zh-CN" altLang="en-US" b="1" dirty="0"/>
              <a:t>的量子比特错误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擦除错误</a:t>
            </a:r>
            <a:endParaRPr lang="en-US" altLang="zh-CN" b="1" dirty="0"/>
          </a:p>
          <a:p>
            <a:r>
              <a:rPr lang="en-US" altLang="zh-CN" b="1" dirty="0"/>
              <a:t>  </a:t>
            </a:r>
          </a:p>
          <a:p>
            <a:r>
              <a:rPr lang="en-US" altLang="zh-CN" b="1" dirty="0"/>
              <a:t>  </a:t>
            </a:r>
            <a:r>
              <a:rPr lang="zh-CN" altLang="en-US" b="1" dirty="0"/>
              <a:t>知道</a:t>
            </a:r>
            <a:r>
              <a:rPr lang="zh-CN" altLang="en-US" b="1" dirty="0">
                <a:solidFill>
                  <a:schemeClr val="accent2"/>
                </a:solidFill>
              </a:rPr>
              <a:t>位置</a:t>
            </a:r>
            <a:r>
              <a:rPr lang="zh-CN" altLang="en-US" b="1" dirty="0"/>
              <a:t>但不知道</a:t>
            </a:r>
            <a:r>
              <a:rPr lang="zh-CN" altLang="en-US" b="1" dirty="0">
                <a:solidFill>
                  <a:schemeClr val="accent2"/>
                </a:solidFill>
              </a:rPr>
              <a:t>类型</a:t>
            </a:r>
            <a:r>
              <a:rPr lang="zh-CN" altLang="en-US" b="1" dirty="0"/>
              <a:t>的错误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定理 </a:t>
            </a:r>
            <a:r>
              <a:rPr lang="en-US" altLang="zh-CN" b="1" dirty="0"/>
              <a:t>3</a:t>
            </a:r>
          </a:p>
          <a:p>
            <a:r>
              <a:rPr lang="en-US" altLang="zh-CN" b="1" dirty="0"/>
              <a:t>  </a:t>
            </a:r>
          </a:p>
          <a:p>
            <a:r>
              <a:rPr lang="zh-CN" altLang="en-US" b="1" dirty="0"/>
              <a:t>  距离为 </a:t>
            </a:r>
            <a:r>
              <a:rPr lang="en-US" altLang="zh-CN" b="1" dirty="0"/>
              <a:t>d </a:t>
            </a:r>
            <a:r>
              <a:rPr lang="zh-CN" altLang="en-US" b="1" dirty="0"/>
              <a:t>的 </a:t>
            </a:r>
            <a:r>
              <a:rPr lang="en-US" altLang="zh-CN" b="1" dirty="0"/>
              <a:t>QECC </a:t>
            </a:r>
            <a:r>
              <a:rPr lang="zh-CN" altLang="en-US" b="1" dirty="0"/>
              <a:t>可以纠正 </a:t>
            </a:r>
            <a:r>
              <a:rPr lang="en-US" altLang="zh-CN" b="1" dirty="0"/>
              <a:t>d−1 </a:t>
            </a:r>
            <a:r>
              <a:rPr lang="zh-CN" altLang="en-US" b="1" dirty="0"/>
              <a:t>个擦除错误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endParaRPr lang="en-US" altLang="zh-CN" b="1" dirty="0">
              <a:solidFill>
                <a:schemeClr val="accent2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EB65703-A70F-BC3C-F90D-3C5FCA51C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519" y="377784"/>
            <a:ext cx="2591162" cy="59063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4E53F99-545C-E2FD-822D-39BFA10C2005}"/>
              </a:ext>
            </a:extLst>
          </p:cNvPr>
          <p:cNvSpPr txBox="1"/>
          <p:nvPr/>
        </p:nvSpPr>
        <p:spPr>
          <a:xfrm>
            <a:off x="8604250" y="1159986"/>
            <a:ext cx="3098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000 →	0	✅</a:t>
            </a:r>
            <a:endParaRPr lang="en-US" altLang="zh-CN"/>
          </a:p>
          <a:p>
            <a:r>
              <a:rPr lang="zh-CN" altLang="en-US"/>
              <a:t>001 →	0	✅</a:t>
            </a:r>
            <a:endParaRPr lang="en-US" altLang="zh-CN"/>
          </a:p>
          <a:p>
            <a:r>
              <a:rPr lang="zh-CN" altLang="en-US"/>
              <a:t>010 →	0	✅</a:t>
            </a:r>
            <a:endParaRPr lang="en-US" altLang="zh-CN"/>
          </a:p>
          <a:p>
            <a:r>
              <a:rPr lang="zh-CN" altLang="en-US"/>
              <a:t>100 →	0	✅</a:t>
            </a:r>
            <a:endParaRPr lang="en-US" altLang="zh-CN"/>
          </a:p>
          <a:p>
            <a:r>
              <a:rPr lang="zh-CN" altLang="en-US"/>
              <a:t>110 →	1	❌</a:t>
            </a:r>
            <a:endParaRPr lang="en-US" altLang="zh-CN"/>
          </a:p>
          <a:p>
            <a:r>
              <a:rPr lang="zh-CN" altLang="en-US"/>
              <a:t>101 →	1	❌</a:t>
            </a:r>
            <a:endParaRPr lang="en-US" altLang="zh-CN"/>
          </a:p>
          <a:p>
            <a:r>
              <a:rPr lang="zh-CN" altLang="en-US"/>
              <a:t>011 →	1	❌</a:t>
            </a:r>
            <a:endParaRPr lang="en-US" altLang="zh-CN"/>
          </a:p>
          <a:p>
            <a:r>
              <a:rPr lang="zh-CN" altLang="en-US"/>
              <a:t>111 →	1	✅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B042183-C51C-0669-D41E-D97E18F6A353}"/>
              </a:ext>
            </a:extLst>
          </p:cNvPr>
          <p:cNvSpPr txBox="1"/>
          <p:nvPr/>
        </p:nvSpPr>
        <p:spPr>
          <a:xfrm>
            <a:off x="8572500" y="3631337"/>
            <a:ext cx="26098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000	✅ 	接受001	❌ 	丢弃010	❌ 	丢弃100	❌ 	丢弃110	❌ 	丢弃101	❌ 	丢弃011	❌ 	丢弃111	✅ 	接受</a:t>
            </a:r>
          </a:p>
        </p:txBody>
      </p:sp>
    </p:spTree>
    <p:extLst>
      <p:ext uri="{BB962C8B-B14F-4D97-AF65-F5344CB8AC3E}">
        <p14:creationId xmlns:p14="http://schemas.microsoft.com/office/powerpoint/2010/main" val="439703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2BE9-F76E-4AD9-51F6-7714F897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C23325E-D84A-B3B8-8870-2B2EC5818C38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3BC2802-3568-3C82-5528-E1FBD7DF607F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CF969287-1204-5BFC-6A86-31E2902BE460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4.3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量子纠错的条件</a:t>
            </a: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3652EA-BE48-1601-8248-26331FB18284}"/>
              </a:ext>
            </a:extLst>
          </p:cNvPr>
          <p:cNvSpPr txBox="1"/>
          <p:nvPr/>
        </p:nvSpPr>
        <p:spPr>
          <a:xfrm>
            <a:off x="692932" y="2413897"/>
            <a:ext cx="695077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QECC</a:t>
            </a:r>
            <a:r>
              <a:rPr lang="zh-CN" altLang="en-US" b="1" dirty="0"/>
              <a:t>条件的等价表示</a:t>
            </a:r>
            <a:endParaRPr lang="en-US" altLang="zh-CN" b="1" dirty="0"/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>
                <a:solidFill>
                  <a:schemeClr val="accent2"/>
                </a:solidFill>
              </a:rPr>
              <a:t>  物理意义</a:t>
            </a:r>
            <a:r>
              <a:rPr lang="en-US" altLang="zh-CN" b="1" dirty="0"/>
              <a:t>:</a:t>
            </a:r>
            <a:r>
              <a:rPr lang="zh-CN" altLang="en-US" b="1" dirty="0"/>
              <a:t>错误不会泄漏信息</a:t>
            </a:r>
            <a:r>
              <a:rPr lang="en-US" altLang="zh-CN" b="1" dirty="0"/>
              <a:t>(</a:t>
            </a:r>
            <a:r>
              <a:rPr lang="zh-CN" altLang="en-US" b="1" dirty="0"/>
              <a:t>实际就是不丢失相干性的原因</a:t>
            </a:r>
            <a:r>
              <a:rPr lang="en-US" altLang="zh-CN" b="1" dirty="0"/>
              <a:t>)</a:t>
            </a:r>
          </a:p>
          <a:p>
            <a:endParaRPr lang="en-US" altLang="zh-CN" b="1" dirty="0"/>
          </a:p>
          <a:p>
            <a:r>
              <a:rPr lang="zh-CN" altLang="en-US" b="1" dirty="0"/>
              <a:t>等价码</a:t>
            </a:r>
            <a:endParaRPr lang="en-US" altLang="zh-CN" b="1" dirty="0"/>
          </a:p>
          <a:p>
            <a:r>
              <a:rPr lang="en-US" altLang="zh-CN" b="1" dirty="0"/>
              <a:t>  </a:t>
            </a:r>
          </a:p>
          <a:p>
            <a:r>
              <a:rPr lang="en-US" altLang="zh-CN" b="1" dirty="0"/>
              <a:t>  </a:t>
            </a:r>
            <a:r>
              <a:rPr lang="zh-CN" altLang="en-US" b="1" dirty="0"/>
              <a:t>一个纠错码在</a:t>
            </a:r>
            <a:r>
              <a:rPr lang="zh-CN" altLang="en-US" b="1" dirty="0">
                <a:solidFill>
                  <a:schemeClr val="accent2"/>
                </a:solidFill>
              </a:rPr>
              <a:t>单量子比特门操作</a:t>
            </a:r>
            <a:r>
              <a:rPr lang="en-US" altLang="zh-CN" b="1" dirty="0"/>
              <a:t>(</a:t>
            </a:r>
            <a:r>
              <a:rPr lang="zh-CN" altLang="en-US" b="1" dirty="0"/>
              <a:t>任意一个</a:t>
            </a:r>
            <a:r>
              <a:rPr lang="en-US" altLang="zh-CN" b="1" dirty="0"/>
              <a:t>qubit)</a:t>
            </a:r>
            <a:r>
              <a:rPr lang="zh-CN" altLang="en-US" b="1" dirty="0"/>
              <a:t>或者</a:t>
            </a:r>
            <a:r>
              <a:rPr lang="zh-CN" altLang="en-US" b="1" dirty="0">
                <a:solidFill>
                  <a:schemeClr val="accent2"/>
                </a:solidFill>
              </a:rPr>
              <a:t>重排</a:t>
            </a:r>
            <a:r>
              <a:rPr lang="zh-CN" altLang="en-US" b="1" dirty="0"/>
              <a:t>量子比特顺序获得的量子纠错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性质</a:t>
            </a:r>
            <a:endParaRPr lang="en-US" altLang="zh-CN" b="1" dirty="0"/>
          </a:p>
          <a:p>
            <a:r>
              <a:rPr lang="en-US" altLang="zh-CN" b="1" dirty="0"/>
              <a:t>  </a:t>
            </a:r>
            <a:r>
              <a:rPr lang="en-US" altLang="zh-CN" b="1" dirty="0" err="1"/>
              <a:t>nkd</a:t>
            </a:r>
            <a:r>
              <a:rPr lang="zh-CN" altLang="en-US" b="1" dirty="0"/>
              <a:t>相同</a:t>
            </a:r>
            <a:endParaRPr lang="en-US" altLang="zh-CN" b="1" dirty="0"/>
          </a:p>
          <a:p>
            <a:r>
              <a:rPr lang="en-US" altLang="zh-CN" b="1" dirty="0"/>
              <a:t>  </a:t>
            </a:r>
            <a:r>
              <a:rPr lang="zh-CN" altLang="en-US" b="1" dirty="0"/>
              <a:t>擦除集相同</a:t>
            </a:r>
            <a:r>
              <a:rPr lang="en-US" altLang="zh-CN" b="1" dirty="0"/>
              <a:t>(</a:t>
            </a:r>
            <a:r>
              <a:rPr lang="zh-CN" altLang="en-US" b="1" dirty="0"/>
              <a:t>只看位置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  </a:t>
            </a:r>
            <a:r>
              <a:rPr lang="zh-CN" altLang="en-US" b="1" dirty="0"/>
              <a:t>纠错集不一定相同</a:t>
            </a:r>
            <a:endParaRPr lang="en-US" altLang="zh-CN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16BDB0D-68CD-CFDB-EFDD-4D7158650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097" y="1787484"/>
            <a:ext cx="4344006" cy="5906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7F8B134-2101-B4A5-242D-8CB51A1F7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771" y="2727286"/>
            <a:ext cx="3096057" cy="55252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95593F6-0BF0-B78B-8C1D-C738473C9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892" y="3560723"/>
            <a:ext cx="2791215" cy="5620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17D32FD-F1BC-3008-2F1A-8F99EF2BA4CD}"/>
              </a:ext>
            </a:extLst>
          </p:cNvPr>
          <p:cNvSpPr txBox="1"/>
          <p:nvPr/>
        </p:nvSpPr>
        <p:spPr>
          <a:xfrm>
            <a:off x="8477250" y="53080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|000⟩                           </a:t>
            </a:r>
            <a:r>
              <a:rPr lang="en-US" altLang="zh-CN" b="1" dirty="0"/>
              <a:t>|+++⟩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519842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5C3D0-2295-8C02-50E6-32C949490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7722DD4-7326-F203-BF4B-D7E8928BE23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0D52E4C-5E34-D52C-5619-B532CCF4551C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D1FB2B39-3931-1035-37DE-019CB14775CC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4.1~3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2AF2BCF-CFE4-611D-F030-4F223EB19B91}"/>
                  </a:ext>
                </a:extLst>
              </p:cNvPr>
              <p:cNvSpPr txBox="1"/>
              <p:nvPr/>
            </p:nvSpPr>
            <p:spPr>
              <a:xfrm>
                <a:off x="718332" y="2953647"/>
                <a:ext cx="6950773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/>
                  <a:t>量子纠错理论概念</a:t>
                </a:r>
                <a:endParaRPr lang="en-US" altLang="zh-CN" b="1" dirty="0"/>
              </a:p>
              <a:p>
                <a:r>
                  <a:rPr lang="en-US" altLang="zh-CN" b="1" dirty="0"/>
                  <a:t>        </a:t>
                </a:r>
                <a:r>
                  <a:rPr lang="zh-CN" altLang="en-US" b="1" dirty="0"/>
                  <a:t>定义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e>
                        <m:r>
                          <a:rPr lang="ar-AE" altLang="zh-CN" b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𝓔</m:t>
                        </m:r>
                      </m:e>
                    </m:d>
                  </m:oMath>
                </a14:m>
                <a:r>
                  <a:rPr lang="en-US" altLang="zh-CN" b="1" dirty="0"/>
                  <a:t> /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e>
                        <m:r>
                          <a:rPr lang="ar-AE" altLang="zh-CN" b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𝓔</m:t>
                        </m:r>
                      </m:e>
                    </m:d>
                  </m:oMath>
                </a14:m>
                <a:endParaRPr lang="en-US" altLang="zh-CN" b="1" dirty="0"/>
              </a:p>
              <a:p>
                <a:r>
                  <a:rPr lang="en-US" altLang="zh-CN" b="1" dirty="0"/>
                  <a:t>        </a:t>
                </a:r>
                <a:r>
                  <a:rPr lang="zh-CN" altLang="en-US" b="1" dirty="0"/>
                  <a:t>性质 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线性性质</a:t>
                </a:r>
                <a:endParaRPr lang="en-US" altLang="zh-CN" b="1" dirty="0">
                  <a:solidFill>
                    <a:schemeClr val="accent2"/>
                  </a:solidFill>
                </a:endParaRPr>
              </a:p>
              <a:p>
                <a:r>
                  <a:rPr lang="en-US" altLang="zh-CN" b="1" dirty="0"/>
                  <a:t>        </a:t>
                </a:r>
                <a:r>
                  <a:rPr lang="zh-CN" altLang="en-US" b="1" dirty="0"/>
                  <a:t>条件 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充分条件</a:t>
                </a:r>
                <a:r>
                  <a:rPr lang="en-US" altLang="zh-CN" b="1" dirty="0"/>
                  <a:t>/ 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QECC</a:t>
                </a:r>
                <a:r>
                  <a:rPr lang="zh-CN" altLang="en-US" b="1" dirty="0">
                    <a:solidFill>
                      <a:schemeClr val="accent2"/>
                    </a:solidFill>
                  </a:rPr>
                  <a:t>条件</a:t>
                </a:r>
                <a:r>
                  <a:rPr lang="en-US" altLang="zh-CN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altLang="zh-CN" b="1" dirty="0">
                    <a:sym typeface="Wingdings" panose="05000000000000000000" pitchFamily="2" charset="2"/>
                  </a:rPr>
                  <a:t> </a:t>
                </a:r>
                <a:r>
                  <a:rPr lang="zh-CN" altLang="en-US" b="1" dirty="0">
                    <a:sym typeface="Wingdings" panose="05000000000000000000" pitchFamily="2" charset="2"/>
                  </a:rPr>
                  <a:t>简并码 </a:t>
                </a:r>
                <a:r>
                  <a:rPr lang="en-US" altLang="zh-CN" b="1" dirty="0">
                    <a:sym typeface="Wingdings" panose="05000000000000000000" pitchFamily="2" charset="2"/>
                  </a:rPr>
                  <a:t>(Shor</a:t>
                </a:r>
                <a:r>
                  <a:rPr lang="zh-CN" altLang="en-US" b="1" dirty="0">
                    <a:sym typeface="Wingdings" panose="05000000000000000000" pitchFamily="2" charset="2"/>
                  </a:rPr>
                  <a:t>码</a:t>
                </a:r>
                <a:r>
                  <a:rPr lang="en-US" altLang="zh-CN" b="1" dirty="0"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altLang="zh-CN" b="1" dirty="0">
                    <a:sym typeface="Wingdings" panose="05000000000000000000" pitchFamily="2" charset="2"/>
                  </a:rPr>
                  <a:t>                 </a:t>
                </a:r>
                <a:r>
                  <a:rPr lang="zh-CN" altLang="en-US" b="1" dirty="0">
                    <a:solidFill>
                      <a:schemeClr val="accent2"/>
                    </a:solidFill>
                    <a:sym typeface="Wingdings" panose="05000000000000000000" pitchFamily="2" charset="2"/>
                  </a:rPr>
                  <a:t>权</a:t>
                </a:r>
                <a:r>
                  <a:rPr lang="zh-CN" altLang="en-US" b="1" dirty="0">
                    <a:sym typeface="Wingdings" panose="05000000000000000000" pitchFamily="2" charset="2"/>
                  </a:rPr>
                  <a:t> </a:t>
                </a:r>
                <a:r>
                  <a:rPr lang="en-US" altLang="zh-CN" b="1" dirty="0">
                    <a:sym typeface="Wingdings" panose="05000000000000000000" pitchFamily="2" charset="2"/>
                  </a:rPr>
                  <a:t> </a:t>
                </a:r>
                <a:r>
                  <a:rPr lang="zh-CN" altLang="en-US" b="1" dirty="0">
                    <a:solidFill>
                      <a:schemeClr val="accent2"/>
                    </a:solidFill>
                    <a:sym typeface="Wingdings" panose="05000000000000000000" pitchFamily="2" charset="2"/>
                  </a:rPr>
                  <a:t>距离</a:t>
                </a:r>
                <a:r>
                  <a:rPr lang="zh-CN" altLang="en-US" b="1" dirty="0">
                    <a:sym typeface="Wingdings" panose="05000000000000000000" pitchFamily="2" charset="2"/>
                  </a:rPr>
                  <a:t> </a:t>
                </a:r>
                <a:r>
                  <a:rPr lang="en-US" altLang="zh-CN" b="1" dirty="0">
                    <a:sym typeface="Wingdings" panose="05000000000000000000" pitchFamily="2" charset="2"/>
                  </a:rPr>
                  <a:t> </a:t>
                </a:r>
                <a:r>
                  <a:rPr lang="zh-CN" altLang="en-US" b="1" dirty="0">
                    <a:solidFill>
                      <a:schemeClr val="accent2"/>
                    </a:solidFill>
                    <a:sym typeface="Wingdings" panose="05000000000000000000" pitchFamily="2" charset="2"/>
                  </a:rPr>
                  <a:t>错误检测</a:t>
                </a:r>
                <a:r>
                  <a:rPr lang="zh-CN" altLang="en-US" b="1" dirty="0">
                    <a:sym typeface="Wingdings" panose="05000000000000000000" pitchFamily="2" charset="2"/>
                  </a:rPr>
                  <a:t>  </a:t>
                </a:r>
                <a:r>
                  <a:rPr lang="en-US" altLang="zh-CN" b="1" dirty="0">
                    <a:sym typeface="Wingdings" panose="05000000000000000000" pitchFamily="2" charset="2"/>
                  </a:rPr>
                  <a:t> </a:t>
                </a:r>
                <a:r>
                  <a:rPr lang="zh-CN" altLang="en-US" b="1" dirty="0">
                    <a:solidFill>
                      <a:schemeClr val="accent2"/>
                    </a:solidFill>
                    <a:sym typeface="Wingdings" panose="05000000000000000000" pitchFamily="2" charset="2"/>
                  </a:rPr>
                  <a:t>擦除错误</a:t>
                </a:r>
                <a:endParaRPr lang="en-US" altLang="zh-CN" b="1" dirty="0">
                  <a:solidFill>
                    <a:schemeClr val="accent2"/>
                  </a:solidFill>
                  <a:sym typeface="Wingdings" panose="05000000000000000000" pitchFamily="2" charset="2"/>
                </a:endParaRPr>
              </a:p>
              <a:p>
                <a:r>
                  <a:rPr lang="en-US" altLang="zh-CN" b="1" dirty="0">
                    <a:sym typeface="Wingdings" panose="05000000000000000000" pitchFamily="2" charset="2"/>
                  </a:rPr>
                  <a:t>                 </a:t>
                </a:r>
                <a:r>
                  <a:rPr lang="zh-CN" altLang="en-US" b="1" dirty="0">
                    <a:solidFill>
                      <a:schemeClr val="accent2"/>
                    </a:solidFill>
                    <a:sym typeface="Wingdings" panose="05000000000000000000" pitchFamily="2" charset="2"/>
                  </a:rPr>
                  <a:t>等价码</a:t>
                </a:r>
                <a:endParaRPr lang="en-US" altLang="zh-CN" b="1" dirty="0">
                  <a:solidFill>
                    <a:schemeClr val="accent2"/>
                  </a:solidFill>
                </a:endParaRPr>
              </a:p>
              <a:p>
                <a:r>
                  <a:rPr lang="en-US" altLang="zh-CN" b="1" dirty="0"/>
                  <a:t>      </a:t>
                </a:r>
              </a:p>
              <a:p>
                <a:r>
                  <a:rPr lang="en-US" altLang="zh-CN" b="1" dirty="0"/>
                  <a:t> 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2AF2BCF-CFE4-611D-F030-4F223EB19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32" y="2953647"/>
                <a:ext cx="6950773" cy="2308324"/>
              </a:xfrm>
              <a:prstGeom prst="rect">
                <a:avLst/>
              </a:prstGeom>
              <a:blipFill>
                <a:blip r:embed="rId3"/>
                <a:stretch>
                  <a:fillRect l="-789" t="-1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818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9C38A-B3F2-52F5-01D3-1009370D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6C8E996-C280-8E02-C4A1-63A2695EF0DC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F36977B-D8B2-2F53-1C08-14A81AD476A8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3D55A76E-FF92-6300-287B-B5AF4D28FF32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4.4 </a:t>
            </a:r>
            <a:r>
              <a:rPr lang="en-US" altLang="zh-CN" sz="2200" b="1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shor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码回顾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57730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2712-7AB7-A0AB-C6DD-2E30D7128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BE907A5-A21C-8D77-CAB6-D296DEEC33F3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BB14536-37AE-6E97-3683-FC72E8FDC37E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9547DE3B-145A-C962-3C15-2B1CDFD1869C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4.4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泡利群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63458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30AD3-4AAF-F438-5B11-8F869AC2A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94D28FD-A00C-F0E9-DCB2-F8E072B35C44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32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A0FFC55-3315-F53C-0358-719D7F1181BD}"/>
              </a:ext>
            </a:extLst>
          </p:cNvPr>
          <p:cNvCxnSpPr/>
          <p:nvPr/>
        </p:nvCxnSpPr>
        <p:spPr>
          <a:xfrm>
            <a:off x="7534894" y="0"/>
            <a:ext cx="0" cy="6941127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F02DC376-677A-81FA-F725-4DBDBD47E3C0}"/>
              </a:ext>
            </a:extLst>
          </p:cNvPr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4.4 </a:t>
            </a:r>
            <a:r>
              <a:rPr lang="zh-CN" altLang="en-US" sz="220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稳定子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04257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1803</Words>
  <Application>Microsoft Office PowerPoint</Application>
  <PresentationFormat>宽屏</PresentationFormat>
  <Paragraphs>335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BIZ UDPMincho Medium</vt:lpstr>
      <vt:lpstr>Noto Sans SC</vt:lpstr>
      <vt:lpstr>quote-cjk-patch</vt:lpstr>
      <vt:lpstr>等线</vt:lpstr>
      <vt:lpstr>等线 Light</vt:lpstr>
      <vt:lpstr>Arial</vt:lpstr>
      <vt:lpstr>Artifakt Element Black</vt:lpstr>
      <vt:lpstr>Brush Script MT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恩泽 施</dc:creator>
  <cp:lastModifiedBy>恩泽 施</cp:lastModifiedBy>
  <cp:revision>46</cp:revision>
  <dcterms:created xsi:type="dcterms:W3CDTF">2026-04-29T05:54:02Z</dcterms:created>
  <dcterms:modified xsi:type="dcterms:W3CDTF">2026-05-27T09:33:18Z</dcterms:modified>
</cp:coreProperties>
</file>